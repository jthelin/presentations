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wmf" ContentType="image/x-wmf"/>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commentAuthors.xml" ContentType="application/vnd.openxmlformats-officedocument.presentationml.commentAuthor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notesSlides/notesSlide1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9" r:id="rId4"/>
  </p:sldMasterIdLst>
  <p:notesMasterIdLst>
    <p:notesMasterId r:id="rId30"/>
  </p:notesMasterIdLst>
  <p:handoutMasterIdLst>
    <p:handoutMasterId r:id="rId31"/>
  </p:handoutMasterIdLst>
  <p:sldIdLst>
    <p:sldId id="319" r:id="rId5"/>
    <p:sldId id="320" r:id="rId6"/>
    <p:sldId id="321" r:id="rId7"/>
    <p:sldId id="322" r:id="rId8"/>
    <p:sldId id="323" r:id="rId9"/>
    <p:sldId id="324" r:id="rId10"/>
    <p:sldId id="325" r:id="rId11"/>
    <p:sldId id="326" r:id="rId12"/>
    <p:sldId id="327" r:id="rId13"/>
    <p:sldId id="328" r:id="rId14"/>
    <p:sldId id="329" r:id="rId15"/>
    <p:sldId id="330" r:id="rId16"/>
    <p:sldId id="331" r:id="rId17"/>
    <p:sldId id="332" r:id="rId18"/>
    <p:sldId id="333" r:id="rId19"/>
    <p:sldId id="334" r:id="rId20"/>
    <p:sldId id="335" r:id="rId21"/>
    <p:sldId id="336" r:id="rId22"/>
    <p:sldId id="337" r:id="rId23"/>
    <p:sldId id="338" r:id="rId24"/>
    <p:sldId id="339" r:id="rId25"/>
    <p:sldId id="290" r:id="rId26"/>
    <p:sldId id="295" r:id="rId27"/>
    <p:sldId id="318" r:id="rId28"/>
    <p:sldId id="281" r:id="rId29"/>
  </p:sldIdLst>
  <p:sldSz cx="9144000" cy="6858000" type="screen4x3"/>
  <p:notesSz cx="6858000" cy="9144000"/>
  <p:defaultTex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eather Simmonsen" initials="HS" lastIdx="7" clrIdx="0"/>
  <p:cmAuthor id="1" name="claireh" initials="ceh" lastIdx="3"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290E6"/>
    <a:srgbClr val="404040"/>
    <a:srgbClr val="1C7FFF"/>
    <a:srgbClr val="1C7FDA"/>
    <a:srgbClr val="99C8DF"/>
    <a:srgbClr val="A2CDE2"/>
    <a:srgbClr val="9BCFE9"/>
    <a:srgbClr val="B0D9EE"/>
    <a:srgbClr val="A0D8FE"/>
    <a:srgbClr val="B0DEFE"/>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66" autoAdjust="0"/>
    <p:restoredTop sz="91872" autoAdjust="0"/>
  </p:normalViewPr>
  <p:slideViewPr>
    <p:cSldViewPr snapToGrid="0">
      <p:cViewPr varScale="1">
        <p:scale>
          <a:sx n="74" d="100"/>
          <a:sy n="74" d="100"/>
        </p:scale>
        <p:origin x="-702" y="-96"/>
      </p:cViewPr>
      <p:guideLst>
        <p:guide orient="horz" pos="144"/>
        <p:guide orient="horz" pos="1488"/>
        <p:guide orient="horz" pos="1200"/>
        <p:guide orient="horz" pos="2304"/>
        <p:guide orient="horz" pos="261"/>
        <p:guide orient="horz" pos="4176"/>
        <p:guide pos="2880"/>
        <p:guide pos="244"/>
        <p:guide pos="462"/>
        <p:guide pos="5516"/>
        <p:guide pos="863"/>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showGuides="1">
      <p:cViewPr varScale="1">
        <p:scale>
          <a:sx n="73" d="100"/>
          <a:sy n="73" d="100"/>
        </p:scale>
        <p:origin x="-2885" y="-62"/>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Calibri"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C3F5198-D814-4F07-A84F-942E63C84983}" type="datetimeFigureOut">
              <a:rPr lang="en-US" smtClean="0">
                <a:latin typeface="Calibri" pitchFamily="34" charset="0"/>
              </a:rPr>
              <a:pPr/>
              <a:t>11/17/2008</a:t>
            </a:fld>
            <a:endParaRPr lang="en-US" dirty="0">
              <a:latin typeface="Calibri" pitchFamily="34" charset="0"/>
            </a:endParaRPr>
          </a:p>
        </p:txBody>
      </p:sp>
      <p:sp>
        <p:nvSpPr>
          <p:cNvPr id="4" name="Footer Placeholder 3"/>
          <p:cNvSpPr>
            <a:spLocks noGrp="1"/>
          </p:cNvSpPr>
          <p:nvPr>
            <p:ph type="ftr" sz="quarter" idx="2"/>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smtClean="0">
                <a:solidFill>
                  <a:srgbClr val="000000"/>
                </a:solidFill>
                <a:latin typeface="Calibri" pitchFamily="34" charset="0"/>
              </a:rPr>
              <a:t>© 2008 Microsoft Corporation. All rights reserved. Microsoft, Windows, Windows Vista and other product names are or may be registered trademarks and/or trademarks in the U.S. and/or other countries.</a:t>
            </a:r>
          </a:p>
          <a:p>
            <a:r>
              <a:rPr lang="en-US" sz="500" dirty="0" smtClean="0">
                <a:solidFill>
                  <a:srgbClr val="000000"/>
                </a:solidFill>
                <a:latin typeface="Calibr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smtClean="0">
                <a:solidFill>
                  <a:srgbClr val="000000"/>
                </a:solidFill>
                <a:latin typeface="Calibri" pitchFamily="34" charset="0"/>
              </a:rPr>
            </a:br>
            <a:r>
              <a:rPr lang="en-US" sz="500" dirty="0" smtClean="0">
                <a:solidFill>
                  <a:srgbClr val="000000"/>
                </a:solidFill>
                <a:latin typeface="Calibri" pitchFamily="34" charset="0"/>
              </a:rPr>
              <a:t>MICROSOFT MAKES NO WARRANTIES, EXPRESS, IMPLIED OR STATUTORY, AS TO THE INFORMATION IN THIS PRESENTATION.</a:t>
            </a:r>
          </a:p>
        </p:txBody>
      </p:sp>
      <p:sp>
        <p:nvSpPr>
          <p:cNvPr id="5" name="Slide Number Placeholder 4"/>
          <p:cNvSpPr>
            <a:spLocks noGrp="1"/>
          </p:cNvSpPr>
          <p:nvPr>
            <p:ph type="sldNum" sz="quarter" idx="3"/>
          </p:nvPr>
        </p:nvSpPr>
        <p:spPr>
          <a:xfrm>
            <a:off x="6248399" y="8685213"/>
            <a:ext cx="608013" cy="457200"/>
          </a:xfrm>
          <a:prstGeom prst="rect">
            <a:avLst/>
          </a:prstGeom>
        </p:spPr>
        <p:txBody>
          <a:bodyPr vert="horz" lIns="91440" tIns="45720" rIns="91440" bIns="45720" rtlCol="0" anchor="b"/>
          <a:lstStyle>
            <a:lvl1pPr algn="r">
              <a:defRPr sz="1200"/>
            </a:lvl1pPr>
          </a:lstStyle>
          <a:p>
            <a:fld id="{8980CB99-47E3-46F4-AAEB-3919FBEFC014}" type="slidenum">
              <a:rPr lang="en-US" smtClean="0">
                <a:latin typeface="Calibri" pitchFamily="34" charset="0"/>
              </a:rPr>
              <a:pPr/>
              <a:t>‹#›</a:t>
            </a:fld>
            <a:endParaRPr lang="en-US" dirty="0">
              <a:latin typeface="Calibri"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Calibri" pitchFamily="34"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Calibri" pitchFamily="34" charset="0"/>
              </a:defRPr>
            </a:lvl1pPr>
          </a:lstStyle>
          <a:p>
            <a:fld id="{7C3FBCD4-166E-446F-AF18-7D4A0CF9AEF6}" type="datetimeFigureOut">
              <a:rPr lang="en-US" smtClean="0"/>
              <a:pPr/>
              <a:t>11/17/2008</a:t>
            </a:fld>
            <a:endParaRPr lang="en-US" dirty="0"/>
          </a:p>
        </p:txBody>
      </p:sp>
      <p:sp>
        <p:nvSpPr>
          <p:cNvPr id="4" name="Slide Image Placeholder 3"/>
          <p:cNvSpPr>
            <a:spLocks noGrp="1" noRot="1" noChangeAspect="1"/>
          </p:cNvSpPr>
          <p:nvPr>
            <p:ph type="sldImg" idx="2"/>
          </p:nvPr>
        </p:nvSpPr>
        <p:spPr>
          <a:xfrm>
            <a:off x="1535113" y="457200"/>
            <a:ext cx="3736975" cy="2801938"/>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3429000"/>
            <a:ext cx="5486400" cy="50292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0" y="8685213"/>
            <a:ext cx="6172200" cy="457200"/>
          </a:xfrm>
          <a:prstGeom prst="rect">
            <a:avLst/>
          </a:prstGeom>
        </p:spPr>
        <p:txBody>
          <a:bodyPr vert="horz" lIns="91440" tIns="45720" rIns="91440" bIns="45720" rtlCol="0" anchor="b"/>
          <a:lstStyle>
            <a:lvl1pPr algn="l">
              <a:defRPr sz="500">
                <a:latin typeface="+mn-lt"/>
              </a:defRPr>
            </a:lvl1pPr>
          </a:lstStyle>
          <a:p>
            <a:r>
              <a:rPr lang="en-US" smtClean="0">
                <a:solidFill>
                  <a:srgbClr val="000000"/>
                </a:solidFill>
              </a:rPr>
              <a:t>© 2008 Microsoft Corporation. All rights reserved. Microsoft, Windows, Windows Vista and other product names are or may be registered trademarks and/or trademarks in the U.S. and/or other countries.</a:t>
            </a:r>
          </a:p>
          <a:p>
            <a:r>
              <a:rPr lang="en-US"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mtClean="0">
                <a:solidFill>
                  <a:srgbClr val="000000"/>
                </a:solidFill>
              </a:rPr>
            </a:br>
            <a:r>
              <a:rPr lang="en-US" smtClean="0">
                <a:solidFill>
                  <a:srgbClr val="000000"/>
                </a:solidFill>
              </a:rPr>
              <a:t>MICROSOFT MAKES NO WARRANTIES, EXPRESS, IMPLIED OR STATUTORY, AS TO THE INFORMATION IN THIS PRESENTATION.</a:t>
            </a:r>
            <a:endParaRPr lang="en-US" dirty="0" smtClean="0">
              <a:solidFill>
                <a:srgbClr val="000000"/>
              </a:solidFill>
            </a:endParaRPr>
          </a:p>
        </p:txBody>
      </p:sp>
      <p:sp>
        <p:nvSpPr>
          <p:cNvPr id="7" name="Slide Number Placeholder 6"/>
          <p:cNvSpPr>
            <a:spLocks noGrp="1"/>
          </p:cNvSpPr>
          <p:nvPr>
            <p:ph type="sldNum" sz="quarter" idx="5"/>
          </p:nvPr>
        </p:nvSpPr>
        <p:spPr>
          <a:xfrm>
            <a:off x="6172199" y="8685213"/>
            <a:ext cx="684213" cy="457200"/>
          </a:xfrm>
          <a:prstGeom prst="rect">
            <a:avLst/>
          </a:prstGeom>
        </p:spPr>
        <p:txBody>
          <a:bodyPr vert="horz" lIns="91440" tIns="45720" rIns="91440" bIns="45720" rtlCol="0" anchor="b"/>
          <a:lstStyle>
            <a:lvl1pPr algn="r">
              <a:defRPr sz="1200">
                <a:latin typeface="Calibri" pitchFamily="34" charset="0"/>
              </a:defRPr>
            </a:lvl1pPr>
          </a:lstStyle>
          <a:p>
            <a:fld id="{8B263312-38AA-4E1E-B2B5-0F8F122B24FE}"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363" rtl="0" eaLnBrk="1" latinLnBrk="0" hangingPunct="1">
      <a:lnSpc>
        <a:spcPct val="90000"/>
      </a:lnSpc>
      <a:spcAft>
        <a:spcPts val="333"/>
      </a:spcAft>
      <a:defRPr sz="900" kern="1200">
        <a:solidFill>
          <a:schemeClr val="tx1"/>
        </a:solidFill>
        <a:latin typeface="Calibri" pitchFamily="34" charset="0"/>
        <a:ea typeface="+mn-ea"/>
        <a:cs typeface="+mn-cs"/>
      </a:defRPr>
    </a:lvl1pPr>
    <a:lvl2pPr marL="212981" indent="-105829" algn="l" defTabSz="914363" rtl="0" eaLnBrk="1" latinLnBrk="0" hangingPunct="1">
      <a:lnSpc>
        <a:spcPct val="90000"/>
      </a:lnSpc>
      <a:spcAft>
        <a:spcPts val="333"/>
      </a:spcAft>
      <a:buFont typeface="Arial" pitchFamily="34" charset="0"/>
      <a:buChar char="•"/>
      <a:defRPr sz="900" kern="1200">
        <a:solidFill>
          <a:schemeClr val="tx1"/>
        </a:solidFill>
        <a:latin typeface="Calibri" pitchFamily="34" charset="0"/>
        <a:ea typeface="+mn-ea"/>
        <a:cs typeface="+mn-cs"/>
      </a:defRPr>
    </a:lvl2pPr>
    <a:lvl3pPr marL="328070" indent="-115090" algn="l" defTabSz="914363" rtl="0" eaLnBrk="1" latinLnBrk="0" hangingPunct="1">
      <a:lnSpc>
        <a:spcPct val="90000"/>
      </a:lnSpc>
      <a:spcAft>
        <a:spcPts val="333"/>
      </a:spcAft>
      <a:buFont typeface="Arial" pitchFamily="34" charset="0"/>
      <a:buChar char="•"/>
      <a:defRPr sz="900" kern="1200">
        <a:solidFill>
          <a:schemeClr val="tx1"/>
        </a:solidFill>
        <a:latin typeface="Calibri" pitchFamily="34" charset="0"/>
        <a:ea typeface="+mn-ea"/>
        <a:cs typeface="+mn-cs"/>
      </a:defRPr>
    </a:lvl3pPr>
    <a:lvl4pPr marL="482846" indent="-146838" algn="l" defTabSz="914363" rtl="0" eaLnBrk="1" latinLnBrk="0" hangingPunct="1">
      <a:lnSpc>
        <a:spcPct val="90000"/>
      </a:lnSpc>
      <a:spcAft>
        <a:spcPts val="333"/>
      </a:spcAft>
      <a:buFont typeface="Arial" pitchFamily="34" charset="0"/>
      <a:buChar char="•"/>
      <a:defRPr sz="900" kern="1200">
        <a:solidFill>
          <a:schemeClr val="tx1"/>
        </a:solidFill>
        <a:latin typeface="Calibri" pitchFamily="34" charset="0"/>
        <a:ea typeface="+mn-ea"/>
        <a:cs typeface="+mn-cs"/>
      </a:defRPr>
    </a:lvl4pPr>
    <a:lvl5pPr marL="615132" indent="-115090" algn="l" defTabSz="914363" rtl="0" eaLnBrk="1" latinLnBrk="0" hangingPunct="1">
      <a:lnSpc>
        <a:spcPct val="90000"/>
      </a:lnSpc>
      <a:spcAft>
        <a:spcPts val="333"/>
      </a:spcAft>
      <a:buFont typeface="Arial" pitchFamily="34" charset="0"/>
      <a:buChar char="•"/>
      <a:defRPr sz="900" kern="1200">
        <a:solidFill>
          <a:schemeClr val="tx1"/>
        </a:solidFill>
        <a:latin typeface="Calibri" pitchFamily="34" charset="0"/>
        <a:ea typeface="+mn-ea"/>
        <a:cs typeface="+mn-cs"/>
      </a:defRPr>
    </a:lvl5pPr>
    <a:lvl6pPr marL="2285909" algn="l" defTabSz="914363" rtl="0" eaLnBrk="1" latinLnBrk="0" hangingPunct="1">
      <a:defRPr sz="1200" kern="1200">
        <a:solidFill>
          <a:schemeClr val="tx1"/>
        </a:solidFill>
        <a:latin typeface="+mn-lt"/>
        <a:ea typeface="+mn-ea"/>
        <a:cs typeface="+mn-cs"/>
      </a:defRPr>
    </a:lvl6pPr>
    <a:lvl7pPr marL="2743090" algn="l" defTabSz="914363" rtl="0" eaLnBrk="1" latinLnBrk="0" hangingPunct="1">
      <a:defRPr sz="1200" kern="1200">
        <a:solidFill>
          <a:schemeClr val="tx1"/>
        </a:solidFill>
        <a:latin typeface="+mn-lt"/>
        <a:ea typeface="+mn-ea"/>
        <a:cs typeface="+mn-cs"/>
      </a:defRPr>
    </a:lvl7pPr>
    <a:lvl8pPr marL="3200272" algn="l" defTabSz="914363" rtl="0" eaLnBrk="1" latinLnBrk="0" hangingPunct="1">
      <a:defRPr sz="1200" kern="1200">
        <a:solidFill>
          <a:schemeClr val="tx1"/>
        </a:solidFill>
        <a:latin typeface="+mn-lt"/>
        <a:ea typeface="+mn-ea"/>
        <a:cs typeface="+mn-cs"/>
      </a:defRPr>
    </a:lvl8pPr>
    <a:lvl9pPr marL="3657454" algn="l" defTabSz="91436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11/17/2008 2:35 PM</a:t>
            </a:fld>
            <a:endParaRPr lang="en-US" dirty="0"/>
          </a:p>
        </p:txBody>
      </p:sp>
      <p:sp>
        <p:nvSpPr>
          <p:cNvPr id="6" name="Footer Placeholder 5"/>
          <p:cNvSpPr>
            <a:spLocks noGrp="1"/>
          </p:cNvSpPr>
          <p:nvPr>
            <p:ph type="ftr" sz="quarter" idx="12"/>
          </p:nvPr>
        </p:nvSpPr>
        <p:spPr>
          <a:xfrm>
            <a:off x="0" y="8685213"/>
            <a:ext cx="6172200" cy="457200"/>
          </a:xfrm>
        </p:spPr>
        <p:txBody>
          <a:bodyPr/>
          <a:lstStyle/>
          <a:p>
            <a:r>
              <a:rPr lang="en-US" sz="500" dirty="0" smtClean="0">
                <a:solidFill>
                  <a:srgbClr val="000000"/>
                </a:solidFill>
                <a:latin typeface="Calibri" pitchFamily="34" charset="0"/>
              </a:rPr>
              <a:t>© 2008 Microsoft Corporation. All rights reserved. Microsoft, Windows, Windows Vista and other product names are or may be registered trademarks and/or trademarks in the U.S. and/or other countries.</a:t>
            </a:r>
          </a:p>
          <a:p>
            <a:r>
              <a:rPr lang="en-US" sz="500" dirty="0" smtClean="0">
                <a:solidFill>
                  <a:srgbClr val="000000"/>
                </a:solidFill>
                <a:latin typeface="Calibr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smtClean="0">
                <a:solidFill>
                  <a:srgbClr val="000000"/>
                </a:solidFill>
                <a:latin typeface="Calibri" pitchFamily="34" charset="0"/>
              </a:rPr>
            </a:br>
            <a:r>
              <a:rPr lang="en-US" sz="500" dirty="0" smtClean="0">
                <a:solidFill>
                  <a:srgbClr val="000000"/>
                </a:solidFill>
                <a:latin typeface="Calibri" pitchFamily="34" charset="0"/>
              </a:rPr>
              <a:t>MICROSOFT MAKES NO WARRANTIES, EXPRESS, IMPLIED OR STATUTORY, AS TO THE INFORMATION IN THIS PRESENTATION.</a:t>
            </a:r>
          </a:p>
          <a:p>
            <a:endParaRPr lang="en-US" sz="500" dirty="0">
              <a:latin typeface="Calibri" pitchFamily="34" charset="0"/>
            </a:endParaRPr>
          </a:p>
        </p:txBody>
      </p:sp>
      <p:sp>
        <p:nvSpPr>
          <p:cNvPr id="7" name="Slide Number Placeholder 6"/>
          <p:cNvSpPr>
            <a:spLocks noGrp="1"/>
          </p:cNvSpPr>
          <p:nvPr>
            <p:ph type="sldNum" sz="quarter" idx="13"/>
          </p:nvPr>
        </p:nvSpPr>
        <p:spPr>
          <a:xfrm>
            <a:off x="6172199" y="8685213"/>
            <a:ext cx="684213" cy="457200"/>
          </a:xfrm>
        </p:spPr>
        <p:txBody>
          <a:bodyPr/>
          <a:lstStyle/>
          <a:p>
            <a:fld id="{EC87E0CF-87F6-4B58-B8B8-DCAB2DAAF3CA}"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11/17/2008 2:35 PM</a:t>
            </a:fld>
            <a:endParaRPr lang="en-US" dirty="0"/>
          </a:p>
        </p:txBody>
      </p:sp>
      <p:sp>
        <p:nvSpPr>
          <p:cNvPr id="6" name="Footer Placeholder 5"/>
          <p:cNvSpPr>
            <a:spLocks noGrp="1"/>
          </p:cNvSpPr>
          <p:nvPr>
            <p:ph type="ftr" sz="quarter" idx="12"/>
          </p:nvPr>
        </p:nvSpPr>
        <p:spPr/>
        <p:txBody>
          <a:bodyPr/>
          <a:lstStyle/>
          <a:p>
            <a:r>
              <a:rPr lang="en-US" smtClean="0"/>
              <a:t>© 2007 Microsoft Corporation. All rights reserved. Microsoft, Windows, Windows Vista and other product names are or may be registered trademarks and/or trademarks in the U.S. and/or other countries.</a:t>
            </a:r>
          </a:p>
          <a:p>
            <a:r>
              <a:rPr lang="en-US" smtClean="0"/>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mtClean="0"/>
            </a:br>
            <a:r>
              <a:rPr lang="en-US" smtClean="0"/>
              <a:t>MICROSOFT MAKES NO WARRANTIES, EXPRESS, IMPLIED OR STATUTORY, AS TO THE INFORMATION IN THIS PRESENTATION.</a:t>
            </a:r>
          </a:p>
          <a:p>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2</a:t>
            </a:fld>
            <a:endParaRPr lang="en-US" dirty="0"/>
          </a:p>
        </p:txBody>
      </p:sp>
      <p:sp>
        <p:nvSpPr>
          <p:cNvPr id="12" name="Slide Image Placeholder 11"/>
          <p:cNvSpPr>
            <a:spLocks noGrp="1" noRot="1" noChangeAspect="1"/>
          </p:cNvSpPr>
          <p:nvPr>
            <p:ph type="sldImg"/>
          </p:nvPr>
        </p:nvSpPr>
        <p:spPr>
          <a:xfrm>
            <a:off x="1535113" y="457200"/>
            <a:ext cx="3736975" cy="2801938"/>
          </a:xfrm>
        </p:spPr>
      </p:sp>
      <p:sp>
        <p:nvSpPr>
          <p:cNvPr id="13" name="Notes Placeholder 12"/>
          <p:cNvSpPr>
            <a:spLocks noGrp="1"/>
          </p:cNvSpPr>
          <p:nvPr>
            <p:ph type="body" idx="1"/>
          </p:nvPr>
        </p:nvSpPr>
        <p:spPr/>
        <p:txBody>
          <a:bodyPr>
            <a:normAutofit/>
          </a:bodyPr>
          <a:lstStyle/>
          <a:p>
            <a:r>
              <a:rPr lang="en-US" dirty="0" smtClean="0"/>
              <a:t>Do you find “could services” scary?</a:t>
            </a:r>
          </a:p>
          <a:p>
            <a:r>
              <a:rPr lang="en-US" dirty="0" smtClean="0"/>
              <a:t>- More work</a:t>
            </a:r>
          </a:p>
          <a:p>
            <a:pPr>
              <a:buFontTx/>
              <a:buChar char="-"/>
            </a:pPr>
            <a:r>
              <a:rPr lang="en-US" dirty="0" smtClean="0"/>
              <a:t>Less control</a:t>
            </a:r>
          </a:p>
          <a:p>
            <a:pPr>
              <a:buFontTx/>
              <a:buChar char="-"/>
            </a:pPr>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11/17/2008 2:35 PM</a:t>
            </a:fld>
            <a:endParaRPr lang="en-US"/>
          </a:p>
        </p:txBody>
      </p:sp>
      <p:sp>
        <p:nvSpPr>
          <p:cNvPr id="6" name="Footer Placeholder 5"/>
          <p:cNvSpPr>
            <a:spLocks noGrp="1"/>
          </p:cNvSpPr>
          <p:nvPr>
            <p:ph type="ftr" sz="quarter" idx="12"/>
          </p:nvPr>
        </p:nvSpPr>
        <p:spPr/>
        <p:txBody>
          <a:bodyPr/>
          <a:lstStyle/>
          <a:p>
            <a:r>
              <a:rPr lang="en-US" smtClean="0"/>
              <a:t>© 2007 Microsoft Corporation. All rights reserved. Microsoft, Windows, Windows Vista and other product names are or may be registered trademarks and/or trademarks in the U.S. and/or other countries.</a:t>
            </a:r>
          </a:p>
          <a:p>
            <a:r>
              <a:rPr lang="en-US" smtClean="0"/>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mtClean="0"/>
            </a:br>
            <a:r>
              <a:rPr lang="en-US" smtClean="0"/>
              <a:t>MICROSOFT MAKES NO WARRANTIES, EXPRESS, IMPLIED OR STATUTORY, AS TO THE INFORMATION IN THIS PRESENTATION.</a:t>
            </a:r>
          </a:p>
          <a:p>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3</a:t>
            </a:fld>
            <a:endParaRPr lang="en-US" dirty="0"/>
          </a:p>
        </p:txBody>
      </p:sp>
      <p:sp>
        <p:nvSpPr>
          <p:cNvPr id="12" name="Slide Image Placeholder 11"/>
          <p:cNvSpPr>
            <a:spLocks noGrp="1" noRot="1" noChangeAspect="1"/>
          </p:cNvSpPr>
          <p:nvPr>
            <p:ph type="sldImg"/>
          </p:nvPr>
        </p:nvSpPr>
        <p:spPr>
          <a:xfrm>
            <a:off x="1535113" y="457200"/>
            <a:ext cx="3736975" cy="2801938"/>
          </a:xfrm>
        </p:spPr>
      </p:sp>
      <p:sp>
        <p:nvSpPr>
          <p:cNvPr id="13" name="Notes Placeholder 12"/>
          <p:cNvSpPr>
            <a:spLocks noGrp="1"/>
          </p:cNvSpPr>
          <p:nvPr>
            <p:ph type="body" idx="1"/>
          </p:nvPr>
        </p:nvSpPr>
        <p:spPr/>
        <p:txBody>
          <a:bodyPr>
            <a:normAutofit/>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SLIDE FOR EVERY MICROSOFT IDENTITY DECK</a:t>
            </a:r>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smtClean="0"/>
          </a:p>
        </p:txBody>
      </p:sp>
      <p:sp>
        <p:nvSpPr>
          <p:cNvPr id="4" name="Slide Number Placeholder 3"/>
          <p:cNvSpPr>
            <a:spLocks noGrp="1"/>
          </p:cNvSpPr>
          <p:nvPr>
            <p:ph type="sldNum" sz="quarter" idx="10"/>
          </p:nvPr>
        </p:nvSpPr>
        <p:spPr/>
        <p:txBody>
          <a:bodyPr/>
          <a:lstStyle/>
          <a:p>
            <a:fld id="{8B263312-38AA-4E1E-B2B5-0F8F122B24FE}" type="slidenum">
              <a:rPr lang="en-US" smtClean="0"/>
              <a:pPr/>
              <a:t>7</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smtClean="0"/>
          </a:p>
        </p:txBody>
      </p:sp>
      <p:sp>
        <p:nvSpPr>
          <p:cNvPr id="4" name="Slide Number Placeholder 3"/>
          <p:cNvSpPr>
            <a:spLocks noGrp="1"/>
          </p:cNvSpPr>
          <p:nvPr>
            <p:ph type="sldNum" sz="quarter" idx="10"/>
          </p:nvPr>
        </p:nvSpPr>
        <p:spPr/>
        <p:txBody>
          <a:bodyPr/>
          <a:lstStyle/>
          <a:p>
            <a:fld id="{8B263312-38AA-4E1E-B2B5-0F8F122B24FE}" type="slidenum">
              <a:rPr lang="en-US" smtClean="0"/>
              <a:pPr/>
              <a:t>11</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r>
              <a:rPr lang="en-US" sz="900" b="1" kern="1200" dirty="0" smtClean="0">
                <a:solidFill>
                  <a:schemeClr val="tx1"/>
                </a:solidFill>
                <a:latin typeface="Calibri" pitchFamily="34" charset="0"/>
                <a:ea typeface="+mn-ea"/>
                <a:cs typeface="+mn-cs"/>
              </a:rPr>
              <a:t>Talking Points - Services Connector Setup Demo</a:t>
            </a:r>
          </a:p>
          <a:p>
            <a:r>
              <a:rPr lang="en-US" sz="900" kern="1200" dirty="0" smtClean="0">
                <a:solidFill>
                  <a:schemeClr val="tx1"/>
                </a:solidFill>
                <a:latin typeface="Calibri" pitchFamily="34" charset="0"/>
                <a:ea typeface="+mn-ea"/>
                <a:cs typeface="+mn-cs"/>
              </a:rPr>
              <a:t> </a:t>
            </a:r>
          </a:p>
          <a:p>
            <a:pPr lvl="0"/>
            <a:r>
              <a:rPr lang="en-US" sz="900" b="1" kern="1200" dirty="0" smtClean="0">
                <a:solidFill>
                  <a:schemeClr val="tx1"/>
                </a:solidFill>
                <a:latin typeface="Calibri" pitchFamily="34" charset="0"/>
                <a:ea typeface="+mn-ea"/>
                <a:cs typeface="+mn-cs"/>
              </a:rPr>
              <a:t>Access Control</a:t>
            </a:r>
            <a:r>
              <a:rPr lang="en-US" sz="900" kern="1200" dirty="0" smtClean="0">
                <a:solidFill>
                  <a:schemeClr val="tx1"/>
                </a:solidFill>
                <a:latin typeface="Calibri" pitchFamily="34" charset="0"/>
                <a:ea typeface="+mn-ea"/>
                <a:cs typeface="+mn-cs"/>
              </a:rPr>
              <a:t> -- Microsoft Services Connector allows IT </a:t>
            </a:r>
            <a:r>
              <a:rPr lang="en-US" sz="900" kern="1200" dirty="0" err="1" smtClean="0">
                <a:solidFill>
                  <a:schemeClr val="tx1"/>
                </a:solidFill>
                <a:latin typeface="Calibri" pitchFamily="34" charset="0"/>
                <a:ea typeface="+mn-ea"/>
                <a:cs typeface="+mn-cs"/>
              </a:rPr>
              <a:t>admins</a:t>
            </a:r>
            <a:r>
              <a:rPr lang="en-US" sz="900" kern="1200" dirty="0" smtClean="0">
                <a:solidFill>
                  <a:schemeClr val="tx1"/>
                </a:solidFill>
                <a:latin typeface="Calibri" pitchFamily="34" charset="0"/>
                <a:ea typeface="+mn-ea"/>
                <a:cs typeface="+mn-cs"/>
              </a:rPr>
              <a:t> to control who accesses cloud services and what data is shared about those users with the services they access</a:t>
            </a:r>
          </a:p>
          <a:p>
            <a:pPr lvl="0"/>
            <a:r>
              <a:rPr lang="en-US" sz="900" b="1" kern="1200" dirty="0" smtClean="0">
                <a:solidFill>
                  <a:schemeClr val="tx1"/>
                </a:solidFill>
                <a:latin typeface="Calibri" pitchFamily="34" charset="0"/>
                <a:ea typeface="+mn-ea"/>
                <a:cs typeface="+mn-cs"/>
              </a:rPr>
              <a:t>Simple and Easy</a:t>
            </a:r>
            <a:r>
              <a:rPr lang="en-US" sz="900" kern="1200" dirty="0" smtClean="0">
                <a:solidFill>
                  <a:schemeClr val="tx1"/>
                </a:solidFill>
                <a:latin typeface="Calibri" pitchFamily="34" charset="0"/>
                <a:ea typeface="+mn-ea"/>
                <a:cs typeface="+mn-cs"/>
              </a:rPr>
              <a:t> -- Setting up Microsoft Services connector takes just 2 steps and about 5 </a:t>
            </a:r>
            <a:r>
              <a:rPr lang="en-US" sz="900" kern="1200" dirty="0" err="1" smtClean="0">
                <a:solidFill>
                  <a:schemeClr val="tx1"/>
                </a:solidFill>
                <a:latin typeface="Calibri" pitchFamily="34" charset="0"/>
                <a:ea typeface="+mn-ea"/>
                <a:cs typeface="+mn-cs"/>
              </a:rPr>
              <a:t>mins</a:t>
            </a:r>
            <a:r>
              <a:rPr lang="en-US" sz="900" kern="1200" dirty="0" smtClean="0">
                <a:solidFill>
                  <a:schemeClr val="tx1"/>
                </a:solidFill>
                <a:latin typeface="Calibri" pitchFamily="34" charset="0"/>
                <a:ea typeface="+mn-ea"/>
                <a:cs typeface="+mn-cs"/>
              </a:rPr>
              <a:t> of your time – it’s simple and it’s easy.</a:t>
            </a:r>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11/17/2008 2:35 PM</a:t>
            </a:fld>
            <a:endParaRPr lang="en-US"/>
          </a:p>
        </p:txBody>
      </p:sp>
      <p:sp>
        <p:nvSpPr>
          <p:cNvPr id="6" name="Footer Placeholder 5"/>
          <p:cNvSpPr>
            <a:spLocks noGrp="1"/>
          </p:cNvSpPr>
          <p:nvPr>
            <p:ph type="ftr" sz="quarter" idx="12"/>
          </p:nvPr>
        </p:nvSpPr>
        <p:spPr/>
        <p:txBody>
          <a:bodyPr/>
          <a:lstStyle/>
          <a:p>
            <a:r>
              <a:rPr lang="en-US" dirty="0" smtClean="0">
                <a:solidFill>
                  <a:srgbClr val="000000"/>
                </a:solidFill>
                <a:latin typeface="Calibri" pitchFamily="34" charset="0"/>
              </a:rPr>
              <a:t>© 2008 Microsoft Corporation. All rights reserved. Microsoft, Windows, Windows Vista and other product names are or may be registered trademarks and/or trademarks in the U.S. and/or other countries.</a:t>
            </a:r>
          </a:p>
          <a:p>
            <a:r>
              <a:rPr lang="en-US" dirty="0" smtClean="0">
                <a:solidFill>
                  <a:srgbClr val="000000"/>
                </a:solidFill>
                <a:latin typeface="Calibr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dirty="0" smtClean="0">
                <a:solidFill>
                  <a:srgbClr val="000000"/>
                </a:solidFill>
                <a:latin typeface="Calibri" pitchFamily="34" charset="0"/>
              </a:rPr>
            </a:br>
            <a:r>
              <a:rPr lang="en-US" dirty="0" smtClean="0">
                <a:solidFill>
                  <a:srgbClr val="000000"/>
                </a:solidFill>
                <a:latin typeface="Calibri" pitchFamily="34" charset="0"/>
              </a:rPr>
              <a:t>MICROSOFT MAKES NO WARRANTIES, EXPRESS, IMPLIED OR STATUTORY, AS TO THE INFORMATION IN THIS PRESENTATION.</a:t>
            </a:r>
          </a:p>
          <a:p>
            <a:endParaRPr lang="en-US" dirty="0">
              <a:latin typeface="Calibri" pitchFamily="34" charset="0"/>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pPr/>
              <a:t>12</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F7B60A7-BE35-42C4-BE08-75032A3AAEE8}" type="slidenum">
              <a:rPr lang="en-US" smtClean="0"/>
              <a:pPr/>
              <a:t>13</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r>
              <a:rPr lang="en-US" sz="900" b="1" kern="1200" dirty="0" smtClean="0">
                <a:solidFill>
                  <a:schemeClr val="tx1"/>
                </a:solidFill>
                <a:latin typeface="Calibri" pitchFamily="34" charset="0"/>
                <a:ea typeface="+mn-ea"/>
                <a:cs typeface="+mn-cs"/>
              </a:rPr>
              <a:t>Talking</a:t>
            </a:r>
            <a:r>
              <a:rPr lang="en-US" sz="900" b="1" kern="1200" baseline="0" dirty="0" smtClean="0">
                <a:solidFill>
                  <a:schemeClr val="tx1"/>
                </a:solidFill>
                <a:latin typeface="Calibri" pitchFamily="34" charset="0"/>
                <a:ea typeface="+mn-ea"/>
                <a:cs typeface="+mn-cs"/>
              </a:rPr>
              <a:t> Points - </a:t>
            </a:r>
            <a:r>
              <a:rPr lang="en-US" sz="900" b="1" kern="1200" dirty="0" err="1" smtClean="0">
                <a:solidFill>
                  <a:schemeClr val="tx1"/>
                </a:solidFill>
                <a:latin typeface="Calibri" pitchFamily="34" charset="0"/>
                <a:ea typeface="+mn-ea"/>
                <a:cs typeface="+mn-cs"/>
              </a:rPr>
              <a:t>CorpNet</a:t>
            </a:r>
            <a:r>
              <a:rPr lang="en-US" sz="900" b="1" kern="1200" dirty="0" smtClean="0">
                <a:solidFill>
                  <a:schemeClr val="tx1"/>
                </a:solidFill>
                <a:latin typeface="Calibri" pitchFamily="34" charset="0"/>
                <a:ea typeface="+mn-ea"/>
                <a:cs typeface="+mn-cs"/>
              </a:rPr>
              <a:t> Client Demo</a:t>
            </a:r>
          </a:p>
          <a:p>
            <a:r>
              <a:rPr lang="en-US" sz="900" kern="1200" dirty="0" smtClean="0">
                <a:solidFill>
                  <a:schemeClr val="tx1"/>
                </a:solidFill>
                <a:latin typeface="Calibri" pitchFamily="34" charset="0"/>
                <a:ea typeface="+mn-ea"/>
                <a:cs typeface="+mn-cs"/>
              </a:rPr>
              <a:t> </a:t>
            </a:r>
          </a:p>
          <a:p>
            <a:pPr lvl="0"/>
            <a:r>
              <a:rPr lang="en-US" sz="900" b="1" kern="1200" dirty="0" smtClean="0">
                <a:solidFill>
                  <a:schemeClr val="tx1"/>
                </a:solidFill>
                <a:latin typeface="Calibri" pitchFamily="34" charset="0"/>
                <a:ea typeface="+mn-ea"/>
                <a:cs typeface="+mn-cs"/>
              </a:rPr>
              <a:t>Seamless access from </a:t>
            </a:r>
            <a:r>
              <a:rPr lang="en-US" sz="900" b="1" kern="1200" dirty="0" err="1" smtClean="0">
                <a:solidFill>
                  <a:schemeClr val="tx1"/>
                </a:solidFill>
                <a:latin typeface="Calibri" pitchFamily="34" charset="0"/>
                <a:ea typeface="+mn-ea"/>
                <a:cs typeface="+mn-cs"/>
              </a:rPr>
              <a:t>CorpNet</a:t>
            </a:r>
            <a:r>
              <a:rPr lang="en-US" sz="900" kern="1200" dirty="0" smtClean="0">
                <a:solidFill>
                  <a:schemeClr val="tx1"/>
                </a:solidFill>
                <a:latin typeface="Calibri" pitchFamily="34" charset="0"/>
                <a:ea typeface="+mn-ea"/>
                <a:cs typeface="+mn-cs"/>
              </a:rPr>
              <a:t> -- With Microsoft services Connector, once I log in to my corporate network, I have seamless, 1 click access to all the Microsoft services hosted in the cloud.  It’s Simple.  And it’s easy. </a:t>
            </a:r>
          </a:p>
          <a:p>
            <a:endParaRPr lang="en-US" dirty="0" smtClean="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11/17/2008 2:35 PM</a:t>
            </a:fld>
            <a:endParaRPr lang="en-US"/>
          </a:p>
        </p:txBody>
      </p:sp>
      <p:sp>
        <p:nvSpPr>
          <p:cNvPr id="6" name="Footer Placeholder 5"/>
          <p:cNvSpPr>
            <a:spLocks noGrp="1"/>
          </p:cNvSpPr>
          <p:nvPr>
            <p:ph type="ftr" sz="quarter" idx="12"/>
          </p:nvPr>
        </p:nvSpPr>
        <p:spPr/>
        <p:txBody>
          <a:bodyPr/>
          <a:lstStyle/>
          <a:p>
            <a:r>
              <a:rPr lang="en-US" dirty="0" smtClean="0">
                <a:solidFill>
                  <a:srgbClr val="000000"/>
                </a:solidFill>
                <a:latin typeface="Calibri" pitchFamily="34" charset="0"/>
              </a:rPr>
              <a:t>© 2008 Microsoft Corporation. All rights reserved. Microsoft, Windows, Windows Vista and other product names are or may be registered trademarks and/or trademarks in the U.S. and/or other countries.</a:t>
            </a:r>
          </a:p>
          <a:p>
            <a:r>
              <a:rPr lang="en-US" dirty="0" smtClean="0">
                <a:solidFill>
                  <a:srgbClr val="000000"/>
                </a:solidFill>
                <a:latin typeface="Calibr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dirty="0" smtClean="0">
                <a:solidFill>
                  <a:srgbClr val="000000"/>
                </a:solidFill>
                <a:latin typeface="Calibri" pitchFamily="34" charset="0"/>
              </a:rPr>
            </a:br>
            <a:r>
              <a:rPr lang="en-US" dirty="0" smtClean="0">
                <a:solidFill>
                  <a:srgbClr val="000000"/>
                </a:solidFill>
                <a:latin typeface="Calibri" pitchFamily="34" charset="0"/>
              </a:rPr>
              <a:t>MICROSOFT MAKES NO WARRANTIES, EXPRESS, IMPLIED OR STATUTORY, AS TO THE INFORMATION IN THIS PRESENTATION.</a:t>
            </a:r>
          </a:p>
          <a:p>
            <a:endParaRPr lang="en-US" dirty="0">
              <a:latin typeface="Calibri" pitchFamily="34" charset="0"/>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pPr/>
              <a:t>14</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None/>
            </a:pPr>
            <a:endParaRPr lang="en-US" sz="2000" dirty="0" smtClean="0">
              <a:solidFill>
                <a:schemeClr val="tx1"/>
              </a:solidFill>
            </a:endParaRPr>
          </a:p>
          <a:p>
            <a:pPr marL="0" marR="0" indent="0" algn="l" defTabSz="914363" rtl="0" eaLnBrk="1" fontAlgn="auto" latinLnBrk="0" hangingPunct="1">
              <a:lnSpc>
                <a:spcPct val="90000"/>
              </a:lnSpc>
              <a:spcBef>
                <a:spcPts val="0"/>
              </a:spcBef>
              <a:spcAft>
                <a:spcPts val="333"/>
              </a:spcAft>
              <a:buClrTx/>
              <a:buSzTx/>
              <a:buFontTx/>
              <a:buNone/>
              <a:tabLst/>
              <a:defRPr/>
            </a:pPr>
            <a:r>
              <a:rPr lang="en-US" sz="900" dirty="0" smtClean="0"/>
              <a:t>Flexible and customizable end-user experience</a:t>
            </a:r>
          </a:p>
          <a:p>
            <a:endParaRPr lang="en-US" dirty="0"/>
          </a:p>
        </p:txBody>
      </p:sp>
      <p:sp>
        <p:nvSpPr>
          <p:cNvPr id="4" name="Slide Number Placeholder 3"/>
          <p:cNvSpPr>
            <a:spLocks noGrp="1"/>
          </p:cNvSpPr>
          <p:nvPr>
            <p:ph type="sldNum" sz="quarter" idx="10"/>
          </p:nvPr>
        </p:nvSpPr>
        <p:spPr/>
        <p:txBody>
          <a:bodyPr/>
          <a:lstStyle/>
          <a:p>
            <a:fld id="{9F7B60A7-BE35-42C4-BE08-75032A3AAEE8}" type="slidenum">
              <a:rPr lang="en-US" smtClean="0"/>
              <a:pPr/>
              <a:t>15</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r>
              <a:rPr lang="en-US" sz="900" b="1" kern="1200" dirty="0" smtClean="0">
                <a:solidFill>
                  <a:schemeClr val="tx1"/>
                </a:solidFill>
                <a:latin typeface="Calibri" pitchFamily="34" charset="0"/>
                <a:ea typeface="+mn-ea"/>
                <a:cs typeface="+mn-cs"/>
              </a:rPr>
              <a:t>Talking Points - Outside </a:t>
            </a:r>
            <a:r>
              <a:rPr lang="en-US" sz="900" b="1" kern="1200" dirty="0" err="1" smtClean="0">
                <a:solidFill>
                  <a:schemeClr val="tx1"/>
                </a:solidFill>
                <a:latin typeface="Calibri" pitchFamily="34" charset="0"/>
                <a:ea typeface="+mn-ea"/>
                <a:cs typeface="+mn-cs"/>
              </a:rPr>
              <a:t>CorpNet</a:t>
            </a:r>
            <a:r>
              <a:rPr lang="en-US" sz="900" b="1" kern="1200" dirty="0" smtClean="0">
                <a:solidFill>
                  <a:schemeClr val="tx1"/>
                </a:solidFill>
                <a:latin typeface="Calibri" pitchFamily="34" charset="0"/>
                <a:ea typeface="+mn-ea"/>
                <a:cs typeface="+mn-cs"/>
              </a:rPr>
              <a:t> Client Demo</a:t>
            </a:r>
          </a:p>
          <a:p>
            <a:r>
              <a:rPr lang="en-US" sz="900" kern="1200" dirty="0" smtClean="0">
                <a:solidFill>
                  <a:schemeClr val="tx1"/>
                </a:solidFill>
                <a:latin typeface="Calibri" pitchFamily="34" charset="0"/>
                <a:ea typeface="+mn-ea"/>
                <a:cs typeface="+mn-cs"/>
              </a:rPr>
              <a:t> </a:t>
            </a:r>
          </a:p>
          <a:p>
            <a:pPr lvl="0"/>
            <a:r>
              <a:rPr lang="en-US" sz="900" b="1" kern="1200" dirty="0" smtClean="0">
                <a:solidFill>
                  <a:schemeClr val="tx1"/>
                </a:solidFill>
                <a:latin typeface="Calibri" pitchFamily="34" charset="0"/>
                <a:ea typeface="+mn-ea"/>
                <a:cs typeface="+mn-cs"/>
              </a:rPr>
              <a:t>Inside and Outside </a:t>
            </a:r>
            <a:r>
              <a:rPr lang="en-US" sz="900" b="1" kern="1200" dirty="0" err="1" smtClean="0">
                <a:solidFill>
                  <a:schemeClr val="tx1"/>
                </a:solidFill>
                <a:latin typeface="Calibri" pitchFamily="34" charset="0"/>
                <a:ea typeface="+mn-ea"/>
                <a:cs typeface="+mn-cs"/>
              </a:rPr>
              <a:t>CorpNet</a:t>
            </a:r>
            <a:r>
              <a:rPr lang="en-US" sz="900" kern="1200" dirty="0" smtClean="0">
                <a:solidFill>
                  <a:schemeClr val="tx1"/>
                </a:solidFill>
                <a:latin typeface="Calibri" pitchFamily="34" charset="0"/>
                <a:ea typeface="+mn-ea"/>
                <a:cs typeface="+mn-cs"/>
              </a:rPr>
              <a:t> -- Microsoft Services Connector supports accessing cloud services from computers inside and outside my corporate network</a:t>
            </a:r>
          </a:p>
          <a:p>
            <a:pPr lvl="0"/>
            <a:r>
              <a:rPr lang="en-US" sz="900" b="1" kern="1200" dirty="0" smtClean="0">
                <a:solidFill>
                  <a:schemeClr val="tx1"/>
                </a:solidFill>
                <a:latin typeface="Calibri" pitchFamily="34" charset="0"/>
                <a:ea typeface="+mn-ea"/>
                <a:cs typeface="+mn-cs"/>
              </a:rPr>
              <a:t>Multiple Credential Types</a:t>
            </a:r>
            <a:r>
              <a:rPr lang="en-US" sz="900" kern="1200" dirty="0" smtClean="0">
                <a:solidFill>
                  <a:schemeClr val="tx1"/>
                </a:solidFill>
                <a:latin typeface="Calibri" pitchFamily="34" charset="0"/>
                <a:ea typeface="+mn-ea"/>
                <a:cs typeface="+mn-cs"/>
              </a:rPr>
              <a:t> -- Connector supports various forms of authentication in the Extranet – UN/PWD, Certificate, and Information Cards</a:t>
            </a:r>
          </a:p>
          <a:p>
            <a:pPr lvl="0"/>
            <a:r>
              <a:rPr lang="en-US" sz="900" b="1" kern="1200" dirty="0" smtClean="0">
                <a:solidFill>
                  <a:schemeClr val="tx1"/>
                </a:solidFill>
                <a:latin typeface="Calibri" pitchFamily="34" charset="0"/>
                <a:ea typeface="+mn-ea"/>
                <a:cs typeface="+mn-cs"/>
              </a:rPr>
              <a:t>Web Browser and Smart Client</a:t>
            </a:r>
            <a:r>
              <a:rPr lang="en-US" sz="900" kern="1200" dirty="0" smtClean="0">
                <a:solidFill>
                  <a:schemeClr val="tx1"/>
                </a:solidFill>
                <a:latin typeface="Calibri" pitchFamily="34" charset="0"/>
                <a:ea typeface="+mn-ea"/>
                <a:cs typeface="+mn-cs"/>
              </a:rPr>
              <a:t> -- Connector supports accessing cloud services using both web browsers and smart client applications like Live Mesh</a:t>
            </a:r>
          </a:p>
          <a:p>
            <a:pPr lvl="0"/>
            <a:r>
              <a:rPr lang="en-US" sz="900" b="1" kern="1200" dirty="0" smtClean="0">
                <a:solidFill>
                  <a:schemeClr val="tx1"/>
                </a:solidFill>
                <a:latin typeface="Calibri" pitchFamily="34" charset="0"/>
                <a:ea typeface="+mn-ea"/>
                <a:cs typeface="+mn-cs"/>
              </a:rPr>
              <a:t>Simple and Easy Access</a:t>
            </a:r>
            <a:r>
              <a:rPr lang="en-US" sz="900" kern="1200" dirty="0" smtClean="0">
                <a:solidFill>
                  <a:schemeClr val="tx1"/>
                </a:solidFill>
                <a:latin typeface="Calibri" pitchFamily="34" charset="0"/>
                <a:ea typeface="+mn-ea"/>
                <a:cs typeface="+mn-cs"/>
              </a:rPr>
              <a:t> -- With Microsoft Services Connector, the user experience of accessing a service in the cloud from outside my corporate network is simple and it’s easy.</a:t>
            </a:r>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11/17/2008 2:35 PM</a:t>
            </a:fld>
            <a:endParaRPr lang="en-US"/>
          </a:p>
        </p:txBody>
      </p:sp>
      <p:sp>
        <p:nvSpPr>
          <p:cNvPr id="6" name="Footer Placeholder 5"/>
          <p:cNvSpPr>
            <a:spLocks noGrp="1"/>
          </p:cNvSpPr>
          <p:nvPr>
            <p:ph type="ftr" sz="quarter" idx="12"/>
          </p:nvPr>
        </p:nvSpPr>
        <p:spPr/>
        <p:txBody>
          <a:bodyPr/>
          <a:lstStyle/>
          <a:p>
            <a:r>
              <a:rPr lang="en-US" dirty="0" smtClean="0">
                <a:solidFill>
                  <a:srgbClr val="000000"/>
                </a:solidFill>
                <a:latin typeface="Calibri" pitchFamily="34" charset="0"/>
              </a:rPr>
              <a:t>© 2008 Microsoft Corporation. All rights reserved. Microsoft, Windows, Windows Vista and other product names are or may be registered trademarks and/or trademarks in the U.S. and/or other countries.</a:t>
            </a:r>
          </a:p>
          <a:p>
            <a:r>
              <a:rPr lang="en-US" dirty="0" smtClean="0">
                <a:solidFill>
                  <a:srgbClr val="000000"/>
                </a:solidFill>
                <a:latin typeface="Calibr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dirty="0" smtClean="0">
                <a:solidFill>
                  <a:srgbClr val="000000"/>
                </a:solidFill>
                <a:latin typeface="Calibri" pitchFamily="34" charset="0"/>
              </a:rPr>
            </a:br>
            <a:r>
              <a:rPr lang="en-US" dirty="0" smtClean="0">
                <a:solidFill>
                  <a:srgbClr val="000000"/>
                </a:solidFill>
                <a:latin typeface="Calibri" pitchFamily="34" charset="0"/>
              </a:rPr>
              <a:t>MICROSOFT MAKES NO WARRANTIES, EXPRESS, IMPLIED OR STATUTORY, AS TO THE INFORMATION IN THIS PRESENTATION.</a:t>
            </a:r>
          </a:p>
          <a:p>
            <a:endParaRPr lang="en-US" dirty="0">
              <a:latin typeface="Calibri" pitchFamily="34" charset="0"/>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pPr/>
              <a:t>17</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Proxy server in DMZ</a:t>
            </a:r>
          </a:p>
          <a:p>
            <a:endParaRPr lang="en-US" dirty="0" smtClean="0"/>
          </a:p>
          <a:p>
            <a:r>
              <a:rPr lang="en-US" dirty="0" smtClean="0"/>
              <a:t>Multi-server options – shared config</a:t>
            </a:r>
          </a:p>
          <a:p>
            <a:endParaRPr lang="en-US" dirty="0" smtClean="0"/>
          </a:p>
          <a:p>
            <a:r>
              <a:rPr lang="en-US" dirty="0" smtClean="0"/>
              <a:t>Built on core “Geneva” technology</a:t>
            </a:r>
          </a:p>
          <a:p>
            <a:r>
              <a:rPr lang="en-US" dirty="0" smtClean="0"/>
              <a:t>Upgrade path == “Geneva” Server</a:t>
            </a:r>
          </a:p>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18</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F7B60A7-BE35-42C4-BE08-75032A3AAEE8}" type="slidenum">
              <a:rPr lang="en-US" smtClean="0"/>
              <a:pPr/>
              <a:t>20</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11/17/2008 2:35 PM</a:t>
            </a:fld>
            <a:endParaRPr lang="en-US"/>
          </a:p>
        </p:txBody>
      </p:sp>
      <p:sp>
        <p:nvSpPr>
          <p:cNvPr id="6" name="Footer Placeholder 5"/>
          <p:cNvSpPr>
            <a:spLocks noGrp="1"/>
          </p:cNvSpPr>
          <p:nvPr>
            <p:ph type="ftr" sz="quarter" idx="12"/>
          </p:nvPr>
        </p:nvSpPr>
        <p:spPr/>
        <p:txBody>
          <a:bodyPr/>
          <a:lstStyle/>
          <a:p>
            <a:r>
              <a:rPr lang="en-US" smtClean="0"/>
              <a:t>© 2007 Microsoft Corporation. All rights reserved. Microsoft, Windows, Windows Vista and other product names are or may be registered trademarks and/or trademarks in the U.S. and/or other countries.</a:t>
            </a:r>
          </a:p>
          <a:p>
            <a:r>
              <a:rPr lang="en-US" smtClean="0"/>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mtClean="0"/>
            </a:br>
            <a:r>
              <a:rPr lang="en-US" smtClean="0"/>
              <a:t>MICROSOFT MAKES NO WARRANTIES, EXPRESS, IMPLIED OR STATUTORY, AS TO THE INFORMATION IN THIS PRESENTATION.</a:t>
            </a:r>
          </a:p>
          <a:p>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21</a:t>
            </a:fld>
            <a:endParaRPr lang="en-US" dirty="0"/>
          </a:p>
        </p:txBody>
      </p:sp>
      <p:sp>
        <p:nvSpPr>
          <p:cNvPr id="12" name="Slide Image Placeholder 11"/>
          <p:cNvSpPr>
            <a:spLocks noGrp="1" noRot="1" noChangeAspect="1"/>
          </p:cNvSpPr>
          <p:nvPr>
            <p:ph type="sldImg"/>
          </p:nvPr>
        </p:nvSpPr>
        <p:spPr>
          <a:xfrm>
            <a:off x="1535113" y="457200"/>
            <a:ext cx="3736975" cy="2801938"/>
          </a:xfrm>
        </p:spPr>
      </p:sp>
      <p:sp>
        <p:nvSpPr>
          <p:cNvPr id="13" name="Notes Placeholder 12"/>
          <p:cNvSpPr>
            <a:spLocks noGrp="1"/>
          </p:cNvSpPr>
          <p:nvPr>
            <p:ph type="body" idx="1"/>
          </p:nvPr>
        </p:nvSpPr>
        <p:spPr/>
        <p:txBody>
          <a:bodyPr>
            <a:normAutofit/>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363" rtl="0" eaLnBrk="1" fontAlgn="auto" latinLnBrk="0" hangingPunct="1">
              <a:lnSpc>
                <a:spcPct val="90000"/>
              </a:lnSpc>
              <a:spcBef>
                <a:spcPts val="0"/>
              </a:spcBef>
              <a:spcAft>
                <a:spcPts val="333"/>
              </a:spcAft>
              <a:buClrTx/>
              <a:buSzTx/>
              <a:buFontTx/>
              <a:buNone/>
              <a:tabLst/>
              <a:defRPr/>
            </a:pPr>
            <a:r>
              <a:rPr lang="en-US" dirty="0" smtClean="0"/>
              <a:t>SPEAKERS PLEASE NOTE: our standard timing for your availability for Q&amp;A at the Ask-the-Experts</a:t>
            </a:r>
            <a:r>
              <a:rPr lang="en-US" baseline="0" dirty="0" smtClean="0"/>
              <a:t> pavilion </a:t>
            </a:r>
            <a:r>
              <a:rPr lang="en-US" dirty="0" smtClean="0"/>
              <a:t>will be the next lunch-break following your session, and variations from this standard will be scheduled based on your availability and for all Friday afternoon sessions. </a:t>
            </a:r>
          </a:p>
        </p:txBody>
      </p:sp>
      <p:sp>
        <p:nvSpPr>
          <p:cNvPr id="4" name="Slide Number Placeholder 3"/>
          <p:cNvSpPr>
            <a:spLocks noGrp="1"/>
          </p:cNvSpPr>
          <p:nvPr>
            <p:ph type="sldNum" sz="quarter" idx="10"/>
          </p:nvPr>
        </p:nvSpPr>
        <p:spPr/>
        <p:txBody>
          <a:bodyPr/>
          <a:lstStyle/>
          <a:p>
            <a:fld id="{8B263312-38AA-4E1E-B2B5-0F8F122B24FE}" type="slidenum">
              <a:rPr lang="en-US" smtClean="0"/>
              <a:pPr/>
              <a:t>22</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8B263312-38AA-4E1E-B2B5-0F8F122B24FE}" type="slidenum">
              <a:rPr lang="en-US" smtClean="0"/>
              <a:pPr/>
              <a:t>23</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eader Placeholder 3"/>
          <p:cNvSpPr>
            <a:spLocks noGrp="1"/>
          </p:cNvSpPr>
          <p:nvPr>
            <p:ph type="hdr" sz="quarter" idx="10"/>
          </p:nvPr>
        </p:nvSpPr>
        <p:spPr/>
        <p:txBody>
          <a:bodyPr/>
          <a:lstStyle/>
          <a:p>
            <a:pPr algn="l" defTabSz="914363" rtl="0"/>
            <a:endParaRPr lang="en-US" sz="1200" kern="1200" dirty="0">
              <a:solidFill>
                <a:prstClr val="black"/>
              </a:solidFill>
              <a:latin typeface="Calibri"/>
              <a:ea typeface="+mn-ea"/>
              <a:cs typeface="+mn-cs"/>
            </a:endParaRPr>
          </a:p>
        </p:txBody>
      </p:sp>
      <p:sp>
        <p:nvSpPr>
          <p:cNvPr id="5" name="Date Placeholder 4"/>
          <p:cNvSpPr>
            <a:spLocks noGrp="1"/>
          </p:cNvSpPr>
          <p:nvPr>
            <p:ph type="dt" idx="11"/>
          </p:nvPr>
        </p:nvSpPr>
        <p:spPr/>
        <p:txBody>
          <a:bodyPr/>
          <a:lstStyle/>
          <a:p>
            <a:pPr algn="r" defTabSz="914363" rtl="0"/>
            <a:fld id="{81331B57-0BE5-4F82-AA58-76F53EFF3ADA}" type="datetime8">
              <a:rPr lang="en-US" sz="1200" kern="1200">
                <a:solidFill>
                  <a:prstClr val="black"/>
                </a:solidFill>
                <a:latin typeface="Calibri"/>
                <a:ea typeface="+mn-ea"/>
                <a:cs typeface="+mn-cs"/>
              </a:rPr>
              <a:pPr algn="r" defTabSz="914363" rtl="0"/>
              <a:t>11/17/2008 2:35 PM</a:t>
            </a:fld>
            <a:endParaRPr lang="en-US" sz="1200" kern="1200" dirty="0">
              <a:solidFill>
                <a:prstClr val="black"/>
              </a:solidFill>
              <a:latin typeface="Calibri"/>
              <a:ea typeface="+mn-ea"/>
              <a:cs typeface="+mn-cs"/>
            </a:endParaRPr>
          </a:p>
        </p:txBody>
      </p:sp>
      <p:sp>
        <p:nvSpPr>
          <p:cNvPr id="6" name="Footer Placeholder 5"/>
          <p:cNvSpPr>
            <a:spLocks noGrp="1"/>
          </p:cNvSpPr>
          <p:nvPr>
            <p:ph type="ftr" sz="quarter" idx="12"/>
          </p:nvPr>
        </p:nvSpPr>
        <p:spPr/>
        <p:txBody>
          <a:bodyPr/>
          <a:lstStyle/>
          <a:p>
            <a:pPr algn="l" defTabSz="914363" rtl="0"/>
            <a:r>
              <a:rPr lang="en-US" sz="1200" kern="1200">
                <a:solidFill>
                  <a:prstClr val="black"/>
                </a:solidFill>
                <a:latin typeface="Calibri"/>
                <a:ea typeface="+mn-ea"/>
                <a:cs typeface="+mn-cs"/>
              </a:rPr>
              <a:t>© 2007 Microsoft Corporation. All rights reserved. Microsoft, Windows, Windows Vista and other product names are or may be registered trademarks and/or trademarks in the U.S. and/or other countries.</a:t>
            </a:r>
          </a:p>
          <a:p>
            <a:pPr algn="l" defTabSz="914363" rtl="0"/>
            <a:r>
              <a:rPr lang="en-US" sz="1200" kern="1200">
                <a:solidFill>
                  <a:prstClr val="black"/>
                </a:solidFill>
                <a:latin typeface="Calibri"/>
                <a:ea typeface="+mn-ea"/>
                <a:cs typeface="+mn-cs"/>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1200" kern="1200">
                <a:solidFill>
                  <a:prstClr val="black"/>
                </a:solidFill>
                <a:latin typeface="Calibri"/>
                <a:ea typeface="+mn-ea"/>
                <a:cs typeface="+mn-cs"/>
              </a:rPr>
            </a:br>
            <a:r>
              <a:rPr lang="en-US" sz="1200" kern="1200">
                <a:solidFill>
                  <a:prstClr val="black"/>
                </a:solidFill>
                <a:latin typeface="Calibri"/>
                <a:ea typeface="+mn-ea"/>
                <a:cs typeface="+mn-cs"/>
              </a:rPr>
              <a:t>MICROSOFT MAKES NO WARRANTIES, EXPRESS, IMPLIED OR STATUTORY, AS TO THE INFORMATION IN THIS PRESENTATION.</a:t>
            </a:r>
          </a:p>
          <a:p>
            <a:pPr algn="l" defTabSz="914363" rtl="0"/>
            <a:endParaRPr lang="en-US" sz="1200" kern="1200" dirty="0">
              <a:solidFill>
                <a:prstClr val="black"/>
              </a:solidFill>
              <a:latin typeface="Calibri"/>
              <a:ea typeface="+mn-ea"/>
              <a:cs typeface="+mn-cs"/>
            </a:endParaRPr>
          </a:p>
        </p:txBody>
      </p:sp>
      <p:sp>
        <p:nvSpPr>
          <p:cNvPr id="7" name="Slide Number Placeholder 6"/>
          <p:cNvSpPr>
            <a:spLocks noGrp="1"/>
          </p:cNvSpPr>
          <p:nvPr>
            <p:ph type="sldNum" sz="quarter" idx="13"/>
          </p:nvPr>
        </p:nvSpPr>
        <p:spPr/>
        <p:txBody>
          <a:bodyPr/>
          <a:lstStyle/>
          <a:p>
            <a:pPr algn="r" defTabSz="914363" rtl="0"/>
            <a:fld id="{EC87E0CF-87F6-4B58-B8B8-DCAB2DAAF3CA}" type="slidenum">
              <a:rPr lang="en-US" sz="1200" kern="1200">
                <a:solidFill>
                  <a:prstClr val="black"/>
                </a:solidFill>
                <a:latin typeface="Calibri"/>
                <a:ea typeface="+mn-ea"/>
                <a:cs typeface="+mn-cs"/>
              </a:rPr>
              <a:pPr algn="r" defTabSz="914363" rtl="0"/>
              <a:t>24</a:t>
            </a:fld>
            <a:endParaRPr lang="en-US" sz="1200" kern="1200" dirty="0">
              <a:solidFill>
                <a:prstClr val="black"/>
              </a:solidFill>
              <a:latin typeface="Calibri"/>
              <a:ea typeface="+mn-ea"/>
              <a:cs typeface="+mn-cs"/>
            </a:endParaRPr>
          </a:p>
        </p:txBody>
      </p:sp>
      <p:sp>
        <p:nvSpPr>
          <p:cNvPr id="12" name="Slide Image Placeholder 11"/>
          <p:cNvSpPr>
            <a:spLocks noGrp="1" noRot="1" noChangeAspect="1"/>
          </p:cNvSpPr>
          <p:nvPr>
            <p:ph type="sldImg"/>
          </p:nvPr>
        </p:nvSpPr>
        <p:spPr>
          <a:xfrm>
            <a:off x="1535113" y="457200"/>
            <a:ext cx="3736975" cy="2801938"/>
          </a:xfrm>
        </p:spPr>
      </p:sp>
      <p:sp>
        <p:nvSpPr>
          <p:cNvPr id="13" name="Notes Placeholder 12"/>
          <p:cNvSpPr>
            <a:spLocks noGrp="1"/>
          </p:cNvSpPr>
          <p:nvPr>
            <p:ph type="body" idx="1"/>
          </p:nvPr>
        </p:nvSpPr>
        <p:spPr/>
        <p:txBody>
          <a:bodyPr>
            <a:normAutofit/>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11/17/2008 2:35 PM</a:t>
            </a:fld>
            <a:endParaRPr lang="en-US"/>
          </a:p>
        </p:txBody>
      </p:sp>
      <p:sp>
        <p:nvSpPr>
          <p:cNvPr id="6" name="Footer Placeholder 5"/>
          <p:cNvSpPr>
            <a:spLocks noGrp="1"/>
          </p:cNvSpPr>
          <p:nvPr>
            <p:ph type="ftr" sz="quarter" idx="12"/>
          </p:nvPr>
        </p:nvSpPr>
        <p:spPr/>
        <p:txBody>
          <a:bodyPr/>
          <a:lstStyle/>
          <a:p>
            <a:r>
              <a:rPr lang="en-US" smtClean="0"/>
              <a:t>© 2007 Microsoft Corporation. All rights reserved. Microsoft, Windows, Windows Vista and other product names are or may be registered trademarks and/or trademarks in the U.S. and/or other countries.</a:t>
            </a:r>
          </a:p>
          <a:p>
            <a:r>
              <a:rPr lang="en-US" smtClean="0"/>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mtClean="0"/>
            </a:br>
            <a:r>
              <a:rPr lang="en-US" smtClean="0"/>
              <a:t>MICROSOFT MAKES NO WARRANTIES, EXPRESS, IMPLIED OR STATUTORY, AS TO THE INFORMATION IN THIS PRESENTATION.</a:t>
            </a:r>
          </a:p>
          <a:p>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25</a:t>
            </a:fld>
            <a:endParaRPr lang="en-US" dirty="0"/>
          </a:p>
        </p:txBody>
      </p:sp>
      <p:sp>
        <p:nvSpPr>
          <p:cNvPr id="12" name="Slide Image Placeholder 11"/>
          <p:cNvSpPr>
            <a:spLocks noGrp="1" noRot="1" noChangeAspect="1"/>
          </p:cNvSpPr>
          <p:nvPr>
            <p:ph type="sldImg"/>
          </p:nvPr>
        </p:nvSpPr>
        <p:spPr>
          <a:xfrm>
            <a:off x="1535113" y="457200"/>
            <a:ext cx="3736975" cy="2801938"/>
          </a:xfrm>
        </p:spPr>
      </p:sp>
      <p:sp>
        <p:nvSpPr>
          <p:cNvPr id="13" name="Notes Placeholder 12"/>
          <p:cNvSpPr>
            <a:spLocks noGrp="1"/>
          </p:cNvSpPr>
          <p:nvPr>
            <p:ph type="body" idx="1"/>
          </p:nvPr>
        </p:nvSpPr>
        <p:spPr/>
        <p:txBody>
          <a:bodyPr>
            <a:normAutofit/>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www.microsoft.com/teched" TargetMode="External"/><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hyperlink" Target="http://microsoft.com/technet"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Bottom_Bar_03.png"/>
          <p:cNvPicPr>
            <a:picLocks noChangeAspect="1"/>
          </p:cNvPicPr>
          <p:nvPr userDrawn="1"/>
        </p:nvPicPr>
        <p:blipFill>
          <a:blip r:embed="rId3"/>
          <a:stretch>
            <a:fillRect/>
          </a:stretch>
        </p:blipFill>
        <p:spPr>
          <a:xfrm>
            <a:off x="0" y="6268641"/>
            <a:ext cx="9144000" cy="589359"/>
          </a:xfrm>
          <a:prstGeom prst="rect">
            <a:avLst/>
          </a:prstGeom>
        </p:spPr>
      </p:pic>
      <p:sp>
        <p:nvSpPr>
          <p:cNvPr id="2" name="Title 1"/>
          <p:cNvSpPr>
            <a:spLocks noGrp="1"/>
          </p:cNvSpPr>
          <p:nvPr>
            <p:ph type="ctrTitle"/>
          </p:nvPr>
        </p:nvSpPr>
        <p:spPr>
          <a:xfrm>
            <a:off x="729663" y="1416051"/>
            <a:ext cx="7681913" cy="1523495"/>
          </a:xfrm>
        </p:spPr>
        <p:txBody>
          <a:bodyPr anchor="ctr">
            <a:noAutofit/>
          </a:bodyPr>
          <a:lstStyle>
            <a:lvl1pPr>
              <a:lnSpc>
                <a:spcPct val="90000"/>
              </a:lnSpc>
              <a:defRPr sz="4800">
                <a:solidFill>
                  <a:schemeClr val="tx1"/>
                </a:solidFill>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729663" y="3657601"/>
            <a:ext cx="7681913"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5" name="Slide Number Placeholder 6"/>
          <p:cNvSpPr txBox="1">
            <a:spLocks/>
          </p:cNvSpPr>
          <p:nvPr userDrawn="1"/>
        </p:nvSpPr>
        <p:spPr>
          <a:xfrm>
            <a:off x="95275" y="6400801"/>
            <a:ext cx="2132964" cy="365125"/>
          </a:xfrm>
          <a:prstGeom prst="rect">
            <a:avLst/>
          </a:prstGeom>
        </p:spPr>
        <p:txBody>
          <a:bodyPr vert="horz" lIns="0" tIns="0" rIns="0" bIns="0" rtlCol="0" anchor="b" anchorCtr="0"/>
          <a:lstStyle>
            <a:lvl1pPr algn="r">
              <a:defRPr sz="1200">
                <a:solidFill>
                  <a:schemeClr val="tx1">
                    <a:tint val="75000"/>
                  </a:schemeClr>
                </a:solidFill>
              </a:defRPr>
            </a:lvl1pPr>
          </a:lstStyle>
          <a:p>
            <a:pPr algn="l" defTabSz="914363" rtl="0">
              <a:defRPr/>
            </a:pPr>
            <a:fld id="{ACC6DABA-E178-49C8-B135-4378B6D3DD69}" type="slidenum">
              <a:rPr lang="en-US" sz="1400" kern="1200" smtClean="0">
                <a:solidFill>
                  <a:srgbClr val="404040"/>
                </a:solidFill>
                <a:latin typeface="Calibri"/>
                <a:ea typeface="+mn-ea"/>
                <a:cs typeface="+mn-cs"/>
              </a:rPr>
              <a:pPr algn="l" defTabSz="914363" rtl="0">
                <a:defRPr/>
              </a:pPr>
              <a:t>‹#›</a:t>
            </a:fld>
            <a:endParaRPr lang="en-US" sz="1400" kern="1200" dirty="0">
              <a:solidFill>
                <a:srgbClr val="404040"/>
              </a:solidFill>
              <a:latin typeface="Calibri"/>
              <a:ea typeface="+mn-ea"/>
              <a:cs typeface="+mn-cs"/>
            </a:endParaRPr>
          </a:p>
        </p:txBody>
      </p:sp>
      <p:pic>
        <p:nvPicPr>
          <p:cNvPr id="6" name="Picture 5" descr="TechEd IT Pro logo for title slide.png"/>
          <p:cNvPicPr>
            <a:picLocks noChangeAspect="1"/>
          </p:cNvPicPr>
          <p:nvPr userDrawn="1"/>
        </p:nvPicPr>
        <p:blipFill>
          <a:blip r:embed="rId4" cstate="email"/>
          <a:srcRect/>
          <a:stretch>
            <a:fillRect/>
          </a:stretch>
        </p:blipFill>
        <p:spPr bwMode="invGray">
          <a:xfrm>
            <a:off x="5943600" y="5257800"/>
            <a:ext cx="3200400" cy="1600200"/>
          </a:xfrm>
          <a:prstGeom prst="rect">
            <a:avLst/>
          </a:prstGeom>
        </p:spPr>
      </p:pic>
      <p:sp>
        <p:nvSpPr>
          <p:cNvPr id="8" name="Text Placeholder 7"/>
          <p:cNvSpPr>
            <a:spLocks noGrp="1"/>
          </p:cNvSpPr>
          <p:nvPr>
            <p:ph type="body" sz="quarter" idx="10" hasCustomPrompt="1"/>
          </p:nvPr>
        </p:nvSpPr>
        <p:spPr>
          <a:xfrm>
            <a:off x="733425" y="228600"/>
            <a:ext cx="3838575" cy="276999"/>
          </a:xfrm>
        </p:spPr>
        <p:txBody>
          <a:bodyPr/>
          <a:lstStyle>
            <a:lvl1pPr>
              <a:buFont typeface="Arial" pitchFamily="34" charset="0"/>
              <a:buNone/>
              <a:defRPr sz="2000">
                <a:solidFill>
                  <a:schemeClr val="tx1"/>
                </a:solidFill>
              </a:defRPr>
            </a:lvl1pPr>
          </a:lstStyle>
          <a:p>
            <a:pPr lvl="0"/>
            <a:r>
              <a:rPr lang="en-US" dirty="0" smtClean="0">
                <a:solidFill>
                  <a:schemeClr val="tx1"/>
                </a:solidFill>
              </a:rPr>
              <a:t>Session Code:</a:t>
            </a:r>
            <a:endParaRPr lang="en-US" dirty="0"/>
          </a:p>
        </p:txBody>
      </p:sp>
    </p:spTree>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Demo, Video etc. &quot;special&quot; slid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descr="Bottom_Bar_04.png"/>
          <p:cNvPicPr>
            <a:picLocks noChangeAspect="1"/>
          </p:cNvPicPr>
          <p:nvPr userDrawn="1"/>
        </p:nvPicPr>
        <p:blipFill>
          <a:blip r:embed="rId3"/>
          <a:stretch>
            <a:fillRect/>
          </a:stretch>
        </p:blipFill>
        <p:spPr>
          <a:xfrm>
            <a:off x="0" y="5741789"/>
            <a:ext cx="9144000" cy="1116211"/>
          </a:xfrm>
          <a:prstGeom prst="rect">
            <a:avLst/>
          </a:prstGeom>
        </p:spPr>
      </p:pic>
      <p:sp>
        <p:nvSpPr>
          <p:cNvPr id="2" name="Title 1"/>
          <p:cNvSpPr>
            <a:spLocks noGrp="1"/>
          </p:cNvSpPr>
          <p:nvPr>
            <p:ph type="ctrTitle"/>
          </p:nvPr>
        </p:nvSpPr>
        <p:spPr>
          <a:xfrm>
            <a:off x="1370014" y="381506"/>
            <a:ext cx="6994362" cy="1523494"/>
          </a:xfrm>
        </p:spPr>
        <p:txBody>
          <a:bodyPr anchor="b" anchorCtr="0">
            <a:noAutofit/>
          </a:bodyPr>
          <a:lstStyle>
            <a:lvl1pPr>
              <a:lnSpc>
                <a:spcPct val="90000"/>
              </a:lnSpc>
              <a:defRPr sz="480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370014" y="3657601"/>
            <a:ext cx="6994362"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370013" y="1905000"/>
            <a:ext cx="6994950" cy="1384994"/>
          </a:xfrm>
          <a:scene3d>
            <a:camera prst="orthographicFront"/>
            <a:lightRig rig="contrasting" dir="t"/>
          </a:scene3d>
          <a:sp3d/>
        </p:spPr>
        <p:txBody>
          <a:bodyPr anchor="t" anchorCtr="0">
            <a:noAutofit/>
            <a:sp3d extrusionH="57150">
              <a:bevelT w="19050" h="31750"/>
              <a:contourClr>
                <a:srgbClr val="CCFF99"/>
              </a:contourClr>
            </a:sp3d>
          </a:bodyPr>
          <a:lstStyle>
            <a:lvl1pPr marL="0" indent="0" algn="l">
              <a:buFont typeface="Arial" pitchFamily="34" charset="0"/>
              <a:buNone/>
              <a:defRPr kumimoji="0" lang="en-US" sz="10000" b="0" i="0" u="none" strike="noStrike" kern="1200" cap="none" spc="-500" normalizeH="0" baseline="0" noProof="0" dirty="0" smtClean="0">
                <a:ln w="11430"/>
                <a:gradFill flip="none" rotWithShape="1">
                  <a:gsLst>
                    <a:gs pos="0">
                      <a:srgbClr val="FFFFFF"/>
                    </a:gs>
                    <a:gs pos="28000">
                      <a:srgbClr val="B0DEFE"/>
                    </a:gs>
                    <a:gs pos="62000">
                      <a:srgbClr val="5DBDFF"/>
                    </a:gs>
                    <a:gs pos="88000">
                      <a:srgbClr val="0386D7"/>
                    </a:gs>
                  </a:gsLst>
                  <a:lin ang="5400000" scaled="1"/>
                  <a:tileRect/>
                </a:gradFill>
                <a:effectLst/>
                <a:uLnTx/>
                <a:uFillTx/>
                <a:latin typeface="Calibri" pitchFamily="34" charset="0"/>
                <a:ea typeface="+mn-ea"/>
                <a:cs typeface="+mn-cs"/>
              </a:defRPr>
            </a:lvl1pPr>
          </a:lstStyle>
          <a:p>
            <a:pPr lvl="0"/>
            <a:r>
              <a:rPr lang="en-US" dirty="0" smtClean="0"/>
              <a:t>click to…</a:t>
            </a:r>
          </a:p>
        </p:txBody>
      </p:sp>
      <p:sp>
        <p:nvSpPr>
          <p:cNvPr id="5" name="Slide Number Placeholder 6"/>
          <p:cNvSpPr txBox="1">
            <a:spLocks/>
          </p:cNvSpPr>
          <p:nvPr userDrawn="1"/>
        </p:nvSpPr>
        <p:spPr>
          <a:xfrm>
            <a:off x="95275" y="6400801"/>
            <a:ext cx="2132964" cy="365125"/>
          </a:xfrm>
          <a:prstGeom prst="rect">
            <a:avLst/>
          </a:prstGeom>
        </p:spPr>
        <p:txBody>
          <a:bodyPr vert="horz" lIns="0" tIns="0" rIns="0" bIns="0" rtlCol="0" anchor="b" anchorCtr="0"/>
          <a:lstStyle>
            <a:lvl1pPr algn="r">
              <a:defRPr sz="1200">
                <a:solidFill>
                  <a:schemeClr val="tx1">
                    <a:tint val="75000"/>
                  </a:schemeClr>
                </a:solidFill>
              </a:defRPr>
            </a:lvl1pPr>
          </a:lstStyle>
          <a:p>
            <a:pPr algn="l" defTabSz="914363" rtl="0">
              <a:defRPr/>
            </a:pPr>
            <a:fld id="{ACC6DABA-E178-49C8-B135-4378B6D3DD69}" type="slidenum">
              <a:rPr lang="en-US" sz="1400" kern="1200" smtClean="0">
                <a:solidFill>
                  <a:srgbClr val="404040"/>
                </a:solidFill>
                <a:latin typeface="Calibri"/>
                <a:ea typeface="+mn-ea"/>
                <a:cs typeface="+mn-cs"/>
              </a:rPr>
              <a:pPr algn="l" defTabSz="914363" rtl="0">
                <a:defRPr/>
              </a:pPr>
              <a:t>‹#›</a:t>
            </a:fld>
            <a:endParaRPr lang="en-US" sz="1400" kern="1200" dirty="0">
              <a:solidFill>
                <a:srgbClr val="404040"/>
              </a:solidFill>
              <a:latin typeface="Calibri"/>
              <a:ea typeface="+mn-ea"/>
              <a:cs typeface="+mn-cs"/>
            </a:endParaRPr>
          </a:p>
        </p:txBody>
      </p:sp>
    </p:spTree>
  </p:cSld>
  <p:clrMapOvr>
    <a:masterClrMapping/>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idx="1"/>
          </p:nvPr>
        </p:nvSpPr>
        <p:spPr>
          <a:xfrm>
            <a:off x="381000" y="1412875"/>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6"/>
          <p:cNvSpPr txBox="1">
            <a:spLocks/>
          </p:cNvSpPr>
          <p:nvPr userDrawn="1"/>
        </p:nvSpPr>
        <p:spPr>
          <a:xfrm>
            <a:off x="95275" y="6400801"/>
            <a:ext cx="2132964" cy="365125"/>
          </a:xfrm>
          <a:prstGeom prst="rect">
            <a:avLst/>
          </a:prstGeom>
        </p:spPr>
        <p:txBody>
          <a:bodyPr vert="horz" lIns="0" tIns="0" rIns="0" bIns="0" rtlCol="0" anchor="b" anchorCtr="0"/>
          <a:lstStyle>
            <a:lvl1pPr algn="r">
              <a:defRPr sz="1200">
                <a:solidFill>
                  <a:schemeClr val="tx1">
                    <a:tint val="75000"/>
                  </a:schemeClr>
                </a:solidFill>
              </a:defRPr>
            </a:lvl1pPr>
          </a:lstStyle>
          <a:p>
            <a:pPr algn="l" defTabSz="914363" rtl="0">
              <a:defRPr/>
            </a:pPr>
            <a:fld id="{ACC6DABA-E178-49C8-B135-4378B6D3DD69}" type="slidenum">
              <a:rPr lang="en-US" sz="1400" kern="1200" smtClean="0">
                <a:solidFill>
                  <a:srgbClr val="FFFFFF">
                    <a:tint val="75000"/>
                  </a:srgbClr>
                </a:solidFill>
                <a:latin typeface="Calibri"/>
                <a:ea typeface="+mn-ea"/>
                <a:cs typeface="+mn-cs"/>
              </a:rPr>
              <a:pPr algn="l" defTabSz="914363" rtl="0">
                <a:defRPr/>
              </a:pPr>
              <a:t>‹#›</a:t>
            </a:fld>
            <a:endParaRPr lang="en-US" sz="1400" kern="1200" dirty="0">
              <a:solidFill>
                <a:srgbClr val="FFFFFF">
                  <a:tint val="75000"/>
                </a:srgbClr>
              </a:solidFill>
              <a:latin typeface="Calibri"/>
              <a:ea typeface="+mn-ea"/>
              <a:cs typeface="+mn-cs"/>
            </a:endParaRPr>
          </a:p>
        </p:txBody>
      </p:sp>
    </p:spTree>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sz="half" idx="1"/>
          </p:nvPr>
        </p:nvSpPr>
        <p:spPr>
          <a:xfrm>
            <a:off x="381001" y="1411553"/>
            <a:ext cx="4114800" cy="2129814"/>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411553"/>
            <a:ext cx="4114800" cy="2129814"/>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Slide Number Placeholder 6"/>
          <p:cNvSpPr txBox="1">
            <a:spLocks/>
          </p:cNvSpPr>
          <p:nvPr userDrawn="1"/>
        </p:nvSpPr>
        <p:spPr>
          <a:xfrm>
            <a:off x="95275" y="6400801"/>
            <a:ext cx="2132964" cy="365125"/>
          </a:xfrm>
          <a:prstGeom prst="rect">
            <a:avLst/>
          </a:prstGeom>
        </p:spPr>
        <p:txBody>
          <a:bodyPr vert="horz" lIns="0" tIns="0" rIns="0" bIns="0" rtlCol="0" anchor="b" anchorCtr="0"/>
          <a:lstStyle>
            <a:lvl1pPr algn="r">
              <a:defRPr sz="1200">
                <a:solidFill>
                  <a:schemeClr val="tx1">
                    <a:tint val="75000"/>
                  </a:schemeClr>
                </a:solidFill>
              </a:defRPr>
            </a:lvl1pPr>
          </a:lstStyle>
          <a:p>
            <a:pPr algn="l" defTabSz="914363" rtl="0">
              <a:defRPr/>
            </a:pPr>
            <a:fld id="{ACC6DABA-E178-49C8-B135-4378B6D3DD69}" type="slidenum">
              <a:rPr lang="en-US" sz="1400" kern="1200" smtClean="0">
                <a:solidFill>
                  <a:srgbClr val="FFFFFF">
                    <a:tint val="75000"/>
                  </a:srgbClr>
                </a:solidFill>
                <a:latin typeface="Calibri"/>
                <a:ea typeface="+mn-ea"/>
                <a:cs typeface="+mn-cs"/>
              </a:rPr>
              <a:pPr algn="l" defTabSz="914363" rtl="0">
                <a:defRPr/>
              </a:pPr>
              <a:t>‹#›</a:t>
            </a:fld>
            <a:endParaRPr lang="en-US" sz="1400" kern="1200" dirty="0">
              <a:solidFill>
                <a:srgbClr val="FFFFFF">
                  <a:tint val="75000"/>
                </a:srgbClr>
              </a:solidFill>
              <a:latin typeface="Calibri"/>
              <a:ea typeface="+mn-ea"/>
              <a:cs typeface="+mn-cs"/>
            </a:endParaRP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381001" y="1411554"/>
            <a:ext cx="41148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381000" y="2174875"/>
            <a:ext cx="41148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982" y="1411554"/>
            <a:ext cx="4117019"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117974"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Slide Number Placeholder 6"/>
          <p:cNvSpPr txBox="1">
            <a:spLocks/>
          </p:cNvSpPr>
          <p:nvPr userDrawn="1"/>
        </p:nvSpPr>
        <p:spPr>
          <a:xfrm>
            <a:off x="95275" y="6400801"/>
            <a:ext cx="2132964" cy="365125"/>
          </a:xfrm>
          <a:prstGeom prst="rect">
            <a:avLst/>
          </a:prstGeom>
        </p:spPr>
        <p:txBody>
          <a:bodyPr vert="horz" lIns="0" tIns="0" rIns="0" bIns="0" rtlCol="0" anchor="b" anchorCtr="0"/>
          <a:lstStyle>
            <a:lvl1pPr algn="r">
              <a:defRPr sz="1200">
                <a:solidFill>
                  <a:schemeClr val="tx1">
                    <a:tint val="75000"/>
                  </a:schemeClr>
                </a:solidFill>
              </a:defRPr>
            </a:lvl1pPr>
          </a:lstStyle>
          <a:p>
            <a:pPr algn="l" defTabSz="914363" rtl="0">
              <a:defRPr/>
            </a:pPr>
            <a:fld id="{ACC6DABA-E178-49C8-B135-4378B6D3DD69}" type="slidenum">
              <a:rPr lang="en-US" sz="1400" kern="1200" smtClean="0">
                <a:solidFill>
                  <a:srgbClr val="FFFFFF">
                    <a:tint val="75000"/>
                  </a:srgbClr>
                </a:solidFill>
                <a:latin typeface="Calibri"/>
                <a:ea typeface="+mn-ea"/>
                <a:cs typeface="+mn-cs"/>
              </a:rPr>
              <a:pPr algn="l" defTabSz="914363" rtl="0">
                <a:defRPr/>
              </a:pPr>
              <a:t>‹#›</a:t>
            </a:fld>
            <a:endParaRPr lang="en-US" sz="1400" kern="1200" dirty="0">
              <a:solidFill>
                <a:srgbClr val="FFFFFF">
                  <a:tint val="75000"/>
                </a:srgbClr>
              </a:solidFill>
              <a:latin typeface="Calibri"/>
              <a:ea typeface="+mn-ea"/>
              <a:cs typeface="+mn-cs"/>
            </a:endParaRP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5" name="Slide Number Placeholder 6"/>
          <p:cNvSpPr txBox="1">
            <a:spLocks/>
          </p:cNvSpPr>
          <p:nvPr userDrawn="1"/>
        </p:nvSpPr>
        <p:spPr>
          <a:xfrm>
            <a:off x="95275" y="6400801"/>
            <a:ext cx="2132964" cy="365125"/>
          </a:xfrm>
          <a:prstGeom prst="rect">
            <a:avLst/>
          </a:prstGeom>
        </p:spPr>
        <p:txBody>
          <a:bodyPr vert="horz" lIns="0" tIns="0" rIns="0" bIns="0" rtlCol="0" anchor="b" anchorCtr="0"/>
          <a:lstStyle>
            <a:lvl1pPr algn="r">
              <a:defRPr sz="1200">
                <a:solidFill>
                  <a:schemeClr val="tx1">
                    <a:tint val="75000"/>
                  </a:schemeClr>
                </a:solidFill>
              </a:defRPr>
            </a:lvl1pPr>
          </a:lstStyle>
          <a:p>
            <a:pPr algn="l" defTabSz="914363" rtl="0">
              <a:defRPr/>
            </a:pPr>
            <a:fld id="{ACC6DABA-E178-49C8-B135-4378B6D3DD69}" type="slidenum">
              <a:rPr lang="en-US" sz="1400" kern="1200" smtClean="0">
                <a:solidFill>
                  <a:srgbClr val="FFFFFF">
                    <a:tint val="75000"/>
                  </a:srgbClr>
                </a:solidFill>
                <a:latin typeface="Calibri"/>
                <a:ea typeface="+mn-ea"/>
                <a:cs typeface="+mn-cs"/>
              </a:rPr>
              <a:pPr algn="l" defTabSz="914363" rtl="0">
                <a:defRPr/>
              </a:pPr>
              <a:t>‹#›</a:t>
            </a:fld>
            <a:endParaRPr lang="en-US" sz="1400" kern="1200" dirty="0">
              <a:solidFill>
                <a:srgbClr val="FFFFFF">
                  <a:tint val="75000"/>
                </a:srgbClr>
              </a:solidFill>
              <a:latin typeface="Calibri"/>
              <a:ea typeface="+mn-ea"/>
              <a:cs typeface="+mn-cs"/>
            </a:endParaRPr>
          </a:p>
        </p:txBody>
      </p:sp>
    </p:spTree>
  </p:cSld>
  <p:clrMapOvr>
    <a:masterClrMapping/>
  </p:clrMapOvr>
  <p:transition>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ight background developer code">
    <p:spTree>
      <p:nvGrpSpPr>
        <p:cNvPr id="1" name=""/>
        <p:cNvGrpSpPr/>
        <p:nvPr/>
      </p:nvGrpSpPr>
      <p:grpSpPr>
        <a:xfrm>
          <a:off x="0" y="0"/>
          <a:ext cx="0" cy="0"/>
          <a:chOff x="0" y="0"/>
          <a:chExt cx="0" cy="0"/>
        </a:xfrm>
      </p:grpSpPr>
      <p:pic>
        <p:nvPicPr>
          <p:cNvPr id="8" name="Picture 7" descr="code slide background.png"/>
          <p:cNvPicPr>
            <a:picLocks noChangeAspect="1"/>
          </p:cNvPicPr>
          <p:nvPr userDrawn="1"/>
        </p:nvPicPr>
        <p:blipFill>
          <a:blip r:embed="rId2"/>
          <a:stretch>
            <a:fillRect/>
          </a:stretch>
        </p:blipFill>
        <p:spPr bwMode="white">
          <a:xfrm>
            <a:off x="0" y="414338"/>
            <a:ext cx="9144000" cy="6443662"/>
          </a:xfrm>
          <a:prstGeom prst="rect">
            <a:avLst/>
          </a:prstGeom>
        </p:spPr>
      </p:pic>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7" name="Text Placeholder 6"/>
          <p:cNvSpPr>
            <a:spLocks noGrp="1"/>
          </p:cNvSpPr>
          <p:nvPr>
            <p:ph type="body" sz="quarter" idx="10"/>
          </p:nvPr>
        </p:nvSpPr>
        <p:spPr>
          <a:xfrm>
            <a:off x="387055" y="1572364"/>
            <a:ext cx="8346073" cy="1698927"/>
          </a:xfrm>
        </p:spPr>
        <p:txBody>
          <a:bodyPr/>
          <a:lstStyle>
            <a:lvl1pPr marL="0" indent="0">
              <a:lnSpc>
                <a:spcPct val="80000"/>
              </a:lnSpc>
              <a:buFontTx/>
              <a:buNone/>
              <a:defRPr sz="2800" b="0">
                <a:solidFill>
                  <a:srgbClr val="000000"/>
                </a:solidFill>
                <a:latin typeface="Consolas" pitchFamily="49" charset="0"/>
                <a:cs typeface="Courier New" pitchFamily="49" charset="0"/>
              </a:defRPr>
            </a:lvl1pPr>
            <a:lvl2pPr marL="457200" indent="6350">
              <a:lnSpc>
                <a:spcPct val="80000"/>
              </a:lnSpc>
              <a:buFontTx/>
              <a:buNone/>
              <a:defRPr sz="2400" b="0">
                <a:solidFill>
                  <a:srgbClr val="000000"/>
                </a:solidFill>
                <a:latin typeface="Consolas" pitchFamily="49" charset="0"/>
                <a:cs typeface="Courier New" pitchFamily="49" charset="0"/>
              </a:defRPr>
            </a:lvl2pPr>
            <a:lvl3pPr marL="796925" indent="0">
              <a:lnSpc>
                <a:spcPct val="80000"/>
              </a:lnSpc>
              <a:buFontTx/>
              <a:buNone/>
              <a:defRPr sz="2000" b="0">
                <a:solidFill>
                  <a:srgbClr val="000000"/>
                </a:solidFill>
                <a:latin typeface="Consolas" pitchFamily="49" charset="0"/>
                <a:cs typeface="Courier New" pitchFamily="49" charset="0"/>
              </a:defRPr>
            </a:lvl3pPr>
            <a:lvl4pPr marL="1147763" indent="20638">
              <a:lnSpc>
                <a:spcPct val="80000"/>
              </a:lnSpc>
              <a:buFontTx/>
              <a:buNone/>
              <a:defRPr sz="2000" b="0">
                <a:solidFill>
                  <a:srgbClr val="000000"/>
                </a:solidFill>
                <a:latin typeface="Consolas" pitchFamily="49" charset="0"/>
                <a:cs typeface="Courier New" pitchFamily="49" charset="0"/>
              </a:defRPr>
            </a:lvl4pPr>
            <a:lvl5pPr marL="1489075" indent="0">
              <a:lnSpc>
                <a:spcPct val="80000"/>
              </a:lnSpc>
              <a:buFontTx/>
              <a:buNone/>
              <a:defRPr sz="2000" b="0">
                <a:solidFill>
                  <a:srgbClr val="000000"/>
                </a:solidFill>
                <a:latin typeface="Consolas" pitchFamily="49" charset="0"/>
                <a:cs typeface="Courier New" pitchFamily="49"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Slide Number Placeholder 6"/>
          <p:cNvSpPr txBox="1">
            <a:spLocks/>
          </p:cNvSpPr>
          <p:nvPr userDrawn="1"/>
        </p:nvSpPr>
        <p:spPr>
          <a:xfrm>
            <a:off x="95275" y="6400801"/>
            <a:ext cx="2132964" cy="365125"/>
          </a:xfrm>
          <a:prstGeom prst="rect">
            <a:avLst/>
          </a:prstGeom>
        </p:spPr>
        <p:txBody>
          <a:bodyPr vert="horz" lIns="0" tIns="0" rIns="0" bIns="0" rtlCol="0" anchor="b" anchorCtr="0"/>
          <a:lstStyle>
            <a:lvl1pPr algn="r">
              <a:defRPr sz="1200">
                <a:solidFill>
                  <a:schemeClr val="tx1">
                    <a:tint val="75000"/>
                  </a:schemeClr>
                </a:solidFill>
              </a:defRPr>
            </a:lvl1pPr>
          </a:lstStyle>
          <a:p>
            <a:pPr algn="l" defTabSz="914363" rtl="0">
              <a:defRPr/>
            </a:pPr>
            <a:fld id="{ACC6DABA-E178-49C8-B135-4378B6D3DD69}" type="slidenum">
              <a:rPr lang="en-US" sz="1400" kern="1200" smtClean="0">
                <a:solidFill>
                  <a:srgbClr val="FFFFFF">
                    <a:tint val="75000"/>
                  </a:srgbClr>
                </a:solidFill>
                <a:latin typeface="Calibri"/>
                <a:ea typeface="+mn-ea"/>
                <a:cs typeface="+mn-cs"/>
              </a:rPr>
              <a:pPr algn="l" defTabSz="914363" rtl="0">
                <a:defRPr/>
              </a:pPr>
              <a:t>‹#›</a:t>
            </a:fld>
            <a:endParaRPr lang="en-US" sz="1400" kern="1200" dirty="0">
              <a:solidFill>
                <a:srgbClr val="FFFFFF">
                  <a:tint val="75000"/>
                </a:srgbClr>
              </a:solidFill>
              <a:latin typeface="Calibri"/>
              <a:ea typeface="+mn-ea"/>
              <a:cs typeface="+mn-cs"/>
            </a:endParaRPr>
          </a:p>
        </p:txBody>
      </p:sp>
    </p:spTree>
  </p:cSld>
  <p:clrMapOvr>
    <a:masterClrMapping/>
  </p:clrMapOvr>
  <p:transition>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6"/>
          <p:cNvSpPr txBox="1">
            <a:spLocks/>
          </p:cNvSpPr>
          <p:nvPr userDrawn="1"/>
        </p:nvSpPr>
        <p:spPr>
          <a:xfrm>
            <a:off x="95275" y="6400801"/>
            <a:ext cx="2132964" cy="365125"/>
          </a:xfrm>
          <a:prstGeom prst="rect">
            <a:avLst/>
          </a:prstGeom>
        </p:spPr>
        <p:txBody>
          <a:bodyPr vert="horz" lIns="0" tIns="0" rIns="0" bIns="0" rtlCol="0" anchor="b" anchorCtr="0"/>
          <a:lstStyle>
            <a:lvl1pPr algn="r">
              <a:defRPr sz="1200">
                <a:solidFill>
                  <a:schemeClr val="tx1">
                    <a:tint val="75000"/>
                  </a:schemeClr>
                </a:solidFill>
              </a:defRPr>
            </a:lvl1pPr>
          </a:lstStyle>
          <a:p>
            <a:pPr algn="l" defTabSz="914363" rtl="0">
              <a:defRPr/>
            </a:pPr>
            <a:fld id="{ACC6DABA-E178-49C8-B135-4378B6D3DD69}" type="slidenum">
              <a:rPr lang="en-US" sz="1400" kern="1200" smtClean="0">
                <a:solidFill>
                  <a:srgbClr val="FFFFFF">
                    <a:tint val="75000"/>
                  </a:srgbClr>
                </a:solidFill>
                <a:latin typeface="Calibri"/>
                <a:ea typeface="+mn-ea"/>
                <a:cs typeface="+mn-cs"/>
              </a:rPr>
              <a:pPr algn="l" defTabSz="914363" rtl="0">
                <a:defRPr/>
              </a:pPr>
              <a:t>‹#›</a:t>
            </a:fld>
            <a:endParaRPr lang="en-US" sz="1400" kern="1200" dirty="0">
              <a:solidFill>
                <a:srgbClr val="FFFFFF">
                  <a:tint val="75000"/>
                </a:srgbClr>
              </a:solidFill>
              <a:latin typeface="Calibri"/>
              <a:ea typeface="+mn-ea"/>
              <a:cs typeface="+mn-cs"/>
            </a:endParaRPr>
          </a:p>
        </p:txBody>
      </p:sp>
    </p:spTree>
  </p:cSld>
  <p:clrMapOvr>
    <a:masterClrMapping/>
  </p:clrMapOvr>
  <p:transition>
    <p:fad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Q &amp;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descr="Bottom_Bar_04.png"/>
          <p:cNvPicPr>
            <a:picLocks noChangeAspect="1"/>
          </p:cNvPicPr>
          <p:nvPr userDrawn="1"/>
        </p:nvPicPr>
        <p:blipFill>
          <a:blip r:embed="rId3"/>
          <a:stretch>
            <a:fillRect/>
          </a:stretch>
        </p:blipFill>
        <p:spPr>
          <a:xfrm>
            <a:off x="0" y="5741789"/>
            <a:ext cx="9144000" cy="1116211"/>
          </a:xfrm>
          <a:prstGeom prst="rect">
            <a:avLst/>
          </a:prstGeom>
        </p:spPr>
      </p:pic>
      <p:sp>
        <p:nvSpPr>
          <p:cNvPr id="7" name="Text Placeholder 6"/>
          <p:cNvSpPr>
            <a:spLocks noGrp="1"/>
          </p:cNvSpPr>
          <p:nvPr>
            <p:ph type="body" sz="quarter" idx="10" hasCustomPrompt="1"/>
          </p:nvPr>
        </p:nvSpPr>
        <p:spPr>
          <a:xfrm>
            <a:off x="1220400" y="1465200"/>
            <a:ext cx="6994950" cy="1384994"/>
          </a:xfrm>
          <a:scene3d>
            <a:camera prst="orthographicFront"/>
            <a:lightRig rig="contrasting" dir="t"/>
          </a:scene3d>
          <a:sp3d/>
        </p:spPr>
        <p:txBody>
          <a:bodyPr anchor="t" anchorCtr="0">
            <a:noAutofit/>
            <a:sp3d extrusionH="57150">
              <a:bevelT w="19050" h="31750"/>
              <a:contourClr>
                <a:srgbClr val="CCFF99"/>
              </a:contourClr>
            </a:sp3d>
          </a:bodyPr>
          <a:lstStyle>
            <a:lvl1pPr marL="0" indent="0" algn="l">
              <a:buFont typeface="Arial" pitchFamily="34" charset="0"/>
              <a:buNone/>
              <a:defRPr kumimoji="0" lang="en-US" sz="10000" b="0" i="0" u="none" strike="noStrike" kern="1200" cap="none" spc="-500" normalizeH="0" baseline="0" noProof="0" dirty="0" smtClean="0">
                <a:ln w="11430"/>
                <a:gradFill flip="none" rotWithShape="1">
                  <a:gsLst>
                    <a:gs pos="0">
                      <a:srgbClr val="FFFFFF"/>
                    </a:gs>
                    <a:gs pos="28000">
                      <a:srgbClr val="B0DEFE"/>
                    </a:gs>
                    <a:gs pos="62000">
                      <a:srgbClr val="5DBDFF"/>
                    </a:gs>
                    <a:gs pos="88000">
                      <a:srgbClr val="0386D7"/>
                    </a:gs>
                  </a:gsLst>
                  <a:lin ang="5400000" scaled="1"/>
                  <a:tileRect/>
                </a:gradFill>
                <a:effectLst/>
                <a:uLnTx/>
                <a:uFillTx/>
                <a:latin typeface="Calibri" pitchFamily="34" charset="0"/>
                <a:ea typeface="+mn-ea"/>
                <a:cs typeface="+mn-cs"/>
              </a:defRPr>
            </a:lvl1pPr>
          </a:lstStyle>
          <a:p>
            <a:pPr lvl="0"/>
            <a:r>
              <a:rPr lang="en-US" dirty="0" smtClean="0"/>
              <a:t>Q &amp; A</a:t>
            </a:r>
          </a:p>
        </p:txBody>
      </p:sp>
      <p:sp>
        <p:nvSpPr>
          <p:cNvPr id="5" name="Slide Number Placeholder 6"/>
          <p:cNvSpPr txBox="1">
            <a:spLocks/>
          </p:cNvSpPr>
          <p:nvPr userDrawn="1"/>
        </p:nvSpPr>
        <p:spPr>
          <a:xfrm>
            <a:off x="95275" y="6400801"/>
            <a:ext cx="2132964" cy="365125"/>
          </a:xfrm>
          <a:prstGeom prst="rect">
            <a:avLst/>
          </a:prstGeom>
        </p:spPr>
        <p:txBody>
          <a:bodyPr vert="horz" lIns="0" tIns="0" rIns="0" bIns="0" rtlCol="0" anchor="b" anchorCtr="0"/>
          <a:lstStyle>
            <a:lvl1pPr algn="r">
              <a:defRPr sz="1200">
                <a:solidFill>
                  <a:schemeClr val="tx1">
                    <a:tint val="75000"/>
                  </a:schemeClr>
                </a:solidFill>
              </a:defRPr>
            </a:lvl1pPr>
          </a:lstStyle>
          <a:p>
            <a:pPr algn="l" defTabSz="914363" rtl="0">
              <a:defRPr/>
            </a:pPr>
            <a:fld id="{ACC6DABA-E178-49C8-B135-4378B6D3DD69}" type="slidenum">
              <a:rPr lang="en-US" sz="1400" kern="1200" smtClean="0">
                <a:solidFill>
                  <a:srgbClr val="404040"/>
                </a:solidFill>
                <a:latin typeface="Calibri"/>
                <a:ea typeface="+mn-ea"/>
                <a:cs typeface="+mn-cs"/>
              </a:rPr>
              <a:pPr algn="l" defTabSz="914363" rtl="0">
                <a:defRPr/>
              </a:pPr>
              <a:t>‹#›</a:t>
            </a:fld>
            <a:endParaRPr lang="en-US" sz="1400" kern="1200" dirty="0">
              <a:solidFill>
                <a:srgbClr val="404040"/>
              </a:solidFill>
              <a:latin typeface="Calibri"/>
              <a:ea typeface="+mn-ea"/>
              <a:cs typeface="+mn-cs"/>
            </a:endParaRPr>
          </a:p>
        </p:txBody>
      </p:sp>
    </p:spTree>
  </p:cSld>
  <p:clrMapOvr>
    <a:masterClrMapping/>
  </p:clrMapOvr>
  <p:transition>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resentation Outline">
    <p:bg bwMode="black">
      <p:bgPr>
        <a:solidFill>
          <a:srgbClr val="40404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white"/>
        <p:txBody>
          <a:bodyPr/>
          <a:lstStyle>
            <a:lvl1pPr marL="0" marR="0" indent="0" defTabSz="914363" rtl="0" eaLnBrk="1" fontAlgn="auto" latinLnBrk="0" hangingPunct="1">
              <a:lnSpc>
                <a:spcPct val="90000"/>
              </a:lnSpc>
              <a:spcBef>
                <a:spcPct val="0"/>
              </a:spcBef>
              <a:spcAft>
                <a:spcPts val="0"/>
              </a:spcAft>
              <a:tabLst/>
              <a:defRPr/>
            </a:lvl1pPr>
          </a:lstStyle>
          <a:p>
            <a:pPr marL="0" marR="0" lvl="0" indent="0" defTabSz="914363" rtl="0" eaLnBrk="1" fontAlgn="auto" latinLnBrk="0" hangingPunct="1">
              <a:lnSpc>
                <a:spcPct val="90000"/>
              </a:lnSpc>
              <a:spcBef>
                <a:spcPct val="0"/>
              </a:spcBef>
              <a:spcAft>
                <a:spcPts val="0"/>
              </a:spcAft>
              <a:tabLst/>
              <a:defRPr/>
            </a:pPr>
            <a:r>
              <a:rPr kumimoji="0" lang="en-US" sz="4800" b="0" i="0" u="none" strike="noStrike" kern="1200" cap="none" spc="-100" normalizeH="0" baseline="0" noProof="0" dirty="0" smtClean="0">
                <a:ln w="3175">
                  <a:noFill/>
                </a:ln>
                <a:solidFill>
                  <a:schemeClr val="tx1"/>
                </a:solidFill>
                <a:effectLst/>
                <a:uLnTx/>
                <a:uFillTx/>
                <a:latin typeface="Calibri" pitchFamily="34" charset="0"/>
                <a:ea typeface="+mn-ea"/>
                <a:cs typeface="Arial" charset="0"/>
              </a:rPr>
              <a:t>Presentation Outline (hidden slide):</a:t>
            </a:r>
            <a:endParaRPr kumimoji="0" lang="en-US" sz="4800" b="0" i="0" u="none" strike="noStrike" kern="1200" cap="none" spc="-100" normalizeH="0" baseline="0" noProof="0" dirty="0">
              <a:ln w="3175">
                <a:noFill/>
              </a:ln>
              <a:solidFill>
                <a:schemeClr val="tx1"/>
              </a:solidFill>
              <a:effectLst/>
              <a:uLnTx/>
              <a:uFillTx/>
              <a:latin typeface="Calibri" pitchFamily="34" charset="0"/>
              <a:ea typeface="+mn-ea"/>
              <a:cs typeface="Arial" charset="0"/>
            </a:endParaRPr>
          </a:p>
        </p:txBody>
      </p:sp>
      <p:sp>
        <p:nvSpPr>
          <p:cNvPr id="6" name="Text Placeholder 5"/>
          <p:cNvSpPr>
            <a:spLocks noGrp="1"/>
          </p:cNvSpPr>
          <p:nvPr>
            <p:ph type="body" sz="quarter" idx="10" hasCustomPrompt="1"/>
          </p:nvPr>
        </p:nvSpPr>
        <p:spPr bwMode="white">
          <a:xfrm>
            <a:off x="381000" y="1905000"/>
            <a:ext cx="8382000" cy="4401205"/>
          </a:xfrm>
        </p:spPr>
        <p:txBody>
          <a:bodyPr/>
          <a:lstStyle>
            <a:lvl1pPr>
              <a:buClr>
                <a:schemeClr val="tx1"/>
              </a:buClr>
              <a:buSzPct val="70000"/>
              <a:buFont typeface="Wingdings" pitchFamily="2" charset="2"/>
              <a:buChar char="l"/>
              <a:defRPr sz="2400"/>
            </a:lvl1pPr>
            <a:lvl2pPr>
              <a:buClr>
                <a:schemeClr val="tx1"/>
              </a:buClr>
              <a:buSzPct val="70000"/>
              <a:buFont typeface="Wingdings" pitchFamily="2" charset="2"/>
              <a:buChar char="l"/>
              <a:defRPr sz="2400"/>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r>
              <a:rPr lang="en-US" dirty="0" smtClean="0"/>
              <a:t>Title:</a:t>
            </a:r>
          </a:p>
          <a:p>
            <a:r>
              <a:rPr lang="en-US" dirty="0" smtClean="0"/>
              <a:t>Technical Level:</a:t>
            </a:r>
          </a:p>
          <a:p>
            <a:r>
              <a:rPr lang="en-US" dirty="0" smtClean="0"/>
              <a:t>Intended Audience:</a:t>
            </a:r>
          </a:p>
          <a:p>
            <a:r>
              <a:rPr lang="en-US" dirty="0" smtClean="0"/>
              <a:t>Objectives (what do you want the audience to take away from this session):</a:t>
            </a:r>
          </a:p>
          <a:p>
            <a:pPr lvl="1"/>
            <a:r>
              <a:rPr lang="en-US" dirty="0" smtClean="0"/>
              <a:t>1. </a:t>
            </a:r>
          </a:p>
          <a:p>
            <a:pPr lvl="1"/>
            <a:r>
              <a:rPr lang="en-US" dirty="0" smtClean="0"/>
              <a:t>2.</a:t>
            </a:r>
          </a:p>
          <a:p>
            <a:pPr lvl="1"/>
            <a:r>
              <a:rPr lang="en-US" dirty="0" smtClean="0"/>
              <a:t>3.</a:t>
            </a:r>
          </a:p>
          <a:p>
            <a:r>
              <a:rPr lang="en-US" dirty="0" smtClean="0"/>
              <a:t>Presentation Outline (including demos):</a:t>
            </a:r>
          </a:p>
        </p:txBody>
      </p:sp>
      <p:sp>
        <p:nvSpPr>
          <p:cNvPr id="7" name="Slide Number Placeholder 6"/>
          <p:cNvSpPr txBox="1">
            <a:spLocks/>
          </p:cNvSpPr>
          <p:nvPr userDrawn="1"/>
        </p:nvSpPr>
        <p:spPr>
          <a:xfrm>
            <a:off x="95275" y="6400801"/>
            <a:ext cx="2132964" cy="365125"/>
          </a:xfrm>
          <a:prstGeom prst="rect">
            <a:avLst/>
          </a:prstGeom>
        </p:spPr>
        <p:txBody>
          <a:bodyPr vert="horz" lIns="0" tIns="0" rIns="0" bIns="0" rtlCol="0" anchor="b" anchorCtr="0"/>
          <a:lstStyle>
            <a:lvl1pPr algn="r">
              <a:defRPr sz="1200">
                <a:solidFill>
                  <a:schemeClr val="tx1">
                    <a:tint val="75000"/>
                  </a:schemeClr>
                </a:solidFill>
              </a:defRPr>
            </a:lvl1pPr>
          </a:lstStyle>
          <a:p>
            <a:pPr algn="l" defTabSz="914363" rtl="0">
              <a:defRPr/>
            </a:pPr>
            <a:fld id="{ACC6DABA-E178-49C8-B135-4378B6D3DD69}" type="slidenum">
              <a:rPr lang="en-US" sz="1400" kern="1200" smtClean="0">
                <a:solidFill>
                  <a:srgbClr val="FFFFFF"/>
                </a:solidFill>
                <a:latin typeface="Calibri"/>
                <a:ea typeface="+mn-ea"/>
                <a:cs typeface="+mn-cs"/>
              </a:rPr>
              <a:pPr algn="l" defTabSz="914363" rtl="0">
                <a:defRPr/>
              </a:pPr>
              <a:t>‹#›</a:t>
            </a:fld>
            <a:endParaRPr lang="en-US" sz="1400" kern="1200" dirty="0">
              <a:solidFill>
                <a:srgbClr val="FFFFFF"/>
              </a:solidFill>
              <a:latin typeface="Calibri"/>
              <a:ea typeface="+mn-ea"/>
              <a:cs typeface="+mn-cs"/>
            </a:endParaRPr>
          </a:p>
        </p:txBody>
      </p:sp>
      <p:sp>
        <p:nvSpPr>
          <p:cNvPr id="10" name="Text Box 4"/>
          <p:cNvSpPr txBox="1">
            <a:spLocks noChangeArrowheads="1"/>
          </p:cNvSpPr>
          <p:nvPr userDrawn="1"/>
        </p:nvSpPr>
        <p:spPr bwMode="auto">
          <a:xfrm>
            <a:off x="381000" y="926926"/>
            <a:ext cx="8382000" cy="885423"/>
          </a:xfrm>
          <a:prstGeom prst="rect">
            <a:avLst/>
          </a:prstGeom>
          <a:solidFill>
            <a:srgbClr val="FFFF99"/>
          </a:solidFill>
          <a:ln w="38100">
            <a:solidFill>
              <a:srgbClr val="FFFF00"/>
            </a:solidFill>
            <a:miter lim="800000"/>
            <a:headEnd/>
            <a:tailEnd/>
          </a:ln>
        </p:spPr>
        <p:txBody>
          <a:bodyPr lIns="91436" tIns="45718" rIns="91436" bIns="45718"/>
          <a:lstStyle/>
          <a:p>
            <a:pPr algn="l" defTabSz="914363" rtl="0"/>
            <a:r>
              <a:rPr lang="en-US" kern="1200" dirty="0">
                <a:solidFill>
                  <a:srgbClr val="990033"/>
                </a:solidFill>
                <a:latin typeface="Calibri"/>
                <a:ea typeface="+mn-ea"/>
                <a:cs typeface="+mn-cs"/>
              </a:rPr>
              <a:t>Speaker instructions: </a:t>
            </a:r>
            <a:r>
              <a:rPr lang="en-US" sz="1600" kern="1200" dirty="0">
                <a:solidFill>
                  <a:srgbClr val="000000"/>
                </a:solidFill>
                <a:latin typeface="Calibri"/>
                <a:ea typeface="+mn-ea"/>
                <a:cs typeface="+mn-cs"/>
              </a:rPr>
              <a:t>Complete this slide to assist your SME (subject matter expert) in evaluating your presentation flow, topic coverage, demo integration and alignment of content to your session description and level. </a:t>
            </a:r>
          </a:p>
          <a:p>
            <a:pPr algn="l" defTabSz="914363" rtl="0">
              <a:lnSpc>
                <a:spcPct val="90000"/>
              </a:lnSpc>
              <a:spcBef>
                <a:spcPct val="20000"/>
              </a:spcBef>
            </a:pPr>
            <a:endParaRPr lang="en-US" kern="1200" dirty="0">
              <a:solidFill>
                <a:srgbClr val="990033"/>
              </a:solidFill>
              <a:latin typeface="Calibri"/>
              <a:ea typeface="+mn-ea"/>
              <a:cs typeface="+mn-cs"/>
            </a:endParaRPr>
          </a:p>
        </p:txBody>
      </p:sp>
    </p:spTree>
  </p:cSld>
  <p:clrMapOvr>
    <a:masterClrMapping/>
  </p:clrMapOvr>
  <p:transition>
    <p:fad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lated Conten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228600"/>
            <a:ext cx="8375946" cy="664797"/>
          </a:xfrm>
        </p:spPr>
        <p:txBody>
          <a:bodyPr/>
          <a:lstStyle>
            <a:lvl1pPr marL="0" marR="0" indent="0" defTabSz="914363" rtl="0" eaLnBrk="1" fontAlgn="auto" latinLnBrk="0" hangingPunct="1">
              <a:lnSpc>
                <a:spcPct val="90000"/>
              </a:lnSpc>
              <a:spcBef>
                <a:spcPct val="0"/>
              </a:spcBef>
              <a:spcAft>
                <a:spcPts val="0"/>
              </a:spcAft>
              <a:tabLst/>
              <a:defRPr baseline="0"/>
            </a:lvl1pPr>
          </a:lstStyle>
          <a:p>
            <a:pPr marL="0" marR="0" lvl="0" indent="0" defTabSz="914363" rtl="0" eaLnBrk="1" fontAlgn="auto" latinLnBrk="0" hangingPunct="1">
              <a:lnSpc>
                <a:spcPct val="90000"/>
              </a:lnSpc>
              <a:spcBef>
                <a:spcPct val="0"/>
              </a:spcBef>
              <a:spcAft>
                <a:spcPts val="0"/>
              </a:spcAft>
              <a:tabLst/>
              <a:defRPr/>
            </a:pPr>
            <a:r>
              <a:rPr kumimoji="0" lang="en-US" sz="4800" b="0" i="0" u="none" strike="noStrike" kern="1200" cap="none" spc="-100" normalizeH="0" baseline="0" noProof="0" dirty="0" smtClean="0">
                <a:ln w="3175">
                  <a:noFill/>
                </a:ln>
                <a:solidFill>
                  <a:schemeClr val="tx1"/>
                </a:solidFill>
                <a:effectLst/>
                <a:uLnTx/>
                <a:uFillTx/>
                <a:latin typeface="Calibri" pitchFamily="34" charset="0"/>
                <a:ea typeface="+mn-ea"/>
                <a:cs typeface="Arial" charset="0"/>
              </a:rPr>
              <a:t>Related Content</a:t>
            </a:r>
            <a:endParaRPr kumimoji="0" lang="en-US" sz="4800" b="0" i="0" u="none" strike="noStrike" kern="1200" cap="none" spc="-100" normalizeH="0" baseline="0" noProof="0" dirty="0">
              <a:ln w="3175">
                <a:noFill/>
              </a:ln>
              <a:solidFill>
                <a:schemeClr val="tx1"/>
              </a:solidFill>
              <a:effectLst/>
              <a:uLnTx/>
              <a:uFillTx/>
              <a:latin typeface="Calibri" pitchFamily="34" charset="0"/>
              <a:ea typeface="+mn-ea"/>
              <a:cs typeface="Arial" charset="0"/>
            </a:endParaRPr>
          </a:p>
        </p:txBody>
      </p:sp>
      <p:sp>
        <p:nvSpPr>
          <p:cNvPr id="11" name="Content Placeholder 10"/>
          <p:cNvSpPr>
            <a:spLocks noGrp="1"/>
          </p:cNvSpPr>
          <p:nvPr>
            <p:ph sz="quarter" idx="10" hasCustomPrompt="1"/>
          </p:nvPr>
        </p:nvSpPr>
        <p:spPr>
          <a:xfrm>
            <a:off x="381000" y="1414460"/>
            <a:ext cx="8385048" cy="685800"/>
          </a:xfrm>
          <a:prstGeom prst="roundRect">
            <a:avLst>
              <a:gd name="adj" fmla="val 26651"/>
            </a:avLst>
          </a:prstGeom>
          <a:gradFill rotWithShape="1">
            <a:gsLst>
              <a:gs pos="0">
                <a:schemeClr val="tx1">
                  <a:alpha val="18000"/>
                </a:schemeClr>
              </a:gs>
              <a:gs pos="100000">
                <a:srgbClr val="000000">
                  <a:alpha val="0"/>
                </a:srgbClr>
              </a:gs>
            </a:gsLst>
            <a:lin ang="5400000" scaled="1"/>
          </a:gradFill>
          <a:ln w="9525">
            <a:noFill/>
            <a:miter lim="800000"/>
            <a:headEnd/>
            <a:tailEnd/>
          </a:ln>
        </p:spPr>
        <p:txBody>
          <a:bodyPr anchor="ctr" anchorCtr="0"/>
          <a:lstStyle>
            <a:lvl1pPr marL="0" algn="l" defTabSz="914099" rtl="0" eaLnBrk="1" fontAlgn="base" latinLnBrk="0" hangingPunct="1">
              <a:spcBef>
                <a:spcPct val="0"/>
              </a:spcBef>
              <a:spcAft>
                <a:spcPct val="0"/>
              </a:spcAft>
              <a:buFont typeface="Arial" pitchFamily="34" charset="0"/>
              <a:buNone/>
              <a:defRPr lang="en-US" sz="1800" kern="1200">
                <a:solidFill>
                  <a:srgbClr val="FFFFFF"/>
                </a:solidFill>
                <a:effectLst>
                  <a:outerShdw blurRad="38100" dist="38100" dir="2700000" algn="tl">
                    <a:srgbClr val="000000">
                      <a:alpha val="43137"/>
                    </a:srgbClr>
                  </a:outerShdw>
                </a:effectLst>
                <a:latin typeface="+mn-lt"/>
                <a:ea typeface="+mn-ea"/>
                <a:cs typeface="+mn-cs"/>
              </a:defRPr>
            </a:lvl1pPr>
          </a:lstStyle>
          <a:p>
            <a:pPr defTabSz="914099" fontAlgn="base">
              <a:spcBef>
                <a:spcPct val="0"/>
              </a:spcBef>
              <a:spcAft>
                <a:spcPct val="0"/>
              </a:spcAft>
              <a:defRPr/>
            </a:pPr>
            <a:r>
              <a:rPr lang="en-US" dirty="0" smtClean="0">
                <a:solidFill>
                  <a:srgbClr val="FFFFFF"/>
                </a:solidFill>
                <a:effectLst>
                  <a:outerShdw blurRad="38100" dist="38100" dir="2700000" algn="tl">
                    <a:srgbClr val="000000">
                      <a:alpha val="43137"/>
                    </a:srgbClr>
                  </a:outerShdw>
                </a:effectLst>
              </a:rPr>
              <a:t>Breakout Sessions (session codes and titles)</a:t>
            </a:r>
          </a:p>
        </p:txBody>
      </p:sp>
      <p:sp>
        <p:nvSpPr>
          <p:cNvPr id="12" name="Content Placeholder 10"/>
          <p:cNvSpPr>
            <a:spLocks noGrp="1"/>
          </p:cNvSpPr>
          <p:nvPr>
            <p:ph sz="quarter" idx="11" hasCustomPrompt="1"/>
          </p:nvPr>
        </p:nvSpPr>
        <p:spPr>
          <a:xfrm>
            <a:off x="381000" y="2355559"/>
            <a:ext cx="8385048" cy="624380"/>
          </a:xfrm>
          <a:prstGeom prst="roundRect">
            <a:avLst>
              <a:gd name="adj" fmla="val 26651"/>
            </a:avLst>
          </a:prstGeom>
          <a:gradFill rotWithShape="1">
            <a:gsLst>
              <a:gs pos="0">
                <a:schemeClr val="tx1">
                  <a:alpha val="18000"/>
                </a:schemeClr>
              </a:gs>
              <a:gs pos="100000">
                <a:srgbClr val="000000">
                  <a:alpha val="0"/>
                </a:srgbClr>
              </a:gs>
            </a:gsLst>
            <a:lin ang="5400000" scaled="1"/>
          </a:gradFill>
          <a:ln w="9525">
            <a:noFill/>
            <a:miter lim="800000"/>
            <a:headEnd/>
            <a:tailEnd/>
          </a:ln>
        </p:spPr>
        <p:txBody>
          <a:bodyPr anchor="ctr" anchorCtr="0"/>
          <a:lstStyle>
            <a:lvl1pPr marL="0" algn="l" defTabSz="914099" rtl="0" eaLnBrk="1" fontAlgn="base" latinLnBrk="0" hangingPunct="1">
              <a:spcBef>
                <a:spcPct val="0"/>
              </a:spcBef>
              <a:spcAft>
                <a:spcPct val="0"/>
              </a:spcAft>
              <a:buFont typeface="Arial" pitchFamily="34" charset="0"/>
              <a:buNone/>
              <a:defRPr lang="en-US" sz="1800" kern="1200">
                <a:solidFill>
                  <a:srgbClr val="FFFFFF"/>
                </a:solidFill>
                <a:effectLst>
                  <a:outerShdw blurRad="38100" dist="38100" dir="2700000" algn="tl">
                    <a:srgbClr val="000000">
                      <a:alpha val="43137"/>
                    </a:srgbClr>
                  </a:outerShdw>
                </a:effectLst>
                <a:latin typeface="+mn-lt"/>
                <a:ea typeface="+mn-ea"/>
                <a:cs typeface="+mn-cs"/>
              </a:defRPr>
            </a:lvl1pPr>
          </a:lstStyle>
          <a:p>
            <a:pPr>
              <a:defRPr/>
            </a:pPr>
            <a:r>
              <a:rPr lang="en-US" dirty="0" smtClean="0"/>
              <a:t>Interactive Sessions (session codes and titles)</a:t>
            </a:r>
          </a:p>
        </p:txBody>
      </p:sp>
      <p:sp>
        <p:nvSpPr>
          <p:cNvPr id="13" name="Content Placeholder 10"/>
          <p:cNvSpPr>
            <a:spLocks noGrp="1"/>
          </p:cNvSpPr>
          <p:nvPr>
            <p:ph sz="quarter" idx="12" hasCustomPrompt="1"/>
          </p:nvPr>
        </p:nvSpPr>
        <p:spPr>
          <a:xfrm>
            <a:off x="381000" y="3235238"/>
            <a:ext cx="8385048" cy="685800"/>
          </a:xfrm>
          <a:prstGeom prst="roundRect">
            <a:avLst>
              <a:gd name="adj" fmla="val 26651"/>
            </a:avLst>
          </a:prstGeom>
          <a:gradFill rotWithShape="1">
            <a:gsLst>
              <a:gs pos="0">
                <a:schemeClr val="tx1">
                  <a:alpha val="18000"/>
                </a:schemeClr>
              </a:gs>
              <a:gs pos="100000">
                <a:srgbClr val="000000">
                  <a:alpha val="0"/>
                </a:srgbClr>
              </a:gs>
            </a:gsLst>
            <a:lin ang="5400000" scaled="1"/>
          </a:gradFill>
          <a:ln w="9525">
            <a:noFill/>
            <a:miter lim="800000"/>
            <a:headEnd/>
            <a:tailEnd/>
          </a:ln>
        </p:spPr>
        <p:txBody>
          <a:bodyPr anchor="ctr" anchorCtr="0"/>
          <a:lstStyle>
            <a:lvl1pPr marL="0" algn="l" defTabSz="914099" rtl="0" eaLnBrk="1" fontAlgn="base" latinLnBrk="0" hangingPunct="1">
              <a:spcBef>
                <a:spcPct val="0"/>
              </a:spcBef>
              <a:spcAft>
                <a:spcPct val="0"/>
              </a:spcAft>
              <a:buFont typeface="Arial" pitchFamily="34" charset="0"/>
              <a:buNone/>
              <a:defRPr lang="en-US" sz="1800" kern="1200">
                <a:solidFill>
                  <a:srgbClr val="FFFFFF"/>
                </a:solidFill>
                <a:effectLst>
                  <a:outerShdw blurRad="38100" dist="38100" dir="2700000" algn="tl">
                    <a:srgbClr val="000000">
                      <a:alpha val="43137"/>
                    </a:srgbClr>
                  </a:outerShdw>
                </a:effectLst>
                <a:latin typeface="+mn-lt"/>
                <a:ea typeface="+mn-ea"/>
                <a:cs typeface="+mn-cs"/>
              </a:defRPr>
            </a:lvl1pPr>
          </a:lstStyle>
          <a:p>
            <a:pPr defTabSz="914099" fontAlgn="base">
              <a:spcBef>
                <a:spcPct val="0"/>
              </a:spcBef>
              <a:spcAft>
                <a:spcPct val="0"/>
              </a:spcAft>
              <a:defRPr/>
            </a:pPr>
            <a:r>
              <a:rPr lang="en-US" dirty="0" smtClean="0">
                <a:solidFill>
                  <a:srgbClr val="FFFFFF"/>
                </a:solidFill>
                <a:effectLst>
                  <a:outerShdw blurRad="38100" dist="38100" dir="2700000" algn="tl">
                    <a:srgbClr val="000000">
                      <a:alpha val="43137"/>
                    </a:srgbClr>
                  </a:outerShdw>
                </a:effectLst>
              </a:rPr>
              <a:t>Hands-on Labs (session codes and titles)</a:t>
            </a:r>
            <a:endParaRPr lang="en-US" sz="1600" dirty="0" smtClean="0">
              <a:solidFill>
                <a:srgbClr val="FFFFFF"/>
              </a:solidFill>
              <a:effectLst>
                <a:outerShdw blurRad="38100" dist="38100" dir="2700000" algn="tl">
                  <a:srgbClr val="000000">
                    <a:alpha val="43137"/>
                  </a:srgbClr>
                </a:outerShdw>
              </a:effectLst>
              <a:latin typeface="Segoe" pitchFamily="34" charset="0"/>
            </a:endParaRPr>
          </a:p>
        </p:txBody>
      </p:sp>
      <p:sp>
        <p:nvSpPr>
          <p:cNvPr id="14" name="Content Placeholder 10"/>
          <p:cNvSpPr>
            <a:spLocks noGrp="1"/>
          </p:cNvSpPr>
          <p:nvPr>
            <p:ph sz="quarter" idx="13" hasCustomPrompt="1"/>
          </p:nvPr>
        </p:nvSpPr>
        <p:spPr>
          <a:xfrm>
            <a:off x="381000" y="4176337"/>
            <a:ext cx="8385048" cy="652569"/>
          </a:xfrm>
          <a:prstGeom prst="roundRect">
            <a:avLst>
              <a:gd name="adj" fmla="val 26651"/>
            </a:avLst>
          </a:prstGeom>
          <a:gradFill rotWithShape="1">
            <a:gsLst>
              <a:gs pos="0">
                <a:schemeClr val="tx1">
                  <a:alpha val="18000"/>
                </a:schemeClr>
              </a:gs>
              <a:gs pos="100000">
                <a:srgbClr val="000000">
                  <a:alpha val="0"/>
                </a:srgbClr>
              </a:gs>
            </a:gsLst>
            <a:lin ang="5400000" scaled="1"/>
          </a:gradFill>
          <a:ln w="9525">
            <a:noFill/>
            <a:miter lim="800000"/>
            <a:headEnd/>
            <a:tailEnd/>
          </a:ln>
        </p:spPr>
        <p:txBody>
          <a:bodyPr anchor="ctr" anchorCtr="0"/>
          <a:lstStyle>
            <a:lvl1pPr marL="0" algn="l" defTabSz="914099" rtl="0" eaLnBrk="1" fontAlgn="base" latinLnBrk="0" hangingPunct="1">
              <a:spcBef>
                <a:spcPct val="0"/>
              </a:spcBef>
              <a:spcAft>
                <a:spcPct val="0"/>
              </a:spcAft>
              <a:buFont typeface="Arial" pitchFamily="34" charset="0"/>
              <a:buNone/>
              <a:defRPr lang="en-US" sz="1800" kern="1200" baseline="0">
                <a:solidFill>
                  <a:srgbClr val="FFFFFF"/>
                </a:solidFill>
                <a:effectLst>
                  <a:outerShdw blurRad="38100" dist="38100" dir="2700000" algn="tl">
                    <a:srgbClr val="000000">
                      <a:alpha val="43137"/>
                    </a:srgbClr>
                  </a:outerShdw>
                </a:effectLst>
                <a:latin typeface="+mn-lt"/>
                <a:ea typeface="+mn-ea"/>
                <a:cs typeface="+mn-cs"/>
              </a:defRPr>
            </a:lvl1pPr>
          </a:lstStyle>
          <a:p>
            <a:pPr defTabSz="914099" fontAlgn="base">
              <a:spcBef>
                <a:spcPct val="0"/>
              </a:spcBef>
              <a:spcAft>
                <a:spcPct val="0"/>
              </a:spcAft>
              <a:defRPr/>
            </a:pPr>
            <a:r>
              <a:rPr lang="en-US" dirty="0" smtClean="0">
                <a:solidFill>
                  <a:srgbClr val="FFFFFF"/>
                </a:solidFill>
                <a:effectLst>
                  <a:outerShdw blurRad="38100" dist="38100" dir="2700000" algn="tl">
                    <a:srgbClr val="000000">
                      <a:alpha val="43137"/>
                    </a:srgbClr>
                  </a:outerShdw>
                </a:effectLst>
              </a:rPr>
              <a:t>Instructor-led Labs (session codes and titles)</a:t>
            </a:r>
          </a:p>
        </p:txBody>
      </p:sp>
      <p:sp>
        <p:nvSpPr>
          <p:cNvPr id="7" name="Content Placeholder 10"/>
          <p:cNvSpPr>
            <a:spLocks noGrp="1"/>
          </p:cNvSpPr>
          <p:nvPr>
            <p:ph sz="quarter" idx="14" hasCustomPrompt="1"/>
          </p:nvPr>
        </p:nvSpPr>
        <p:spPr>
          <a:xfrm>
            <a:off x="380999" y="5084204"/>
            <a:ext cx="8385048" cy="587253"/>
          </a:xfrm>
          <a:prstGeom prst="roundRect">
            <a:avLst>
              <a:gd name="adj" fmla="val 26651"/>
            </a:avLst>
          </a:prstGeom>
          <a:gradFill rotWithShape="1">
            <a:gsLst>
              <a:gs pos="0">
                <a:schemeClr val="tx1">
                  <a:alpha val="18000"/>
                </a:schemeClr>
              </a:gs>
              <a:gs pos="100000">
                <a:srgbClr val="000000">
                  <a:alpha val="0"/>
                </a:srgbClr>
              </a:gs>
            </a:gsLst>
            <a:lin ang="5400000" scaled="1"/>
          </a:gradFill>
          <a:ln w="9525">
            <a:noFill/>
            <a:miter lim="800000"/>
            <a:headEnd/>
            <a:tailEnd/>
          </a:ln>
        </p:spPr>
        <p:txBody>
          <a:bodyPr anchor="ctr" anchorCtr="0"/>
          <a:lstStyle>
            <a:lvl1pPr marL="0" algn="l" defTabSz="914099" rtl="0" eaLnBrk="1" fontAlgn="base" latinLnBrk="0" hangingPunct="1">
              <a:spcBef>
                <a:spcPct val="0"/>
              </a:spcBef>
              <a:spcAft>
                <a:spcPct val="0"/>
              </a:spcAft>
              <a:buFont typeface="Arial" pitchFamily="34" charset="0"/>
              <a:buNone/>
              <a:defRPr lang="en-US" sz="1800" kern="1200" baseline="0">
                <a:solidFill>
                  <a:srgbClr val="FFFFFF"/>
                </a:solidFill>
                <a:effectLst>
                  <a:outerShdw blurRad="38100" dist="38100" dir="2700000" algn="tl">
                    <a:srgbClr val="000000">
                      <a:alpha val="43137"/>
                    </a:srgbClr>
                  </a:outerShdw>
                </a:effectLst>
                <a:latin typeface="+mn-lt"/>
                <a:ea typeface="+mn-ea"/>
                <a:cs typeface="+mn-cs"/>
              </a:defRPr>
            </a:lvl1pPr>
          </a:lstStyle>
          <a:p>
            <a:pPr defTabSz="914099" fontAlgn="base">
              <a:spcBef>
                <a:spcPct val="0"/>
              </a:spcBef>
              <a:spcAft>
                <a:spcPct val="0"/>
              </a:spcAft>
              <a:defRPr/>
            </a:pPr>
            <a:r>
              <a:rPr lang="en-US" dirty="0" smtClean="0">
                <a:solidFill>
                  <a:srgbClr val="FFFFFF"/>
                </a:solidFill>
                <a:effectLst>
                  <a:outerShdw blurRad="38100" dist="38100" dir="2700000" algn="tl">
                    <a:srgbClr val="000000">
                      <a:alpha val="43137"/>
                    </a:srgbClr>
                  </a:outerShdw>
                </a:effectLst>
              </a:rPr>
              <a:t>Other Resources (books, websites, etc.)</a:t>
            </a:r>
          </a:p>
        </p:txBody>
      </p:sp>
      <p:sp>
        <p:nvSpPr>
          <p:cNvPr id="8" name="Slide Number Placeholder 6"/>
          <p:cNvSpPr txBox="1">
            <a:spLocks/>
          </p:cNvSpPr>
          <p:nvPr userDrawn="1"/>
        </p:nvSpPr>
        <p:spPr>
          <a:xfrm>
            <a:off x="95275" y="6400801"/>
            <a:ext cx="2132964" cy="365125"/>
          </a:xfrm>
          <a:prstGeom prst="rect">
            <a:avLst/>
          </a:prstGeom>
        </p:spPr>
        <p:txBody>
          <a:bodyPr vert="horz" lIns="0" tIns="0" rIns="0" bIns="0" rtlCol="0" anchor="b" anchorCtr="0"/>
          <a:lstStyle>
            <a:lvl1pPr algn="r">
              <a:defRPr sz="1200">
                <a:solidFill>
                  <a:schemeClr val="tx1">
                    <a:tint val="75000"/>
                  </a:schemeClr>
                </a:solidFill>
              </a:defRPr>
            </a:lvl1pPr>
          </a:lstStyle>
          <a:p>
            <a:pPr algn="l" defTabSz="914363" rtl="0">
              <a:defRPr/>
            </a:pPr>
            <a:fld id="{ACC6DABA-E178-49C8-B135-4378B6D3DD69}" type="slidenum">
              <a:rPr lang="en-US" sz="1400" kern="1200" smtClean="0">
                <a:solidFill>
                  <a:srgbClr val="FFFFFF">
                    <a:tint val="75000"/>
                  </a:srgbClr>
                </a:solidFill>
                <a:latin typeface="Calibri"/>
                <a:ea typeface="+mn-ea"/>
                <a:cs typeface="+mn-cs"/>
              </a:rPr>
              <a:pPr algn="l" defTabSz="914363" rtl="0">
                <a:defRPr/>
              </a:pPr>
              <a:t>‹#›</a:t>
            </a:fld>
            <a:endParaRPr lang="en-US" sz="1400" kern="1200" dirty="0">
              <a:solidFill>
                <a:srgbClr val="FFFFFF">
                  <a:tint val="75000"/>
                </a:srgbClr>
              </a:solidFill>
              <a:latin typeface="Calibri"/>
              <a:ea typeface="+mn-ea"/>
              <a:cs typeface="+mn-cs"/>
            </a:endParaRPr>
          </a:p>
        </p:txBody>
      </p:sp>
    </p:spTree>
  </p:cSld>
  <p:clrMapOvr>
    <a:masterClrMapping/>
  </p:clrMapOvr>
  <p:transition>
    <p:fade/>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rack Resources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228600"/>
            <a:ext cx="8375946" cy="664797"/>
          </a:xfrm>
        </p:spPr>
        <p:txBody>
          <a:bodyPr/>
          <a:lstStyle>
            <a:lvl1pPr>
              <a:defRPr baseline="0"/>
            </a:lvl1pPr>
          </a:lstStyle>
          <a:p>
            <a:r>
              <a:rPr lang="en-US" dirty="0" smtClean="0"/>
              <a:t>Track Resources</a:t>
            </a:r>
            <a:endParaRPr lang="en-US" dirty="0"/>
          </a:p>
        </p:txBody>
      </p:sp>
      <p:sp>
        <p:nvSpPr>
          <p:cNvPr id="11" name="Content Placeholder 10"/>
          <p:cNvSpPr>
            <a:spLocks noGrp="1"/>
          </p:cNvSpPr>
          <p:nvPr>
            <p:ph sz="quarter" idx="10" hasCustomPrompt="1"/>
          </p:nvPr>
        </p:nvSpPr>
        <p:spPr>
          <a:xfrm>
            <a:off x="381000" y="1414461"/>
            <a:ext cx="8385048" cy="685800"/>
          </a:xfrm>
          <a:prstGeom prst="roundRect">
            <a:avLst>
              <a:gd name="adj" fmla="val 26651"/>
            </a:avLst>
          </a:prstGeom>
          <a:gradFill rotWithShape="1">
            <a:gsLst>
              <a:gs pos="0">
                <a:schemeClr val="tx1">
                  <a:alpha val="18000"/>
                </a:schemeClr>
              </a:gs>
              <a:gs pos="100000">
                <a:srgbClr val="000000">
                  <a:alpha val="0"/>
                </a:srgbClr>
              </a:gs>
            </a:gsLst>
            <a:lin ang="5400000" scaled="1"/>
          </a:gradFill>
          <a:ln w="9525">
            <a:noFill/>
            <a:miter lim="800000"/>
            <a:headEnd/>
            <a:tailEnd/>
          </a:ln>
        </p:spPr>
        <p:txBody>
          <a:bodyPr anchor="ctr" anchorCtr="0"/>
          <a:lstStyle>
            <a:lvl1pPr marL="0" algn="l" defTabSz="914099" rtl="0" eaLnBrk="1" fontAlgn="base" latinLnBrk="0" hangingPunct="1">
              <a:spcBef>
                <a:spcPct val="0"/>
              </a:spcBef>
              <a:spcAft>
                <a:spcPct val="0"/>
              </a:spcAft>
              <a:buFont typeface="Arial" pitchFamily="34" charset="0"/>
              <a:buNone/>
              <a:defRPr lang="en-US" sz="1800" kern="1200" dirty="0" smtClean="0">
                <a:solidFill>
                  <a:srgbClr val="FFFFFF"/>
                </a:solidFill>
                <a:effectLst>
                  <a:outerShdw blurRad="38100" dist="38100" dir="2700000" algn="tl">
                    <a:srgbClr val="000000">
                      <a:alpha val="43137"/>
                    </a:srgbClr>
                  </a:outerShdw>
                </a:effectLst>
                <a:latin typeface="+mn-lt"/>
                <a:ea typeface="+mn-ea"/>
                <a:cs typeface="+mn-cs"/>
              </a:defRPr>
            </a:lvl1pPr>
          </a:lstStyle>
          <a:p>
            <a:pPr lvl="0"/>
            <a:r>
              <a:rPr lang="en-US" dirty="0" smtClean="0"/>
              <a:t>Resource 1</a:t>
            </a:r>
            <a:endParaRPr lang="en-US" dirty="0"/>
          </a:p>
        </p:txBody>
      </p:sp>
      <p:sp>
        <p:nvSpPr>
          <p:cNvPr id="12" name="Content Placeholder 10"/>
          <p:cNvSpPr>
            <a:spLocks noGrp="1"/>
          </p:cNvSpPr>
          <p:nvPr>
            <p:ph sz="quarter" idx="11" hasCustomPrompt="1"/>
          </p:nvPr>
        </p:nvSpPr>
        <p:spPr>
          <a:xfrm>
            <a:off x="381000" y="2347422"/>
            <a:ext cx="8385048" cy="685800"/>
          </a:xfrm>
          <a:prstGeom prst="roundRect">
            <a:avLst>
              <a:gd name="adj" fmla="val 26651"/>
            </a:avLst>
          </a:prstGeom>
          <a:gradFill rotWithShape="1">
            <a:gsLst>
              <a:gs pos="0">
                <a:schemeClr val="tx1">
                  <a:alpha val="18000"/>
                </a:schemeClr>
              </a:gs>
              <a:gs pos="100000">
                <a:srgbClr val="000000">
                  <a:alpha val="0"/>
                </a:srgbClr>
              </a:gs>
            </a:gsLst>
            <a:lin ang="5400000" scaled="1"/>
          </a:gradFill>
          <a:ln w="9525">
            <a:noFill/>
            <a:miter lim="800000"/>
            <a:headEnd/>
            <a:tailEnd/>
          </a:ln>
        </p:spPr>
        <p:txBody>
          <a:bodyPr anchor="ctr" anchorCtr="0"/>
          <a:lstStyle>
            <a:lvl1pPr marL="0" algn="l" defTabSz="914099" rtl="0" eaLnBrk="1" fontAlgn="base" latinLnBrk="0" hangingPunct="1">
              <a:spcBef>
                <a:spcPct val="0"/>
              </a:spcBef>
              <a:spcAft>
                <a:spcPct val="0"/>
              </a:spcAft>
              <a:buFont typeface="Arial" pitchFamily="34" charset="0"/>
              <a:buNone/>
              <a:defRPr lang="en-US" sz="1800" kern="1200" dirty="0" smtClean="0">
                <a:solidFill>
                  <a:srgbClr val="FFFFFF"/>
                </a:solidFill>
                <a:effectLst>
                  <a:outerShdw blurRad="38100" dist="38100" dir="2700000" algn="tl">
                    <a:srgbClr val="000000">
                      <a:alpha val="43137"/>
                    </a:srgbClr>
                  </a:outerShdw>
                </a:effectLst>
                <a:latin typeface="+mn-lt"/>
                <a:ea typeface="+mn-ea"/>
                <a:cs typeface="+mn-cs"/>
              </a:defRPr>
            </a:lvl1pPr>
          </a:lstStyle>
          <a:p>
            <a:pPr lvl="0"/>
            <a:r>
              <a:rPr lang="en-US" dirty="0" smtClean="0"/>
              <a:t>Resource 2</a:t>
            </a:r>
            <a:endParaRPr lang="en-US" dirty="0"/>
          </a:p>
        </p:txBody>
      </p:sp>
      <p:sp>
        <p:nvSpPr>
          <p:cNvPr id="13" name="Content Placeholder 10"/>
          <p:cNvSpPr>
            <a:spLocks noGrp="1"/>
          </p:cNvSpPr>
          <p:nvPr>
            <p:ph sz="quarter" idx="12" hasCustomPrompt="1"/>
          </p:nvPr>
        </p:nvSpPr>
        <p:spPr>
          <a:xfrm>
            <a:off x="381000" y="3280384"/>
            <a:ext cx="8385048" cy="685800"/>
          </a:xfrm>
          <a:prstGeom prst="roundRect">
            <a:avLst>
              <a:gd name="adj" fmla="val 26651"/>
            </a:avLst>
          </a:prstGeom>
          <a:gradFill rotWithShape="1">
            <a:gsLst>
              <a:gs pos="0">
                <a:schemeClr val="tx1">
                  <a:alpha val="18000"/>
                </a:schemeClr>
              </a:gs>
              <a:gs pos="100000">
                <a:srgbClr val="000000">
                  <a:alpha val="0"/>
                </a:srgbClr>
              </a:gs>
            </a:gsLst>
            <a:lin ang="5400000" scaled="1"/>
          </a:gradFill>
          <a:ln w="9525">
            <a:noFill/>
            <a:miter lim="800000"/>
            <a:headEnd/>
            <a:tailEnd/>
          </a:ln>
        </p:spPr>
        <p:txBody>
          <a:bodyPr anchor="ctr" anchorCtr="0"/>
          <a:lstStyle>
            <a:lvl1pPr marL="0" algn="l" defTabSz="914099" rtl="0" eaLnBrk="1" fontAlgn="base" latinLnBrk="0" hangingPunct="1">
              <a:spcBef>
                <a:spcPct val="0"/>
              </a:spcBef>
              <a:spcAft>
                <a:spcPct val="0"/>
              </a:spcAft>
              <a:buFont typeface="Arial" pitchFamily="34" charset="0"/>
              <a:buNone/>
              <a:defRPr lang="en-US" sz="1800" kern="1200" dirty="0" smtClean="0">
                <a:solidFill>
                  <a:srgbClr val="FFFFFF"/>
                </a:solidFill>
                <a:effectLst>
                  <a:outerShdw blurRad="38100" dist="38100" dir="2700000" algn="tl">
                    <a:srgbClr val="000000">
                      <a:alpha val="43137"/>
                    </a:srgbClr>
                  </a:outerShdw>
                </a:effectLst>
                <a:latin typeface="+mn-lt"/>
                <a:ea typeface="+mn-ea"/>
                <a:cs typeface="+mn-cs"/>
              </a:defRPr>
            </a:lvl1pPr>
          </a:lstStyle>
          <a:p>
            <a:pPr lvl="0"/>
            <a:r>
              <a:rPr lang="en-US" dirty="0" smtClean="0"/>
              <a:t>Resource 3</a:t>
            </a:r>
            <a:endParaRPr lang="en-US" dirty="0"/>
          </a:p>
        </p:txBody>
      </p:sp>
      <p:sp>
        <p:nvSpPr>
          <p:cNvPr id="14" name="Content Placeholder 10"/>
          <p:cNvSpPr>
            <a:spLocks noGrp="1"/>
          </p:cNvSpPr>
          <p:nvPr>
            <p:ph sz="quarter" idx="13" hasCustomPrompt="1"/>
          </p:nvPr>
        </p:nvSpPr>
        <p:spPr>
          <a:xfrm>
            <a:off x="381000" y="4213346"/>
            <a:ext cx="8385048" cy="685800"/>
          </a:xfrm>
          <a:prstGeom prst="roundRect">
            <a:avLst>
              <a:gd name="adj" fmla="val 26651"/>
            </a:avLst>
          </a:prstGeom>
          <a:gradFill rotWithShape="1">
            <a:gsLst>
              <a:gs pos="0">
                <a:schemeClr val="tx1">
                  <a:alpha val="18000"/>
                </a:schemeClr>
              </a:gs>
              <a:gs pos="100000">
                <a:srgbClr val="000000">
                  <a:alpha val="0"/>
                </a:srgbClr>
              </a:gs>
            </a:gsLst>
            <a:lin ang="5400000" scaled="1"/>
          </a:gradFill>
          <a:ln w="9525">
            <a:noFill/>
            <a:miter lim="800000"/>
            <a:headEnd/>
            <a:tailEnd/>
          </a:ln>
        </p:spPr>
        <p:txBody>
          <a:bodyPr anchor="ctr" anchorCtr="0"/>
          <a:lstStyle>
            <a:lvl1pPr marL="0" algn="l" defTabSz="914099" rtl="0" eaLnBrk="1" fontAlgn="base" latinLnBrk="0" hangingPunct="1">
              <a:spcBef>
                <a:spcPct val="0"/>
              </a:spcBef>
              <a:spcAft>
                <a:spcPct val="0"/>
              </a:spcAft>
              <a:buFont typeface="Arial" pitchFamily="34" charset="0"/>
              <a:buNone/>
              <a:defRPr lang="en-US" sz="1800" kern="1200" dirty="0" smtClean="0">
                <a:solidFill>
                  <a:srgbClr val="FFFFFF"/>
                </a:solidFill>
                <a:effectLst>
                  <a:outerShdw blurRad="38100" dist="38100" dir="2700000" algn="tl">
                    <a:srgbClr val="000000">
                      <a:alpha val="43137"/>
                    </a:srgbClr>
                  </a:outerShdw>
                </a:effectLst>
                <a:latin typeface="+mn-lt"/>
                <a:ea typeface="+mn-ea"/>
                <a:cs typeface="+mn-cs"/>
              </a:defRPr>
            </a:lvl1pPr>
          </a:lstStyle>
          <a:p>
            <a:pPr lvl="0"/>
            <a:r>
              <a:rPr lang="en-US" dirty="0" smtClean="0"/>
              <a:t>Resource 4</a:t>
            </a:r>
            <a:endParaRPr lang="en-US" dirty="0"/>
          </a:p>
        </p:txBody>
      </p:sp>
      <p:sp>
        <p:nvSpPr>
          <p:cNvPr id="7" name="Slide Number Placeholder 6"/>
          <p:cNvSpPr txBox="1">
            <a:spLocks/>
          </p:cNvSpPr>
          <p:nvPr userDrawn="1"/>
        </p:nvSpPr>
        <p:spPr>
          <a:xfrm>
            <a:off x="95275" y="6400801"/>
            <a:ext cx="2132964" cy="365125"/>
          </a:xfrm>
          <a:prstGeom prst="rect">
            <a:avLst/>
          </a:prstGeom>
        </p:spPr>
        <p:txBody>
          <a:bodyPr vert="horz" lIns="0" tIns="0" rIns="0" bIns="0" rtlCol="0" anchor="b" anchorCtr="0"/>
          <a:lstStyle>
            <a:lvl1pPr algn="r">
              <a:defRPr sz="1200">
                <a:solidFill>
                  <a:schemeClr val="tx1">
                    <a:tint val="75000"/>
                  </a:schemeClr>
                </a:solidFill>
              </a:defRPr>
            </a:lvl1pPr>
          </a:lstStyle>
          <a:p>
            <a:pPr algn="l" defTabSz="914363" rtl="0">
              <a:defRPr/>
            </a:pPr>
            <a:fld id="{ACC6DABA-E178-49C8-B135-4378B6D3DD69}" type="slidenum">
              <a:rPr lang="en-US" sz="1400" kern="1200" smtClean="0">
                <a:solidFill>
                  <a:srgbClr val="FFFFFF">
                    <a:tint val="75000"/>
                  </a:srgbClr>
                </a:solidFill>
                <a:latin typeface="Calibri"/>
                <a:ea typeface="+mn-ea"/>
                <a:cs typeface="+mn-cs"/>
              </a:rPr>
              <a:pPr algn="l" defTabSz="914363" rtl="0">
                <a:defRPr/>
              </a:pPr>
              <a:t>‹#›</a:t>
            </a:fld>
            <a:endParaRPr lang="en-US" sz="1400" kern="1200" dirty="0">
              <a:solidFill>
                <a:srgbClr val="FFFFFF">
                  <a:tint val="75000"/>
                </a:srgbClr>
              </a:solidFill>
              <a:latin typeface="Calibri"/>
              <a:ea typeface="+mn-ea"/>
              <a:cs typeface="+mn-cs"/>
            </a:endParaRPr>
          </a:p>
        </p:txBody>
      </p:sp>
    </p:spTree>
  </p:cSld>
  <p:clrMapOvr>
    <a:masterClrMapping/>
  </p:clrMapOvr>
  <p:transition>
    <p:fade/>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val Slide">
    <p:spTree>
      <p:nvGrpSpPr>
        <p:cNvPr id="1" name=""/>
        <p:cNvGrpSpPr/>
        <p:nvPr/>
      </p:nvGrpSpPr>
      <p:grpSpPr>
        <a:xfrm>
          <a:off x="0" y="0"/>
          <a:ext cx="0" cy="0"/>
          <a:chOff x="0" y="0"/>
          <a:chExt cx="0" cy="0"/>
        </a:xfrm>
      </p:grpSpPr>
      <p:sp>
        <p:nvSpPr>
          <p:cNvPr id="17" name="Freeform 16"/>
          <p:cNvSpPr/>
          <p:nvPr userDrawn="1"/>
        </p:nvSpPr>
        <p:spPr bwMode="auto">
          <a:xfrm flipH="1">
            <a:off x="-713986" y="-530050"/>
            <a:ext cx="10867678" cy="7150056"/>
          </a:xfrm>
          <a:custGeom>
            <a:avLst/>
            <a:gdLst>
              <a:gd name="connsiteX0" fmla="*/ 0 w 6962775"/>
              <a:gd name="connsiteY0" fmla="*/ 0 h 3952875"/>
              <a:gd name="connsiteX1" fmla="*/ 6962775 w 6962775"/>
              <a:gd name="connsiteY1" fmla="*/ 3952875 h 3952875"/>
              <a:gd name="connsiteX2" fmla="*/ 6429375 w 6962775"/>
              <a:gd name="connsiteY2" fmla="*/ 3952875 h 3952875"/>
              <a:gd name="connsiteX3" fmla="*/ 0 w 6962775"/>
              <a:gd name="connsiteY3" fmla="*/ 552450 h 3952875"/>
              <a:gd name="connsiteX4" fmla="*/ 0 w 6962775"/>
              <a:gd name="connsiteY4" fmla="*/ 0 h 3952875"/>
              <a:gd name="connsiteX0" fmla="*/ 0 w 7188200"/>
              <a:gd name="connsiteY0" fmla="*/ 2978150 h 6931025"/>
              <a:gd name="connsiteX1" fmla="*/ 6962775 w 7188200"/>
              <a:gd name="connsiteY1" fmla="*/ 6931025 h 6931025"/>
              <a:gd name="connsiteX2" fmla="*/ 6429375 w 7188200"/>
              <a:gd name="connsiteY2" fmla="*/ 6931025 h 6931025"/>
              <a:gd name="connsiteX3" fmla="*/ 0 w 7188200"/>
              <a:gd name="connsiteY3" fmla="*/ 3530600 h 6931025"/>
              <a:gd name="connsiteX4" fmla="*/ 0 w 7188200"/>
              <a:gd name="connsiteY4" fmla="*/ 2978150 h 6931025"/>
              <a:gd name="connsiteX0" fmla="*/ 0 w 10109200"/>
              <a:gd name="connsiteY0" fmla="*/ 2978150 h 6931025"/>
              <a:gd name="connsiteX1" fmla="*/ 6962775 w 10109200"/>
              <a:gd name="connsiteY1" fmla="*/ 6931025 h 6931025"/>
              <a:gd name="connsiteX2" fmla="*/ 6429375 w 10109200"/>
              <a:gd name="connsiteY2" fmla="*/ 6931025 h 6931025"/>
              <a:gd name="connsiteX3" fmla="*/ 0 w 10109200"/>
              <a:gd name="connsiteY3" fmla="*/ 3530600 h 6931025"/>
              <a:gd name="connsiteX4" fmla="*/ 0 w 10109200"/>
              <a:gd name="connsiteY4" fmla="*/ 2978150 h 6931025"/>
              <a:gd name="connsiteX0" fmla="*/ 0 w 10109200"/>
              <a:gd name="connsiteY0" fmla="*/ 2978150 h 6931025"/>
              <a:gd name="connsiteX1" fmla="*/ 6962775 w 10109200"/>
              <a:gd name="connsiteY1" fmla="*/ 6931025 h 6931025"/>
              <a:gd name="connsiteX2" fmla="*/ 6429375 w 10109200"/>
              <a:gd name="connsiteY2" fmla="*/ 6931025 h 6931025"/>
              <a:gd name="connsiteX3" fmla="*/ 0 w 10109200"/>
              <a:gd name="connsiteY3" fmla="*/ 3530600 h 6931025"/>
              <a:gd name="connsiteX4" fmla="*/ 0 w 10109200"/>
              <a:gd name="connsiteY4" fmla="*/ 2978150 h 6931025"/>
              <a:gd name="connsiteX0" fmla="*/ 0 w 10109200"/>
              <a:gd name="connsiteY0" fmla="*/ 2978150 h 6931025"/>
              <a:gd name="connsiteX1" fmla="*/ 6962775 w 10109200"/>
              <a:gd name="connsiteY1" fmla="*/ 6931025 h 6931025"/>
              <a:gd name="connsiteX2" fmla="*/ 6429375 w 10109200"/>
              <a:gd name="connsiteY2" fmla="*/ 6931025 h 6931025"/>
              <a:gd name="connsiteX3" fmla="*/ 0 w 10109200"/>
              <a:gd name="connsiteY3" fmla="*/ 3530600 h 6931025"/>
              <a:gd name="connsiteX4" fmla="*/ 0 w 10109200"/>
              <a:gd name="connsiteY4" fmla="*/ 2978150 h 6931025"/>
              <a:gd name="connsiteX0" fmla="*/ 0 w 10109200"/>
              <a:gd name="connsiteY0" fmla="*/ 2978150 h 6931025"/>
              <a:gd name="connsiteX1" fmla="*/ 6962775 w 10109200"/>
              <a:gd name="connsiteY1" fmla="*/ 6931025 h 6931025"/>
              <a:gd name="connsiteX2" fmla="*/ 6429375 w 10109200"/>
              <a:gd name="connsiteY2" fmla="*/ 6931025 h 6931025"/>
              <a:gd name="connsiteX3" fmla="*/ 0 w 10109200"/>
              <a:gd name="connsiteY3" fmla="*/ 3530600 h 6931025"/>
              <a:gd name="connsiteX4" fmla="*/ 0 w 10109200"/>
              <a:gd name="connsiteY4" fmla="*/ 2978150 h 6931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9200" h="6931025">
                <a:moveTo>
                  <a:pt x="0" y="2978150"/>
                </a:moveTo>
                <a:cubicBezTo>
                  <a:pt x="7188200" y="0"/>
                  <a:pt x="10109200" y="2984500"/>
                  <a:pt x="6962775" y="6931025"/>
                </a:cubicBezTo>
                <a:lnTo>
                  <a:pt x="6429375" y="6931025"/>
                </a:lnTo>
                <a:cubicBezTo>
                  <a:pt x="6924675" y="4321175"/>
                  <a:pt x="4371975" y="2511425"/>
                  <a:pt x="0" y="3530600"/>
                </a:cubicBezTo>
                <a:lnTo>
                  <a:pt x="0" y="2978150"/>
                </a:lnTo>
                <a:close/>
              </a:path>
            </a:pathLst>
          </a:custGeom>
          <a:gradFill flip="none" rotWithShape="1">
            <a:gsLst>
              <a:gs pos="0">
                <a:schemeClr val="tx2">
                  <a:alpha val="10000"/>
                </a:schemeClr>
              </a:gs>
              <a:gs pos="100000">
                <a:srgbClr val="000000">
                  <a:alpha val="10000"/>
                </a:srgbClr>
              </a:gs>
            </a:gsLst>
            <a:lin ang="2700000" scaled="1"/>
            <a:tileRect/>
          </a:gradFill>
          <a:ln w="9525">
            <a:noFill/>
            <a:miter lim="800000"/>
            <a:headEnd/>
            <a:tailEnd/>
          </a:ln>
        </p:spPr>
        <p:txBody>
          <a:bodyPr anchor="t" anchorCtr="0"/>
          <a:lstStyle/>
          <a:p>
            <a:pPr algn="ctr" defTabSz="914099" rtl="0" fontAlgn="base">
              <a:spcBef>
                <a:spcPct val="0"/>
              </a:spcBef>
              <a:spcAft>
                <a:spcPct val="0"/>
              </a:spcAft>
              <a:defRPr/>
            </a:pPr>
            <a:endParaRPr lang="en-US" sz="3200" kern="1200" dirty="0">
              <a:solidFill>
                <a:srgbClr val="FFFFFF"/>
              </a:solidFill>
              <a:effectLst>
                <a:outerShdw blurRad="38100" dist="38100" dir="2700000" algn="tl">
                  <a:srgbClr val="000000">
                    <a:alpha val="43137"/>
                  </a:srgbClr>
                </a:outerShdw>
              </a:effectLst>
              <a:latin typeface="Segoe" pitchFamily="34" charset="0"/>
              <a:ea typeface="+mn-ea"/>
              <a:cs typeface="+mn-cs"/>
            </a:endParaRPr>
          </a:p>
        </p:txBody>
      </p:sp>
      <p:sp>
        <p:nvSpPr>
          <p:cNvPr id="18" name="Freeform 17"/>
          <p:cNvSpPr/>
          <p:nvPr userDrawn="1"/>
        </p:nvSpPr>
        <p:spPr bwMode="auto">
          <a:xfrm flipH="1">
            <a:off x="-713984" y="-800996"/>
            <a:ext cx="10809961" cy="7411478"/>
          </a:xfrm>
          <a:custGeom>
            <a:avLst/>
            <a:gdLst>
              <a:gd name="connsiteX0" fmla="*/ 0 w 6962775"/>
              <a:gd name="connsiteY0" fmla="*/ 0 h 3952875"/>
              <a:gd name="connsiteX1" fmla="*/ 6962775 w 6962775"/>
              <a:gd name="connsiteY1" fmla="*/ 3952875 h 3952875"/>
              <a:gd name="connsiteX2" fmla="*/ 6429375 w 6962775"/>
              <a:gd name="connsiteY2" fmla="*/ 3952875 h 3952875"/>
              <a:gd name="connsiteX3" fmla="*/ 0 w 6962775"/>
              <a:gd name="connsiteY3" fmla="*/ 552450 h 3952875"/>
              <a:gd name="connsiteX4" fmla="*/ 0 w 6962775"/>
              <a:gd name="connsiteY4" fmla="*/ 0 h 3952875"/>
              <a:gd name="connsiteX0" fmla="*/ 0 w 7188200"/>
              <a:gd name="connsiteY0" fmla="*/ 2978150 h 6931025"/>
              <a:gd name="connsiteX1" fmla="*/ 6962775 w 7188200"/>
              <a:gd name="connsiteY1" fmla="*/ 6931025 h 6931025"/>
              <a:gd name="connsiteX2" fmla="*/ 6429375 w 7188200"/>
              <a:gd name="connsiteY2" fmla="*/ 6931025 h 6931025"/>
              <a:gd name="connsiteX3" fmla="*/ 0 w 7188200"/>
              <a:gd name="connsiteY3" fmla="*/ 3530600 h 6931025"/>
              <a:gd name="connsiteX4" fmla="*/ 0 w 7188200"/>
              <a:gd name="connsiteY4" fmla="*/ 2978150 h 6931025"/>
              <a:gd name="connsiteX0" fmla="*/ 0 w 10109200"/>
              <a:gd name="connsiteY0" fmla="*/ 2978150 h 6931025"/>
              <a:gd name="connsiteX1" fmla="*/ 6962775 w 10109200"/>
              <a:gd name="connsiteY1" fmla="*/ 6931025 h 6931025"/>
              <a:gd name="connsiteX2" fmla="*/ 6429375 w 10109200"/>
              <a:gd name="connsiteY2" fmla="*/ 6931025 h 6931025"/>
              <a:gd name="connsiteX3" fmla="*/ 0 w 10109200"/>
              <a:gd name="connsiteY3" fmla="*/ 3530600 h 6931025"/>
              <a:gd name="connsiteX4" fmla="*/ 0 w 10109200"/>
              <a:gd name="connsiteY4" fmla="*/ 2978150 h 6931025"/>
              <a:gd name="connsiteX0" fmla="*/ 0 w 10109200"/>
              <a:gd name="connsiteY0" fmla="*/ 2978150 h 6931025"/>
              <a:gd name="connsiteX1" fmla="*/ 6962775 w 10109200"/>
              <a:gd name="connsiteY1" fmla="*/ 6931025 h 6931025"/>
              <a:gd name="connsiteX2" fmla="*/ 6429375 w 10109200"/>
              <a:gd name="connsiteY2" fmla="*/ 6931025 h 6931025"/>
              <a:gd name="connsiteX3" fmla="*/ 0 w 10109200"/>
              <a:gd name="connsiteY3" fmla="*/ 3530600 h 6931025"/>
              <a:gd name="connsiteX4" fmla="*/ 0 w 10109200"/>
              <a:gd name="connsiteY4" fmla="*/ 2978150 h 6931025"/>
              <a:gd name="connsiteX0" fmla="*/ 0 w 10109200"/>
              <a:gd name="connsiteY0" fmla="*/ 2978150 h 6931025"/>
              <a:gd name="connsiteX1" fmla="*/ 6962775 w 10109200"/>
              <a:gd name="connsiteY1" fmla="*/ 6931025 h 6931025"/>
              <a:gd name="connsiteX2" fmla="*/ 6429375 w 10109200"/>
              <a:gd name="connsiteY2" fmla="*/ 6931025 h 6931025"/>
              <a:gd name="connsiteX3" fmla="*/ 0 w 10109200"/>
              <a:gd name="connsiteY3" fmla="*/ 3530600 h 6931025"/>
              <a:gd name="connsiteX4" fmla="*/ 0 w 10109200"/>
              <a:gd name="connsiteY4" fmla="*/ 2978150 h 6931025"/>
              <a:gd name="connsiteX0" fmla="*/ 0 w 10109200"/>
              <a:gd name="connsiteY0" fmla="*/ 2978150 h 6931025"/>
              <a:gd name="connsiteX1" fmla="*/ 6962775 w 10109200"/>
              <a:gd name="connsiteY1" fmla="*/ 6931025 h 6931025"/>
              <a:gd name="connsiteX2" fmla="*/ 6429375 w 10109200"/>
              <a:gd name="connsiteY2" fmla="*/ 6931025 h 6931025"/>
              <a:gd name="connsiteX3" fmla="*/ 0 w 10109200"/>
              <a:gd name="connsiteY3" fmla="*/ 3530600 h 6931025"/>
              <a:gd name="connsiteX4" fmla="*/ 0 w 10109200"/>
              <a:gd name="connsiteY4" fmla="*/ 2978150 h 6931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9200" h="6931025">
                <a:moveTo>
                  <a:pt x="0" y="2978150"/>
                </a:moveTo>
                <a:cubicBezTo>
                  <a:pt x="7188200" y="0"/>
                  <a:pt x="10109200" y="2984500"/>
                  <a:pt x="6962775" y="6931025"/>
                </a:cubicBezTo>
                <a:lnTo>
                  <a:pt x="6429375" y="6931025"/>
                </a:lnTo>
                <a:cubicBezTo>
                  <a:pt x="6924675" y="4321175"/>
                  <a:pt x="4371975" y="2511425"/>
                  <a:pt x="0" y="3530600"/>
                </a:cubicBezTo>
                <a:lnTo>
                  <a:pt x="0" y="2978150"/>
                </a:lnTo>
                <a:close/>
              </a:path>
            </a:pathLst>
          </a:custGeom>
          <a:gradFill flip="none" rotWithShape="1">
            <a:gsLst>
              <a:gs pos="0">
                <a:schemeClr val="tx2">
                  <a:alpha val="33000"/>
                </a:schemeClr>
              </a:gs>
              <a:gs pos="100000">
                <a:srgbClr val="000000">
                  <a:alpha val="10000"/>
                </a:srgbClr>
              </a:gs>
            </a:gsLst>
            <a:lin ang="2700000" scaled="1"/>
            <a:tileRect/>
          </a:gradFill>
          <a:ln w="9525">
            <a:noFill/>
            <a:miter lim="800000"/>
            <a:headEnd/>
            <a:tailEnd/>
          </a:ln>
        </p:spPr>
        <p:txBody>
          <a:bodyPr anchor="t" anchorCtr="0"/>
          <a:lstStyle/>
          <a:p>
            <a:pPr algn="ctr" defTabSz="914099" rtl="0" fontAlgn="base">
              <a:spcBef>
                <a:spcPct val="0"/>
              </a:spcBef>
              <a:spcAft>
                <a:spcPct val="0"/>
              </a:spcAft>
              <a:defRPr/>
            </a:pPr>
            <a:endParaRPr lang="en-US" sz="3200" kern="1200" dirty="0">
              <a:solidFill>
                <a:srgbClr val="FFFFFF"/>
              </a:solidFill>
              <a:effectLst>
                <a:outerShdw blurRad="38100" dist="38100" dir="2700000" algn="tl">
                  <a:srgbClr val="000000">
                    <a:alpha val="43137"/>
                  </a:srgbClr>
                </a:outerShdw>
              </a:effectLst>
              <a:latin typeface="Segoe" pitchFamily="34" charset="0"/>
              <a:ea typeface="+mn-ea"/>
              <a:cs typeface="+mn-cs"/>
            </a:endParaRPr>
          </a:p>
        </p:txBody>
      </p:sp>
      <p:sp>
        <p:nvSpPr>
          <p:cNvPr id="30" name="Round Same Side Corner Rectangle 29"/>
          <p:cNvSpPr/>
          <p:nvPr userDrawn="1"/>
        </p:nvSpPr>
        <p:spPr bwMode="blackWhite">
          <a:xfrm rot="16200000" flipH="1">
            <a:off x="5549036" y="746342"/>
            <a:ext cx="2517731" cy="5749450"/>
          </a:xfrm>
          <a:prstGeom prst="round2SameRect">
            <a:avLst>
              <a:gd name="adj1" fmla="val 50000"/>
              <a:gd name="adj2" fmla="val 0"/>
            </a:avLst>
          </a:prstGeom>
          <a:gradFill flip="none" rotWithShape="1">
            <a:gsLst>
              <a:gs pos="0">
                <a:srgbClr val="0270DB">
                  <a:alpha val="15294"/>
                </a:srgbClr>
              </a:gs>
              <a:gs pos="24000">
                <a:srgbClr val="0270DB">
                  <a:alpha val="64706"/>
                </a:srgbClr>
              </a:gs>
              <a:gs pos="35000">
                <a:srgbClr val="0270DB">
                  <a:alpha val="74902"/>
                </a:srgbClr>
              </a:gs>
              <a:gs pos="100000">
                <a:srgbClr val="0270DB">
                  <a:alpha val="0"/>
                </a:srgbClr>
              </a:gs>
            </a:gsLst>
            <a:lin ang="5400000" scaled="1"/>
            <a:tileRect/>
          </a:gradFill>
          <a:ln w="38100">
            <a:noFill/>
            <a:headEnd type="none" w="med" len="med"/>
            <a:tailEnd type="none" w="med" len="med"/>
          </a:ln>
          <a:effectLst/>
          <a:scene3d>
            <a:camera prst="orthographicFront">
              <a:rot lat="0" lon="0" rev="0"/>
            </a:camera>
            <a:lightRig rig="threePt" dir="t">
              <a:rot lat="0" lon="0" rev="9000000"/>
            </a:lightRig>
          </a:scene3d>
          <a:sp3d prstMaterial="flat">
            <a:bevelT w="95250" h="95250"/>
            <a:extrusionClr>
              <a:srgbClr val="C00000"/>
            </a:extrusionClr>
            <a:contourClr>
              <a:srgbClr val="FF9D17"/>
            </a:contourClr>
          </a:sp3d>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endParaRPr lang="en-US" sz="2300" kern="1200" dirty="0">
              <a:solidFill>
                <a:srgbClr val="FFFFFF"/>
              </a:solidFill>
              <a:effectLst>
                <a:outerShdw blurRad="38100" dist="38100" dir="2700000" algn="tl">
                  <a:srgbClr val="000000">
                    <a:alpha val="43137"/>
                  </a:srgbClr>
                </a:outerShdw>
              </a:effectLst>
              <a:latin typeface="Trebuchet MS" pitchFamily="34" charset="0"/>
              <a:ea typeface="+mn-ea"/>
              <a:cs typeface="+mn-cs"/>
            </a:endParaRPr>
          </a:p>
        </p:txBody>
      </p:sp>
      <p:sp>
        <p:nvSpPr>
          <p:cNvPr id="6" name="Slide Number Placeholder 6"/>
          <p:cNvSpPr txBox="1">
            <a:spLocks/>
          </p:cNvSpPr>
          <p:nvPr userDrawn="1"/>
        </p:nvSpPr>
        <p:spPr>
          <a:xfrm>
            <a:off x="95275" y="6400801"/>
            <a:ext cx="2132964" cy="365125"/>
          </a:xfrm>
          <a:prstGeom prst="rect">
            <a:avLst/>
          </a:prstGeom>
        </p:spPr>
        <p:txBody>
          <a:bodyPr vert="horz" lIns="0" tIns="0" rIns="0" bIns="0" rtlCol="0" anchor="b" anchorCtr="0"/>
          <a:lstStyle>
            <a:lvl1pPr algn="r">
              <a:defRPr sz="1200">
                <a:solidFill>
                  <a:schemeClr val="tx1">
                    <a:tint val="75000"/>
                  </a:schemeClr>
                </a:solidFill>
              </a:defRPr>
            </a:lvl1pPr>
          </a:lstStyle>
          <a:p>
            <a:pPr algn="l" defTabSz="914363" rtl="0">
              <a:defRPr/>
            </a:pPr>
            <a:fld id="{ACC6DABA-E178-49C8-B135-4378B6D3DD69}" type="slidenum">
              <a:rPr lang="en-US" sz="1400" kern="1200" smtClean="0">
                <a:solidFill>
                  <a:srgbClr val="FFFFFF">
                    <a:tint val="75000"/>
                  </a:srgbClr>
                </a:solidFill>
                <a:latin typeface="Calibri"/>
                <a:ea typeface="+mn-ea"/>
                <a:cs typeface="+mn-cs"/>
              </a:rPr>
              <a:pPr algn="l" defTabSz="914363" rtl="0">
                <a:defRPr/>
              </a:pPr>
              <a:t>‹#›</a:t>
            </a:fld>
            <a:endParaRPr lang="en-US" sz="1400" kern="1200" dirty="0">
              <a:solidFill>
                <a:srgbClr val="FFFFFF">
                  <a:tint val="75000"/>
                </a:srgbClr>
              </a:solidFill>
              <a:latin typeface="Calibri"/>
              <a:ea typeface="+mn-ea"/>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childTnLst>
                                </p:cTn>
                              </p:par>
                              <p:par>
                                <p:cTn id="8" presetID="63" presetClass="path" presetSubtype="0" decel="50000" fill="hold" grpId="1" nodeType="withEffect">
                                  <p:stCondLst>
                                    <p:cond delay="0"/>
                                  </p:stCondLst>
                                  <p:childTnLst>
                                    <p:animMotion origin="layout" path="M -0.25 -1.48148E-6 L 3.33333E-6 -1.48148E-6 " pathEditMode="relative" rAng="0" ptsTypes="AA">
                                      <p:cBhvr>
                                        <p:cTn id="9" dur="1000" fill="hold"/>
                                        <p:tgtEl>
                                          <p:spTgt spid="30"/>
                                        </p:tgtEl>
                                        <p:attrNameLst>
                                          <p:attrName>ppt_x</p:attrName>
                                          <p:attrName>ppt_y</p:attrName>
                                        </p:attrNameLst>
                                      </p:cBhvr>
                                      <p:rCtr x="12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0" grpId="1"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NOTE layout - user must hide slide">
    <p:bg bwMode="black">
      <p:bgPr>
        <a:solidFill>
          <a:srgbClr val="40404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1" y="6238877"/>
            <a:ext cx="9144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Calibri" pitchFamily="34" charset="0"/>
              </a:defRPr>
            </a:lvl1pPr>
          </a:lstStyle>
          <a:p>
            <a:pPr lvl="0"/>
            <a:r>
              <a:rPr lang="en-US" smtClean="0"/>
              <a:t>Click to edit Master text styles</a:t>
            </a:r>
          </a:p>
        </p:txBody>
      </p:sp>
      <p:sp>
        <p:nvSpPr>
          <p:cNvPr id="7" name="Slide Number Placeholder 6"/>
          <p:cNvSpPr txBox="1">
            <a:spLocks/>
          </p:cNvSpPr>
          <p:nvPr userDrawn="1"/>
        </p:nvSpPr>
        <p:spPr>
          <a:xfrm>
            <a:off x="95275" y="6400801"/>
            <a:ext cx="2132964" cy="365125"/>
          </a:xfrm>
          <a:prstGeom prst="rect">
            <a:avLst/>
          </a:prstGeom>
        </p:spPr>
        <p:txBody>
          <a:bodyPr vert="horz" lIns="0" tIns="0" rIns="0" bIns="0" rtlCol="0" anchor="b" anchorCtr="0"/>
          <a:lstStyle>
            <a:lvl1pPr algn="r">
              <a:defRPr sz="1200">
                <a:solidFill>
                  <a:schemeClr val="tx1">
                    <a:tint val="75000"/>
                  </a:schemeClr>
                </a:solidFill>
              </a:defRPr>
            </a:lvl1pPr>
          </a:lstStyle>
          <a:p>
            <a:pPr algn="l" defTabSz="914363" rtl="0">
              <a:defRPr/>
            </a:pPr>
            <a:fld id="{ACC6DABA-E178-49C8-B135-4378B6D3DD69}" type="slidenum">
              <a:rPr lang="en-US" sz="1400" kern="1200" smtClean="0">
                <a:solidFill>
                  <a:srgbClr val="000000"/>
                </a:solidFill>
                <a:latin typeface="Calibri"/>
                <a:ea typeface="+mn-ea"/>
                <a:cs typeface="+mn-cs"/>
              </a:rPr>
              <a:pPr algn="l" defTabSz="914363" rtl="0">
                <a:defRPr/>
              </a:pPr>
              <a:t>‹#›</a:t>
            </a:fld>
            <a:endParaRPr lang="en-US" sz="1400" kern="1200" dirty="0">
              <a:solidFill>
                <a:srgbClr val="000000"/>
              </a:solidFill>
              <a:latin typeface="Calibri"/>
              <a:ea typeface="+mn-ea"/>
              <a:cs typeface="+mn-cs"/>
            </a:endParaRPr>
          </a:p>
        </p:txBody>
      </p:sp>
    </p:spTree>
  </p:cSld>
  <p:clrMapOvr>
    <a:masterClrMapping/>
  </p:clrMapOvr>
  <p:transition>
    <p:fade/>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Resources for IT Professionals">
    <p:spTree>
      <p:nvGrpSpPr>
        <p:cNvPr id="1" name=""/>
        <p:cNvGrpSpPr/>
        <p:nvPr/>
      </p:nvGrpSpPr>
      <p:grpSpPr>
        <a:xfrm>
          <a:off x="0" y="0"/>
          <a:ext cx="0" cy="0"/>
          <a:chOff x="0" y="0"/>
          <a:chExt cx="0" cy="0"/>
        </a:xfrm>
      </p:grpSpPr>
      <p:sp>
        <p:nvSpPr>
          <p:cNvPr id="21" name="Rounded Rectangle 20"/>
          <p:cNvSpPr/>
          <p:nvPr userDrawn="1"/>
        </p:nvSpPr>
        <p:spPr bwMode="auto">
          <a:xfrm>
            <a:off x="-34925" y="990600"/>
            <a:ext cx="9144000" cy="838200"/>
          </a:xfrm>
          <a:prstGeom prst="roundRect">
            <a:avLst>
              <a:gd name="adj" fmla="val 50000"/>
            </a:avLst>
          </a:prstGeom>
          <a:gradFill rotWithShape="1">
            <a:gsLst>
              <a:gs pos="0">
                <a:schemeClr val="tx1">
                  <a:alpha val="18000"/>
                </a:schemeClr>
              </a:gs>
              <a:gs pos="100000">
                <a:srgbClr val="000000">
                  <a:alpha val="0"/>
                </a:srgbClr>
              </a:gs>
            </a:gsLst>
            <a:lin ang="5400000" scaled="1"/>
          </a:gradFill>
          <a:ln w="9525">
            <a:noFill/>
            <a:miter lim="800000"/>
            <a:headEnd/>
            <a:tailEnd/>
          </a:ln>
        </p:spPr>
        <p:txBody>
          <a:bodyPr anchor="ctr" anchorCtr="0"/>
          <a:lstStyle/>
          <a:p>
            <a:pPr algn="ctr" defTabSz="914099" fontAlgn="base">
              <a:spcBef>
                <a:spcPct val="0"/>
              </a:spcBef>
              <a:spcAft>
                <a:spcPct val="0"/>
              </a:spcAft>
              <a:defRPr/>
            </a:pPr>
            <a:endParaRPr lang="en-US" sz="1600" dirty="0" smtClean="0">
              <a:solidFill>
                <a:srgbClr val="FFFFFF"/>
              </a:solidFill>
              <a:effectLst>
                <a:outerShdw blurRad="38100" dist="38100" dir="2700000" algn="tl">
                  <a:srgbClr val="000000">
                    <a:alpha val="43137"/>
                  </a:srgbClr>
                </a:outerShdw>
              </a:effectLst>
              <a:latin typeface="Segoe" pitchFamily="34" charset="0"/>
            </a:endParaRPr>
          </a:p>
        </p:txBody>
      </p:sp>
      <p:sp>
        <p:nvSpPr>
          <p:cNvPr id="23" name="Rounded Rectangle 22"/>
          <p:cNvSpPr/>
          <p:nvPr userDrawn="1"/>
        </p:nvSpPr>
        <p:spPr bwMode="auto">
          <a:xfrm>
            <a:off x="-34925" y="3429000"/>
            <a:ext cx="5867400" cy="838200"/>
          </a:xfrm>
          <a:prstGeom prst="roundRect">
            <a:avLst>
              <a:gd name="adj" fmla="val 50000"/>
            </a:avLst>
          </a:prstGeom>
          <a:gradFill rotWithShape="1">
            <a:gsLst>
              <a:gs pos="0">
                <a:schemeClr val="tx1">
                  <a:alpha val="18000"/>
                </a:schemeClr>
              </a:gs>
              <a:gs pos="100000">
                <a:srgbClr val="000000">
                  <a:alpha val="0"/>
                </a:srgbClr>
              </a:gs>
            </a:gsLst>
            <a:lin ang="5400000" scaled="1"/>
          </a:gradFill>
          <a:ln w="9525">
            <a:noFill/>
            <a:miter lim="800000"/>
            <a:headEnd/>
            <a:tailEnd/>
          </a:ln>
        </p:spPr>
        <p:txBody>
          <a:bodyPr anchor="ctr" anchorCtr="0"/>
          <a:lstStyle/>
          <a:p>
            <a:pPr algn="ctr" defTabSz="914099" fontAlgn="base">
              <a:spcBef>
                <a:spcPct val="0"/>
              </a:spcBef>
              <a:spcAft>
                <a:spcPct val="0"/>
              </a:spcAft>
              <a:defRPr/>
            </a:pPr>
            <a:endParaRPr lang="en-US" sz="1600" dirty="0" smtClean="0">
              <a:solidFill>
                <a:srgbClr val="FFFFFF"/>
              </a:solidFill>
              <a:effectLst>
                <a:outerShdw blurRad="38100" dist="38100" dir="2700000" algn="tl">
                  <a:srgbClr val="000000">
                    <a:alpha val="43137"/>
                  </a:srgbClr>
                </a:outerShdw>
              </a:effectLst>
              <a:latin typeface="Segoe" pitchFamily="34" charset="0"/>
            </a:endParaRPr>
          </a:p>
        </p:txBody>
      </p:sp>
      <p:pic>
        <p:nvPicPr>
          <p:cNvPr id="24" name="Picture 23" descr="TechNet.png"/>
          <p:cNvPicPr>
            <a:picLocks noChangeAspect="1"/>
          </p:cNvPicPr>
          <p:nvPr userDrawn="1"/>
        </p:nvPicPr>
        <p:blipFill>
          <a:blip r:embed="rId2" cstate="email"/>
          <a:stretch>
            <a:fillRect/>
          </a:stretch>
        </p:blipFill>
        <p:spPr bwMode="invGray">
          <a:xfrm>
            <a:off x="727075" y="3529168"/>
            <a:ext cx="3624263" cy="738032"/>
          </a:xfrm>
          <a:prstGeom prst="rect">
            <a:avLst/>
          </a:prstGeom>
        </p:spPr>
      </p:pic>
      <p:grpSp>
        <p:nvGrpSpPr>
          <p:cNvPr id="2" name="Group 29"/>
          <p:cNvGrpSpPr/>
          <p:nvPr userDrawn="1"/>
        </p:nvGrpSpPr>
        <p:grpSpPr>
          <a:xfrm>
            <a:off x="193675" y="1247775"/>
            <a:ext cx="457200" cy="457200"/>
            <a:chOff x="0" y="1400175"/>
            <a:chExt cx="457200" cy="457200"/>
          </a:xfrm>
        </p:grpSpPr>
        <p:sp>
          <p:nvSpPr>
            <p:cNvPr id="26" name="Oval 25"/>
            <p:cNvSpPr/>
            <p:nvPr/>
          </p:nvSpPr>
          <p:spPr>
            <a:xfrm>
              <a:off x="161365" y="1561540"/>
              <a:ext cx="152400" cy="152400"/>
            </a:xfrm>
            <a:prstGeom prst="ellipse">
              <a:avLst/>
            </a:prstGeom>
            <a:gradFill flip="none" rotWithShape="1">
              <a:gsLst>
                <a:gs pos="10000">
                  <a:srgbClr val="C0504D">
                    <a:lumMod val="50000"/>
                  </a:srgbClr>
                </a:gs>
                <a:gs pos="100000">
                  <a:srgbClr val="F79646">
                    <a:lumMod val="50000"/>
                  </a:srgbClr>
                </a:gs>
              </a:gsLst>
              <a:path path="shape">
                <a:fillToRect l="50000" t="50000" r="50000" b="50000"/>
              </a:path>
              <a:tileRect/>
            </a:gradFill>
            <a:ln w="12700" cap="flat" cmpd="sng" algn="ctr">
              <a:gradFill>
                <a:gsLst>
                  <a:gs pos="0">
                    <a:srgbClr val="F79646">
                      <a:lumMod val="75000"/>
                    </a:srgbClr>
                  </a:gs>
                  <a:gs pos="100000">
                    <a:srgbClr val="F79646"/>
                  </a:gs>
                </a:gsLst>
                <a:lin ang="5400000" scaled="0"/>
              </a:gradFill>
              <a:prstDash val="solid"/>
            </a:ln>
            <a:effectLst/>
            <a:scene3d>
              <a:camera prst="orthographicFront"/>
              <a:lightRig rig="threePt" dir="t">
                <a:rot lat="0" lon="0" rev="4800000"/>
              </a:lightRig>
            </a:scene3d>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7" name="Oval 26"/>
            <p:cNvSpPr/>
            <p:nvPr/>
          </p:nvSpPr>
          <p:spPr>
            <a:xfrm>
              <a:off x="0" y="1400175"/>
              <a:ext cx="457200" cy="457200"/>
            </a:xfrm>
            <a:prstGeom prst="ellipse">
              <a:avLst/>
            </a:prstGeom>
            <a:solidFill>
              <a:srgbClr val="FFC000"/>
            </a:solidFill>
            <a:ln w="25400" cap="flat" cmpd="sng" algn="ctr">
              <a:noFill/>
              <a:prstDash val="solid"/>
            </a:ln>
            <a:effectLst>
              <a:softEdge rad="127000"/>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8" name="Oval 27"/>
            <p:cNvSpPr/>
            <p:nvPr/>
          </p:nvSpPr>
          <p:spPr>
            <a:xfrm>
              <a:off x="152400" y="1552575"/>
              <a:ext cx="152400" cy="152400"/>
            </a:xfrm>
            <a:prstGeom prst="ellipse">
              <a:avLst/>
            </a:prstGeom>
            <a:solidFill>
              <a:sysClr val="window" lastClr="FFFFFF"/>
            </a:solidFill>
            <a:ln w="12700" cap="flat" cmpd="sng" algn="ctr">
              <a:solidFill>
                <a:srgbClr val="FFFF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grpSp>
        <p:nvGrpSpPr>
          <p:cNvPr id="3" name="Group 33"/>
          <p:cNvGrpSpPr/>
          <p:nvPr userDrawn="1"/>
        </p:nvGrpSpPr>
        <p:grpSpPr>
          <a:xfrm>
            <a:off x="193675" y="3671887"/>
            <a:ext cx="457200" cy="457200"/>
            <a:chOff x="0" y="1400175"/>
            <a:chExt cx="457200" cy="457200"/>
          </a:xfrm>
        </p:grpSpPr>
        <p:sp>
          <p:nvSpPr>
            <p:cNvPr id="30" name="Oval 29"/>
            <p:cNvSpPr/>
            <p:nvPr/>
          </p:nvSpPr>
          <p:spPr>
            <a:xfrm>
              <a:off x="161365" y="1561540"/>
              <a:ext cx="152400" cy="152400"/>
            </a:xfrm>
            <a:prstGeom prst="ellipse">
              <a:avLst/>
            </a:prstGeom>
            <a:gradFill flip="none" rotWithShape="1">
              <a:gsLst>
                <a:gs pos="10000">
                  <a:srgbClr val="C0504D">
                    <a:lumMod val="50000"/>
                  </a:srgbClr>
                </a:gs>
                <a:gs pos="100000">
                  <a:srgbClr val="F79646">
                    <a:lumMod val="50000"/>
                  </a:srgbClr>
                </a:gs>
              </a:gsLst>
              <a:path path="shape">
                <a:fillToRect l="50000" t="50000" r="50000" b="50000"/>
              </a:path>
              <a:tileRect/>
            </a:gradFill>
            <a:ln w="12700" cap="flat" cmpd="sng" algn="ctr">
              <a:gradFill>
                <a:gsLst>
                  <a:gs pos="0">
                    <a:srgbClr val="F79646">
                      <a:lumMod val="75000"/>
                    </a:srgbClr>
                  </a:gs>
                  <a:gs pos="100000">
                    <a:srgbClr val="F79646"/>
                  </a:gs>
                </a:gsLst>
                <a:lin ang="5400000" scaled="0"/>
              </a:gradFill>
              <a:prstDash val="solid"/>
            </a:ln>
            <a:effectLst/>
            <a:scene3d>
              <a:camera prst="orthographicFront"/>
              <a:lightRig rig="threePt" dir="t">
                <a:rot lat="0" lon="0" rev="4800000"/>
              </a:lightRig>
            </a:scene3d>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1" name="Oval 30"/>
            <p:cNvSpPr/>
            <p:nvPr/>
          </p:nvSpPr>
          <p:spPr>
            <a:xfrm>
              <a:off x="0" y="1400175"/>
              <a:ext cx="457200" cy="457200"/>
            </a:xfrm>
            <a:prstGeom prst="ellipse">
              <a:avLst/>
            </a:prstGeom>
            <a:solidFill>
              <a:srgbClr val="FFC000"/>
            </a:solidFill>
            <a:ln w="25400" cap="flat" cmpd="sng" algn="ctr">
              <a:noFill/>
              <a:prstDash val="solid"/>
            </a:ln>
            <a:effectLst>
              <a:softEdge rad="127000"/>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2" name="Oval 31"/>
            <p:cNvSpPr/>
            <p:nvPr/>
          </p:nvSpPr>
          <p:spPr>
            <a:xfrm>
              <a:off x="152400" y="1552575"/>
              <a:ext cx="152400" cy="152400"/>
            </a:xfrm>
            <a:prstGeom prst="ellipse">
              <a:avLst/>
            </a:prstGeom>
            <a:solidFill>
              <a:sysClr val="window" lastClr="FFFFFF"/>
            </a:solidFill>
            <a:ln w="12700" cap="flat" cmpd="sng" algn="ctr">
              <a:solidFill>
                <a:srgbClr val="FFFF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sp>
        <p:nvSpPr>
          <p:cNvPr id="34" name="Oval 33"/>
          <p:cNvSpPr/>
          <p:nvPr userDrawn="1"/>
        </p:nvSpPr>
        <p:spPr bwMode="auto">
          <a:xfrm>
            <a:off x="60325" y="1085850"/>
            <a:ext cx="762000" cy="762000"/>
          </a:xfrm>
          <a:prstGeom prst="ellipse">
            <a:avLst/>
          </a:prstGeom>
          <a:gradFill flip="none" rotWithShape="1">
            <a:gsLst>
              <a:gs pos="0">
                <a:schemeClr val="tx1"/>
              </a:gs>
              <a:gs pos="100000">
                <a:schemeClr val="tx1">
                  <a:alpha val="0"/>
                </a:schemeClr>
              </a:gs>
            </a:gsLst>
            <a:path path="shape">
              <a:fillToRect l="50000" t="50000" r="50000" b="50000"/>
            </a:path>
            <a:tileRect/>
          </a:gradFill>
          <a:ln>
            <a:headEnd type="none" w="med" len="med"/>
            <a:tailEnd type="none" w="med" len="med"/>
          </a:ln>
          <a:effectLst/>
          <a:scene3d>
            <a:camera prst="orthographicFront" fov="0">
              <a:rot lat="0" lon="0" rev="0"/>
            </a:camera>
            <a:lightRig rig="glow" dir="t">
              <a:rot lat="0" lon="0" rev="6360000"/>
            </a:lightRig>
          </a:scene3d>
          <a:sp3d prstMaterial="flat">
            <a:contourClr>
              <a:schemeClr val="accent2">
                <a:satMod val="300000"/>
              </a:schemeClr>
            </a:contourClr>
          </a:sp3d>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ffectLst>
                <a:outerShdw blurRad="38100" dist="38100" dir="2700000" algn="tl">
                  <a:srgbClr val="000000">
                    <a:alpha val="43137"/>
                  </a:srgbClr>
                </a:outerShdw>
              </a:effectLst>
              <a:latin typeface="Trebuchet MS" pitchFamily="34" charset="0"/>
            </a:endParaRPr>
          </a:p>
        </p:txBody>
      </p:sp>
      <p:sp>
        <p:nvSpPr>
          <p:cNvPr id="35" name="Oval 34"/>
          <p:cNvSpPr/>
          <p:nvPr userDrawn="1"/>
        </p:nvSpPr>
        <p:spPr bwMode="auto">
          <a:xfrm>
            <a:off x="60325" y="3519487"/>
            <a:ext cx="762000" cy="762000"/>
          </a:xfrm>
          <a:prstGeom prst="ellipse">
            <a:avLst/>
          </a:prstGeom>
          <a:gradFill flip="none" rotWithShape="1">
            <a:gsLst>
              <a:gs pos="0">
                <a:schemeClr val="tx1"/>
              </a:gs>
              <a:gs pos="100000">
                <a:schemeClr val="tx1">
                  <a:alpha val="0"/>
                </a:schemeClr>
              </a:gs>
            </a:gsLst>
            <a:path path="shape">
              <a:fillToRect l="50000" t="50000" r="50000" b="50000"/>
            </a:path>
            <a:tileRect/>
          </a:gradFill>
          <a:ln>
            <a:headEnd type="none" w="med" len="med"/>
            <a:tailEnd type="none" w="med" len="med"/>
          </a:ln>
          <a:effectLst/>
          <a:scene3d>
            <a:camera prst="orthographicFront" fov="0">
              <a:rot lat="0" lon="0" rev="0"/>
            </a:camera>
            <a:lightRig rig="glow" dir="t">
              <a:rot lat="0" lon="0" rev="6360000"/>
            </a:lightRig>
          </a:scene3d>
          <a:sp3d prstMaterial="flat">
            <a:contourClr>
              <a:schemeClr val="accent2">
                <a:satMod val="300000"/>
              </a:schemeClr>
            </a:contourClr>
          </a:sp3d>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ffectLst>
                <a:outerShdw blurRad="38100" dist="38100" dir="2700000" algn="tl">
                  <a:srgbClr val="000000">
                    <a:alpha val="43137"/>
                  </a:srgbClr>
                </a:outerShdw>
              </a:effectLst>
              <a:latin typeface="Trebuchet MS" pitchFamily="34" charset="0"/>
            </a:endParaRPr>
          </a:p>
        </p:txBody>
      </p:sp>
      <p:sp>
        <p:nvSpPr>
          <p:cNvPr id="36" name="Rectangle 35"/>
          <p:cNvSpPr/>
          <p:nvPr userDrawn="1"/>
        </p:nvSpPr>
        <p:spPr>
          <a:xfrm>
            <a:off x="803275" y="2286000"/>
            <a:ext cx="4572000" cy="954107"/>
          </a:xfrm>
          <a:prstGeom prst="rect">
            <a:avLst/>
          </a:prstGeom>
        </p:spPr>
        <p:txBody>
          <a:bodyPr>
            <a:spAutoFit/>
          </a:bodyPr>
          <a:lstStyle/>
          <a:p>
            <a:pPr>
              <a:spcBef>
                <a:spcPts val="600"/>
              </a:spcBef>
            </a:pPr>
            <a:r>
              <a:rPr lang="en-US" sz="2000" dirty="0" smtClean="0">
                <a:hlinkClick r:id="rId3"/>
              </a:rPr>
              <a:t>www.microsoft.com/teched</a:t>
            </a:r>
            <a:r>
              <a:rPr lang="en-US" sz="2000" dirty="0" smtClean="0"/>
              <a:t> </a:t>
            </a:r>
          </a:p>
          <a:p>
            <a:pPr marL="0" lvl="1" indent="0">
              <a:lnSpc>
                <a:spcPct val="100000"/>
              </a:lnSpc>
              <a:spcBef>
                <a:spcPts val="0"/>
              </a:spcBef>
              <a:buNone/>
              <a:tabLst>
                <a:tab pos="1828800" algn="l"/>
              </a:tabLst>
            </a:pPr>
            <a:r>
              <a:rPr lang="en-US" dirty="0" err="1" smtClean="0"/>
              <a:t>Tech·Talks</a:t>
            </a:r>
            <a:r>
              <a:rPr lang="en-US" dirty="0" smtClean="0"/>
              <a:t>	</a:t>
            </a:r>
            <a:r>
              <a:rPr lang="en-US" dirty="0" err="1" smtClean="0"/>
              <a:t>Tech·Ed</a:t>
            </a:r>
            <a:r>
              <a:rPr lang="en-US" dirty="0" smtClean="0"/>
              <a:t> Bloggers</a:t>
            </a:r>
          </a:p>
          <a:p>
            <a:pPr marL="0" lvl="1" indent="0">
              <a:lnSpc>
                <a:spcPct val="100000"/>
              </a:lnSpc>
              <a:spcBef>
                <a:spcPts val="0"/>
              </a:spcBef>
              <a:buNone/>
              <a:tabLst>
                <a:tab pos="1828800" algn="l"/>
              </a:tabLst>
            </a:pPr>
            <a:r>
              <a:rPr lang="en-US" dirty="0" smtClean="0"/>
              <a:t>Live Simulcasts	Virtual Labs</a:t>
            </a:r>
          </a:p>
        </p:txBody>
      </p:sp>
      <p:sp>
        <p:nvSpPr>
          <p:cNvPr id="37" name="Rectangle 36"/>
          <p:cNvSpPr/>
          <p:nvPr userDrawn="1"/>
        </p:nvSpPr>
        <p:spPr>
          <a:xfrm>
            <a:off x="803275" y="4419600"/>
            <a:ext cx="6324600" cy="1354217"/>
          </a:xfrm>
          <a:prstGeom prst="rect">
            <a:avLst/>
          </a:prstGeom>
        </p:spPr>
        <p:txBody>
          <a:bodyPr wrap="square">
            <a:spAutoFit/>
          </a:bodyPr>
          <a:lstStyle/>
          <a:p>
            <a:pPr lvl="0">
              <a:spcBef>
                <a:spcPts val="600"/>
              </a:spcBef>
              <a:buSzPct val="120000"/>
              <a:tabLst>
                <a:tab pos="1828800" algn="l"/>
              </a:tabLst>
              <a:defRPr/>
            </a:pPr>
            <a:r>
              <a:rPr lang="en-US" sz="2000" dirty="0" smtClean="0">
                <a:latin typeface="Calibri" pitchFamily="34" charset="0"/>
                <a:hlinkClick r:id="rId4"/>
              </a:rPr>
              <a:t>http://microsoft.com/technet</a:t>
            </a:r>
            <a:r>
              <a:rPr lang="en-US" sz="2400" b="1" dirty="0" smtClean="0">
                <a:latin typeface="Calibri" pitchFamily="34" charset="0"/>
              </a:rPr>
              <a:t>  </a:t>
            </a:r>
            <a:endParaRPr lang="en-US" sz="2400" dirty="0" smtClean="0">
              <a:latin typeface="Calibri" pitchFamily="34" charset="0"/>
            </a:endParaRPr>
          </a:p>
          <a:p>
            <a:pPr marL="0" lvl="1">
              <a:tabLst>
                <a:tab pos="1828800" algn="l"/>
              </a:tabLst>
              <a:defRPr/>
            </a:pPr>
            <a:endParaRPr lang="en-US" dirty="0" smtClean="0">
              <a:latin typeface="Calibri" pitchFamily="34" charset="0"/>
            </a:endParaRPr>
          </a:p>
          <a:p>
            <a:pPr marL="0" lvl="1">
              <a:tabLst>
                <a:tab pos="1828800" algn="l"/>
              </a:tabLst>
              <a:defRPr/>
            </a:pPr>
            <a:r>
              <a:rPr lang="en-US" sz="2000" dirty="0" smtClean="0">
                <a:latin typeface="Calibri" pitchFamily="34" charset="0"/>
              </a:rPr>
              <a:t>Evaluation licenses, pre-released </a:t>
            </a:r>
            <a:br>
              <a:rPr lang="en-US" sz="2000" dirty="0" smtClean="0">
                <a:latin typeface="Calibri" pitchFamily="34" charset="0"/>
              </a:rPr>
            </a:br>
            <a:r>
              <a:rPr lang="en-US" sz="2000" dirty="0" smtClean="0">
                <a:latin typeface="Calibri" pitchFamily="34" charset="0"/>
              </a:rPr>
              <a:t>products, and MORE!</a:t>
            </a:r>
          </a:p>
        </p:txBody>
      </p:sp>
      <p:pic>
        <p:nvPicPr>
          <p:cNvPr id="38" name="Picture 2"/>
          <p:cNvPicPr>
            <a:picLocks noChangeAspect="1" noChangeArrowheads="1"/>
          </p:cNvPicPr>
          <p:nvPr userDrawn="1"/>
        </p:nvPicPr>
        <p:blipFill>
          <a:blip r:embed="rId5" cstate="email"/>
          <a:srcRect/>
          <a:stretch>
            <a:fillRect/>
          </a:stretch>
        </p:blipFill>
        <p:spPr bwMode="auto">
          <a:xfrm>
            <a:off x="4384675" y="2133600"/>
            <a:ext cx="4212524" cy="3209544"/>
          </a:xfrm>
          <a:prstGeom prst="rect">
            <a:avLst/>
          </a:prstGeom>
          <a:noFill/>
          <a:ln>
            <a:noFill/>
          </a:ln>
          <a:effectLst>
            <a:glow rad="101600">
              <a:schemeClr val="accent6">
                <a:satMod val="175000"/>
                <a:alpha val="40000"/>
              </a:schemeClr>
            </a:glow>
            <a:reflection blurRad="6350" stA="52000" endA="300" endPos="35000" dir="5400000" sy="-100000" algn="bl" rotWithShape="0"/>
          </a:effectLst>
          <a:scene3d>
            <a:camera prst="perspectiveHeroicExtremeLeftFacing" fov="3000000">
              <a:rot lat="777496" lon="1390288" rev="21572207"/>
            </a:camera>
            <a:lightRig rig="threePt" dir="t"/>
          </a:scene3d>
        </p:spPr>
      </p:pic>
      <p:pic>
        <p:nvPicPr>
          <p:cNvPr id="39" name="Picture 38" descr="TechEd_online.png"/>
          <p:cNvPicPr>
            <a:picLocks noChangeAspect="1"/>
          </p:cNvPicPr>
          <p:nvPr userDrawn="1"/>
        </p:nvPicPr>
        <p:blipFill>
          <a:blip r:embed="rId6"/>
          <a:stretch>
            <a:fillRect/>
          </a:stretch>
        </p:blipFill>
        <p:spPr bwMode="invGray">
          <a:xfrm>
            <a:off x="879475" y="1209675"/>
            <a:ext cx="2409825" cy="1076325"/>
          </a:xfrm>
          <a:prstGeom prst="rect">
            <a:avLst/>
          </a:prstGeom>
        </p:spPr>
      </p:pic>
      <p:sp>
        <p:nvSpPr>
          <p:cNvPr id="41" name="Rectangle 40"/>
          <p:cNvSpPr/>
          <p:nvPr userDrawn="1"/>
        </p:nvSpPr>
        <p:spPr>
          <a:xfrm>
            <a:off x="733425" y="228600"/>
            <a:ext cx="7194214" cy="830997"/>
          </a:xfrm>
          <a:prstGeom prst="rect">
            <a:avLst/>
          </a:prstGeom>
        </p:spPr>
        <p:txBody>
          <a:bodyPr wrap="none">
            <a:spAutoFit/>
          </a:bodyPr>
          <a:lstStyle/>
          <a:p>
            <a:r>
              <a:rPr kumimoji="0" lang="en-US" sz="4800" b="0" i="0" u="none" strike="noStrike" kern="1200" cap="none" spc="-100" normalizeH="0" baseline="0" noProof="0" dirty="0" smtClean="0">
                <a:ln w="3175">
                  <a:noFill/>
                </a:ln>
                <a:solidFill>
                  <a:srgbClr val="FFFFFF"/>
                </a:solidFill>
                <a:effectLst/>
                <a:uLnTx/>
                <a:uFillTx/>
                <a:latin typeface="Calibri" pitchFamily="34" charset="0"/>
                <a:ea typeface="+mn-ea"/>
                <a:cs typeface="Arial" charset="0"/>
              </a:rPr>
              <a:t>Resources for IT Professionals</a:t>
            </a:r>
            <a:endParaRPr lang="en-US" dirty="0"/>
          </a:p>
        </p:txBody>
      </p:sp>
      <p:sp>
        <p:nvSpPr>
          <p:cNvPr id="20" name="Slide Number Placeholder 6"/>
          <p:cNvSpPr txBox="1">
            <a:spLocks/>
          </p:cNvSpPr>
          <p:nvPr userDrawn="1"/>
        </p:nvSpPr>
        <p:spPr>
          <a:xfrm>
            <a:off x="95275" y="6400801"/>
            <a:ext cx="2132964" cy="365125"/>
          </a:xfrm>
          <a:prstGeom prst="rect">
            <a:avLst/>
          </a:prstGeom>
        </p:spPr>
        <p:txBody>
          <a:bodyPr vert="horz" lIns="0" tIns="0" rIns="0" bIns="0" rtlCol="0" anchor="b" anchorCtr="0"/>
          <a:lstStyle>
            <a:lvl1pPr algn="r">
              <a:defRPr sz="1200">
                <a:solidFill>
                  <a:schemeClr val="tx1">
                    <a:tint val="75000"/>
                  </a:schemeClr>
                </a:solidFill>
              </a:defRPr>
            </a:lvl1pPr>
          </a:lstStyle>
          <a:p>
            <a:pPr marL="0" marR="0" lvl="0" indent="0" algn="l" defTabSz="914363" rtl="0" eaLnBrk="1" fontAlgn="auto" latinLnBrk="0" hangingPunct="1">
              <a:lnSpc>
                <a:spcPct val="100000"/>
              </a:lnSpc>
              <a:spcBef>
                <a:spcPts val="0"/>
              </a:spcBef>
              <a:spcAft>
                <a:spcPts val="0"/>
              </a:spcAft>
              <a:buClrTx/>
              <a:buSzTx/>
              <a:buFontTx/>
              <a:buNone/>
              <a:tabLst/>
              <a:defRPr/>
            </a:pPr>
            <a:fld id="{ACC6DABA-E178-49C8-B135-4378B6D3DD69}" type="slidenum">
              <a:rPr kumimoji="0" lang="en-US" sz="14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l" defTabSz="914363"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par>
                          <p:cTn id="9" fill="hold">
                            <p:stCondLst>
                              <p:cond delay="0"/>
                            </p:stCondLst>
                            <p:childTnLst>
                              <p:par>
                                <p:cTn id="10" presetID="10" presetClass="exit" presetSubtype="0" fill="hold" grpId="1" nodeType="afterEffect">
                                  <p:stCondLst>
                                    <p:cond delay="200"/>
                                  </p:stCondLst>
                                  <p:childTnLst>
                                    <p:animEffect transition="out" filter="fade">
                                      <p:cBhvr>
                                        <p:cTn id="11" dur="2000"/>
                                        <p:tgtEl>
                                          <p:spTgt spid="34"/>
                                        </p:tgtEl>
                                      </p:cBhvr>
                                    </p:animEffect>
                                    <p:set>
                                      <p:cBhvr>
                                        <p:cTn id="12" dur="1" fill="hold">
                                          <p:stCondLst>
                                            <p:cond delay="1999"/>
                                          </p:stCondLst>
                                        </p:cTn>
                                        <p:tgtEl>
                                          <p:spTgt spid="34"/>
                                        </p:tgtEl>
                                        <p:attrNameLst>
                                          <p:attrName>style.visibility</p:attrName>
                                        </p:attrNameLst>
                                      </p:cBhvr>
                                      <p:to>
                                        <p:strVal val="hidden"/>
                                      </p:to>
                                    </p:set>
                                  </p:childTnLst>
                                </p:cTn>
                              </p:par>
                              <p:par>
                                <p:cTn id="13" presetID="1" presetClass="entr" presetSubtype="0" fill="hold" grpId="0" nodeType="withEffect">
                                  <p:stCondLst>
                                    <p:cond delay="800"/>
                                  </p:stCondLst>
                                  <p:childTnLst>
                                    <p:set>
                                      <p:cBhvr>
                                        <p:cTn id="14" dur="1" fill="hold">
                                          <p:stCondLst>
                                            <p:cond delay="0"/>
                                          </p:stCondLst>
                                        </p:cTn>
                                        <p:tgtEl>
                                          <p:spTgt spid="35"/>
                                        </p:tgtEl>
                                        <p:attrNameLst>
                                          <p:attrName>style.visibility</p:attrName>
                                        </p:attrNameLst>
                                      </p:cBhvr>
                                      <p:to>
                                        <p:strVal val="visible"/>
                                      </p:to>
                                    </p:set>
                                  </p:childTnLst>
                                </p:cTn>
                              </p:par>
                              <p:par>
                                <p:cTn id="15" presetID="1" presetClass="entr" presetSubtype="0" fill="hold" nodeType="withEffect">
                                  <p:stCondLst>
                                    <p:cond delay="800"/>
                                  </p:stCondLst>
                                  <p:childTnLst>
                                    <p:set>
                                      <p:cBhvr>
                                        <p:cTn id="16" dur="1" fill="hold">
                                          <p:stCondLst>
                                            <p:cond delay="0"/>
                                          </p:stCondLst>
                                        </p:cTn>
                                        <p:tgtEl>
                                          <p:spTgt spid="3"/>
                                        </p:tgtEl>
                                        <p:attrNameLst>
                                          <p:attrName>style.visibility</p:attrName>
                                        </p:attrNameLst>
                                      </p:cBhvr>
                                      <p:to>
                                        <p:strVal val="visible"/>
                                      </p:to>
                                    </p:set>
                                  </p:childTnLst>
                                </p:cTn>
                              </p:par>
                              <p:par>
                                <p:cTn id="17" presetID="10" presetClass="exit" presetSubtype="0" fill="hold" grpId="1" nodeType="withEffect">
                                  <p:stCondLst>
                                    <p:cond delay="1000"/>
                                  </p:stCondLst>
                                  <p:childTnLst>
                                    <p:animEffect transition="out" filter="fade">
                                      <p:cBhvr>
                                        <p:cTn id="18" dur="2000"/>
                                        <p:tgtEl>
                                          <p:spTgt spid="35"/>
                                        </p:tgtEl>
                                      </p:cBhvr>
                                    </p:animEffect>
                                    <p:set>
                                      <p:cBhvr>
                                        <p:cTn id="19" dur="1" fill="hold">
                                          <p:stCondLst>
                                            <p:cond delay="1999"/>
                                          </p:stCondLst>
                                        </p:cTn>
                                        <p:tgtEl>
                                          <p:spTgt spid="3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4" grpId="1" animBg="1"/>
      <p:bldP spid="35" grpId="0" animBg="1"/>
      <p:bldP spid="35" grpId="1"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pic>
        <p:nvPicPr>
          <p:cNvPr id="5" name="Picture 4" descr="ContentForgroundBlue.png"/>
          <p:cNvPicPr>
            <a:picLocks noChangeAspect="1"/>
          </p:cNvPicPr>
          <p:nvPr userDrawn="1"/>
        </p:nvPicPr>
        <p:blipFill>
          <a:blip r:embed="rId19"/>
          <a:stretch>
            <a:fillRect/>
          </a:stretch>
        </p:blipFill>
        <p:spPr>
          <a:xfrm>
            <a:off x="0" y="0"/>
            <a:ext cx="9144000" cy="6858000"/>
          </a:xfrm>
          <a:prstGeom prst="rect">
            <a:avLst/>
          </a:prstGeom>
        </p:spPr>
      </p:pic>
      <p:sp>
        <p:nvSpPr>
          <p:cNvPr id="2" name="Title Placeholder 1"/>
          <p:cNvSpPr>
            <a:spLocks noGrp="1"/>
          </p:cNvSpPr>
          <p:nvPr>
            <p:ph type="title"/>
          </p:nvPr>
        </p:nvSpPr>
        <p:spPr>
          <a:xfrm>
            <a:off x="387054" y="228600"/>
            <a:ext cx="8375946" cy="66479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387054" y="1420814"/>
            <a:ext cx="8375946" cy="2646878"/>
          </a:xfrm>
          <a:prstGeom prst="rect">
            <a:avLst/>
          </a:prstGeom>
        </p:spPr>
        <p:txBody>
          <a:bodyPr vert="horz" wrap="square" lIns="0" tIns="0" rIns="0" bIns="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 bg1="dk1" tx1="lt1" bg2="dk2" tx2="lt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2" r:id="rId12"/>
    <p:sldLayoutId id="2147483773" r:id="rId13"/>
    <p:sldLayoutId id="2147483774" r:id="rId14"/>
    <p:sldLayoutId id="2147483775" r:id="rId15"/>
    <p:sldLayoutId id="2147483777" r:id="rId16"/>
  </p:sldLayoutIdLst>
  <p:transition>
    <p:fade/>
  </p:transition>
  <p:timing>
    <p:tnLst>
      <p:par>
        <p:cTn id="1" dur="indefinite" restart="never" nodeType="tmRoot"/>
      </p:par>
    </p:tnLst>
  </p:timing>
  <p:txStyles>
    <p:titleStyle>
      <a:lvl1pPr algn="l" defTabSz="914363" rtl="0" eaLnBrk="1" latinLnBrk="0" hangingPunct="1">
        <a:lnSpc>
          <a:spcPct val="90000"/>
        </a:lnSpc>
        <a:spcBef>
          <a:spcPct val="0"/>
        </a:spcBef>
        <a:buNone/>
        <a:defRPr lang="en-US" sz="4800" b="0" kern="1200" cap="none" spc="-100" baseline="0" dirty="0" smtClean="0">
          <a:ln w="3175">
            <a:noFill/>
          </a:ln>
          <a:solidFill>
            <a:schemeClr val="tx1"/>
          </a:solidFill>
          <a:effectLst/>
          <a:latin typeface="Calibri" pitchFamily="34" charset="0"/>
          <a:ea typeface="+mn-ea"/>
          <a:cs typeface="Arial" charset="0"/>
        </a:defRPr>
      </a:lvl1pPr>
    </p:titleStyle>
    <p:bodyStyle>
      <a:lvl1pPr marL="463550" indent="-463550" algn="l" defTabSz="914363" rtl="0" eaLnBrk="1" latinLnBrk="0" hangingPunct="1">
        <a:lnSpc>
          <a:spcPct val="100000"/>
        </a:lnSpc>
        <a:spcBef>
          <a:spcPts val="0"/>
        </a:spcBef>
        <a:spcAft>
          <a:spcPts val="1200"/>
        </a:spcAft>
        <a:buSzPct val="120000"/>
        <a:buFontTx/>
        <a:buBlip>
          <a:blip r:embed="rId20"/>
        </a:buBlip>
        <a:defRPr sz="3200" kern="1200">
          <a:solidFill>
            <a:schemeClr val="tx1"/>
          </a:solidFill>
          <a:latin typeface="Calibri" pitchFamily="34" charset="0"/>
          <a:ea typeface="+mn-ea"/>
          <a:cs typeface="+mn-cs"/>
        </a:defRPr>
      </a:lvl1pPr>
      <a:lvl2pPr marL="833438" indent="-369888" algn="l" defTabSz="914363" rtl="0" eaLnBrk="1" latinLnBrk="0" hangingPunct="1">
        <a:lnSpc>
          <a:spcPct val="100000"/>
        </a:lnSpc>
        <a:spcBef>
          <a:spcPts val="0"/>
        </a:spcBef>
        <a:spcAft>
          <a:spcPts val="1200"/>
        </a:spcAft>
        <a:buFontTx/>
        <a:buBlip>
          <a:blip r:embed="rId20"/>
        </a:buBlip>
        <a:defRPr sz="2800" kern="1200">
          <a:solidFill>
            <a:schemeClr val="tx1"/>
          </a:solidFill>
          <a:latin typeface="Calibri" pitchFamily="34" charset="0"/>
          <a:ea typeface="+mn-ea"/>
          <a:cs typeface="+mn-cs"/>
        </a:defRPr>
      </a:lvl2pPr>
      <a:lvl3pPr marL="1168400" indent="-346075" algn="l" defTabSz="914363" rtl="0" eaLnBrk="1" latinLnBrk="0" hangingPunct="1">
        <a:lnSpc>
          <a:spcPct val="100000"/>
        </a:lnSpc>
        <a:spcBef>
          <a:spcPts val="0"/>
        </a:spcBef>
        <a:spcAft>
          <a:spcPts val="1200"/>
        </a:spcAft>
        <a:buFontTx/>
        <a:buBlip>
          <a:blip r:embed="rId20"/>
        </a:buBlip>
        <a:defRPr sz="2400" kern="1200">
          <a:solidFill>
            <a:schemeClr val="tx1"/>
          </a:solidFill>
          <a:latin typeface="Calibri" pitchFamily="34" charset="0"/>
          <a:ea typeface="+mn-ea"/>
          <a:cs typeface="+mn-cs"/>
        </a:defRPr>
      </a:lvl3pPr>
      <a:lvl4pPr marL="1516063" indent="-347663" algn="l" defTabSz="914363" rtl="0" eaLnBrk="1" latinLnBrk="0" hangingPunct="1">
        <a:lnSpc>
          <a:spcPct val="100000"/>
        </a:lnSpc>
        <a:spcBef>
          <a:spcPts val="0"/>
        </a:spcBef>
        <a:spcAft>
          <a:spcPts val="1200"/>
        </a:spcAft>
        <a:buFontTx/>
        <a:buBlip>
          <a:blip r:embed="rId20"/>
        </a:buBlip>
        <a:defRPr sz="2400" kern="1200">
          <a:solidFill>
            <a:schemeClr val="tx1"/>
          </a:solidFill>
          <a:latin typeface="Calibri" pitchFamily="34" charset="0"/>
          <a:ea typeface="+mn-ea"/>
          <a:cs typeface="+mn-cs"/>
        </a:defRPr>
      </a:lvl4pPr>
      <a:lvl5pPr marL="1852613" indent="-325438" algn="l" defTabSz="914363" rtl="0" eaLnBrk="1" latinLnBrk="0" hangingPunct="1">
        <a:lnSpc>
          <a:spcPct val="100000"/>
        </a:lnSpc>
        <a:spcBef>
          <a:spcPts val="0"/>
        </a:spcBef>
        <a:spcAft>
          <a:spcPts val="1200"/>
        </a:spcAft>
        <a:buFontTx/>
        <a:buBlip>
          <a:blip r:embed="rId20"/>
        </a:buBlip>
        <a:defRPr sz="2400" kern="1200">
          <a:solidFill>
            <a:schemeClr val="tx1"/>
          </a:solidFill>
          <a:latin typeface="Calibri"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www.microsoft.com/servicesconnector"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hyperlink" Target="http://connect.microsoft.com/servicesconnector" TargetMode="External"/><Relationship Id="rId5" Type="http://schemas.openxmlformats.org/officeDocument/2006/relationships/hyperlink" Target="http://go.microsoft.com/fwlink/?LinkID=131673" TargetMode="External"/><Relationship Id="rId4" Type="http://schemas.openxmlformats.org/officeDocument/2006/relationships/hyperlink" Target="http://go.microsoft.com/fwlink/?LinkID=111692"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mtClean="0"/>
              <a:t>Connecting Active Directory To Cloud Services</a:t>
            </a:r>
            <a:endParaRPr lang="en-US" dirty="0"/>
          </a:p>
        </p:txBody>
      </p:sp>
      <p:sp>
        <p:nvSpPr>
          <p:cNvPr id="3" name="Subtitle 2"/>
          <p:cNvSpPr>
            <a:spLocks noGrp="1"/>
          </p:cNvSpPr>
          <p:nvPr>
            <p:ph type="subTitle" idx="1"/>
          </p:nvPr>
        </p:nvSpPr>
        <p:spPr/>
        <p:txBody>
          <a:bodyPr/>
          <a:lstStyle/>
          <a:p>
            <a:r>
              <a:rPr lang="en-US" dirty="0" smtClean="0"/>
              <a:t>Jorgen Thelin</a:t>
            </a:r>
          </a:p>
          <a:p>
            <a:r>
              <a:rPr lang="en-US" dirty="0" smtClean="0"/>
              <a:t>Senior Program Manager</a:t>
            </a:r>
          </a:p>
          <a:p>
            <a:r>
              <a:rPr lang="en-US" dirty="0" smtClean="0"/>
              <a:t>Microsoft Corporation</a:t>
            </a:r>
            <a:endParaRPr lang="en-US" dirty="0"/>
          </a:p>
        </p:txBody>
      </p:sp>
      <p:sp>
        <p:nvSpPr>
          <p:cNvPr id="9" name="Text Placeholder 8"/>
          <p:cNvSpPr>
            <a:spLocks noGrp="1"/>
          </p:cNvSpPr>
          <p:nvPr>
            <p:ph type="body" sz="quarter" idx="10"/>
          </p:nvPr>
        </p:nvSpPr>
        <p:spPr/>
        <p:txBody>
          <a:bodyPr/>
          <a:lstStyle/>
          <a:p>
            <a:r>
              <a:rPr lang="en-US" dirty="0" smtClean="0"/>
              <a:t>Session Code: IDA306</a:t>
            </a:r>
            <a:endParaRPr lang="en-US" dirty="0"/>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054" y="228601"/>
            <a:ext cx="8604546" cy="1163395"/>
          </a:xfrm>
        </p:spPr>
        <p:txBody>
          <a:bodyPr/>
          <a:lstStyle/>
          <a:p>
            <a:r>
              <a:rPr lang="en-US" dirty="0" smtClean="0"/>
              <a:t>Agenda</a:t>
            </a:r>
            <a:br>
              <a:rPr lang="en-US" dirty="0" smtClean="0"/>
            </a:br>
            <a:r>
              <a:rPr sz="3600" smtClean="0">
                <a:solidFill>
                  <a:schemeClr val="accent1"/>
                </a:solidFill>
              </a:rPr>
              <a:t>Connecting Active Directory To Cloud Services</a:t>
            </a:r>
            <a:endParaRPr lang="en-US" dirty="0">
              <a:solidFill>
                <a:schemeClr val="accent1"/>
              </a:solidFill>
            </a:endParaRPr>
          </a:p>
        </p:txBody>
      </p:sp>
      <p:sp>
        <p:nvSpPr>
          <p:cNvPr id="4" name="Content Placeholder 3"/>
          <p:cNvSpPr>
            <a:spLocks noGrp="1"/>
          </p:cNvSpPr>
          <p:nvPr>
            <p:ph idx="1"/>
          </p:nvPr>
        </p:nvSpPr>
        <p:spPr>
          <a:xfrm>
            <a:off x="374650" y="1905000"/>
            <a:ext cx="8382000" cy="3123932"/>
          </a:xfrm>
        </p:spPr>
        <p:txBody>
          <a:bodyPr/>
          <a:lstStyle/>
          <a:p>
            <a:pPr>
              <a:lnSpc>
                <a:spcPct val="100000"/>
              </a:lnSpc>
              <a:spcAft>
                <a:spcPts val="3000"/>
              </a:spcAft>
            </a:pPr>
            <a:r>
              <a:rPr lang="en-US" dirty="0" smtClean="0"/>
              <a:t>Identity Challenges from Cloud Services</a:t>
            </a:r>
          </a:p>
          <a:p>
            <a:pPr>
              <a:lnSpc>
                <a:spcPct val="100000"/>
              </a:lnSpc>
              <a:spcAft>
                <a:spcPts val="3000"/>
              </a:spcAft>
            </a:pPr>
            <a:r>
              <a:rPr lang="en-US" dirty="0" smtClean="0"/>
              <a:t>Microsoft Services Connector</a:t>
            </a:r>
          </a:p>
          <a:p>
            <a:pPr>
              <a:lnSpc>
                <a:spcPct val="100000"/>
              </a:lnSpc>
              <a:spcAft>
                <a:spcPts val="3000"/>
              </a:spcAft>
            </a:pPr>
            <a:r>
              <a:rPr lang="en-US" dirty="0" smtClean="0"/>
              <a:t>Microsoft Federation Gateway</a:t>
            </a:r>
          </a:p>
          <a:p>
            <a:pPr>
              <a:lnSpc>
                <a:spcPct val="100000"/>
              </a:lnSpc>
              <a:spcAft>
                <a:spcPts val="3000"/>
              </a:spcAft>
            </a:pPr>
            <a:r>
              <a:rPr lang="en-US" dirty="0" smtClean="0"/>
              <a:t>Next Steps</a:t>
            </a:r>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Striped Right Arrow 41"/>
          <p:cNvSpPr/>
          <p:nvPr/>
        </p:nvSpPr>
        <p:spPr bwMode="auto">
          <a:xfrm>
            <a:off x="838200" y="2362200"/>
            <a:ext cx="6858000" cy="3124200"/>
          </a:xfrm>
          <a:prstGeom prst="stripedRightArrow">
            <a:avLst/>
          </a:prstGeom>
          <a:solidFill>
            <a:schemeClr val="bg1">
              <a:lumMod val="50000"/>
              <a:lumOff val="50000"/>
            </a:schemeClr>
          </a:solidFill>
          <a:ln>
            <a:noFill/>
            <a:headEnd type="none" w="med" len="med"/>
            <a:tailEnd type="none" w="med" len="med"/>
          </a:ln>
          <a:effectLst>
            <a:outerShdw blurRad="39000" dist="25400" dir="5400000" rotWithShape="0">
              <a:srgbClr val="000000">
                <a:alpha val="38000"/>
              </a:srgbClr>
            </a:outerShdw>
          </a:effectLst>
        </p:spPr>
        <p:style>
          <a:lnRef idx="1">
            <a:schemeClr val="accent2"/>
          </a:lnRef>
          <a:fillRef idx="1003">
            <a:schemeClr val="dk1"/>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3" name="Title 2"/>
          <p:cNvSpPr>
            <a:spLocks noGrp="1"/>
          </p:cNvSpPr>
          <p:nvPr>
            <p:ph type="title"/>
          </p:nvPr>
        </p:nvSpPr>
        <p:spPr>
          <a:xfrm>
            <a:off x="387054" y="228600"/>
            <a:ext cx="8375946" cy="886397"/>
          </a:xfrm>
        </p:spPr>
        <p:txBody>
          <a:bodyPr/>
          <a:lstStyle/>
          <a:p>
            <a:r>
              <a:rPr sz="4000" smtClean="0"/>
              <a:t>Microsoft Identity Software + Services</a:t>
            </a:r>
            <a:r>
              <a:rPr smtClean="0"/>
              <a:t/>
            </a:r>
            <a:br>
              <a:rPr smtClean="0"/>
            </a:br>
            <a:r>
              <a:rPr sz="2400" smtClean="0">
                <a:solidFill>
                  <a:schemeClr val="accent1"/>
                </a:solidFill>
              </a:rPr>
              <a:t> One identity model that puts users in control of their identities</a:t>
            </a:r>
            <a:endParaRPr lang="en-US" dirty="0">
              <a:solidFill>
                <a:schemeClr val="accent1"/>
              </a:solidFill>
            </a:endParaRPr>
          </a:p>
        </p:txBody>
      </p:sp>
      <p:sp>
        <p:nvSpPr>
          <p:cNvPr id="105" name="Rounded Rectangle 104"/>
          <p:cNvSpPr/>
          <p:nvPr/>
        </p:nvSpPr>
        <p:spPr bwMode="auto">
          <a:xfrm>
            <a:off x="400050" y="2057400"/>
            <a:ext cx="8343900" cy="4648200"/>
          </a:xfrm>
          <a:prstGeom prst="roundRect">
            <a:avLst/>
          </a:prstGeom>
          <a:solidFill>
            <a:schemeClr val="tx2">
              <a:lumMod val="50000"/>
            </a:schemeClr>
          </a:solidFill>
          <a:ln>
            <a:solidFill>
              <a:schemeClr val="bg1">
                <a:lumMod val="50000"/>
                <a:lumOff val="50000"/>
              </a:schemeClr>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p:txBody>
      </p:sp>
      <p:sp>
        <p:nvSpPr>
          <p:cNvPr id="107" name="Rectangle 106"/>
          <p:cNvSpPr/>
          <p:nvPr/>
        </p:nvSpPr>
        <p:spPr bwMode="auto">
          <a:xfrm>
            <a:off x="6781800" y="4724400"/>
            <a:ext cx="1295400" cy="1371600"/>
          </a:xfrm>
          <a:prstGeom prst="rect">
            <a:avLst/>
          </a:prstGeom>
          <a:ln>
            <a:no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Live Framework</a:t>
            </a:r>
          </a:p>
        </p:txBody>
      </p:sp>
      <p:cxnSp>
        <p:nvCxnSpPr>
          <p:cNvPr id="115" name="Straight Connector 114"/>
          <p:cNvCxnSpPr>
            <a:stCxn id="105" idx="1"/>
            <a:endCxn id="118" idx="2"/>
          </p:cNvCxnSpPr>
          <p:nvPr/>
        </p:nvCxnSpPr>
        <p:spPr>
          <a:xfrm rot="10800000" flipH="1">
            <a:off x="400050" y="4381500"/>
            <a:ext cx="7829550" cy="1588"/>
          </a:xfrm>
          <a:prstGeom prst="line">
            <a:avLst/>
          </a:prstGeom>
          <a:ln w="38100">
            <a:solidFill>
              <a:schemeClr val="bg1">
                <a:lumMod val="85000"/>
                <a:lumOff val="15000"/>
              </a:schemeClr>
            </a:solidFill>
            <a:prstDash val="dash"/>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bwMode="auto">
          <a:xfrm>
            <a:off x="6096000" y="1371600"/>
            <a:ext cx="2362200" cy="533399"/>
          </a:xfrm>
          <a:prstGeom prst="roundRect">
            <a:avLst/>
          </a:prstGeom>
          <a:solidFill>
            <a:schemeClr val="tx2">
              <a:lumMod val="50000"/>
            </a:schemeClr>
          </a:solidFill>
          <a:ln>
            <a:headEnd type="none" w="med" len="med"/>
            <a:tailEnd type="none" w="med" len="med"/>
          </a:ln>
        </p:spPr>
        <p:style>
          <a:lnRef idx="0">
            <a:schemeClr val="accent5"/>
          </a:lnRef>
          <a:fillRef idx="1001">
            <a:schemeClr val="dk1"/>
          </a:fillRef>
          <a:effectRef idx="3">
            <a:schemeClr val="accent5"/>
          </a:effectRef>
          <a:fontRef idx="minor">
            <a:schemeClr val="lt1"/>
          </a:fontRef>
        </p:style>
        <p:txBody>
          <a:bodyPr vert="horz" wrap="square" lIns="91436" tIns="45718" rIns="91436" bIns="45718" numCol="1" rtlCol="0" anchor="ctr" anchorCtr="0" compatLnSpc="1">
            <a:prstTxWarp prst="textNoShape">
              <a:avLst/>
            </a:prstTxWarp>
          </a:bodyPr>
          <a:lstStyle/>
          <a:p>
            <a:pPr lvl="0" algn="ctr">
              <a:defRPr/>
            </a:pPr>
            <a:r>
              <a:rPr lang="en-US" b="0" dirty="0" smtClean="0">
                <a:solidFill>
                  <a:schemeClr val="bg1"/>
                </a:solidFill>
                <a:latin typeface="Calibri" pitchFamily="34" charset="0"/>
              </a:rPr>
              <a:t>Standards Based</a:t>
            </a:r>
          </a:p>
        </p:txBody>
      </p:sp>
      <p:sp>
        <p:nvSpPr>
          <p:cNvPr id="40" name="Rounded Rectangle 39"/>
          <p:cNvSpPr/>
          <p:nvPr/>
        </p:nvSpPr>
        <p:spPr bwMode="auto">
          <a:xfrm>
            <a:off x="3352800" y="1371600"/>
            <a:ext cx="2438400" cy="533400"/>
          </a:xfrm>
          <a:prstGeom prst="roundRect">
            <a:avLst/>
          </a:prstGeom>
          <a:solidFill>
            <a:schemeClr val="tx2">
              <a:lumMod val="50000"/>
            </a:schemeClr>
          </a:solidFill>
          <a:ln>
            <a:headEnd type="none" w="med" len="med"/>
            <a:tailEnd type="none" w="med" len="med"/>
          </a:ln>
        </p:spPr>
        <p:style>
          <a:lnRef idx="0">
            <a:schemeClr val="accent4"/>
          </a:lnRef>
          <a:fillRef idx="1001">
            <a:schemeClr val="dk1"/>
          </a:fillRef>
          <a:effectRef idx="3">
            <a:schemeClr val="accent4"/>
          </a:effectRef>
          <a:fontRef idx="minor">
            <a:schemeClr val="lt1"/>
          </a:fontRef>
        </p:style>
        <p:txBody>
          <a:bodyPr vert="horz" wrap="square" lIns="91436" tIns="45718" rIns="91436" bIns="45718" numCol="1" rtlCol="0" anchor="ctr" anchorCtr="0" compatLnSpc="1">
            <a:prstTxWarp prst="textNoShape">
              <a:avLst/>
            </a:prstTxWarp>
          </a:bodyPr>
          <a:lstStyle/>
          <a:p>
            <a:pPr algn="ctr">
              <a:buFont typeface="Wingdings 2" pitchFamily="18" charset="2"/>
              <a:buNone/>
              <a:defRPr/>
            </a:pPr>
            <a:r>
              <a:rPr lang="en-US" b="0" dirty="0" smtClean="0">
                <a:solidFill>
                  <a:schemeClr val="bg1"/>
                </a:solidFill>
                <a:latin typeface="Calibri" pitchFamily="34" charset="0"/>
              </a:rPr>
              <a:t>Enhances Productivity</a:t>
            </a:r>
          </a:p>
        </p:txBody>
      </p:sp>
      <p:pic>
        <p:nvPicPr>
          <p:cNvPr id="44" name="Picture 3" descr="C:\Program Files\Microsoft Resource DVD Artwork\DVD_ART\Artwork_Imagery\HARDWARE_IMAGERY\Illustration - Misc Hardware\XML Icons\Internet cloud web.png"/>
          <p:cNvPicPr>
            <a:picLocks noChangeAspect="1" noChangeArrowheads="1"/>
          </p:cNvPicPr>
          <p:nvPr/>
        </p:nvPicPr>
        <p:blipFill>
          <a:blip r:embed="rId3" cstate="print"/>
          <a:srcRect/>
          <a:stretch>
            <a:fillRect/>
          </a:stretch>
        </p:blipFill>
        <p:spPr bwMode="auto">
          <a:xfrm>
            <a:off x="1600200" y="2133600"/>
            <a:ext cx="5943600" cy="2185856"/>
          </a:xfrm>
          <a:prstGeom prst="rect">
            <a:avLst/>
          </a:prstGeom>
          <a:noFill/>
        </p:spPr>
      </p:pic>
      <p:sp>
        <p:nvSpPr>
          <p:cNvPr id="112" name="Rectangle 111"/>
          <p:cNvSpPr/>
          <p:nvPr/>
        </p:nvSpPr>
        <p:spPr bwMode="auto">
          <a:xfrm>
            <a:off x="1981200" y="2590800"/>
            <a:ext cx="1524000" cy="1371600"/>
          </a:xfrm>
          <a:prstGeom prst="rect">
            <a:avLst/>
          </a:prstGeom>
          <a:solidFill>
            <a:schemeClr val="accent1"/>
          </a:solidFill>
          <a:ln>
            <a:noFill/>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smtClean="0">
                <a:solidFill>
                  <a:srgbClr val="FFFFFF"/>
                </a:solidFill>
                <a:effectLst>
                  <a:outerShdw blurRad="38100" dist="38100" dir="2700000" algn="tl">
                    <a:srgbClr val="000000">
                      <a:alpha val="43137"/>
                    </a:srgbClr>
                  </a:outerShdw>
                </a:effectLst>
                <a:latin typeface="Calibri"/>
                <a:ea typeface="+mn-ea"/>
                <a:cs typeface="+mn-cs"/>
              </a:rPr>
              <a:t>Live Identity Services</a:t>
            </a:r>
          </a:p>
        </p:txBody>
      </p:sp>
      <p:sp>
        <p:nvSpPr>
          <p:cNvPr id="114" name="Rectangle 113"/>
          <p:cNvSpPr/>
          <p:nvPr/>
        </p:nvSpPr>
        <p:spPr bwMode="auto">
          <a:xfrm>
            <a:off x="5638800" y="2590800"/>
            <a:ext cx="1524000" cy="1371600"/>
          </a:xfrm>
          <a:prstGeom prst="rect">
            <a:avLst/>
          </a:prstGeom>
          <a:solidFill>
            <a:schemeClr val="accent1"/>
          </a:solidFill>
          <a:ln>
            <a:noFill/>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non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err="1" smtClean="0">
                <a:solidFill>
                  <a:srgbClr val="FFFFFF"/>
                </a:solidFill>
                <a:effectLst>
                  <a:outerShdw blurRad="38100" dist="38100" dir="2700000" algn="tl">
                    <a:srgbClr val="000000">
                      <a:alpha val="43137"/>
                    </a:srgbClr>
                  </a:outerShdw>
                </a:effectLst>
                <a:latin typeface="Calibri"/>
                <a:ea typeface="+mn-ea"/>
                <a:cs typeface="+mn-cs"/>
              </a:rPr>
              <a:t>.Net</a:t>
            </a:r>
            <a:r>
              <a:rPr lang="en-US" kern="1200" dirty="0" smtClean="0">
                <a:solidFill>
                  <a:srgbClr val="FFFFFF"/>
                </a:solidFill>
                <a:effectLst>
                  <a:outerShdw blurRad="38100" dist="38100" dir="2700000" algn="tl">
                    <a:srgbClr val="000000">
                      <a:alpha val="43137"/>
                    </a:srgbClr>
                  </a:outerShdw>
                </a:effectLst>
                <a:latin typeface="Calibri"/>
                <a:ea typeface="+mn-ea"/>
                <a:cs typeface="+mn-cs"/>
              </a:rPr>
              <a:t> Access </a:t>
            </a:r>
          </a:p>
          <a:p>
            <a:pPr algn="ctr" defTabSz="914099" rtl="0" fontAlgn="base">
              <a:spcBef>
                <a:spcPct val="0"/>
              </a:spcBef>
              <a:spcAft>
                <a:spcPct val="0"/>
              </a:spcAft>
            </a:pPr>
            <a:r>
              <a:rPr lang="en-US" kern="1200" dirty="0" smtClean="0">
                <a:solidFill>
                  <a:srgbClr val="FFFFFF"/>
                </a:solidFill>
                <a:effectLst>
                  <a:outerShdw blurRad="38100" dist="38100" dir="2700000" algn="tl">
                    <a:srgbClr val="000000">
                      <a:alpha val="43137"/>
                    </a:srgbClr>
                  </a:outerShdw>
                </a:effectLst>
                <a:latin typeface="Calibri"/>
                <a:ea typeface="+mn-ea"/>
                <a:cs typeface="+mn-cs"/>
              </a:rPr>
              <a:t>Control </a:t>
            </a:r>
          </a:p>
          <a:p>
            <a:pPr algn="ctr" defTabSz="914099" rtl="0" fontAlgn="base">
              <a:spcBef>
                <a:spcPct val="0"/>
              </a:spcBef>
              <a:spcAft>
                <a:spcPct val="0"/>
              </a:spcAft>
            </a:pPr>
            <a:r>
              <a:rPr lang="en-US" kern="1200" dirty="0" smtClean="0">
                <a:solidFill>
                  <a:srgbClr val="FFFFFF"/>
                </a:solidFill>
                <a:effectLst>
                  <a:outerShdw blurRad="38100" dist="38100" dir="2700000" algn="tl">
                    <a:srgbClr val="000000">
                      <a:alpha val="43137"/>
                    </a:srgbClr>
                  </a:outerShdw>
                </a:effectLst>
                <a:latin typeface="Calibri"/>
                <a:ea typeface="+mn-ea"/>
                <a:cs typeface="+mn-cs"/>
              </a:rPr>
              <a:t>Service</a:t>
            </a:r>
            <a:endParaRPr lang="en-US" kern="1200" dirty="0">
              <a:solidFill>
                <a:srgbClr val="FFFFFF"/>
              </a:solidFill>
              <a:effectLst>
                <a:outerShdw blurRad="38100" dist="38100" dir="2700000" algn="tl">
                  <a:srgbClr val="000000">
                    <a:alpha val="43137"/>
                  </a:srgbClr>
                </a:outerShdw>
              </a:effectLst>
              <a:latin typeface="Calibri"/>
              <a:ea typeface="+mn-ea"/>
              <a:cs typeface="+mn-cs"/>
            </a:endParaRPr>
          </a:p>
        </p:txBody>
      </p:sp>
      <p:sp>
        <p:nvSpPr>
          <p:cNvPr id="106" name="Rectangle 105"/>
          <p:cNvSpPr/>
          <p:nvPr/>
        </p:nvSpPr>
        <p:spPr bwMode="auto">
          <a:xfrm>
            <a:off x="5334000" y="4724400"/>
            <a:ext cx="1295400" cy="1371600"/>
          </a:xfrm>
          <a:prstGeom prst="rect">
            <a:avLst/>
          </a:prstGeom>
          <a:ln>
            <a:no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“Geneva” Framework</a:t>
            </a:r>
          </a:p>
        </p:txBody>
      </p:sp>
      <p:sp>
        <p:nvSpPr>
          <p:cNvPr id="108" name="Rectangle 107"/>
          <p:cNvSpPr/>
          <p:nvPr/>
        </p:nvSpPr>
        <p:spPr bwMode="auto">
          <a:xfrm>
            <a:off x="3886200" y="4724400"/>
            <a:ext cx="1295400" cy="1371600"/>
          </a:xfrm>
          <a:prstGeom prst="rect">
            <a:avLst/>
          </a:prstGeom>
          <a:ln>
            <a:no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Windows </a:t>
            </a:r>
            <a:r>
              <a:rPr lang="en-US" kern="1200" dirty="0" err="1">
                <a:solidFill>
                  <a:srgbClr val="FFFFFF"/>
                </a:solidFill>
                <a:latin typeface="Calibri"/>
                <a:ea typeface="+mn-ea"/>
                <a:cs typeface="+mn-cs"/>
              </a:rPr>
              <a:t>CardSpace</a:t>
            </a:r>
            <a:r>
              <a:rPr lang="en-US" kern="1200" dirty="0">
                <a:solidFill>
                  <a:srgbClr val="FFFFFF"/>
                </a:solidFill>
                <a:latin typeface="Calibri"/>
                <a:ea typeface="+mn-ea"/>
                <a:cs typeface="+mn-cs"/>
              </a:rPr>
              <a:t> “Geneva”</a:t>
            </a:r>
          </a:p>
        </p:txBody>
      </p:sp>
      <p:sp>
        <p:nvSpPr>
          <p:cNvPr id="110" name="Rectangle 109"/>
          <p:cNvSpPr/>
          <p:nvPr/>
        </p:nvSpPr>
        <p:spPr bwMode="auto">
          <a:xfrm>
            <a:off x="1066800" y="4724400"/>
            <a:ext cx="1219200" cy="853440"/>
          </a:xfrm>
          <a:prstGeom prst="rect">
            <a:avLst/>
          </a:prstGeom>
          <a:gradFill flip="none" rotWithShape="1">
            <a:gsLst>
              <a:gs pos="0">
                <a:srgbClr val="FF6600">
                  <a:shade val="30000"/>
                  <a:satMod val="115000"/>
                </a:srgbClr>
              </a:gs>
              <a:gs pos="50000">
                <a:srgbClr val="FF6600">
                  <a:shade val="67500"/>
                  <a:satMod val="115000"/>
                </a:srgbClr>
              </a:gs>
              <a:gs pos="100000">
                <a:srgbClr val="FF6600">
                  <a:shade val="100000"/>
                  <a:satMod val="115000"/>
                </a:srgbClr>
              </a:gs>
            </a:gsLst>
            <a:lin ang="16200000" scaled="1"/>
            <a:tileRect/>
          </a:gradFill>
          <a:ln>
            <a:no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“Geneva” </a:t>
            </a:r>
            <a:r>
              <a:rPr lang="en-US" kern="1200" dirty="0" smtClean="0">
                <a:solidFill>
                  <a:srgbClr val="FFFFFF"/>
                </a:solidFill>
                <a:latin typeface="Calibri"/>
                <a:ea typeface="+mn-ea"/>
                <a:cs typeface="+mn-cs"/>
              </a:rPr>
              <a:t>Server</a:t>
            </a:r>
          </a:p>
        </p:txBody>
      </p:sp>
      <p:sp>
        <p:nvSpPr>
          <p:cNvPr id="23" name="Rounded Rectangle 22"/>
          <p:cNvSpPr/>
          <p:nvPr/>
        </p:nvSpPr>
        <p:spPr bwMode="auto">
          <a:xfrm>
            <a:off x="374650" y="2057402"/>
            <a:ext cx="8382000" cy="4648200"/>
          </a:xfrm>
          <a:prstGeom prst="roundRect">
            <a:avLst/>
          </a:prstGeom>
          <a:solidFill>
            <a:schemeClr val="tx2">
              <a:alpha val="90000"/>
            </a:schemeClr>
          </a:solidFill>
          <a:ln>
            <a:solidFill>
              <a:schemeClr val="bg1">
                <a:lumMod val="50000"/>
                <a:lumOff val="50000"/>
              </a:schemeClr>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p:txBody>
      </p:sp>
      <p:sp>
        <p:nvSpPr>
          <p:cNvPr id="113" name="Rectangle 112"/>
          <p:cNvSpPr/>
          <p:nvPr/>
        </p:nvSpPr>
        <p:spPr bwMode="auto">
          <a:xfrm>
            <a:off x="3810000" y="2590800"/>
            <a:ext cx="1524000" cy="1371600"/>
          </a:xfrm>
          <a:prstGeom prst="rect">
            <a:avLst/>
          </a:prstGeom>
          <a:solidFill>
            <a:schemeClr val="accent1"/>
          </a:solidFill>
          <a:ln>
            <a:noFill/>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effectLst>
                  <a:outerShdw blurRad="38100" dist="38100" dir="2700000" algn="tl">
                    <a:srgbClr val="000000">
                      <a:alpha val="43137"/>
                    </a:srgbClr>
                  </a:outerShdw>
                </a:effectLst>
                <a:latin typeface="Calibri"/>
                <a:ea typeface="+mn-ea"/>
                <a:cs typeface="+mn-cs"/>
              </a:rPr>
              <a:t>Microsoft Federation Gateway</a:t>
            </a:r>
          </a:p>
        </p:txBody>
      </p:sp>
      <p:sp>
        <p:nvSpPr>
          <p:cNvPr id="111" name="Rectangle 110"/>
          <p:cNvSpPr/>
          <p:nvPr/>
        </p:nvSpPr>
        <p:spPr bwMode="auto">
          <a:xfrm>
            <a:off x="2438400" y="4724400"/>
            <a:ext cx="1295400" cy="853440"/>
          </a:xfrm>
          <a:prstGeom prst="rect">
            <a:avLst/>
          </a:prstGeom>
          <a:gradFill flip="none" rotWithShape="1">
            <a:gsLst>
              <a:gs pos="0">
                <a:srgbClr val="FF6600">
                  <a:shade val="30000"/>
                  <a:satMod val="115000"/>
                </a:srgbClr>
              </a:gs>
              <a:gs pos="50000">
                <a:srgbClr val="FF6600">
                  <a:shade val="67500"/>
                  <a:satMod val="115000"/>
                </a:srgbClr>
              </a:gs>
              <a:gs pos="100000">
                <a:srgbClr val="FF6600">
                  <a:shade val="100000"/>
                  <a:satMod val="115000"/>
                </a:srgbClr>
              </a:gs>
            </a:gsLst>
            <a:lin ang="16200000" scaled="1"/>
            <a:tileRect/>
          </a:gradFill>
          <a:ln>
            <a:no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Microsoft Services Connector</a:t>
            </a:r>
          </a:p>
        </p:txBody>
      </p:sp>
      <p:sp>
        <p:nvSpPr>
          <p:cNvPr id="109" name="Rectangle 108"/>
          <p:cNvSpPr/>
          <p:nvPr/>
        </p:nvSpPr>
        <p:spPr bwMode="auto">
          <a:xfrm>
            <a:off x="1066800" y="5715000"/>
            <a:ext cx="2667000" cy="381000"/>
          </a:xfrm>
          <a:prstGeom prst="rect">
            <a:avLst/>
          </a:prstGeom>
          <a:gradFill flip="none" rotWithShape="1">
            <a:gsLst>
              <a:gs pos="0">
                <a:srgbClr val="FF6600">
                  <a:shade val="30000"/>
                  <a:satMod val="115000"/>
                </a:srgbClr>
              </a:gs>
              <a:gs pos="50000">
                <a:srgbClr val="FF6600">
                  <a:shade val="67500"/>
                  <a:satMod val="115000"/>
                </a:srgbClr>
              </a:gs>
              <a:gs pos="100000">
                <a:srgbClr val="FF6600">
                  <a:shade val="100000"/>
                  <a:satMod val="115000"/>
                </a:srgbClr>
              </a:gs>
            </a:gsLst>
            <a:lin ang="16200000" scaled="1"/>
            <a:tileRect/>
          </a:gradFill>
          <a:ln>
            <a:no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Active Directory</a:t>
            </a:r>
          </a:p>
        </p:txBody>
      </p:sp>
      <p:sp>
        <p:nvSpPr>
          <p:cNvPr id="116" name="TextBox 115"/>
          <p:cNvSpPr txBox="1"/>
          <p:nvPr/>
        </p:nvSpPr>
        <p:spPr>
          <a:xfrm rot="16200000">
            <a:off x="-375910" y="5186691"/>
            <a:ext cx="2057400" cy="523220"/>
          </a:xfrm>
          <a:prstGeom prst="rect">
            <a:avLst/>
          </a:prstGeom>
          <a:noFill/>
        </p:spPr>
        <p:txBody>
          <a:bodyPr wrap="square" rtlCol="0">
            <a:spAutoFit/>
          </a:bodyPr>
          <a:lstStyle/>
          <a:p>
            <a:pPr algn="ctr"/>
            <a:r>
              <a:rPr lang="en-US" sz="2800" dirty="0" smtClean="0"/>
              <a:t>Software</a:t>
            </a:r>
            <a:endParaRPr lang="en-US" sz="2800" dirty="0"/>
          </a:p>
        </p:txBody>
      </p:sp>
      <p:sp>
        <p:nvSpPr>
          <p:cNvPr id="117" name="TextBox 116"/>
          <p:cNvSpPr txBox="1"/>
          <p:nvPr/>
        </p:nvSpPr>
        <p:spPr>
          <a:xfrm rot="16200000">
            <a:off x="-375910" y="3053091"/>
            <a:ext cx="2057400" cy="523220"/>
          </a:xfrm>
          <a:prstGeom prst="rect">
            <a:avLst/>
          </a:prstGeom>
          <a:noFill/>
        </p:spPr>
        <p:txBody>
          <a:bodyPr wrap="square" rtlCol="0">
            <a:spAutoFit/>
          </a:bodyPr>
          <a:lstStyle/>
          <a:p>
            <a:pPr algn="ctr"/>
            <a:r>
              <a:rPr lang="en-US" sz="2800" dirty="0" smtClean="0"/>
              <a:t>Services</a:t>
            </a:r>
            <a:endParaRPr lang="en-US" sz="2800" dirty="0"/>
          </a:p>
        </p:txBody>
      </p:sp>
      <p:sp>
        <p:nvSpPr>
          <p:cNvPr id="118" name="TextBox 117"/>
          <p:cNvSpPr txBox="1"/>
          <p:nvPr/>
        </p:nvSpPr>
        <p:spPr>
          <a:xfrm rot="5400000">
            <a:off x="6433810" y="4119890"/>
            <a:ext cx="4114800" cy="523220"/>
          </a:xfrm>
          <a:prstGeom prst="rect">
            <a:avLst/>
          </a:prstGeom>
          <a:noFill/>
        </p:spPr>
        <p:txBody>
          <a:bodyPr wrap="square" rtlCol="0">
            <a:spAutoFit/>
          </a:bodyPr>
          <a:lstStyle/>
          <a:p>
            <a:pPr algn="ctr"/>
            <a:r>
              <a:rPr lang="en-US" sz="2800" dirty="0" smtClean="0"/>
              <a:t>Claims-Based Access</a:t>
            </a:r>
            <a:endParaRPr lang="en-US" sz="2800" dirty="0"/>
          </a:p>
        </p:txBody>
      </p:sp>
      <p:sp>
        <p:nvSpPr>
          <p:cNvPr id="26" name="Rounded Rectangle 25"/>
          <p:cNvSpPr/>
          <p:nvPr/>
        </p:nvSpPr>
        <p:spPr bwMode="auto">
          <a:xfrm>
            <a:off x="685800" y="1371600"/>
            <a:ext cx="2362200" cy="533400"/>
          </a:xfrm>
          <a:prstGeom prst="roundRect">
            <a:avLst/>
          </a:prstGeom>
          <a:solidFill>
            <a:schemeClr val="tx2">
              <a:lumMod val="50000"/>
            </a:schemeClr>
          </a:solidFill>
          <a:ln>
            <a:headEnd type="none" w="med" len="med"/>
            <a:tailEnd type="none" w="med" len="med"/>
          </a:ln>
        </p:spPr>
        <p:style>
          <a:lnRef idx="0">
            <a:schemeClr val="accent1"/>
          </a:lnRef>
          <a:fillRef idx="1001">
            <a:schemeClr val="dk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a:defRPr/>
            </a:pPr>
            <a:r>
              <a:rPr lang="en-US" b="0" dirty="0" smtClean="0">
                <a:solidFill>
                  <a:schemeClr val="bg1"/>
                </a:solidFill>
                <a:latin typeface="Calibri" pitchFamily="34" charset="0"/>
              </a:rPr>
              <a:t>Flexibility via Choice</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txBox="1">
            <a:spLocks/>
          </p:cNvSpPr>
          <p:nvPr/>
        </p:nvSpPr>
        <p:spPr>
          <a:xfrm>
            <a:off x="4891468" y="5699544"/>
            <a:ext cx="4252532" cy="396455"/>
          </a:xfrm>
          <a:prstGeom prst="rect">
            <a:avLst/>
          </a:prstGeom>
        </p:spPr>
        <p:txBody>
          <a:bodyPr vert="horz" wrap="square" lIns="0" tIns="0" rIns="0" bIns="0" rtlCol="0" anchor="b" anchorCtr="0">
            <a:spAutoFit/>
          </a:bodyPr>
          <a:lstStyle/>
          <a:p>
            <a:pPr marL="393700" marR="0" lvl="0" indent="-393700" defTabSz="914363" rtl="0" eaLnBrk="1" fontAlgn="auto" latinLnBrk="0" hangingPunct="1">
              <a:lnSpc>
                <a:spcPct val="78000"/>
              </a:lnSpc>
              <a:spcBef>
                <a:spcPct val="20000"/>
              </a:spcBef>
              <a:spcAft>
                <a:spcPts val="800"/>
              </a:spcAft>
              <a:buClr>
                <a:schemeClr val="tx1"/>
              </a:buClr>
              <a:buSzPct val="80000"/>
              <a:tabLst/>
              <a:defRPr/>
            </a:pPr>
            <a:r>
              <a:rPr lang="en-US" sz="3200" b="1" dirty="0" smtClean="0">
                <a:solidFill>
                  <a:schemeClr val="accent1"/>
                </a:solidFill>
                <a:latin typeface="Calibri" pitchFamily="34" charset="0"/>
              </a:rPr>
              <a:t>e</a:t>
            </a:r>
            <a:r>
              <a:rPr kumimoji="0" lang="en-US" sz="3200" b="1" i="0" u="none" strike="noStrike" kern="1200" normalizeH="0" baseline="0" noProof="0" dirty="0" err="1" smtClean="0">
                <a:solidFill>
                  <a:schemeClr val="accent1"/>
                </a:solidFill>
                <a:uLnTx/>
                <a:uFillTx/>
                <a:latin typeface="Calibri" pitchFamily="34" charset="0"/>
              </a:rPr>
              <a:t>nabler</a:t>
            </a:r>
            <a:r>
              <a:rPr kumimoji="0" lang="en-US" sz="3200" b="1" i="0" u="none" strike="noStrike" kern="1200" normalizeH="0" baseline="0" noProof="0" dirty="0" smtClean="0">
                <a:solidFill>
                  <a:schemeClr val="accent1"/>
                </a:solidFill>
                <a:uLnTx/>
                <a:uFillTx/>
                <a:latin typeface="Calibri" pitchFamily="34" charset="0"/>
              </a:rPr>
              <a:t> </a:t>
            </a:r>
            <a:r>
              <a:rPr kumimoji="0" lang="en-US" sz="3200" i="0" u="none" strike="noStrike" kern="1200" normalizeH="0" baseline="0" noProof="0" dirty="0" smtClean="0">
                <a:solidFill>
                  <a:schemeClr val="accent1"/>
                </a:solidFill>
                <a:uLnTx/>
                <a:uFillTx/>
                <a:latin typeface="Calibri" pitchFamily="34" charset="0"/>
              </a:rPr>
              <a:t>with</a:t>
            </a:r>
            <a:r>
              <a:rPr kumimoji="0" lang="en-US" sz="3200" b="1" i="0" u="none" strike="noStrike" kern="1200" normalizeH="0" baseline="0" noProof="0" dirty="0" smtClean="0">
                <a:solidFill>
                  <a:schemeClr val="accent1"/>
                </a:solidFill>
                <a:uLnTx/>
                <a:uFillTx/>
                <a:latin typeface="Calibri" pitchFamily="34" charset="0"/>
              </a:rPr>
              <a:t> federation</a:t>
            </a:r>
            <a:endParaRPr kumimoji="0" lang="en-US" sz="2800" b="1" i="0" u="none" strike="noStrike" kern="1200" normalizeH="0" baseline="0" noProof="0" dirty="0" smtClean="0">
              <a:solidFill>
                <a:schemeClr val="accent1"/>
              </a:solidFill>
              <a:uLnTx/>
              <a:uFillTx/>
              <a:latin typeface="Calibri" pitchFamily="34" charset="0"/>
            </a:endParaRPr>
          </a:p>
        </p:txBody>
      </p:sp>
      <p:sp>
        <p:nvSpPr>
          <p:cNvPr id="2" name="Title 1"/>
          <p:cNvSpPr>
            <a:spLocks noGrp="1"/>
          </p:cNvSpPr>
          <p:nvPr>
            <p:ph type="title"/>
          </p:nvPr>
        </p:nvSpPr>
        <p:spPr>
          <a:xfrm>
            <a:off x="387054" y="228600"/>
            <a:ext cx="8375946" cy="605679"/>
          </a:xfrm>
        </p:spPr>
        <p:txBody>
          <a:bodyPr/>
          <a:lstStyle/>
          <a:p>
            <a:pPr>
              <a:lnSpc>
                <a:spcPct val="80000"/>
              </a:lnSpc>
            </a:pPr>
            <a:r>
              <a:rPr smtClean="0"/>
              <a:t>Identity Challenges</a:t>
            </a:r>
            <a:endParaRPr lang="en-US" dirty="0"/>
          </a:p>
        </p:txBody>
      </p:sp>
      <p:sp>
        <p:nvSpPr>
          <p:cNvPr id="3" name="Content Placeholder 2"/>
          <p:cNvSpPr>
            <a:spLocks noGrp="1"/>
          </p:cNvSpPr>
          <p:nvPr>
            <p:ph idx="1"/>
          </p:nvPr>
        </p:nvSpPr>
        <p:spPr>
          <a:xfrm>
            <a:off x="381000" y="1412875"/>
            <a:ext cx="5105400" cy="2320925"/>
          </a:xfrm>
        </p:spPr>
        <p:txBody>
          <a:bodyPr>
            <a:normAutofit lnSpcReduction="10000"/>
          </a:bodyPr>
          <a:lstStyle/>
          <a:p>
            <a:r>
              <a:rPr lang="en-US" dirty="0" smtClean="0"/>
              <a:t>Different security zones</a:t>
            </a:r>
          </a:p>
          <a:p>
            <a:pPr lvl="1"/>
            <a:r>
              <a:rPr lang="en-US" sz="2600" dirty="0" smtClean="0"/>
              <a:t>Intranet</a:t>
            </a:r>
          </a:p>
          <a:p>
            <a:pPr lvl="1"/>
            <a:r>
              <a:rPr lang="en-US" sz="2600" dirty="0" smtClean="0"/>
              <a:t>Traveling employees</a:t>
            </a:r>
          </a:p>
          <a:p>
            <a:pPr lvl="1"/>
            <a:r>
              <a:rPr lang="en-US" sz="2600" dirty="0" smtClean="0"/>
              <a:t>Partner extranet</a:t>
            </a:r>
          </a:p>
          <a:p>
            <a:pPr lvl="1"/>
            <a:r>
              <a:rPr lang="en-US" sz="2600" dirty="0" smtClean="0"/>
              <a:t>Internet</a:t>
            </a:r>
          </a:p>
        </p:txBody>
      </p:sp>
      <p:grpSp>
        <p:nvGrpSpPr>
          <p:cNvPr id="4" name="Group 9"/>
          <p:cNvGrpSpPr/>
          <p:nvPr/>
        </p:nvGrpSpPr>
        <p:grpSpPr>
          <a:xfrm>
            <a:off x="4648200" y="304800"/>
            <a:ext cx="4456108" cy="1912585"/>
            <a:chOff x="4582185" y="1868137"/>
            <a:chExt cx="4456108" cy="1912585"/>
          </a:xfrm>
        </p:grpSpPr>
        <p:sp>
          <p:nvSpPr>
            <p:cNvPr id="8" name="Cloud 7"/>
            <p:cNvSpPr/>
            <p:nvPr/>
          </p:nvSpPr>
          <p:spPr bwMode="auto">
            <a:xfrm rot="272498">
              <a:off x="4582185" y="1868137"/>
              <a:ext cx="4456108" cy="1912585"/>
            </a:xfrm>
            <a:prstGeom prst="cloud">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smtClean="0">
                <a:ln>
                  <a:noFill/>
                </a:ln>
                <a:solidFill>
                  <a:schemeClr val="tx1"/>
                </a:solidFill>
                <a:latin typeface="Franklin Gothic Book" pitchFamily="34" charset="0"/>
              </a:endParaRPr>
            </a:p>
          </p:txBody>
        </p:sp>
        <p:sp>
          <p:nvSpPr>
            <p:cNvPr id="9" name="TextBox 8"/>
            <p:cNvSpPr txBox="1"/>
            <p:nvPr/>
          </p:nvSpPr>
          <p:spPr>
            <a:xfrm>
              <a:off x="4846208" y="2501264"/>
              <a:ext cx="3928063" cy="646331"/>
            </a:xfrm>
            <a:prstGeom prst="rect">
              <a:avLst/>
            </a:prstGeom>
            <a:noFill/>
          </p:spPr>
          <p:txBody>
            <a:bodyPr wrap="none" rtlCol="0">
              <a:spAutoFit/>
            </a:bodyPr>
            <a:lstStyle/>
            <a:p>
              <a:r>
                <a:rPr lang="en-US" sz="3600" b="1" dirty="0" smtClean="0">
                  <a:solidFill>
                    <a:schemeClr val="accent3"/>
                  </a:solidFill>
                </a:rPr>
                <a:t>Services Revolution</a:t>
              </a:r>
              <a:endParaRPr lang="en-US" sz="3600" b="1" dirty="0">
                <a:solidFill>
                  <a:schemeClr val="accent3"/>
                </a:solidFill>
              </a:endParaRPr>
            </a:p>
          </p:txBody>
        </p:sp>
      </p:grpSp>
      <p:sp>
        <p:nvSpPr>
          <p:cNvPr id="12" name="TextBox 11"/>
          <p:cNvSpPr txBox="1"/>
          <p:nvPr/>
        </p:nvSpPr>
        <p:spPr>
          <a:xfrm>
            <a:off x="5638800" y="4267200"/>
            <a:ext cx="2682016" cy="1077218"/>
          </a:xfrm>
          <a:prstGeom prst="rect">
            <a:avLst/>
          </a:prstGeom>
          <a:noFill/>
          <a:ln w="19050">
            <a:solidFill>
              <a:schemeClr val="accent1"/>
            </a:solidFill>
          </a:ln>
        </p:spPr>
        <p:txBody>
          <a:bodyPr wrap="none" rtlCol="0">
            <a:spAutoFit/>
          </a:bodyPr>
          <a:lstStyle/>
          <a:p>
            <a:r>
              <a:rPr lang="en-US" sz="3200" dirty="0" smtClean="0"/>
              <a:t>More work for </a:t>
            </a:r>
            <a:br>
              <a:rPr lang="en-US" sz="3200" dirty="0" smtClean="0"/>
            </a:br>
            <a:r>
              <a:rPr lang="en-US" sz="3200" dirty="0" smtClean="0"/>
              <a:t>   Sys </a:t>
            </a:r>
            <a:r>
              <a:rPr lang="en-US" sz="3200" dirty="0" err="1" smtClean="0"/>
              <a:t>Admins</a:t>
            </a:r>
            <a:endParaRPr lang="en-US" sz="3200" dirty="0" smtClean="0"/>
          </a:p>
        </p:txBody>
      </p:sp>
      <p:sp>
        <p:nvSpPr>
          <p:cNvPr id="14" name="Content Placeholder 2"/>
          <p:cNvSpPr txBox="1">
            <a:spLocks/>
          </p:cNvSpPr>
          <p:nvPr/>
        </p:nvSpPr>
        <p:spPr>
          <a:xfrm>
            <a:off x="381000" y="3733800"/>
            <a:ext cx="8382000" cy="1981200"/>
          </a:xfrm>
          <a:prstGeom prst="rect">
            <a:avLst/>
          </a:prstGeom>
        </p:spPr>
        <p:txBody>
          <a:bodyPr vert="horz" wrap="square" lIns="0" tIns="0" rIns="0" bIns="0" rtlCol="0">
            <a:normAutofit/>
          </a:bodyPr>
          <a:lstStyle/>
          <a:p>
            <a:pPr marL="463550" marR="0" lvl="0" indent="-463550" algn="l" defTabSz="914363" rtl="0" eaLnBrk="1" fontAlgn="auto" latinLnBrk="0" hangingPunct="1">
              <a:lnSpc>
                <a:spcPct val="90000"/>
              </a:lnSpc>
              <a:spcBef>
                <a:spcPct val="20000"/>
              </a:spcBef>
              <a:spcAft>
                <a:spcPts val="0"/>
              </a:spcAft>
              <a:buClrTx/>
              <a:buSzPct val="120000"/>
              <a:buFontTx/>
              <a:buBlip>
                <a:blip r:embed="rId2"/>
              </a:buBlip>
              <a:tabLst/>
              <a:defRPr/>
            </a:pPr>
            <a:r>
              <a:rPr kumimoji="0" lang="en-US" sz="3200" b="0" i="0" u="none" strike="noStrike" kern="1200" cap="none" spc="0" normalizeH="0" baseline="0" noProof="0" dirty="0" smtClean="0">
                <a:ln>
                  <a:noFill/>
                </a:ln>
                <a:solidFill>
                  <a:schemeClr val="tx1"/>
                </a:solidFill>
                <a:effectLst/>
                <a:uLnTx/>
                <a:uFillTx/>
                <a:latin typeface="Calibri" pitchFamily="34" charset="0"/>
                <a:ea typeface="+mn-ea"/>
                <a:cs typeface="+mn-cs"/>
              </a:rPr>
              <a:t>Multiple islands of identity</a:t>
            </a:r>
          </a:p>
          <a:p>
            <a:pPr marL="833438" marR="0" lvl="1" indent="-369888" algn="l" defTabSz="914363" rtl="0" eaLnBrk="1" fontAlgn="auto" latinLnBrk="0" hangingPunct="1">
              <a:lnSpc>
                <a:spcPct val="90000"/>
              </a:lnSpc>
              <a:spcBef>
                <a:spcPct val="20000"/>
              </a:spcBef>
              <a:spcAft>
                <a:spcPts val="0"/>
              </a:spcAft>
              <a:buClrTx/>
              <a:buSzTx/>
              <a:buFontTx/>
              <a:buBlip>
                <a:blip r:embed="rId2"/>
              </a:buBlip>
              <a:tabLst/>
              <a:defRPr/>
            </a:pPr>
            <a:r>
              <a:rPr kumimoji="0" lang="en-US" sz="2600" b="0" i="0" u="none" strike="noStrike" kern="1200" cap="none" spc="0" normalizeH="0" baseline="0" noProof="0" dirty="0" smtClean="0">
                <a:ln>
                  <a:noFill/>
                </a:ln>
                <a:solidFill>
                  <a:schemeClr val="tx1"/>
                </a:solidFill>
                <a:effectLst/>
                <a:uLnTx/>
                <a:uFillTx/>
                <a:latin typeface="Calibri" pitchFamily="34" charset="0"/>
                <a:ea typeface="+mn-ea"/>
                <a:cs typeface="+mn-cs"/>
              </a:rPr>
              <a:t>Your organization</a:t>
            </a:r>
          </a:p>
          <a:p>
            <a:pPr marL="833438" marR="0" lvl="1" indent="-369888" algn="l" defTabSz="914363" rtl="0" eaLnBrk="1" fontAlgn="auto" latinLnBrk="0" hangingPunct="1">
              <a:lnSpc>
                <a:spcPct val="90000"/>
              </a:lnSpc>
              <a:spcBef>
                <a:spcPct val="20000"/>
              </a:spcBef>
              <a:spcAft>
                <a:spcPts val="0"/>
              </a:spcAft>
              <a:buClrTx/>
              <a:buSzTx/>
              <a:buFontTx/>
              <a:buBlip>
                <a:blip r:embed="rId2"/>
              </a:buBlip>
              <a:tabLst/>
              <a:defRPr/>
            </a:pPr>
            <a:r>
              <a:rPr kumimoji="0" lang="en-US" sz="2600" b="0" i="0" u="none" strike="noStrike" kern="1200" cap="none" spc="0" normalizeH="0" baseline="0" noProof="0" dirty="0" smtClean="0">
                <a:ln>
                  <a:noFill/>
                </a:ln>
                <a:solidFill>
                  <a:schemeClr val="tx1"/>
                </a:solidFill>
                <a:effectLst/>
                <a:uLnTx/>
                <a:uFillTx/>
                <a:latin typeface="Calibri" pitchFamily="34" charset="0"/>
                <a:ea typeface="+mn-ea"/>
                <a:cs typeface="+mn-cs"/>
              </a:rPr>
              <a:t>Partners</a:t>
            </a:r>
          </a:p>
          <a:p>
            <a:pPr marL="833438" marR="0" lvl="1" indent="-369888" algn="l" defTabSz="914363" rtl="0" eaLnBrk="1" fontAlgn="auto" latinLnBrk="0" hangingPunct="1">
              <a:lnSpc>
                <a:spcPct val="90000"/>
              </a:lnSpc>
              <a:spcBef>
                <a:spcPct val="20000"/>
              </a:spcBef>
              <a:spcAft>
                <a:spcPts val="0"/>
              </a:spcAft>
              <a:buClrTx/>
              <a:buSzTx/>
              <a:buFontTx/>
              <a:buBlip>
                <a:blip r:embed="rId2"/>
              </a:buBlip>
              <a:tabLst/>
              <a:defRPr/>
            </a:pPr>
            <a:r>
              <a:rPr kumimoji="0" lang="en-US" sz="2600" b="0" i="0" u="none" strike="noStrike" kern="1200" cap="none" spc="0" normalizeH="0" baseline="0" noProof="0" dirty="0" smtClean="0">
                <a:ln>
                  <a:noFill/>
                </a:ln>
                <a:solidFill>
                  <a:schemeClr val="tx1"/>
                </a:solidFill>
                <a:effectLst/>
                <a:uLnTx/>
                <a:uFillTx/>
                <a:latin typeface="Calibri" pitchFamily="34" charset="0"/>
                <a:ea typeface="+mn-ea"/>
                <a:cs typeface="+mn-cs"/>
              </a:rPr>
              <a:t>Customers</a:t>
            </a:r>
          </a:p>
        </p:txBody>
      </p:sp>
      <p:sp>
        <p:nvSpPr>
          <p:cNvPr id="15" name="Content Placeholder 2"/>
          <p:cNvSpPr txBox="1">
            <a:spLocks/>
          </p:cNvSpPr>
          <p:nvPr/>
        </p:nvSpPr>
        <p:spPr>
          <a:xfrm>
            <a:off x="381000" y="5562600"/>
            <a:ext cx="8382000" cy="533399"/>
          </a:xfrm>
          <a:prstGeom prst="rect">
            <a:avLst/>
          </a:prstGeom>
        </p:spPr>
        <p:txBody>
          <a:bodyPr vert="horz" wrap="square" lIns="0" tIns="0" rIns="0" bIns="0" rtlCol="0" anchor="b" anchorCtr="0">
            <a:noAutofit/>
          </a:bodyPr>
          <a:lstStyle/>
          <a:p>
            <a:pPr marL="463550" marR="0" lvl="0" indent="-463550" algn="l" defTabSz="914363" rtl="0" eaLnBrk="1" fontAlgn="auto" latinLnBrk="0" hangingPunct="1">
              <a:lnSpc>
                <a:spcPct val="90000"/>
              </a:lnSpc>
              <a:spcBef>
                <a:spcPct val="20000"/>
              </a:spcBef>
              <a:spcAft>
                <a:spcPts val="0"/>
              </a:spcAft>
              <a:buClrTx/>
              <a:buSzPct val="120000"/>
              <a:buFontTx/>
              <a:buBlip>
                <a:blip r:embed="rId2"/>
              </a:buBlip>
              <a:tabLst/>
              <a:defRPr/>
            </a:pPr>
            <a:r>
              <a:rPr kumimoji="0" lang="en-US" sz="3200" b="0" i="0" u="none" strike="noStrike" kern="1200" cap="none" spc="0" normalizeH="0" baseline="0" noProof="0" dirty="0" smtClean="0">
                <a:ln>
                  <a:noFill/>
                </a:ln>
                <a:solidFill>
                  <a:schemeClr val="tx1"/>
                </a:solidFill>
                <a:effectLst/>
                <a:uLnTx/>
                <a:uFillTx/>
                <a:latin typeface="Calibri" pitchFamily="34" charset="0"/>
                <a:ea typeface="+mn-ea"/>
                <a:cs typeface="+mn-cs"/>
              </a:rPr>
              <a:t>Identity can be a barrier</a:t>
            </a:r>
          </a:p>
        </p:txBody>
      </p:sp>
      <p:cxnSp>
        <p:nvCxnSpPr>
          <p:cNvPr id="5" name="Straight Connector 4"/>
          <p:cNvCxnSpPr/>
          <p:nvPr/>
        </p:nvCxnSpPr>
        <p:spPr>
          <a:xfrm>
            <a:off x="3657600" y="5878143"/>
            <a:ext cx="1143000" cy="1588"/>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Down Arrow 12"/>
          <p:cNvSpPr/>
          <p:nvPr/>
        </p:nvSpPr>
        <p:spPr bwMode="auto">
          <a:xfrm>
            <a:off x="6789308" y="2286000"/>
            <a:ext cx="381000" cy="1981200"/>
          </a:xfrm>
          <a:prstGeom prst="downArrow">
            <a:avLst/>
          </a:prstGeom>
          <a:solidFill>
            <a:schemeClr val="accent1"/>
          </a:solidFill>
          <a:ln>
            <a:headEnd type="none" w="med" len="med"/>
            <a:tailEnd type="none" w="med" len="med"/>
          </a:ln>
        </p:spPr>
        <p:style>
          <a:lnRef idx="0">
            <a:schemeClr val="accent4"/>
          </a:lnRef>
          <a:fillRef idx="3">
            <a:schemeClr val="accent4"/>
          </a:fillRef>
          <a:effectRef idx="3">
            <a:schemeClr val="accent4"/>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endParaRPr lang="en-US" sz="2000" dirty="0" smtClean="0">
              <a:solidFill>
                <a:srgbClr val="FFFFFF"/>
              </a:solidFill>
              <a:effectLst>
                <a:outerShdw blurRad="38100" dist="38100" dir="2700000" algn="tl">
                  <a:srgbClr val="000000">
                    <a:alpha val="43137"/>
                  </a:srgbClr>
                </a:outerShdw>
              </a:effectLst>
              <a:latin typeface="Calibri" pitchFamily="34" charset="0"/>
            </a:endParaRPr>
          </a:p>
        </p:txBody>
      </p:sp>
      <p:cxnSp>
        <p:nvCxnSpPr>
          <p:cNvPr id="16" name="Straight Connector 15"/>
          <p:cNvCxnSpPr/>
          <p:nvPr/>
        </p:nvCxnSpPr>
        <p:spPr>
          <a:xfrm>
            <a:off x="5700486" y="4572000"/>
            <a:ext cx="990600" cy="1588"/>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Content Placeholder 2"/>
          <p:cNvSpPr txBox="1">
            <a:spLocks/>
          </p:cNvSpPr>
          <p:nvPr/>
        </p:nvSpPr>
        <p:spPr>
          <a:xfrm rot="20273287">
            <a:off x="5352474" y="3905260"/>
            <a:ext cx="896083" cy="396455"/>
          </a:xfrm>
          <a:prstGeom prst="rect">
            <a:avLst/>
          </a:prstGeom>
        </p:spPr>
        <p:txBody>
          <a:bodyPr vert="horz" wrap="square" lIns="0" tIns="0" rIns="0" bIns="0" rtlCol="0" anchor="b" anchorCtr="0">
            <a:spAutoFit/>
          </a:bodyPr>
          <a:lstStyle/>
          <a:p>
            <a:pPr marL="393700" marR="0" lvl="0" indent="-393700" defTabSz="914363" rtl="0" eaLnBrk="1" fontAlgn="auto" latinLnBrk="0" hangingPunct="1">
              <a:lnSpc>
                <a:spcPct val="78000"/>
              </a:lnSpc>
              <a:spcBef>
                <a:spcPct val="20000"/>
              </a:spcBef>
              <a:spcAft>
                <a:spcPts val="800"/>
              </a:spcAft>
              <a:buClr>
                <a:schemeClr val="tx1"/>
              </a:buClr>
              <a:buSzPct val="80000"/>
              <a:tabLst/>
              <a:defRPr/>
            </a:pPr>
            <a:r>
              <a:rPr lang="en-US" sz="3200" b="1" dirty="0" smtClean="0">
                <a:solidFill>
                  <a:schemeClr val="accent1"/>
                </a:solidFill>
                <a:latin typeface="Calibri" pitchFamily="34" charset="0"/>
              </a:rPr>
              <a:t>Less</a:t>
            </a:r>
            <a:endParaRPr kumimoji="0" lang="en-US" sz="2800" b="1" i="0" u="none" strike="noStrike" kern="1200" normalizeH="0" baseline="0" noProof="0" dirty="0" smtClean="0">
              <a:solidFill>
                <a:schemeClr val="accent1"/>
              </a:solidFill>
              <a:uLnTx/>
              <a:uFillTx/>
              <a:latin typeface="Calibri"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nodeType="afterEffect">
                                  <p:stCondLst>
                                    <p:cond delay="0"/>
                                  </p:stCondLst>
                                  <p:childTnLst>
                                    <p:set>
                                      <p:cBhvr>
                                        <p:cTn id="37" dur="1" fill="hold">
                                          <p:stCondLst>
                                            <p:cond delay="0"/>
                                          </p:stCondLst>
                                        </p:cTn>
                                        <p:tgtEl>
                                          <p:spTgt spid="11">
                                            <p:txEl>
                                              <p:pRg st="0" end="0"/>
                                            </p:txEl>
                                          </p:spTgt>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2" grpId="0" animBg="1"/>
      <p:bldP spid="14" grpId="0"/>
      <p:bldP spid="15" grpId="0"/>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054" y="228600"/>
            <a:ext cx="8375946" cy="1163395"/>
          </a:xfrm>
        </p:spPr>
        <p:txBody>
          <a:bodyPr/>
          <a:lstStyle/>
          <a:p>
            <a:r>
              <a:rPr smtClean="0"/>
              <a:t>Federated Ecosystem</a:t>
            </a:r>
            <a:br>
              <a:rPr smtClean="0"/>
            </a:br>
            <a:r>
              <a:rPr sz="3600" smtClean="0">
                <a:solidFill>
                  <a:schemeClr val="accent1"/>
                </a:solidFill>
              </a:rPr>
              <a:t>Benefits from making federated identity work</a:t>
            </a:r>
            <a:endParaRPr lang="en-US" dirty="0">
              <a:solidFill>
                <a:schemeClr val="accent1"/>
              </a:solidFill>
            </a:endParaRPr>
          </a:p>
        </p:txBody>
      </p:sp>
      <p:sp>
        <p:nvSpPr>
          <p:cNvPr id="3" name="Content Placeholder 2"/>
          <p:cNvSpPr>
            <a:spLocks noGrp="1"/>
          </p:cNvSpPr>
          <p:nvPr>
            <p:ph idx="1"/>
          </p:nvPr>
        </p:nvSpPr>
        <p:spPr>
          <a:xfrm>
            <a:off x="381000" y="1739454"/>
            <a:ext cx="8382000" cy="4889946"/>
          </a:xfrm>
        </p:spPr>
        <p:txBody>
          <a:bodyPr>
            <a:noAutofit/>
          </a:bodyPr>
          <a:lstStyle/>
          <a:p>
            <a:pPr>
              <a:lnSpc>
                <a:spcPct val="100000"/>
              </a:lnSpc>
            </a:pPr>
            <a:r>
              <a:rPr lang="en-US" sz="1800" dirty="0" smtClean="0"/>
              <a:t>Open participation -- based on industry standards </a:t>
            </a:r>
          </a:p>
          <a:p>
            <a:pPr lvl="1">
              <a:lnSpc>
                <a:spcPct val="100000"/>
              </a:lnSpc>
            </a:pPr>
            <a:r>
              <a:rPr lang="en-US" sz="1800" dirty="0" smtClean="0"/>
              <a:t>WS-Federation / SAML</a:t>
            </a:r>
            <a:endParaRPr lang="en-US" sz="1600" dirty="0" smtClean="0"/>
          </a:p>
          <a:p>
            <a:pPr>
              <a:lnSpc>
                <a:spcPct val="100000"/>
              </a:lnSpc>
            </a:pPr>
            <a:r>
              <a:rPr lang="en-US" sz="2000" dirty="0" smtClean="0"/>
              <a:t>Linking service providers and service consumers</a:t>
            </a:r>
            <a:endParaRPr lang="en-US" sz="1600" dirty="0" smtClean="0"/>
          </a:p>
          <a:p>
            <a:pPr>
              <a:lnSpc>
                <a:spcPct val="100000"/>
              </a:lnSpc>
            </a:pPr>
            <a:r>
              <a:rPr lang="en-US" sz="1800" dirty="0" smtClean="0"/>
              <a:t>Access to </a:t>
            </a:r>
            <a:r>
              <a:rPr lang="en-US" sz="1800" dirty="0" smtClean="0">
                <a:solidFill>
                  <a:schemeClr val="accent1"/>
                </a:solidFill>
              </a:rPr>
              <a:t>more customers</a:t>
            </a:r>
            <a:r>
              <a:rPr lang="en-US" sz="1800" dirty="0" smtClean="0"/>
              <a:t>:</a:t>
            </a:r>
          </a:p>
          <a:p>
            <a:pPr lvl="1">
              <a:lnSpc>
                <a:spcPct val="100000"/>
              </a:lnSpc>
            </a:pPr>
            <a:r>
              <a:rPr lang="en-US" sz="1800" dirty="0" smtClean="0"/>
              <a:t>Windows Live ID users</a:t>
            </a:r>
          </a:p>
          <a:p>
            <a:pPr lvl="1">
              <a:lnSpc>
                <a:spcPct val="100000"/>
              </a:lnSpc>
            </a:pPr>
            <a:r>
              <a:rPr lang="en-US" sz="1800" dirty="0" smtClean="0"/>
              <a:t>Other organizations using federated identity</a:t>
            </a:r>
            <a:endParaRPr lang="en-US" sz="1600" dirty="0" smtClean="0"/>
          </a:p>
          <a:p>
            <a:pPr>
              <a:lnSpc>
                <a:spcPct val="100000"/>
              </a:lnSpc>
            </a:pPr>
            <a:r>
              <a:rPr lang="en-US" sz="1800" dirty="0" smtClean="0"/>
              <a:t>Access to </a:t>
            </a:r>
            <a:r>
              <a:rPr lang="en-US" sz="1800" dirty="0" smtClean="0">
                <a:solidFill>
                  <a:schemeClr val="accent1"/>
                </a:solidFill>
              </a:rPr>
              <a:t>more service / application providers</a:t>
            </a:r>
            <a:r>
              <a:rPr lang="en-US" sz="1800" dirty="0" smtClean="0"/>
              <a:t>:</a:t>
            </a:r>
          </a:p>
          <a:p>
            <a:pPr lvl="1">
              <a:lnSpc>
                <a:spcPct val="100000"/>
              </a:lnSpc>
            </a:pPr>
            <a:r>
              <a:rPr lang="en-US" sz="1800" dirty="0" smtClean="0"/>
              <a:t>Microsoft cloud applications</a:t>
            </a:r>
          </a:p>
          <a:p>
            <a:pPr lvl="1">
              <a:lnSpc>
                <a:spcPct val="100000"/>
              </a:lnSpc>
            </a:pPr>
            <a:r>
              <a:rPr lang="en-US" sz="1800" dirty="0" smtClean="0"/>
              <a:t>Developers using Azure Services Platform</a:t>
            </a:r>
          </a:p>
          <a:p>
            <a:pPr lvl="1">
              <a:lnSpc>
                <a:spcPct val="100000"/>
              </a:lnSpc>
            </a:pPr>
            <a:r>
              <a:rPr lang="en-US" sz="1800" dirty="0" smtClean="0"/>
              <a:t>Developers using other hosting platforms</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10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1000"/>
                                        <p:tgtEl>
                                          <p:spTgt spid="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1000"/>
                                        <p:tgtEl>
                                          <p:spTgt spid="3">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1000"/>
                                        <p:tgtEl>
                                          <p:spTgt spid="3">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fade">
                                      <p:cBhvr>
                                        <p:cTn id="31" dur="1000"/>
                                        <p:tgtEl>
                                          <p:spTgt spid="3">
                                            <p:txEl>
                                              <p:pRg st="8" end="8"/>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fade">
                                      <p:cBhvr>
                                        <p:cTn id="34" dur="1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Cloud 114"/>
          <p:cNvSpPr/>
          <p:nvPr/>
        </p:nvSpPr>
        <p:spPr bwMode="auto">
          <a:xfrm rot="272498">
            <a:off x="-14381" y="638558"/>
            <a:ext cx="8929643" cy="3509211"/>
          </a:xfrm>
          <a:prstGeom prst="cloud">
            <a:avLst/>
          </a:prstGeom>
          <a:solidFill>
            <a:schemeClr val="tx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smtClean="0">
              <a:ln>
                <a:noFill/>
              </a:ln>
              <a:solidFill>
                <a:schemeClr val="tx1"/>
              </a:solidFill>
              <a:effectLst/>
              <a:latin typeface="Franklin Gothic Book" pitchFamily="34" charset="0"/>
            </a:endParaRPr>
          </a:p>
        </p:txBody>
      </p:sp>
      <p:sp>
        <p:nvSpPr>
          <p:cNvPr id="3" name="Title 2"/>
          <p:cNvSpPr>
            <a:spLocks noGrp="1"/>
          </p:cNvSpPr>
          <p:nvPr>
            <p:ph type="title"/>
          </p:nvPr>
        </p:nvSpPr>
        <p:spPr>
          <a:xfrm>
            <a:off x="387054" y="228600"/>
            <a:ext cx="8375946" cy="498598"/>
          </a:xfrm>
        </p:spPr>
        <p:txBody>
          <a:bodyPr/>
          <a:lstStyle/>
          <a:p>
            <a:r>
              <a:rPr sz="3600" smtClean="0"/>
              <a:t>Switching to Cloud Services</a:t>
            </a:r>
            <a:endParaRPr lang="en-US" sz="3600" dirty="0"/>
          </a:p>
        </p:txBody>
      </p:sp>
      <p:sp>
        <p:nvSpPr>
          <p:cNvPr id="4" name="Rounded Rectangle 3"/>
          <p:cNvSpPr/>
          <p:nvPr/>
        </p:nvSpPr>
        <p:spPr bwMode="auto">
          <a:xfrm>
            <a:off x="609600" y="990600"/>
            <a:ext cx="7848600" cy="2209800"/>
          </a:xfrm>
          <a:prstGeom prst="roundRect">
            <a:avLst/>
          </a:prstGeom>
          <a:solidFill>
            <a:schemeClr val="accent4">
              <a:alpha val="75000"/>
            </a:scheme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p:txBody>
      </p:sp>
      <p:sp>
        <p:nvSpPr>
          <p:cNvPr id="96" name="Rectangle 95"/>
          <p:cNvSpPr/>
          <p:nvPr/>
        </p:nvSpPr>
        <p:spPr bwMode="auto">
          <a:xfrm rot="5400000">
            <a:off x="6965411" y="2705100"/>
            <a:ext cx="228600" cy="3048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97" name="Rectangle 96"/>
          <p:cNvSpPr/>
          <p:nvPr/>
        </p:nvSpPr>
        <p:spPr bwMode="auto">
          <a:xfrm rot="5400000">
            <a:off x="7810500" y="6049419"/>
            <a:ext cx="228600" cy="3048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55" name="Rounded Rectangle 54"/>
          <p:cNvSpPr/>
          <p:nvPr/>
        </p:nvSpPr>
        <p:spPr bwMode="auto">
          <a:xfrm>
            <a:off x="4648200" y="4876800"/>
            <a:ext cx="3733800" cy="1600200"/>
          </a:xfrm>
          <a:prstGeom prst="roundRect">
            <a:avLst/>
          </a:prstGeom>
          <a:solidFill>
            <a:schemeClr val="accent4">
              <a:alpha val="75000"/>
            </a:scheme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p:txBody>
      </p:sp>
      <p:sp>
        <p:nvSpPr>
          <p:cNvPr id="65" name="TextBox 64"/>
          <p:cNvSpPr txBox="1"/>
          <p:nvPr/>
        </p:nvSpPr>
        <p:spPr>
          <a:xfrm>
            <a:off x="5588579" y="6093023"/>
            <a:ext cx="871649" cy="307777"/>
          </a:xfrm>
          <a:prstGeom prst="rect">
            <a:avLst/>
          </a:prstGeom>
          <a:noFill/>
        </p:spPr>
        <p:txBody>
          <a:bodyPr wrap="none" rtlCol="0">
            <a:spAutoFit/>
          </a:bodyPr>
          <a:lstStyle/>
          <a:p>
            <a:pPr algn="ctr"/>
            <a:r>
              <a:rPr lang="en-US" sz="1400" dirty="0" smtClean="0"/>
              <a:t>Exchange</a:t>
            </a:r>
            <a:endParaRPr lang="en-US" sz="1400" dirty="0"/>
          </a:p>
        </p:txBody>
      </p:sp>
      <p:pic>
        <p:nvPicPr>
          <p:cNvPr id="66" name="Picture 10" descr="webServiceserver"/>
          <p:cNvPicPr>
            <a:picLocks noChangeAspect="1" noChangeArrowheads="1"/>
          </p:cNvPicPr>
          <p:nvPr/>
        </p:nvPicPr>
        <p:blipFill>
          <a:blip r:embed="rId3">
            <a:clrChange>
              <a:clrFrom>
                <a:srgbClr val="08369A"/>
              </a:clrFrom>
              <a:clrTo>
                <a:srgbClr val="08369A">
                  <a:alpha val="0"/>
                </a:srgbClr>
              </a:clrTo>
            </a:clrChange>
          </a:blip>
          <a:srcRect/>
          <a:stretch>
            <a:fillRect/>
          </a:stretch>
        </p:blipFill>
        <p:spPr bwMode="auto">
          <a:xfrm>
            <a:off x="5785680" y="5401719"/>
            <a:ext cx="533400" cy="692615"/>
          </a:xfrm>
          <a:prstGeom prst="rect">
            <a:avLst/>
          </a:prstGeom>
          <a:noFill/>
        </p:spPr>
      </p:pic>
      <p:sp>
        <p:nvSpPr>
          <p:cNvPr id="120" name="Rectangle 119"/>
          <p:cNvSpPr/>
          <p:nvPr/>
        </p:nvSpPr>
        <p:spPr bwMode="auto">
          <a:xfrm>
            <a:off x="7391400" y="5147459"/>
            <a:ext cx="533400" cy="1524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21" name="Rectangle 120"/>
          <p:cNvSpPr/>
          <p:nvPr/>
        </p:nvSpPr>
        <p:spPr bwMode="auto">
          <a:xfrm>
            <a:off x="7162800" y="5147459"/>
            <a:ext cx="533400" cy="1524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30" name="Rectangle 129"/>
          <p:cNvSpPr/>
          <p:nvPr/>
        </p:nvSpPr>
        <p:spPr bwMode="auto">
          <a:xfrm>
            <a:off x="9144000" y="3276600"/>
            <a:ext cx="533400" cy="338941"/>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81" name="Rounded Rectangle 80"/>
          <p:cNvSpPr/>
          <p:nvPr/>
        </p:nvSpPr>
        <p:spPr bwMode="auto">
          <a:xfrm>
            <a:off x="7086600" y="1676400"/>
            <a:ext cx="12192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Microsoft Online</a:t>
            </a:r>
          </a:p>
        </p:txBody>
      </p:sp>
      <p:sp>
        <p:nvSpPr>
          <p:cNvPr id="84" name="Rounded Rectangle 83"/>
          <p:cNvSpPr/>
          <p:nvPr/>
        </p:nvSpPr>
        <p:spPr bwMode="auto">
          <a:xfrm>
            <a:off x="7086600" y="2362200"/>
            <a:ext cx="12192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400" dirty="0" smtClean="0">
                <a:solidFill>
                  <a:srgbClr val="FFFFFF"/>
                </a:solidFill>
                <a:effectLst>
                  <a:outerShdw blurRad="38100" dist="38100" dir="2700000" algn="tl">
                    <a:srgbClr val="000000">
                      <a:alpha val="43137"/>
                    </a:srgbClr>
                  </a:outerShdw>
                </a:effectLst>
              </a:rPr>
              <a:t>Microsoft Dynamics CRM Online</a:t>
            </a:r>
          </a:p>
        </p:txBody>
      </p:sp>
      <p:sp>
        <p:nvSpPr>
          <p:cNvPr id="92" name="Rounded Rectangle 91"/>
          <p:cNvSpPr/>
          <p:nvPr/>
        </p:nvSpPr>
        <p:spPr bwMode="auto">
          <a:xfrm>
            <a:off x="5867400" y="1676400"/>
            <a:ext cx="10668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Windows Live</a:t>
            </a:r>
          </a:p>
        </p:txBody>
      </p:sp>
      <p:sp>
        <p:nvSpPr>
          <p:cNvPr id="107" name="TextBox 106"/>
          <p:cNvSpPr txBox="1"/>
          <p:nvPr/>
        </p:nvSpPr>
        <p:spPr>
          <a:xfrm>
            <a:off x="6431736" y="6084542"/>
            <a:ext cx="746102" cy="307777"/>
          </a:xfrm>
          <a:prstGeom prst="rect">
            <a:avLst/>
          </a:prstGeom>
          <a:noFill/>
        </p:spPr>
        <p:txBody>
          <a:bodyPr wrap="none" rtlCol="0">
            <a:spAutoFit/>
          </a:bodyPr>
          <a:lstStyle/>
          <a:p>
            <a:pPr algn="ctr"/>
            <a:r>
              <a:rPr lang="en-US" sz="1400" dirty="0" smtClean="0"/>
              <a:t>ISV App</a:t>
            </a:r>
            <a:endParaRPr lang="en-US" sz="1400" dirty="0"/>
          </a:p>
        </p:txBody>
      </p:sp>
      <p:sp>
        <p:nvSpPr>
          <p:cNvPr id="109" name="TextBox 108"/>
          <p:cNvSpPr txBox="1"/>
          <p:nvPr/>
        </p:nvSpPr>
        <p:spPr>
          <a:xfrm>
            <a:off x="7171272" y="6084542"/>
            <a:ext cx="976934" cy="307777"/>
          </a:xfrm>
          <a:prstGeom prst="rect">
            <a:avLst/>
          </a:prstGeom>
          <a:noFill/>
        </p:spPr>
        <p:txBody>
          <a:bodyPr wrap="none" rtlCol="0">
            <a:spAutoFit/>
          </a:bodyPr>
          <a:lstStyle/>
          <a:p>
            <a:pPr algn="ctr"/>
            <a:r>
              <a:rPr lang="en-US" sz="1400" dirty="0" smtClean="0"/>
              <a:t>SharePoint</a:t>
            </a:r>
            <a:endParaRPr lang="en-US" sz="1400" dirty="0"/>
          </a:p>
        </p:txBody>
      </p:sp>
      <p:pic>
        <p:nvPicPr>
          <p:cNvPr id="110" name="Picture 10" descr="webServiceserver"/>
          <p:cNvPicPr>
            <a:picLocks noChangeAspect="1" noChangeArrowheads="1"/>
          </p:cNvPicPr>
          <p:nvPr/>
        </p:nvPicPr>
        <p:blipFill>
          <a:blip r:embed="rId3">
            <a:clrChange>
              <a:clrFrom>
                <a:srgbClr val="08369A"/>
              </a:clrFrom>
              <a:clrTo>
                <a:srgbClr val="08369A">
                  <a:alpha val="0"/>
                </a:srgbClr>
              </a:clrTo>
            </a:clrChange>
          </a:blip>
          <a:srcRect/>
          <a:stretch>
            <a:fillRect/>
          </a:stretch>
        </p:blipFill>
        <p:spPr bwMode="auto">
          <a:xfrm>
            <a:off x="7399872" y="5393238"/>
            <a:ext cx="533400" cy="692615"/>
          </a:xfrm>
          <a:prstGeom prst="rect">
            <a:avLst/>
          </a:prstGeom>
          <a:noFill/>
        </p:spPr>
      </p:pic>
      <p:sp>
        <p:nvSpPr>
          <p:cNvPr id="117" name="Rounded Rectangle 116"/>
          <p:cNvSpPr/>
          <p:nvPr/>
        </p:nvSpPr>
        <p:spPr bwMode="auto">
          <a:xfrm>
            <a:off x="5867400" y="2362200"/>
            <a:ext cx="10668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Live</a:t>
            </a:r>
          </a:p>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Mesh</a:t>
            </a:r>
          </a:p>
        </p:txBody>
      </p:sp>
      <p:sp>
        <p:nvSpPr>
          <p:cNvPr id="118" name="TextBox 117"/>
          <p:cNvSpPr txBox="1"/>
          <p:nvPr/>
        </p:nvSpPr>
        <p:spPr>
          <a:xfrm>
            <a:off x="3886200" y="1000780"/>
            <a:ext cx="1164101" cy="584775"/>
          </a:xfrm>
          <a:prstGeom prst="rect">
            <a:avLst/>
          </a:prstGeom>
          <a:noFill/>
        </p:spPr>
        <p:txBody>
          <a:bodyPr wrap="none" rtlCol="0">
            <a:spAutoFit/>
          </a:bodyPr>
          <a:lstStyle/>
          <a:p>
            <a:pPr algn="ctr"/>
            <a:r>
              <a:rPr lang="en-US" sz="3200" b="1" dirty="0" smtClean="0">
                <a:effectLst>
                  <a:outerShdw blurRad="38100" dist="38100" dir="2700000" algn="tl">
                    <a:srgbClr val="000000">
                      <a:alpha val="43137"/>
                    </a:srgbClr>
                  </a:outerShdw>
                </a:effectLst>
              </a:rPr>
              <a:t>Cloud</a:t>
            </a:r>
            <a:endParaRPr lang="en-US" sz="3200" b="1" dirty="0">
              <a:effectLst>
                <a:outerShdw blurRad="38100" dist="38100" dir="2700000" algn="tl">
                  <a:srgbClr val="000000">
                    <a:alpha val="43137"/>
                  </a:srgbClr>
                </a:outerShdw>
              </a:effectLst>
            </a:endParaRPr>
          </a:p>
        </p:txBody>
      </p:sp>
      <p:sp>
        <p:nvSpPr>
          <p:cNvPr id="123" name="Rounded Rectangle 122"/>
          <p:cNvSpPr/>
          <p:nvPr/>
        </p:nvSpPr>
        <p:spPr bwMode="auto">
          <a:xfrm>
            <a:off x="3962400" y="2362200"/>
            <a:ext cx="1143000" cy="1066800"/>
          </a:xfrm>
          <a:prstGeom prst="roundRect">
            <a:avLst/>
          </a:prstGeom>
          <a:solidFill>
            <a:schemeClr val="accent1"/>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sp>
        <p:nvSpPr>
          <p:cNvPr id="60" name="Rounded Rectangle 59"/>
          <p:cNvSpPr/>
          <p:nvPr/>
        </p:nvSpPr>
        <p:spPr bwMode="auto">
          <a:xfrm>
            <a:off x="4038600" y="2438400"/>
            <a:ext cx="990600" cy="9144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Live Identity Service</a:t>
            </a:r>
          </a:p>
        </p:txBody>
      </p:sp>
      <p:sp>
        <p:nvSpPr>
          <p:cNvPr id="124" name="Rounded Rectangle 123"/>
          <p:cNvSpPr/>
          <p:nvPr/>
        </p:nvSpPr>
        <p:spPr bwMode="auto">
          <a:xfrm>
            <a:off x="4343400" y="5334000"/>
            <a:ext cx="1295400" cy="838200"/>
          </a:xfrm>
          <a:prstGeom prst="roundRect">
            <a:avLst/>
          </a:prstGeom>
          <a:solidFill>
            <a:schemeClr val="accent1"/>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sp>
        <p:nvSpPr>
          <p:cNvPr id="111" name="Rounded Rectangle 110"/>
          <p:cNvSpPr/>
          <p:nvPr/>
        </p:nvSpPr>
        <p:spPr bwMode="auto">
          <a:xfrm>
            <a:off x="4419600" y="5452259"/>
            <a:ext cx="11430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Active Directory</a:t>
            </a:r>
          </a:p>
        </p:txBody>
      </p:sp>
      <p:sp>
        <p:nvSpPr>
          <p:cNvPr id="125" name="TextBox 124"/>
          <p:cNvSpPr txBox="1"/>
          <p:nvPr/>
        </p:nvSpPr>
        <p:spPr>
          <a:xfrm>
            <a:off x="4893828" y="4897995"/>
            <a:ext cx="3183372" cy="461665"/>
          </a:xfrm>
          <a:prstGeom prst="rect">
            <a:avLst/>
          </a:prstGeom>
          <a:noFill/>
        </p:spPr>
        <p:txBody>
          <a:bodyPr wrap="none" rtlCol="0">
            <a:spAutoFit/>
          </a:bodyPr>
          <a:lstStyle/>
          <a:p>
            <a:pPr algn="ctr"/>
            <a:r>
              <a:rPr lang="en-US" sz="2400" b="1" dirty="0" smtClean="0"/>
              <a:t>Enterprise On-Premises</a:t>
            </a:r>
            <a:endParaRPr lang="en-US" sz="2000" b="1" dirty="0"/>
          </a:p>
        </p:txBody>
      </p:sp>
      <p:pic>
        <p:nvPicPr>
          <p:cNvPr id="89" name="Picture 8" descr="C:\Program Files\Microsoft Resource DVD Artwork\DVD_ART\Artwork_Imagery\HARDWARE_IMAGERY\Illustration - Misc Hardware\XML Icons\user business man.png"/>
          <p:cNvPicPr>
            <a:picLocks noChangeAspect="1" noChangeArrowheads="1"/>
          </p:cNvPicPr>
          <p:nvPr/>
        </p:nvPicPr>
        <p:blipFill>
          <a:blip r:embed="rId4" cstate="print"/>
          <a:srcRect/>
          <a:stretch>
            <a:fillRect/>
          </a:stretch>
        </p:blipFill>
        <p:spPr bwMode="auto">
          <a:xfrm>
            <a:off x="5049936" y="5943600"/>
            <a:ext cx="436464" cy="530401"/>
          </a:xfrm>
          <a:prstGeom prst="rect">
            <a:avLst/>
          </a:prstGeom>
          <a:noFill/>
        </p:spPr>
      </p:pic>
      <p:grpSp>
        <p:nvGrpSpPr>
          <p:cNvPr id="2" name="Group 40"/>
          <p:cNvGrpSpPr/>
          <p:nvPr/>
        </p:nvGrpSpPr>
        <p:grpSpPr>
          <a:xfrm>
            <a:off x="685800" y="1524000"/>
            <a:ext cx="2514600" cy="1524000"/>
            <a:chOff x="685800" y="1524000"/>
            <a:chExt cx="2514600" cy="1524000"/>
          </a:xfrm>
        </p:grpSpPr>
        <p:sp>
          <p:nvSpPr>
            <p:cNvPr id="42" name="Rounded Rectangle 41"/>
            <p:cNvSpPr/>
            <p:nvPr/>
          </p:nvSpPr>
          <p:spPr bwMode="auto">
            <a:xfrm>
              <a:off x="685800" y="1524000"/>
              <a:ext cx="2514600" cy="1524000"/>
            </a:xfrm>
            <a:prstGeom prst="roundRect">
              <a:avLst/>
            </a:prstGeom>
            <a:solidFill>
              <a:schemeClr val="accent2">
                <a:lumMod val="60000"/>
                <a:lumOff val="40000"/>
              </a:scheme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sp>
          <p:nvSpPr>
            <p:cNvPr id="43" name="TextBox 42"/>
            <p:cNvSpPr txBox="1"/>
            <p:nvPr/>
          </p:nvSpPr>
          <p:spPr>
            <a:xfrm>
              <a:off x="742803" y="2678668"/>
              <a:ext cx="2400594" cy="369332"/>
            </a:xfrm>
            <a:prstGeom prst="rect">
              <a:avLst/>
            </a:prstGeom>
            <a:noFill/>
          </p:spPr>
          <p:txBody>
            <a:bodyPr wrap="none" rtlCol="0">
              <a:spAutoFit/>
            </a:bodyPr>
            <a:lstStyle/>
            <a:p>
              <a:r>
                <a:rPr lang="en-US" dirty="0" smtClean="0">
                  <a:solidFill>
                    <a:schemeClr val="tx2"/>
                  </a:solidFill>
                </a:rPr>
                <a:t>Azure Services Platform</a:t>
              </a:r>
              <a:endParaRPr lang="en-US" dirty="0">
                <a:solidFill>
                  <a:schemeClr val="tx2"/>
                </a:solidFill>
              </a:endParaRPr>
            </a:p>
          </p:txBody>
        </p:sp>
      </p:grpSp>
      <p:sp>
        <p:nvSpPr>
          <p:cNvPr id="45" name="Rounded Rectangle 44"/>
          <p:cNvSpPr/>
          <p:nvPr/>
        </p:nvSpPr>
        <p:spPr bwMode="auto">
          <a:xfrm>
            <a:off x="762000" y="1676400"/>
            <a:ext cx="11430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Enterprise</a:t>
            </a:r>
          </a:p>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Apps</a:t>
            </a:r>
          </a:p>
        </p:txBody>
      </p:sp>
      <p:pic>
        <p:nvPicPr>
          <p:cNvPr id="108" name="Picture 10" descr="webServiceserver"/>
          <p:cNvPicPr>
            <a:picLocks noChangeAspect="1" noChangeArrowheads="1"/>
          </p:cNvPicPr>
          <p:nvPr/>
        </p:nvPicPr>
        <p:blipFill>
          <a:blip r:embed="rId3">
            <a:clrChange>
              <a:clrFrom>
                <a:srgbClr val="08369A"/>
              </a:clrFrom>
              <a:clrTo>
                <a:srgbClr val="08369A">
                  <a:alpha val="0"/>
                </a:srgbClr>
              </a:clrTo>
            </a:clrChange>
          </a:blip>
          <a:srcRect/>
          <a:stretch>
            <a:fillRect/>
          </a:stretch>
        </p:blipFill>
        <p:spPr bwMode="auto">
          <a:xfrm>
            <a:off x="6561672" y="5393238"/>
            <a:ext cx="533400" cy="692615"/>
          </a:xfrm>
          <a:prstGeom prst="rect">
            <a:avLst/>
          </a:prstGeom>
          <a:noFill/>
        </p:spPr>
      </p:pic>
      <p:sp>
        <p:nvSpPr>
          <p:cNvPr id="44" name="Rounded Rectangle 43"/>
          <p:cNvSpPr/>
          <p:nvPr/>
        </p:nvSpPr>
        <p:spPr bwMode="auto">
          <a:xfrm>
            <a:off x="1981200" y="1676400"/>
            <a:ext cx="10668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ISV App</a:t>
            </a:r>
          </a:p>
        </p:txBody>
      </p:sp>
      <p:sp>
        <p:nvSpPr>
          <p:cNvPr id="39" name="Rectangle 38"/>
          <p:cNvSpPr/>
          <p:nvPr/>
        </p:nvSpPr>
        <p:spPr>
          <a:xfrm>
            <a:off x="228600" y="3733800"/>
            <a:ext cx="4191000" cy="2667000"/>
          </a:xfrm>
          <a:prstGeom prst="rect">
            <a:avLst/>
          </a:prstGeom>
        </p:spPr>
        <p:txBody>
          <a:bodyPr wrap="square">
            <a:normAutofit lnSpcReduction="10000"/>
          </a:bodyPr>
          <a:lstStyle/>
          <a:p>
            <a:pPr>
              <a:lnSpc>
                <a:spcPct val="125000"/>
              </a:lnSpc>
            </a:pPr>
            <a:r>
              <a:rPr lang="en-US" sz="2400" u="sng" dirty="0" smtClean="0">
                <a:solidFill>
                  <a:schemeClr val="accent2">
                    <a:lumMod val="60000"/>
                    <a:lumOff val="40000"/>
                  </a:schemeClr>
                </a:solidFill>
              </a:rPr>
              <a:t>Typical IT Requests:</a:t>
            </a:r>
          </a:p>
          <a:p>
            <a:pPr marL="274320" indent="-274320">
              <a:lnSpc>
                <a:spcPct val="125000"/>
              </a:lnSpc>
              <a:buFont typeface="+mj-lt"/>
              <a:buAutoNum type="arabicParenR"/>
            </a:pPr>
            <a:r>
              <a:rPr lang="en-US" sz="2400" dirty="0" smtClean="0"/>
              <a:t> </a:t>
            </a:r>
            <a:r>
              <a:rPr lang="en-US" sz="2400" dirty="0" smtClean="0">
                <a:solidFill>
                  <a:schemeClr val="accent1"/>
                </a:solidFill>
              </a:rPr>
              <a:t>Outsource service</a:t>
            </a:r>
            <a:r>
              <a:rPr lang="en-US" sz="2400" dirty="0" smtClean="0"/>
              <a:t> to cloud-based delivery</a:t>
            </a:r>
          </a:p>
          <a:p>
            <a:pPr marL="274320" indent="-274320">
              <a:lnSpc>
                <a:spcPct val="125000"/>
              </a:lnSpc>
              <a:buFont typeface="+mj-lt"/>
              <a:buAutoNum type="arabicParenR"/>
            </a:pPr>
            <a:r>
              <a:rPr lang="en-US" sz="2400" dirty="0" smtClean="0"/>
              <a:t> </a:t>
            </a:r>
            <a:r>
              <a:rPr lang="en-US" sz="2400" dirty="0" smtClean="0">
                <a:solidFill>
                  <a:schemeClr val="accent1"/>
                </a:solidFill>
              </a:rPr>
              <a:t>Move application</a:t>
            </a:r>
            <a:r>
              <a:rPr lang="en-US" sz="2400" dirty="0" smtClean="0"/>
              <a:t> to cloud hosting</a:t>
            </a:r>
          </a:p>
          <a:p>
            <a:pPr marL="274320" indent="-274320">
              <a:lnSpc>
                <a:spcPct val="125000"/>
              </a:lnSpc>
              <a:buFont typeface="+mj-lt"/>
              <a:buAutoNum type="arabicParenR"/>
            </a:pPr>
            <a:r>
              <a:rPr lang="en-US" sz="2400" dirty="0" smtClean="0"/>
              <a:t> Use a </a:t>
            </a:r>
            <a:r>
              <a:rPr lang="en-US" sz="2400" dirty="0" smtClean="0">
                <a:solidFill>
                  <a:schemeClr val="accent1"/>
                </a:solidFill>
              </a:rPr>
              <a:t>new cloud-service</a:t>
            </a:r>
          </a:p>
        </p:txBody>
      </p:sp>
      <p:sp>
        <p:nvSpPr>
          <p:cNvPr id="40" name="Content Placeholder 2"/>
          <p:cNvSpPr txBox="1">
            <a:spLocks/>
          </p:cNvSpPr>
          <p:nvPr/>
        </p:nvSpPr>
        <p:spPr>
          <a:xfrm>
            <a:off x="5181600" y="3505200"/>
            <a:ext cx="3657600" cy="914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oAutofit/>
          </a:bodyPr>
          <a:lstStyle/>
          <a:p>
            <a:pPr marR="0" lvl="0" algn="ctr" defTabSz="914363" rtl="0" eaLnBrk="1" fontAlgn="auto" latinLnBrk="0" hangingPunct="1">
              <a:lnSpc>
                <a:spcPct val="90000"/>
              </a:lnSpc>
              <a:spcBef>
                <a:spcPct val="20000"/>
              </a:spcBef>
              <a:spcAft>
                <a:spcPts val="800"/>
              </a:spcAft>
              <a:buClr>
                <a:schemeClr val="tx1"/>
              </a:buClr>
              <a:buSzPct val="80000"/>
              <a:tabLst/>
              <a:defRPr/>
            </a:pPr>
            <a:r>
              <a:rPr kumimoji="0" lang="en-US" sz="2000" b="0" i="0" u="none" strike="noStrike" kern="1200" cap="none" spc="0" normalizeH="0" baseline="0" noProof="0" dirty="0" smtClean="0">
                <a:ln>
                  <a:noFill/>
                </a:ln>
                <a:effectLst/>
                <a:uLnTx/>
                <a:uFillTx/>
                <a:latin typeface="+mn-lt"/>
                <a:ea typeface="+mn-ea"/>
                <a:cs typeface="+mn-cs"/>
              </a:rPr>
              <a:t>Challenge:</a:t>
            </a:r>
            <a:r>
              <a:rPr kumimoji="0" lang="en-US" sz="2000" b="0" i="0" u="none" strike="noStrike" kern="1200" cap="none" spc="0" normalizeH="0" noProof="0" dirty="0" smtClean="0">
                <a:ln>
                  <a:noFill/>
                </a:ln>
                <a:effectLst/>
                <a:uLnTx/>
                <a:uFillTx/>
                <a:latin typeface="+mn-lt"/>
                <a:ea typeface="+mn-ea"/>
                <a:cs typeface="+mn-cs"/>
              </a:rPr>
              <a:t> </a:t>
            </a:r>
            <a:r>
              <a:rPr kumimoji="0" lang="en-US" sz="2000" b="0" i="0" u="none" strike="noStrike" kern="1200" cap="none" spc="0" normalizeH="0" baseline="0" noProof="0" dirty="0" smtClean="0">
                <a:ln>
                  <a:noFill/>
                </a:ln>
                <a:effectLst/>
                <a:uLnTx/>
                <a:uFillTx/>
                <a:latin typeface="+mn-lt"/>
                <a:ea typeface="+mn-ea"/>
                <a:cs typeface="+mn-cs"/>
              </a:rPr>
              <a:t>How to switch to cloud</a:t>
            </a:r>
            <a:br>
              <a:rPr kumimoji="0" lang="en-US" sz="2000" b="0" i="0" u="none" strike="noStrike" kern="1200" cap="none" spc="0" normalizeH="0" baseline="0" noProof="0" dirty="0" smtClean="0">
                <a:ln>
                  <a:noFill/>
                </a:ln>
                <a:effectLst/>
                <a:uLnTx/>
                <a:uFillTx/>
                <a:latin typeface="+mn-lt"/>
                <a:ea typeface="+mn-ea"/>
                <a:cs typeface="+mn-cs"/>
              </a:rPr>
            </a:br>
            <a:r>
              <a:rPr kumimoji="0" lang="en-US" sz="2000" b="0" i="0" u="none" strike="noStrike" kern="1200" cap="none" spc="0" normalizeH="0" baseline="0" noProof="0" dirty="0" smtClean="0">
                <a:ln>
                  <a:noFill/>
                </a:ln>
                <a:effectLst/>
                <a:uLnTx/>
                <a:uFillTx/>
                <a:latin typeface="+mn-lt"/>
                <a:ea typeface="+mn-ea"/>
                <a:cs typeface="+mn-cs"/>
              </a:rPr>
              <a:t>services </a:t>
            </a:r>
            <a:r>
              <a:rPr kumimoji="0" lang="en-US" sz="2000" b="0" i="0" u="none" strike="noStrike" kern="1200" cap="none" spc="0" normalizeH="0" baseline="0" noProof="0" dirty="0" smtClean="0">
                <a:ln>
                  <a:noFill/>
                </a:ln>
                <a:solidFill>
                  <a:schemeClr val="accent5"/>
                </a:solidFill>
                <a:effectLst/>
                <a:uLnTx/>
                <a:uFillTx/>
                <a:latin typeface="+mn-lt"/>
                <a:ea typeface="+mn-ea"/>
                <a:cs typeface="+mn-cs"/>
              </a:rPr>
              <a:t>without scrapping your existing identity infrastructure</a:t>
            </a:r>
            <a:r>
              <a:rPr kumimoji="0" lang="en-US" sz="2000" b="0" i="0" u="none" strike="noStrike" kern="1200" cap="none" spc="0" normalizeH="0" baseline="0" noProof="0" dirty="0" smtClean="0">
                <a:ln>
                  <a:noFill/>
                </a:ln>
                <a:effectLst/>
                <a:uLnTx/>
                <a:uFillTx/>
                <a:latin typeface="+mn-lt"/>
                <a:ea typeface="+mn-ea"/>
                <a:cs typeface="+mn-cs"/>
              </a:rPr>
              <a:t>?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xEl>
                                              <p:pRg st="1" end="1"/>
                                            </p:txEl>
                                          </p:spTgt>
                                        </p:tgtEl>
                                        <p:attrNameLst>
                                          <p:attrName>style.visibility</p:attrName>
                                        </p:attrNameLst>
                                      </p:cBhvr>
                                      <p:to>
                                        <p:strVal val="visible"/>
                                      </p:to>
                                    </p:set>
                                  </p:childTnLst>
                                </p:cTn>
                              </p:par>
                            </p:childTnLst>
                          </p:cTn>
                        </p:par>
                        <p:par>
                          <p:cTn id="7" fill="hold">
                            <p:stCondLst>
                              <p:cond delay="0"/>
                            </p:stCondLst>
                            <p:childTnLst>
                              <p:par>
                                <p:cTn id="8" presetID="56" presetClass="path" presetSubtype="0" accel="50000" decel="50000" fill="hold" nodeType="afterEffect">
                                  <p:stCondLst>
                                    <p:cond delay="0"/>
                                  </p:stCondLst>
                                  <p:childTnLst>
                                    <p:animMotion origin="layout" path="M 8.33333E-7 9.43571E-7 L 0.17135 -0.5377 " pathEditMode="relative" rAng="0" ptsTypes="AA">
                                      <p:cBhvr>
                                        <p:cTn id="9" dur="2000" fill="hold"/>
                                        <p:tgtEl>
                                          <p:spTgt spid="66"/>
                                        </p:tgtEl>
                                        <p:attrNameLst>
                                          <p:attrName>ppt_x</p:attrName>
                                          <p:attrName>ppt_y</p:attrName>
                                        </p:attrNameLst>
                                      </p:cBhvr>
                                      <p:rCtr x="86" y="-269"/>
                                    </p:animMotion>
                                  </p:childTnLst>
                                </p:cTn>
                              </p:par>
                            </p:childTnLst>
                          </p:cTn>
                        </p:par>
                        <p:par>
                          <p:cTn id="10" fill="hold">
                            <p:stCondLst>
                              <p:cond delay="2000"/>
                            </p:stCondLst>
                            <p:childTnLst>
                              <p:par>
                                <p:cTn id="11" presetID="1" presetClass="exit" presetSubtype="0" fill="hold" nodeType="afterEffect">
                                  <p:stCondLst>
                                    <p:cond delay="0"/>
                                  </p:stCondLst>
                                  <p:childTnLst>
                                    <p:set>
                                      <p:cBhvr>
                                        <p:cTn id="12" dur="1" fill="hold">
                                          <p:stCondLst>
                                            <p:cond delay="0"/>
                                          </p:stCondLst>
                                        </p:cTn>
                                        <p:tgtEl>
                                          <p:spTgt spid="66"/>
                                        </p:tgtEl>
                                        <p:attrNameLst>
                                          <p:attrName>style.visibility</p:attrName>
                                        </p:attrNameLst>
                                      </p:cBhvr>
                                      <p:to>
                                        <p:strVal val="hidden"/>
                                      </p:to>
                                    </p:set>
                                  </p:childTnLst>
                                </p:cTn>
                              </p:par>
                              <p:par>
                                <p:cTn id="13" presetID="1" presetClass="entr" presetSubtype="0" fill="hold" grpId="0" nodeType="withEffect">
                                  <p:stCondLst>
                                    <p:cond delay="0"/>
                                  </p:stCondLst>
                                  <p:childTnLst>
                                    <p:set>
                                      <p:cBhvr>
                                        <p:cTn id="14" dur="1" fill="hold">
                                          <p:stCondLst>
                                            <p:cond delay="0"/>
                                          </p:stCondLst>
                                        </p:cTn>
                                        <p:tgtEl>
                                          <p:spTgt spid="8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
                                            <p:txEl>
                                              <p:pRg st="2" end="2"/>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par>
                          <p:cTn id="22" fill="hold">
                            <p:stCondLst>
                              <p:cond delay="0"/>
                            </p:stCondLst>
                            <p:childTnLst>
                              <p:par>
                                <p:cTn id="23" presetID="56" presetClass="path" presetSubtype="0" accel="50000" decel="50000" fill="hold" nodeType="afterEffect">
                                  <p:stCondLst>
                                    <p:cond delay="0"/>
                                  </p:stCondLst>
                                  <p:childTnLst>
                                    <p:animMotion origin="layout" path="M -1.38889E-6 -1.45236E-6 L -0.4717 -0.54741 " pathEditMode="relative" rAng="0" ptsTypes="AA">
                                      <p:cBhvr>
                                        <p:cTn id="24" dur="2000" fill="hold"/>
                                        <p:tgtEl>
                                          <p:spTgt spid="108"/>
                                        </p:tgtEl>
                                        <p:attrNameLst>
                                          <p:attrName>ppt_x</p:attrName>
                                          <p:attrName>ppt_y</p:attrName>
                                        </p:attrNameLst>
                                      </p:cBhvr>
                                      <p:rCtr x="-236" y="-274"/>
                                    </p:animMotion>
                                  </p:childTnLst>
                                </p:cTn>
                              </p:par>
                            </p:childTnLst>
                          </p:cTn>
                        </p:par>
                        <p:par>
                          <p:cTn id="25" fill="hold">
                            <p:stCondLst>
                              <p:cond delay="2000"/>
                            </p:stCondLst>
                            <p:childTnLst>
                              <p:par>
                                <p:cTn id="26" presetID="1" presetClass="exit" presetSubtype="0" fill="hold" nodeType="afterEffect">
                                  <p:stCondLst>
                                    <p:cond delay="0"/>
                                  </p:stCondLst>
                                  <p:childTnLst>
                                    <p:set>
                                      <p:cBhvr>
                                        <p:cTn id="27" dur="1" fill="hold">
                                          <p:stCondLst>
                                            <p:cond delay="0"/>
                                          </p:stCondLst>
                                        </p:cTn>
                                        <p:tgtEl>
                                          <p:spTgt spid="108"/>
                                        </p:tgtEl>
                                        <p:attrNameLst>
                                          <p:attrName>style.visibility</p:attrName>
                                        </p:attrNameLst>
                                      </p:cBhvr>
                                      <p:to>
                                        <p:strVal val="hidden"/>
                                      </p:to>
                                    </p:set>
                                  </p:childTnLst>
                                </p:cTn>
                              </p:par>
                            </p:childTnLst>
                          </p:cTn>
                        </p:par>
                        <p:par>
                          <p:cTn id="28" fill="hold">
                            <p:stCondLst>
                              <p:cond delay="2000"/>
                            </p:stCondLst>
                            <p:childTnLst>
                              <p:par>
                                <p:cTn id="29" presetID="1" presetClass="entr" presetSubtype="0" fill="hold" nodeType="after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9">
                                            <p:txEl>
                                              <p:pRg st="3" end="3"/>
                                            </p:txEl>
                                          </p:spTgt>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500"/>
                                  </p:stCondLst>
                                  <p:childTnLst>
                                    <p:set>
                                      <p:cBhvr>
                                        <p:cTn id="37" dur="1" fill="hold">
                                          <p:stCondLst>
                                            <p:cond delay="0"/>
                                          </p:stCondLst>
                                        </p:cTn>
                                        <p:tgtEl>
                                          <p:spTgt spid="117"/>
                                        </p:tgtEl>
                                        <p:attrNameLst>
                                          <p:attrName>style.visibility</p:attrName>
                                        </p:attrNameLst>
                                      </p:cBhvr>
                                      <p:to>
                                        <p:strVal val="visible"/>
                                      </p:to>
                                    </p:set>
                                  </p:childTnLst>
                                </p:cTn>
                              </p:par>
                            </p:childTnLst>
                          </p:cTn>
                        </p:par>
                        <p:par>
                          <p:cTn id="38" fill="hold">
                            <p:stCondLst>
                              <p:cond delay="500"/>
                            </p:stCondLst>
                            <p:childTnLst>
                              <p:par>
                                <p:cTn id="39" presetID="1" presetClass="entr" presetSubtype="0" fill="hold" grpId="0" nodeType="afterEffect">
                                  <p:stCondLst>
                                    <p:cond delay="500"/>
                                  </p:stCondLst>
                                  <p:childTnLst>
                                    <p:set>
                                      <p:cBhvr>
                                        <p:cTn id="40" dur="1" fill="hold">
                                          <p:stCondLst>
                                            <p:cond delay="0"/>
                                          </p:stCondLst>
                                        </p:cTn>
                                        <p:tgtEl>
                                          <p:spTgt spid="45"/>
                                        </p:tgtEl>
                                        <p:attrNameLst>
                                          <p:attrName>style.visibility</p:attrName>
                                        </p:attrNameLst>
                                      </p:cBhvr>
                                      <p:to>
                                        <p:strVal val="visible"/>
                                      </p:to>
                                    </p:set>
                                  </p:childTnLst>
                                </p:cTn>
                              </p:par>
                            </p:childTnLst>
                          </p:cTn>
                        </p:par>
                        <p:par>
                          <p:cTn id="41" fill="hold">
                            <p:stCondLst>
                              <p:cond delay="1000"/>
                            </p:stCondLst>
                            <p:childTnLst>
                              <p:par>
                                <p:cTn id="42" presetID="1" presetClass="entr" presetSubtype="0" fill="hold" grpId="1" nodeType="afterEffect">
                                  <p:stCondLst>
                                    <p:cond delay="500"/>
                                  </p:stCondLst>
                                  <p:childTnLst>
                                    <p:set>
                                      <p:cBhvr>
                                        <p:cTn id="43" dur="1" fill="hold">
                                          <p:stCondLst>
                                            <p:cond delay="0"/>
                                          </p:stCondLst>
                                        </p:cTn>
                                        <p:tgtEl>
                                          <p:spTgt spid="117"/>
                                        </p:tgtEl>
                                        <p:attrNameLst>
                                          <p:attrName>style.visibility</p:attrName>
                                        </p:attrNameLst>
                                      </p:cBhvr>
                                      <p:to>
                                        <p:strVal val="visible"/>
                                      </p:to>
                                    </p:set>
                                  </p:childTnLst>
                                </p:cTn>
                              </p:par>
                            </p:childTnLst>
                          </p:cTn>
                        </p:par>
                        <p:par>
                          <p:cTn id="44" fill="hold">
                            <p:stCondLst>
                              <p:cond delay="1500"/>
                            </p:stCondLst>
                            <p:childTnLst>
                              <p:par>
                                <p:cTn id="45" presetID="1" presetClass="entr" presetSubtype="0" fill="hold" grpId="0" nodeType="afterEffect">
                                  <p:stCondLst>
                                    <p:cond delay="500"/>
                                  </p:stCondLst>
                                  <p:childTnLst>
                                    <p:set>
                                      <p:cBhvr>
                                        <p:cTn id="46" dur="1" fill="hold">
                                          <p:stCondLst>
                                            <p:cond delay="0"/>
                                          </p:stCondLst>
                                        </p:cTn>
                                        <p:tgtEl>
                                          <p:spTgt spid="92"/>
                                        </p:tgtEl>
                                        <p:attrNameLst>
                                          <p:attrName>style.visibility</p:attrName>
                                        </p:attrNameLst>
                                      </p:cBhvr>
                                      <p:to>
                                        <p:strVal val="visible"/>
                                      </p:to>
                                    </p:set>
                                  </p:childTnLst>
                                </p:cTn>
                              </p:par>
                            </p:childTnLst>
                          </p:cTn>
                        </p:par>
                        <p:par>
                          <p:cTn id="47" fill="hold">
                            <p:stCondLst>
                              <p:cond delay="2000"/>
                            </p:stCondLst>
                            <p:childTnLst>
                              <p:par>
                                <p:cTn id="48" presetID="1" presetClass="entr" presetSubtype="0" fill="hold" grpId="0" nodeType="afterEffect">
                                  <p:stCondLst>
                                    <p:cond delay="500"/>
                                  </p:stCondLst>
                                  <p:childTnLst>
                                    <p:set>
                                      <p:cBhvr>
                                        <p:cTn id="49" dur="1" fill="hold">
                                          <p:stCondLst>
                                            <p:cond delay="0"/>
                                          </p:stCondLst>
                                        </p:cTn>
                                        <p:tgtEl>
                                          <p:spTgt spid="84"/>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 presetClass="entr" presetSubtype="2" fill="hold" grpId="0" nodeType="clickEffect">
                                  <p:stCondLst>
                                    <p:cond delay="0"/>
                                  </p:stCondLst>
                                  <p:childTnLst>
                                    <p:set>
                                      <p:cBhvr>
                                        <p:cTn id="53" dur="1" fill="hold">
                                          <p:stCondLst>
                                            <p:cond delay="0"/>
                                          </p:stCondLst>
                                        </p:cTn>
                                        <p:tgtEl>
                                          <p:spTgt spid="40"/>
                                        </p:tgtEl>
                                        <p:attrNameLst>
                                          <p:attrName>style.visibility</p:attrName>
                                        </p:attrNameLst>
                                      </p:cBhvr>
                                      <p:to>
                                        <p:strVal val="visible"/>
                                      </p:to>
                                    </p:set>
                                    <p:anim calcmode="lin" valueType="num">
                                      <p:cBhvr additive="base">
                                        <p:cTn id="54" dur="500" fill="hold"/>
                                        <p:tgtEl>
                                          <p:spTgt spid="40"/>
                                        </p:tgtEl>
                                        <p:attrNameLst>
                                          <p:attrName>ppt_x</p:attrName>
                                        </p:attrNameLst>
                                      </p:cBhvr>
                                      <p:tavLst>
                                        <p:tav tm="0">
                                          <p:val>
                                            <p:strVal val="1+#ppt_w/2"/>
                                          </p:val>
                                        </p:tav>
                                        <p:tav tm="100000">
                                          <p:val>
                                            <p:strVal val="#ppt_x"/>
                                          </p:val>
                                        </p:tav>
                                      </p:tavLst>
                                    </p:anim>
                                    <p:anim calcmode="lin" valueType="num">
                                      <p:cBhvr additive="base">
                                        <p:cTn id="55" dur="500" fill="hold"/>
                                        <p:tgtEl>
                                          <p:spTgt spid="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P spid="84" grpId="0" animBg="1"/>
      <p:bldP spid="92" grpId="0" animBg="1"/>
      <p:bldP spid="117" grpId="0" animBg="1"/>
      <p:bldP spid="117" grpId="1" animBg="1"/>
      <p:bldP spid="45" grpId="0" animBg="1"/>
      <p:bldP spid="4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054" y="228600"/>
            <a:ext cx="8375946" cy="1218795"/>
          </a:xfrm>
        </p:spPr>
        <p:txBody>
          <a:bodyPr/>
          <a:lstStyle/>
          <a:p>
            <a:r>
              <a:rPr smtClean="0"/>
              <a:t>Federated Identity Relationships</a:t>
            </a:r>
            <a:br>
              <a:rPr smtClean="0"/>
            </a:br>
            <a:r>
              <a:rPr sz="4000" smtClean="0">
                <a:solidFill>
                  <a:schemeClr val="accent1"/>
                </a:solidFill>
              </a:rPr>
              <a:t>Point-to-Point</a:t>
            </a:r>
            <a:endParaRPr lang="en-US" sz="4000" dirty="0">
              <a:solidFill>
                <a:schemeClr val="accent1"/>
              </a:solidFill>
            </a:endParaRPr>
          </a:p>
        </p:txBody>
      </p:sp>
      <p:sp>
        <p:nvSpPr>
          <p:cNvPr id="4" name="Rounded Rectangle 3"/>
          <p:cNvSpPr/>
          <p:nvPr/>
        </p:nvSpPr>
        <p:spPr bwMode="auto">
          <a:xfrm>
            <a:off x="2057400" y="1752600"/>
            <a:ext cx="1219200" cy="882953"/>
          </a:xfrm>
          <a:prstGeom prst="roundRect">
            <a:avLst>
              <a:gd name="adj" fmla="val 9033"/>
            </a:avLst>
          </a:prstGeom>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dirty="0" smtClean="0">
                <a:solidFill>
                  <a:srgbClr val="FFFFFF"/>
                </a:solidFill>
                <a:effectLst>
                  <a:outerShdw blurRad="38100" dist="38100" dir="2700000" algn="tl">
                    <a:srgbClr val="000000">
                      <a:alpha val="43137"/>
                    </a:srgbClr>
                  </a:outerShdw>
                </a:effectLst>
                <a:latin typeface="Calibri" pitchFamily="34" charset="0"/>
              </a:rPr>
              <a:t>Fabrikam Inc.</a:t>
            </a:r>
          </a:p>
        </p:txBody>
      </p:sp>
      <p:sp>
        <p:nvSpPr>
          <p:cNvPr id="5" name="Rounded Rectangle 4"/>
          <p:cNvSpPr/>
          <p:nvPr/>
        </p:nvSpPr>
        <p:spPr bwMode="auto">
          <a:xfrm>
            <a:off x="3352800" y="4918104"/>
            <a:ext cx="1066800" cy="613049"/>
          </a:xfrm>
          <a:prstGeom prst="roundRect">
            <a:avLst>
              <a:gd name="adj" fmla="val 9033"/>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spAutoFit/>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latin typeface="Calibri" pitchFamily="34" charset="0"/>
              </a:rPr>
              <a:t>Service Provider</a:t>
            </a:r>
          </a:p>
        </p:txBody>
      </p:sp>
      <p:sp>
        <p:nvSpPr>
          <p:cNvPr id="8" name="Rounded Rectangle 7"/>
          <p:cNvSpPr/>
          <p:nvPr/>
        </p:nvSpPr>
        <p:spPr bwMode="auto">
          <a:xfrm>
            <a:off x="2133600" y="4918104"/>
            <a:ext cx="1028700" cy="613049"/>
          </a:xfrm>
          <a:prstGeom prst="roundRect">
            <a:avLst>
              <a:gd name="adj" fmla="val 9033"/>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spAutoFit/>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latin typeface="Calibri" pitchFamily="34" charset="0"/>
              </a:rPr>
              <a:t>Service Provider</a:t>
            </a:r>
          </a:p>
        </p:txBody>
      </p:sp>
      <p:sp>
        <p:nvSpPr>
          <p:cNvPr id="9" name="Rounded Rectangle 8"/>
          <p:cNvSpPr/>
          <p:nvPr/>
        </p:nvSpPr>
        <p:spPr bwMode="auto">
          <a:xfrm>
            <a:off x="914400" y="4918104"/>
            <a:ext cx="990600" cy="613049"/>
          </a:xfrm>
          <a:prstGeom prst="roundRect">
            <a:avLst>
              <a:gd name="adj" fmla="val 9033"/>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spAutoFit/>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latin typeface="Calibri" pitchFamily="34" charset="0"/>
              </a:rPr>
              <a:t>Service</a:t>
            </a:r>
            <a:br>
              <a:rPr lang="en-US" sz="1600" dirty="0" smtClean="0">
                <a:solidFill>
                  <a:srgbClr val="FFFFFF"/>
                </a:solidFill>
                <a:effectLst>
                  <a:outerShdw blurRad="38100" dist="38100" dir="2700000" algn="tl">
                    <a:srgbClr val="000000">
                      <a:alpha val="43137"/>
                    </a:srgbClr>
                  </a:outerShdw>
                </a:effectLst>
                <a:latin typeface="Calibri" pitchFamily="34" charset="0"/>
              </a:rPr>
            </a:br>
            <a:r>
              <a:rPr lang="en-US" sz="1600" dirty="0" smtClean="0">
                <a:solidFill>
                  <a:srgbClr val="FFFFFF"/>
                </a:solidFill>
                <a:effectLst>
                  <a:outerShdw blurRad="38100" dist="38100" dir="2700000" algn="tl">
                    <a:srgbClr val="000000">
                      <a:alpha val="43137"/>
                    </a:srgbClr>
                  </a:outerShdw>
                </a:effectLst>
                <a:latin typeface="Calibri" pitchFamily="34" charset="0"/>
              </a:rPr>
              <a:t>Provider</a:t>
            </a:r>
          </a:p>
        </p:txBody>
      </p:sp>
      <p:cxnSp>
        <p:nvCxnSpPr>
          <p:cNvPr id="11" name="Straight Arrow Connector 10"/>
          <p:cNvCxnSpPr>
            <a:stCxn id="4" idx="2"/>
            <a:endCxn id="5" idx="0"/>
          </p:cNvCxnSpPr>
          <p:nvPr/>
        </p:nvCxnSpPr>
        <p:spPr>
          <a:xfrm rot="16200000" flipH="1">
            <a:off x="2135325" y="3167228"/>
            <a:ext cx="2282551" cy="1219200"/>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4" idx="2"/>
            <a:endCxn id="9" idx="0"/>
          </p:cNvCxnSpPr>
          <p:nvPr/>
        </p:nvCxnSpPr>
        <p:spPr>
          <a:xfrm rot="5400000">
            <a:off x="897075" y="3148178"/>
            <a:ext cx="2282551" cy="1257300"/>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4" idx="2"/>
            <a:endCxn id="8" idx="0"/>
          </p:cNvCxnSpPr>
          <p:nvPr/>
        </p:nvCxnSpPr>
        <p:spPr>
          <a:xfrm rot="5400000">
            <a:off x="1516200" y="3767303"/>
            <a:ext cx="2282551" cy="19050"/>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65" name="Rounded Rectangle 64"/>
          <p:cNvSpPr/>
          <p:nvPr/>
        </p:nvSpPr>
        <p:spPr bwMode="auto">
          <a:xfrm>
            <a:off x="6096000" y="4648200"/>
            <a:ext cx="1219200" cy="882953"/>
          </a:xfrm>
          <a:prstGeom prst="roundRect">
            <a:avLst>
              <a:gd name="adj" fmla="val 9033"/>
            </a:avLst>
          </a:prstGeom>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dirty="0" smtClean="0">
                <a:solidFill>
                  <a:srgbClr val="FFFFFF"/>
                </a:solidFill>
                <a:effectLst>
                  <a:outerShdw blurRad="38100" dist="38100" dir="2700000" algn="tl">
                    <a:srgbClr val="000000">
                      <a:alpha val="43137"/>
                    </a:srgbClr>
                  </a:outerShdw>
                </a:effectLst>
                <a:latin typeface="Calibri" pitchFamily="34" charset="0"/>
              </a:rPr>
              <a:t>Fabrikam Services</a:t>
            </a:r>
          </a:p>
        </p:txBody>
      </p:sp>
      <p:sp>
        <p:nvSpPr>
          <p:cNvPr id="66" name="Rounded Rectangle 65"/>
          <p:cNvSpPr/>
          <p:nvPr/>
        </p:nvSpPr>
        <p:spPr bwMode="auto">
          <a:xfrm>
            <a:off x="7467600" y="1752600"/>
            <a:ext cx="1066800" cy="656164"/>
          </a:xfrm>
          <a:prstGeom prst="roundRect">
            <a:avLst>
              <a:gd name="adj" fmla="val 9033"/>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noAutofit/>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latin typeface="Calibri" pitchFamily="34" charset="0"/>
              </a:rPr>
              <a:t>Customer</a:t>
            </a:r>
          </a:p>
        </p:txBody>
      </p:sp>
      <p:sp>
        <p:nvSpPr>
          <p:cNvPr id="67" name="Rounded Rectangle 66"/>
          <p:cNvSpPr/>
          <p:nvPr/>
        </p:nvSpPr>
        <p:spPr bwMode="auto">
          <a:xfrm>
            <a:off x="6181725" y="1752600"/>
            <a:ext cx="1047750" cy="656164"/>
          </a:xfrm>
          <a:prstGeom prst="roundRect">
            <a:avLst>
              <a:gd name="adj" fmla="val 9033"/>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noAutofit/>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latin typeface="Calibri" pitchFamily="34" charset="0"/>
              </a:rPr>
              <a:t>Customer</a:t>
            </a:r>
          </a:p>
        </p:txBody>
      </p:sp>
      <p:sp>
        <p:nvSpPr>
          <p:cNvPr id="68" name="Rounded Rectangle 67"/>
          <p:cNvSpPr/>
          <p:nvPr/>
        </p:nvSpPr>
        <p:spPr bwMode="auto">
          <a:xfrm>
            <a:off x="4800600" y="1752600"/>
            <a:ext cx="1066800" cy="685800"/>
          </a:xfrm>
          <a:prstGeom prst="roundRect">
            <a:avLst>
              <a:gd name="adj" fmla="val 9033"/>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noAutofit/>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latin typeface="Calibri" pitchFamily="34" charset="0"/>
              </a:rPr>
              <a:t>Customer</a:t>
            </a:r>
          </a:p>
        </p:txBody>
      </p:sp>
      <p:cxnSp>
        <p:nvCxnSpPr>
          <p:cNvPr id="69" name="Straight Arrow Connector 68"/>
          <p:cNvCxnSpPr>
            <a:stCxn id="65" idx="0"/>
            <a:endCxn id="66" idx="2"/>
          </p:cNvCxnSpPr>
          <p:nvPr/>
        </p:nvCxnSpPr>
        <p:spPr>
          <a:xfrm rot="5400000" flipH="1" flipV="1">
            <a:off x="6233582" y="2880782"/>
            <a:ext cx="2239436" cy="1295400"/>
          </a:xfrm>
          <a:prstGeom prst="straightConnector1">
            <a:avLst/>
          </a:prstGeom>
          <a:ln w="28575">
            <a:solidFill>
              <a:schemeClr val="accent1">
                <a:lumMod val="75000"/>
              </a:schemeClr>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65" idx="0"/>
            <a:endCxn id="68" idx="2"/>
          </p:cNvCxnSpPr>
          <p:nvPr/>
        </p:nvCxnSpPr>
        <p:spPr>
          <a:xfrm rot="16200000" flipV="1">
            <a:off x="4914900" y="2857500"/>
            <a:ext cx="2209800" cy="1371600"/>
          </a:xfrm>
          <a:prstGeom prst="straightConnector1">
            <a:avLst/>
          </a:prstGeom>
          <a:ln w="28575">
            <a:solidFill>
              <a:schemeClr val="accent1">
                <a:lumMod val="75000"/>
              </a:schemeClr>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65" idx="0"/>
            <a:endCxn id="67" idx="2"/>
          </p:cNvCxnSpPr>
          <p:nvPr/>
        </p:nvCxnSpPr>
        <p:spPr>
          <a:xfrm rot="5400000" flipH="1" flipV="1">
            <a:off x="5585882" y="3528482"/>
            <a:ext cx="2239436" cy="1588"/>
          </a:xfrm>
          <a:prstGeom prst="straightConnector1">
            <a:avLst/>
          </a:prstGeom>
          <a:ln w="28575">
            <a:solidFill>
              <a:schemeClr val="accent1">
                <a:lumMod val="75000"/>
              </a:schemeClr>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94" name="Content Placeholder 2"/>
          <p:cNvSpPr txBox="1">
            <a:spLocks/>
          </p:cNvSpPr>
          <p:nvPr/>
        </p:nvSpPr>
        <p:spPr>
          <a:xfrm>
            <a:off x="381000" y="5562600"/>
            <a:ext cx="8382000" cy="685799"/>
          </a:xfrm>
          <a:prstGeom prst="rect">
            <a:avLst/>
          </a:prstGeom>
        </p:spPr>
        <p:txBody>
          <a:bodyPr anchor="b"/>
          <a:lstStyle/>
          <a:p>
            <a:pPr marL="463550" marR="0" lvl="0" indent="-463550" algn="l" defTabSz="914363" rtl="0" eaLnBrk="1" fontAlgn="auto" latinLnBrk="0" hangingPunct="1">
              <a:lnSpc>
                <a:spcPct val="90000"/>
              </a:lnSpc>
              <a:spcBef>
                <a:spcPct val="20000"/>
              </a:spcBef>
              <a:spcAft>
                <a:spcPts val="0"/>
              </a:spcAft>
              <a:buClrTx/>
              <a:buSzPct val="120000"/>
              <a:tabLst/>
              <a:defRPr/>
            </a:pPr>
            <a:r>
              <a:rPr kumimoji="0" lang="en-US" sz="2400" b="0" i="0" u="none" strike="noStrike" kern="1200" cap="none" spc="0" normalizeH="0" baseline="0" noProof="0" dirty="0" smtClean="0">
                <a:ln>
                  <a:noFill/>
                </a:ln>
                <a:solidFill>
                  <a:schemeClr val="tx1"/>
                </a:solidFill>
                <a:effectLst/>
                <a:uLnTx/>
                <a:uFillTx/>
                <a:latin typeface="Calibri" pitchFamily="34" charset="0"/>
                <a:ea typeface="+mn-ea"/>
                <a:cs typeface="+mn-cs"/>
              </a:rPr>
              <a:t>Work, work,</a:t>
            </a:r>
            <a:r>
              <a:rPr kumimoji="0" lang="en-US" sz="2400" b="0" i="0" u="none" strike="noStrike" kern="1200" cap="none" spc="0" normalizeH="0" noProof="0" dirty="0" smtClean="0">
                <a:ln>
                  <a:noFill/>
                </a:ln>
                <a:solidFill>
                  <a:schemeClr val="tx1"/>
                </a:solidFill>
                <a:effectLst/>
                <a:uLnTx/>
                <a:uFillTx/>
                <a:latin typeface="Calibri" pitchFamily="34" charset="0"/>
                <a:ea typeface="+mn-ea"/>
                <a:cs typeface="+mn-cs"/>
              </a:rPr>
              <a:t> work!  Work, work, work!</a:t>
            </a:r>
            <a:endParaRPr kumimoji="0" lang="en-US" sz="2400" b="0" i="0" u="none" strike="noStrike" kern="1200" cap="none" spc="0" normalizeH="0" baseline="0" noProof="0" dirty="0" smtClean="0">
              <a:ln>
                <a:noFill/>
              </a:ln>
              <a:solidFill>
                <a:schemeClr val="tx1"/>
              </a:solidFill>
              <a:effectLst/>
              <a:uLnTx/>
              <a:uFillTx/>
              <a:latin typeface="Calibri" pitchFamily="34" charset="0"/>
              <a:ea typeface="+mn-ea"/>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P spid="65" grpId="0" animBg="1"/>
      <p:bldP spid="66" grpId="0" animBg="1"/>
      <p:bldP spid="67" grpId="0" animBg="1"/>
      <p:bldP spid="68" grpId="0" animBg="1"/>
      <p:bldP spid="9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054" y="228600"/>
            <a:ext cx="8375946" cy="1218795"/>
          </a:xfrm>
        </p:spPr>
        <p:txBody>
          <a:bodyPr/>
          <a:lstStyle/>
          <a:p>
            <a:r>
              <a:rPr smtClean="0"/>
              <a:t>Federated Identity Relationships</a:t>
            </a:r>
            <a:br>
              <a:rPr smtClean="0"/>
            </a:br>
            <a:r>
              <a:rPr sz="4000" smtClean="0">
                <a:solidFill>
                  <a:schemeClr val="accent1"/>
                </a:solidFill>
              </a:rPr>
              <a:t>Hub and Spoke</a:t>
            </a:r>
            <a:endParaRPr lang="en-US" sz="4000" dirty="0">
              <a:solidFill>
                <a:schemeClr val="accent1"/>
              </a:solidFill>
            </a:endParaRPr>
          </a:p>
        </p:txBody>
      </p:sp>
      <p:sp>
        <p:nvSpPr>
          <p:cNvPr id="4" name="Rounded Rectangle 3"/>
          <p:cNvSpPr/>
          <p:nvPr/>
        </p:nvSpPr>
        <p:spPr bwMode="auto">
          <a:xfrm>
            <a:off x="2019300" y="1567544"/>
            <a:ext cx="1219200" cy="882953"/>
          </a:xfrm>
          <a:prstGeom prst="roundRect">
            <a:avLst>
              <a:gd name="adj" fmla="val 9033"/>
            </a:avLst>
          </a:prstGeom>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dirty="0" smtClean="0">
                <a:solidFill>
                  <a:srgbClr val="FFFFFF"/>
                </a:solidFill>
                <a:effectLst>
                  <a:outerShdw blurRad="38100" dist="38100" dir="2700000" algn="tl">
                    <a:srgbClr val="000000">
                      <a:alpha val="43137"/>
                    </a:srgbClr>
                  </a:outerShdw>
                </a:effectLst>
                <a:latin typeface="Calibri" pitchFamily="34" charset="0"/>
              </a:rPr>
              <a:t>Fabrikam Inc.</a:t>
            </a:r>
          </a:p>
        </p:txBody>
      </p:sp>
      <p:sp>
        <p:nvSpPr>
          <p:cNvPr id="5" name="Rounded Rectangle 4"/>
          <p:cNvSpPr/>
          <p:nvPr/>
        </p:nvSpPr>
        <p:spPr bwMode="auto">
          <a:xfrm>
            <a:off x="3352800" y="4733048"/>
            <a:ext cx="1066800" cy="613049"/>
          </a:xfrm>
          <a:prstGeom prst="roundRect">
            <a:avLst>
              <a:gd name="adj" fmla="val 9033"/>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spAutoFit/>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latin typeface="Calibri" pitchFamily="34" charset="0"/>
              </a:rPr>
              <a:t>Service Provider</a:t>
            </a:r>
          </a:p>
        </p:txBody>
      </p:sp>
      <p:sp>
        <p:nvSpPr>
          <p:cNvPr id="8" name="Rounded Rectangle 7"/>
          <p:cNvSpPr/>
          <p:nvPr/>
        </p:nvSpPr>
        <p:spPr bwMode="auto">
          <a:xfrm>
            <a:off x="2114550" y="4733048"/>
            <a:ext cx="1028700" cy="613049"/>
          </a:xfrm>
          <a:prstGeom prst="roundRect">
            <a:avLst>
              <a:gd name="adj" fmla="val 9033"/>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spAutoFit/>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latin typeface="Calibri" pitchFamily="34" charset="0"/>
              </a:rPr>
              <a:t>Service Provider</a:t>
            </a:r>
          </a:p>
        </p:txBody>
      </p:sp>
      <p:sp>
        <p:nvSpPr>
          <p:cNvPr id="9" name="Rounded Rectangle 8"/>
          <p:cNvSpPr/>
          <p:nvPr/>
        </p:nvSpPr>
        <p:spPr bwMode="auto">
          <a:xfrm>
            <a:off x="914400" y="4733048"/>
            <a:ext cx="990600" cy="613049"/>
          </a:xfrm>
          <a:prstGeom prst="roundRect">
            <a:avLst>
              <a:gd name="adj" fmla="val 9033"/>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spAutoFit/>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latin typeface="Calibri" pitchFamily="34" charset="0"/>
              </a:rPr>
              <a:t>Service</a:t>
            </a:r>
            <a:br>
              <a:rPr lang="en-US" sz="1600" dirty="0" smtClean="0">
                <a:solidFill>
                  <a:srgbClr val="FFFFFF"/>
                </a:solidFill>
                <a:effectLst>
                  <a:outerShdw blurRad="38100" dist="38100" dir="2700000" algn="tl">
                    <a:srgbClr val="000000">
                      <a:alpha val="43137"/>
                    </a:srgbClr>
                  </a:outerShdw>
                </a:effectLst>
                <a:latin typeface="Calibri" pitchFamily="34" charset="0"/>
              </a:rPr>
            </a:br>
            <a:r>
              <a:rPr lang="en-US" sz="1600" dirty="0" smtClean="0">
                <a:solidFill>
                  <a:srgbClr val="FFFFFF"/>
                </a:solidFill>
                <a:effectLst>
                  <a:outerShdw blurRad="38100" dist="38100" dir="2700000" algn="tl">
                    <a:srgbClr val="000000">
                      <a:alpha val="43137"/>
                    </a:srgbClr>
                  </a:outerShdw>
                </a:effectLst>
                <a:latin typeface="Calibri" pitchFamily="34" charset="0"/>
              </a:rPr>
              <a:t>Provider</a:t>
            </a:r>
          </a:p>
        </p:txBody>
      </p:sp>
      <p:cxnSp>
        <p:nvCxnSpPr>
          <p:cNvPr id="11" name="Straight Arrow Connector 10"/>
          <p:cNvCxnSpPr>
            <a:stCxn id="18" idx="2"/>
            <a:endCxn id="5" idx="0"/>
          </p:cNvCxnSpPr>
          <p:nvPr/>
        </p:nvCxnSpPr>
        <p:spPr>
          <a:xfrm rot="16200000" flipH="1">
            <a:off x="2802075" y="3648922"/>
            <a:ext cx="910951" cy="1257300"/>
          </a:xfrm>
          <a:prstGeom prst="straightConnector1">
            <a:avLst/>
          </a:prstGeom>
          <a:ln w="28575">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18" idx="2"/>
            <a:endCxn id="9" idx="0"/>
          </p:cNvCxnSpPr>
          <p:nvPr/>
        </p:nvCxnSpPr>
        <p:spPr>
          <a:xfrm rot="5400000">
            <a:off x="1563825" y="3667972"/>
            <a:ext cx="910951" cy="1219200"/>
          </a:xfrm>
          <a:prstGeom prst="straightConnector1">
            <a:avLst/>
          </a:prstGeom>
          <a:ln w="28575">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4" idx="2"/>
            <a:endCxn id="18" idx="0"/>
          </p:cNvCxnSpPr>
          <p:nvPr/>
        </p:nvCxnSpPr>
        <p:spPr>
          <a:xfrm rot="5400000">
            <a:off x="2286000" y="2793397"/>
            <a:ext cx="685801" cy="1588"/>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65" name="Rounded Rectangle 64"/>
          <p:cNvSpPr/>
          <p:nvPr/>
        </p:nvSpPr>
        <p:spPr bwMode="auto">
          <a:xfrm>
            <a:off x="6057900" y="4463144"/>
            <a:ext cx="1219200" cy="882953"/>
          </a:xfrm>
          <a:prstGeom prst="roundRect">
            <a:avLst>
              <a:gd name="adj" fmla="val 9033"/>
            </a:avLst>
          </a:prstGeom>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dirty="0" smtClean="0">
                <a:solidFill>
                  <a:srgbClr val="FFFFFF"/>
                </a:solidFill>
                <a:effectLst>
                  <a:outerShdw blurRad="38100" dist="38100" dir="2700000" algn="tl">
                    <a:srgbClr val="000000">
                      <a:alpha val="43137"/>
                    </a:srgbClr>
                  </a:outerShdw>
                </a:effectLst>
                <a:latin typeface="Calibri" pitchFamily="34" charset="0"/>
              </a:rPr>
              <a:t>Fabrikam Services</a:t>
            </a:r>
          </a:p>
        </p:txBody>
      </p:sp>
      <p:sp>
        <p:nvSpPr>
          <p:cNvPr id="66" name="Rounded Rectangle 65"/>
          <p:cNvSpPr/>
          <p:nvPr/>
        </p:nvSpPr>
        <p:spPr bwMode="auto">
          <a:xfrm>
            <a:off x="7467600" y="1567544"/>
            <a:ext cx="1066800" cy="656164"/>
          </a:xfrm>
          <a:prstGeom prst="roundRect">
            <a:avLst>
              <a:gd name="adj" fmla="val 9033"/>
            </a:avLst>
          </a:prstGeom>
          <a:ln>
            <a:solidFill>
              <a:schemeClr val="accent2"/>
            </a:solidFill>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noAutofit/>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latin typeface="Calibri" pitchFamily="34" charset="0"/>
              </a:rPr>
              <a:t>Customer</a:t>
            </a:r>
          </a:p>
        </p:txBody>
      </p:sp>
      <p:sp>
        <p:nvSpPr>
          <p:cNvPr id="67" name="Rounded Rectangle 66"/>
          <p:cNvSpPr/>
          <p:nvPr/>
        </p:nvSpPr>
        <p:spPr bwMode="auto">
          <a:xfrm>
            <a:off x="6143625" y="1567544"/>
            <a:ext cx="1047750" cy="656164"/>
          </a:xfrm>
          <a:prstGeom prst="roundRect">
            <a:avLst>
              <a:gd name="adj" fmla="val 9033"/>
            </a:avLst>
          </a:prstGeom>
          <a:ln>
            <a:solidFill>
              <a:schemeClr val="accent2"/>
            </a:solidFill>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noAutofit/>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latin typeface="Calibri" pitchFamily="34" charset="0"/>
              </a:rPr>
              <a:t>Customer</a:t>
            </a:r>
          </a:p>
        </p:txBody>
      </p:sp>
      <p:sp>
        <p:nvSpPr>
          <p:cNvPr id="68" name="Rounded Rectangle 67"/>
          <p:cNvSpPr/>
          <p:nvPr/>
        </p:nvSpPr>
        <p:spPr bwMode="auto">
          <a:xfrm>
            <a:off x="4800600" y="1567544"/>
            <a:ext cx="1066800" cy="685800"/>
          </a:xfrm>
          <a:prstGeom prst="roundRect">
            <a:avLst>
              <a:gd name="adj" fmla="val 9033"/>
            </a:avLst>
          </a:prstGeom>
          <a:ln>
            <a:solidFill>
              <a:schemeClr val="accent2"/>
            </a:solidFill>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noAutofit/>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latin typeface="Calibri" pitchFamily="34" charset="0"/>
              </a:rPr>
              <a:t>Customer</a:t>
            </a:r>
          </a:p>
        </p:txBody>
      </p:sp>
      <p:cxnSp>
        <p:nvCxnSpPr>
          <p:cNvPr id="69" name="Straight Arrow Connector 68"/>
          <p:cNvCxnSpPr>
            <a:stCxn id="25" idx="0"/>
            <a:endCxn id="66" idx="2"/>
          </p:cNvCxnSpPr>
          <p:nvPr/>
        </p:nvCxnSpPr>
        <p:spPr>
          <a:xfrm rot="5400000" flipH="1" flipV="1">
            <a:off x="6877955" y="2013253"/>
            <a:ext cx="912590" cy="1333500"/>
          </a:xfrm>
          <a:prstGeom prst="straightConnector1">
            <a:avLst/>
          </a:prstGeom>
          <a:ln w="28575">
            <a:solidFill>
              <a:schemeClr val="accent2"/>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25" idx="0"/>
            <a:endCxn id="68" idx="2"/>
          </p:cNvCxnSpPr>
          <p:nvPr/>
        </p:nvCxnSpPr>
        <p:spPr>
          <a:xfrm rot="16200000" flipV="1">
            <a:off x="5559273" y="2028071"/>
            <a:ext cx="882954" cy="1333500"/>
          </a:xfrm>
          <a:prstGeom prst="straightConnector1">
            <a:avLst/>
          </a:prstGeom>
          <a:ln w="28575">
            <a:solidFill>
              <a:schemeClr val="accent2"/>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25" idx="0"/>
            <a:endCxn id="67" idx="2"/>
          </p:cNvCxnSpPr>
          <p:nvPr/>
        </p:nvCxnSpPr>
        <p:spPr>
          <a:xfrm rot="5400000" flipH="1" flipV="1">
            <a:off x="6211205" y="2680003"/>
            <a:ext cx="912590" cy="1588"/>
          </a:xfrm>
          <a:prstGeom prst="straightConnector1">
            <a:avLst/>
          </a:prstGeom>
          <a:ln w="28575">
            <a:solidFill>
              <a:schemeClr val="accent2"/>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bwMode="auto">
          <a:xfrm>
            <a:off x="1981200" y="3136298"/>
            <a:ext cx="1295400" cy="685799"/>
          </a:xfrm>
          <a:prstGeom prst="roundRect">
            <a:avLst>
              <a:gd name="adj" fmla="val 9033"/>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r>
              <a:rPr lang="en-US" dirty="0" smtClean="0">
                <a:solidFill>
                  <a:srgbClr val="FFFFFF"/>
                </a:solidFill>
                <a:effectLst>
                  <a:outerShdw blurRad="38100" dist="38100" dir="2700000" algn="tl">
                    <a:srgbClr val="000000">
                      <a:alpha val="43137"/>
                    </a:srgbClr>
                  </a:outerShdw>
                </a:effectLst>
                <a:latin typeface="Calibri" pitchFamily="34" charset="0"/>
              </a:rPr>
              <a:t>Federation Hub</a:t>
            </a:r>
          </a:p>
        </p:txBody>
      </p:sp>
      <p:cxnSp>
        <p:nvCxnSpPr>
          <p:cNvPr id="19" name="Straight Arrow Connector 18"/>
          <p:cNvCxnSpPr>
            <a:stCxn id="18" idx="2"/>
            <a:endCxn id="8" idx="0"/>
          </p:cNvCxnSpPr>
          <p:nvPr/>
        </p:nvCxnSpPr>
        <p:spPr>
          <a:xfrm rot="5400000">
            <a:off x="2173425" y="4277572"/>
            <a:ext cx="910951" cy="1588"/>
          </a:xfrm>
          <a:prstGeom prst="straightConnector1">
            <a:avLst/>
          </a:prstGeom>
          <a:ln w="28575">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5" name="Rounded Rectangle 24"/>
          <p:cNvSpPr/>
          <p:nvPr/>
        </p:nvSpPr>
        <p:spPr bwMode="auto">
          <a:xfrm>
            <a:off x="6019800" y="3136298"/>
            <a:ext cx="1295400" cy="685799"/>
          </a:xfrm>
          <a:prstGeom prst="roundRect">
            <a:avLst>
              <a:gd name="adj" fmla="val 9033"/>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r>
              <a:rPr lang="en-US" dirty="0" smtClean="0">
                <a:solidFill>
                  <a:srgbClr val="FFFFFF"/>
                </a:solidFill>
                <a:effectLst>
                  <a:outerShdw blurRad="38100" dist="38100" dir="2700000" algn="tl">
                    <a:srgbClr val="000000">
                      <a:alpha val="43137"/>
                    </a:srgbClr>
                  </a:outerShdw>
                </a:effectLst>
                <a:latin typeface="Calibri" pitchFamily="34" charset="0"/>
              </a:rPr>
              <a:t>Federation Hub</a:t>
            </a:r>
          </a:p>
        </p:txBody>
      </p:sp>
      <p:cxnSp>
        <p:nvCxnSpPr>
          <p:cNvPr id="26" name="Straight Arrow Connector 25"/>
          <p:cNvCxnSpPr>
            <a:stCxn id="65" idx="0"/>
            <a:endCxn id="25" idx="2"/>
          </p:cNvCxnSpPr>
          <p:nvPr/>
        </p:nvCxnSpPr>
        <p:spPr>
          <a:xfrm rot="5400000" flipH="1" flipV="1">
            <a:off x="6346977" y="4142621"/>
            <a:ext cx="641047" cy="1588"/>
          </a:xfrm>
          <a:prstGeom prst="straightConnector1">
            <a:avLst/>
          </a:prstGeom>
          <a:ln w="28575">
            <a:solidFill>
              <a:schemeClr val="accent1">
                <a:lumMod val="75000"/>
              </a:schemeClr>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32" name="Content Placeholder 2"/>
          <p:cNvSpPr txBox="1">
            <a:spLocks/>
          </p:cNvSpPr>
          <p:nvPr/>
        </p:nvSpPr>
        <p:spPr>
          <a:xfrm>
            <a:off x="381000" y="5562600"/>
            <a:ext cx="8382000" cy="685799"/>
          </a:xfrm>
          <a:prstGeom prst="rect">
            <a:avLst/>
          </a:prstGeom>
        </p:spPr>
        <p:txBody>
          <a:bodyPr/>
          <a:lstStyle/>
          <a:p>
            <a:pPr marL="463550" marR="0" lvl="0" indent="-463550" algn="l" defTabSz="914363" rtl="0" eaLnBrk="1" fontAlgn="auto" latinLnBrk="0" hangingPunct="1">
              <a:lnSpc>
                <a:spcPct val="90000"/>
              </a:lnSpc>
              <a:spcBef>
                <a:spcPct val="20000"/>
              </a:spcBef>
              <a:spcAft>
                <a:spcPts val="0"/>
              </a:spcAft>
              <a:buClrTx/>
              <a:buSzPct val="120000"/>
              <a:buFontTx/>
              <a:buBlip>
                <a:blip r:embed="rId2"/>
              </a:buBlip>
              <a:tabLst/>
              <a:defRPr/>
            </a:pPr>
            <a:r>
              <a:rPr kumimoji="0" lang="en-US" sz="2400" b="0" i="0" u="none" strike="noStrike" kern="1200" cap="none" spc="0" normalizeH="0" baseline="0" noProof="0" dirty="0" smtClean="0">
                <a:ln>
                  <a:noFill/>
                </a:ln>
                <a:solidFill>
                  <a:schemeClr val="tx1"/>
                </a:solidFill>
                <a:effectLst/>
                <a:uLnTx/>
                <a:uFillTx/>
                <a:latin typeface="Calibri" pitchFamily="34" charset="0"/>
                <a:ea typeface="+mn-ea"/>
                <a:cs typeface="+mn-cs"/>
              </a:rPr>
              <a:t>Businesses federate </a:t>
            </a:r>
            <a:r>
              <a:rPr kumimoji="0" lang="en-US" sz="2400" b="0" i="0" u="none" strike="noStrike" kern="1200" cap="none" spc="0" normalizeH="0" baseline="0" noProof="0" dirty="0" smtClean="0">
                <a:ln>
                  <a:noFill/>
                </a:ln>
                <a:solidFill>
                  <a:schemeClr val="accent5">
                    <a:lumMod val="60000"/>
                    <a:lumOff val="40000"/>
                  </a:schemeClr>
                </a:solidFill>
                <a:effectLst/>
                <a:uLnTx/>
                <a:uFillTx/>
                <a:latin typeface="Calibri" pitchFamily="34" charset="0"/>
                <a:ea typeface="+mn-ea"/>
                <a:cs typeface="+mn-cs"/>
              </a:rPr>
              <a:t>once</a:t>
            </a:r>
            <a:r>
              <a:rPr kumimoji="0" lang="en-US" sz="2400" b="0" i="0" u="none" strike="noStrike" kern="1200" cap="none" spc="0" normalizeH="0" baseline="0" noProof="0" dirty="0" smtClean="0">
                <a:ln>
                  <a:noFill/>
                </a:ln>
                <a:solidFill>
                  <a:schemeClr val="tx1"/>
                </a:solidFill>
                <a:effectLst/>
                <a:uLnTx/>
                <a:uFillTx/>
                <a:latin typeface="Calibri" pitchFamily="34" charset="0"/>
                <a:ea typeface="+mn-ea"/>
                <a:cs typeface="+mn-cs"/>
              </a:rPr>
              <a:t> to connect to </a:t>
            </a:r>
            <a:r>
              <a:rPr kumimoji="0" lang="en-US" sz="2400" b="0" i="0" u="none" strike="noStrike" kern="1200" cap="none" spc="0" normalizeH="0" baseline="0" noProof="0" dirty="0" smtClean="0">
                <a:ln>
                  <a:noFill/>
                </a:ln>
                <a:solidFill>
                  <a:schemeClr val="accent5">
                    <a:lumMod val="60000"/>
                    <a:lumOff val="40000"/>
                  </a:schemeClr>
                </a:solidFill>
                <a:effectLst/>
                <a:uLnTx/>
                <a:uFillTx/>
                <a:latin typeface="Calibri" pitchFamily="34" charset="0"/>
                <a:ea typeface="+mn-ea"/>
                <a:cs typeface="+mn-cs"/>
              </a:rPr>
              <a:t>any</a:t>
            </a:r>
            <a:r>
              <a:rPr kumimoji="0" lang="en-US" sz="2400" b="0" i="0" u="none" strike="noStrike" kern="1200" cap="none" spc="0" normalizeH="0" baseline="0" noProof="0" dirty="0" smtClean="0">
                <a:ln>
                  <a:noFill/>
                </a:ln>
                <a:solidFill>
                  <a:schemeClr val="tx1"/>
                </a:solidFill>
                <a:effectLst/>
                <a:uLnTx/>
                <a:uFillTx/>
                <a:latin typeface="Calibri" pitchFamily="34" charset="0"/>
                <a:ea typeface="+mn-ea"/>
                <a:cs typeface="+mn-cs"/>
              </a:rPr>
              <a:t> service</a:t>
            </a:r>
          </a:p>
          <a:p>
            <a:pPr marL="463550" marR="0" lvl="0" indent="-463550" algn="l" defTabSz="914363" rtl="0" eaLnBrk="1" fontAlgn="auto" latinLnBrk="0" hangingPunct="1">
              <a:lnSpc>
                <a:spcPct val="90000"/>
              </a:lnSpc>
              <a:spcBef>
                <a:spcPct val="20000"/>
              </a:spcBef>
              <a:spcAft>
                <a:spcPts val="0"/>
              </a:spcAft>
              <a:buClrTx/>
              <a:buSzPct val="120000"/>
              <a:buFontTx/>
              <a:buBlip>
                <a:blip r:embed="rId2"/>
              </a:buBlip>
              <a:tabLst/>
              <a:defRPr/>
            </a:pPr>
            <a:r>
              <a:rPr kumimoji="0" lang="en-US" sz="2400" b="0" i="0" u="none" strike="noStrike" kern="1200" cap="none" spc="0" normalizeH="0" baseline="0" noProof="0" dirty="0" smtClean="0">
                <a:ln>
                  <a:noFill/>
                </a:ln>
                <a:solidFill>
                  <a:schemeClr val="tx1"/>
                </a:solidFill>
                <a:effectLst/>
                <a:uLnTx/>
                <a:uFillTx/>
                <a:latin typeface="Calibri" pitchFamily="34" charset="0"/>
                <a:ea typeface="+mn-ea"/>
                <a:cs typeface="+mn-cs"/>
              </a:rPr>
              <a:t>Services providers federate </a:t>
            </a:r>
            <a:r>
              <a:rPr kumimoji="0" lang="en-US" sz="2400" b="0" i="0" u="none" strike="noStrike" kern="1200" cap="none" spc="0" normalizeH="0" baseline="0" noProof="0" dirty="0" smtClean="0">
                <a:ln>
                  <a:noFill/>
                </a:ln>
                <a:solidFill>
                  <a:schemeClr val="accent5">
                    <a:lumMod val="60000"/>
                    <a:lumOff val="40000"/>
                  </a:schemeClr>
                </a:solidFill>
                <a:effectLst/>
                <a:uLnTx/>
                <a:uFillTx/>
                <a:latin typeface="Calibri" pitchFamily="34" charset="0"/>
                <a:ea typeface="+mn-ea"/>
                <a:cs typeface="+mn-cs"/>
              </a:rPr>
              <a:t>once</a:t>
            </a:r>
            <a:r>
              <a:rPr kumimoji="0" lang="en-US" sz="2400" b="0" i="0" u="none" strike="noStrike" kern="1200" cap="none" spc="0" normalizeH="0" baseline="0" noProof="0" dirty="0" smtClean="0">
                <a:ln>
                  <a:noFill/>
                </a:ln>
                <a:solidFill>
                  <a:schemeClr val="tx1"/>
                </a:solidFill>
                <a:effectLst/>
                <a:uLnTx/>
                <a:uFillTx/>
                <a:latin typeface="Calibri" pitchFamily="34" charset="0"/>
                <a:ea typeface="+mn-ea"/>
                <a:cs typeface="+mn-cs"/>
              </a:rPr>
              <a:t> to connect to </a:t>
            </a:r>
            <a:r>
              <a:rPr kumimoji="0" lang="en-US" sz="2400" b="0" i="0" u="none" strike="noStrike" kern="1200" cap="none" spc="0" normalizeH="0" baseline="0" noProof="0" dirty="0" smtClean="0">
                <a:ln>
                  <a:noFill/>
                </a:ln>
                <a:solidFill>
                  <a:schemeClr val="accent5">
                    <a:lumMod val="60000"/>
                    <a:lumOff val="40000"/>
                  </a:schemeClr>
                </a:solidFill>
                <a:effectLst/>
                <a:uLnTx/>
                <a:uFillTx/>
                <a:latin typeface="Calibri" pitchFamily="34" charset="0"/>
                <a:ea typeface="+mn-ea"/>
                <a:cs typeface="+mn-cs"/>
              </a:rPr>
              <a:t>any</a:t>
            </a:r>
            <a:r>
              <a:rPr kumimoji="0" lang="en-US" sz="2400" b="0" i="0" u="none" strike="noStrike" kern="1200" cap="none" spc="0" normalizeH="0" baseline="0" noProof="0" dirty="0" smtClean="0">
                <a:ln>
                  <a:noFill/>
                </a:ln>
                <a:solidFill>
                  <a:schemeClr val="tx1"/>
                </a:solidFill>
                <a:effectLst/>
                <a:uLnTx/>
                <a:uFillTx/>
                <a:latin typeface="Calibri" pitchFamily="34" charset="0"/>
                <a:ea typeface="+mn-ea"/>
                <a:cs typeface="+mn-cs"/>
              </a:rPr>
              <a:t> business</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8"/>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1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nodeType="after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6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67"/>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grpId="0" nodeType="after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childTnLst>
                          </p:cTn>
                        </p:par>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71"/>
                                        </p:tgtEl>
                                        <p:attrNameLst>
                                          <p:attrName>style.visibility</p:attrName>
                                        </p:attrNameLst>
                                      </p:cBhvr>
                                      <p:to>
                                        <p:strVal val="visible"/>
                                      </p:to>
                                    </p:set>
                                  </p:childTnLst>
                                </p:cTn>
                              </p:par>
                            </p:childTnLst>
                          </p:cTn>
                        </p:par>
                        <p:par>
                          <p:cTn id="44" fill="hold">
                            <p:stCondLst>
                              <p:cond delay="0"/>
                            </p:stCondLst>
                            <p:childTnLst>
                              <p:par>
                                <p:cTn id="45" presetID="1" presetClass="entr" presetSubtype="0" fill="hold" nodeType="after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6"/>
                                        </p:tgtEl>
                                        <p:attrNameLst>
                                          <p:attrName>style.visibility</p:attrName>
                                        </p:attrNameLst>
                                      </p:cBhvr>
                                      <p:to>
                                        <p:strVal val="visible"/>
                                      </p:to>
                                    </p:set>
                                  </p:childTnLst>
                                </p:cTn>
                              </p:par>
                            </p:childTnLst>
                          </p:cTn>
                        </p:par>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69"/>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68"/>
                                        </p:tgtEl>
                                        <p:attrNameLst>
                                          <p:attrName>style.visibility</p:attrName>
                                        </p:attrNameLst>
                                      </p:cBhvr>
                                      <p:to>
                                        <p:strVal val="visible"/>
                                      </p:to>
                                    </p:set>
                                  </p:childTnLst>
                                </p:cTn>
                              </p:par>
                            </p:childTnLst>
                          </p:cTn>
                        </p:par>
                        <p:par>
                          <p:cTn id="58" fill="hold">
                            <p:stCondLst>
                              <p:cond delay="0"/>
                            </p:stCondLst>
                            <p:childTnLst>
                              <p:par>
                                <p:cTn id="59" presetID="1" presetClass="entr" presetSubtype="0" fill="hold" nodeType="afterEffect">
                                  <p:stCondLst>
                                    <p:cond delay="0"/>
                                  </p:stCondLst>
                                  <p:childTnLst>
                                    <p:set>
                                      <p:cBhvr>
                                        <p:cTn id="60" dur="1" fill="hold">
                                          <p:stCondLst>
                                            <p:cond delay="0"/>
                                          </p:stCondLst>
                                        </p:cTn>
                                        <p:tgtEl>
                                          <p:spTgt spid="7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P spid="65" grpId="0" animBg="1"/>
      <p:bldP spid="66" grpId="0" animBg="1"/>
      <p:bldP spid="67" grpId="0" animBg="1"/>
      <p:bldP spid="68" grpId="0" animBg="1"/>
      <p:bldP spid="18" grpId="0" animBg="1"/>
      <p:bldP spid="25" grpId="0" animBg="1"/>
      <p:bldP spid="3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054" y="228600"/>
            <a:ext cx="8375946" cy="664797"/>
          </a:xfrm>
        </p:spPr>
        <p:txBody>
          <a:bodyPr/>
          <a:lstStyle/>
          <a:p>
            <a:r>
              <a:rPr smtClean="0"/>
              <a:t>Solution: Easy Federated Identity</a:t>
            </a:r>
            <a:endParaRPr lang="en-US" dirty="0"/>
          </a:p>
        </p:txBody>
      </p:sp>
      <p:sp>
        <p:nvSpPr>
          <p:cNvPr id="4" name="Text Placeholder 3"/>
          <p:cNvSpPr>
            <a:spLocks noGrp="1"/>
          </p:cNvSpPr>
          <p:nvPr>
            <p:ph type="body" idx="1"/>
          </p:nvPr>
        </p:nvSpPr>
        <p:spPr>
          <a:xfrm>
            <a:off x="381001" y="1219200"/>
            <a:ext cx="4114800" cy="346249"/>
          </a:xfrm>
        </p:spPr>
        <p:txBody>
          <a:bodyPr>
            <a:normAutofit/>
          </a:bodyPr>
          <a:lstStyle/>
          <a:p>
            <a:r>
              <a:rPr lang="en-US" sz="2000" dirty="0" smtClean="0">
                <a:solidFill>
                  <a:schemeClr val="accent1"/>
                </a:solidFill>
              </a:rPr>
              <a:t>Microsoft Federation Gateway</a:t>
            </a:r>
            <a:endParaRPr lang="en-US" sz="2000" dirty="0">
              <a:solidFill>
                <a:schemeClr val="accent1"/>
              </a:solidFill>
            </a:endParaRPr>
          </a:p>
        </p:txBody>
      </p:sp>
      <p:sp>
        <p:nvSpPr>
          <p:cNvPr id="5" name="Content Placeholder 4"/>
          <p:cNvSpPr>
            <a:spLocks noGrp="1"/>
          </p:cNvSpPr>
          <p:nvPr>
            <p:ph sz="half" idx="2"/>
          </p:nvPr>
        </p:nvSpPr>
        <p:spPr>
          <a:xfrm>
            <a:off x="381000" y="1982521"/>
            <a:ext cx="4114800" cy="3616326"/>
          </a:xfrm>
        </p:spPr>
        <p:txBody>
          <a:bodyPr>
            <a:normAutofit/>
          </a:bodyPr>
          <a:lstStyle/>
          <a:p>
            <a:r>
              <a:rPr lang="en-US" sz="2000" dirty="0" smtClean="0">
                <a:solidFill>
                  <a:schemeClr val="accent1"/>
                </a:solidFill>
              </a:rPr>
              <a:t>Hub and spoke </a:t>
            </a:r>
            <a:r>
              <a:rPr lang="en-US" sz="2000" dirty="0" smtClean="0"/>
              <a:t>model </a:t>
            </a:r>
          </a:p>
          <a:p>
            <a:pPr lvl="1">
              <a:buNone/>
            </a:pPr>
            <a:r>
              <a:rPr lang="en-US" dirty="0" smtClean="0">
                <a:sym typeface="Wingdings" pitchFamily="2" charset="2"/>
              </a:rPr>
              <a:t></a:t>
            </a:r>
            <a:r>
              <a:rPr lang="en-US" dirty="0" smtClean="0"/>
              <a:t> simplified </a:t>
            </a:r>
            <a:br>
              <a:rPr lang="en-US" dirty="0" smtClean="0"/>
            </a:br>
            <a:r>
              <a:rPr lang="en-US" dirty="0" smtClean="0"/>
              <a:t>trust management </a:t>
            </a:r>
            <a:br>
              <a:rPr lang="en-US" dirty="0" smtClean="0"/>
            </a:br>
            <a:r>
              <a:rPr lang="en-US" dirty="0" smtClean="0"/>
              <a:t>for enterprises </a:t>
            </a:r>
            <a:br>
              <a:rPr lang="en-US" dirty="0" smtClean="0"/>
            </a:br>
            <a:r>
              <a:rPr lang="en-US" dirty="0" smtClean="0"/>
              <a:t>&amp; service providers</a:t>
            </a:r>
          </a:p>
          <a:p>
            <a:r>
              <a:rPr lang="en-US" sz="2000" dirty="0" smtClean="0">
                <a:solidFill>
                  <a:schemeClr val="accent1"/>
                </a:solidFill>
              </a:rPr>
              <a:t>Production</a:t>
            </a:r>
            <a:r>
              <a:rPr lang="en-US" sz="2000" dirty="0" smtClean="0"/>
              <a:t> deployment since </a:t>
            </a:r>
            <a:r>
              <a:rPr lang="en-US" sz="2000" dirty="0" smtClean="0">
                <a:solidFill>
                  <a:schemeClr val="accent1"/>
                </a:solidFill>
              </a:rPr>
              <a:t>2006</a:t>
            </a:r>
          </a:p>
          <a:p>
            <a:r>
              <a:rPr lang="en-US" sz="2000" dirty="0" smtClean="0"/>
              <a:t>Now supports </a:t>
            </a:r>
            <a:r>
              <a:rPr lang="en-US" sz="2000" dirty="0" smtClean="0">
                <a:solidFill>
                  <a:schemeClr val="accent1"/>
                </a:solidFill>
              </a:rPr>
              <a:t>self-service federation provisioning</a:t>
            </a:r>
            <a:endParaRPr lang="en-US" sz="1200" dirty="0"/>
          </a:p>
        </p:txBody>
      </p:sp>
      <p:sp>
        <p:nvSpPr>
          <p:cNvPr id="6" name="Text Placeholder 5"/>
          <p:cNvSpPr>
            <a:spLocks noGrp="1"/>
          </p:cNvSpPr>
          <p:nvPr>
            <p:ph type="body" sz="quarter" idx="3"/>
          </p:nvPr>
        </p:nvSpPr>
        <p:spPr>
          <a:xfrm>
            <a:off x="4939904" y="1219200"/>
            <a:ext cx="4117019" cy="276999"/>
          </a:xfrm>
        </p:spPr>
        <p:txBody>
          <a:bodyPr/>
          <a:lstStyle/>
          <a:p>
            <a:r>
              <a:rPr lang="en-US" sz="2000" dirty="0" smtClean="0">
                <a:solidFill>
                  <a:schemeClr val="accent1"/>
                </a:solidFill>
              </a:rPr>
              <a:t>Microsoft Services Connection</a:t>
            </a:r>
            <a:endParaRPr lang="en-US" sz="2000" dirty="0">
              <a:solidFill>
                <a:schemeClr val="accent1"/>
              </a:solidFill>
            </a:endParaRPr>
          </a:p>
        </p:txBody>
      </p:sp>
      <p:sp>
        <p:nvSpPr>
          <p:cNvPr id="7" name="Content Placeholder 6"/>
          <p:cNvSpPr>
            <a:spLocks noGrp="1"/>
          </p:cNvSpPr>
          <p:nvPr>
            <p:ph sz="quarter" idx="4"/>
          </p:nvPr>
        </p:nvSpPr>
        <p:spPr>
          <a:xfrm>
            <a:off x="4938948" y="1982521"/>
            <a:ext cx="4117974" cy="3616326"/>
          </a:xfrm>
        </p:spPr>
        <p:txBody>
          <a:bodyPr>
            <a:noAutofit/>
          </a:bodyPr>
          <a:lstStyle/>
          <a:p>
            <a:r>
              <a:rPr lang="en-US" sz="2000" dirty="0" smtClean="0">
                <a:solidFill>
                  <a:schemeClr val="accent1"/>
                </a:solidFill>
              </a:rPr>
              <a:t>Connects</a:t>
            </a:r>
            <a:r>
              <a:rPr lang="en-US" sz="2000" dirty="0" smtClean="0"/>
              <a:t> Active Directory </a:t>
            </a:r>
            <a:br>
              <a:rPr lang="en-US" sz="2000" dirty="0" smtClean="0"/>
            </a:br>
            <a:r>
              <a:rPr lang="en-US" sz="2000" dirty="0" smtClean="0"/>
              <a:t>to Federation Gateway </a:t>
            </a:r>
            <a:br>
              <a:rPr lang="en-US" sz="2000" dirty="0" smtClean="0"/>
            </a:br>
            <a:r>
              <a:rPr lang="en-US" sz="2000" dirty="0" smtClean="0"/>
              <a:t>and Cloud services / applications </a:t>
            </a:r>
          </a:p>
          <a:p>
            <a:r>
              <a:rPr lang="en-US" sz="2000" dirty="0" smtClean="0"/>
              <a:t>Simple 1-time federation setup – </a:t>
            </a:r>
            <a:r>
              <a:rPr lang="en-US" sz="2000" dirty="0" smtClean="0">
                <a:solidFill>
                  <a:schemeClr val="accent1"/>
                </a:solidFill>
              </a:rPr>
              <a:t>auto-provisioning</a:t>
            </a:r>
            <a:r>
              <a:rPr lang="en-US" sz="2000" dirty="0" smtClean="0"/>
              <a:t> </a:t>
            </a:r>
          </a:p>
          <a:p>
            <a:r>
              <a:rPr lang="en-US" sz="2000" dirty="0" smtClean="0"/>
              <a:t>Flexible and </a:t>
            </a:r>
            <a:r>
              <a:rPr lang="en-US" sz="2000" dirty="0" smtClean="0">
                <a:solidFill>
                  <a:schemeClr val="accent1"/>
                </a:solidFill>
              </a:rPr>
              <a:t>customizable</a:t>
            </a:r>
            <a:r>
              <a:rPr lang="en-US" sz="2000" dirty="0" smtClean="0"/>
              <a:t> </a:t>
            </a:r>
            <a:br>
              <a:rPr lang="en-US" sz="2000" dirty="0" smtClean="0"/>
            </a:br>
            <a:r>
              <a:rPr lang="en-US" sz="2000" dirty="0" smtClean="0"/>
              <a:t>end -user experience</a:t>
            </a:r>
          </a:p>
          <a:p>
            <a:r>
              <a:rPr lang="en-US" sz="2000" dirty="0" smtClean="0">
                <a:solidFill>
                  <a:schemeClr val="accent1"/>
                </a:solidFill>
              </a:rPr>
              <a:t>Free </a:t>
            </a:r>
            <a:r>
              <a:rPr lang="en-US" sz="2000" dirty="0" smtClean="0"/>
              <a:t>download</a:t>
            </a:r>
          </a:p>
        </p:txBody>
      </p:sp>
      <p:sp>
        <p:nvSpPr>
          <p:cNvPr id="8" name="Content Placeholder 2"/>
          <p:cNvSpPr txBox="1">
            <a:spLocks/>
          </p:cNvSpPr>
          <p:nvPr/>
        </p:nvSpPr>
        <p:spPr>
          <a:xfrm>
            <a:off x="419100" y="5707349"/>
            <a:ext cx="8343900" cy="738664"/>
          </a:xfrm>
          <a:prstGeom prst="rect">
            <a:avLst/>
          </a:prstGeom>
          <a:ln w="12700">
            <a:solidFill>
              <a:schemeClr val="accent2"/>
            </a:solidFill>
          </a:ln>
        </p:spPr>
        <p:txBody>
          <a:bodyPr vert="horz" wrap="square" lIns="0" tIns="0" rIns="0" bIns="0" rtlCol="0">
            <a:spAutoFit/>
          </a:bodyPr>
          <a:lstStyle/>
          <a:p>
            <a:pPr marR="0" lvl="0" algn="l" defTabSz="914363" rtl="0" eaLnBrk="1" fontAlgn="auto" latinLnBrk="0" hangingPunct="1">
              <a:spcBef>
                <a:spcPct val="20000"/>
              </a:spcBef>
              <a:spcAft>
                <a:spcPts val="800"/>
              </a:spcAft>
              <a:buClr>
                <a:schemeClr val="tx1"/>
              </a:buClr>
              <a:buSzPct val="80000"/>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Objective: Switch to cloud services </a:t>
            </a:r>
            <a:r>
              <a:rPr kumimoji="0" lang="en-US" sz="2400" b="0" i="0" u="none" strike="noStrike" kern="1200" cap="none" spc="0" normalizeH="0" baseline="0" noProof="0" dirty="0" smtClean="0">
                <a:ln>
                  <a:noFill/>
                </a:ln>
                <a:solidFill>
                  <a:schemeClr val="accent2"/>
                </a:solidFill>
                <a:effectLst/>
                <a:uLnTx/>
                <a:uFillTx/>
                <a:latin typeface="+mn-lt"/>
                <a:ea typeface="+mn-ea"/>
                <a:cs typeface="+mn-cs"/>
              </a:rPr>
              <a:t>without changing </a:t>
            </a:r>
            <a:br>
              <a:rPr kumimoji="0" lang="en-US" sz="2400" b="0" i="0" u="none" strike="noStrike" kern="1200" cap="none" spc="0" normalizeH="0" baseline="0" noProof="0" dirty="0" smtClean="0">
                <a:ln>
                  <a:noFill/>
                </a:ln>
                <a:solidFill>
                  <a:schemeClr val="accent2"/>
                </a:solidFill>
                <a:effectLst/>
                <a:uLnTx/>
                <a:uFillTx/>
                <a:latin typeface="+mn-lt"/>
                <a:ea typeface="+mn-ea"/>
                <a:cs typeface="+mn-cs"/>
              </a:rPr>
            </a:br>
            <a:r>
              <a:rPr kumimoji="0" lang="en-US" sz="2400" b="0" i="0" u="none" strike="noStrike" kern="1200" cap="none" spc="0" normalizeH="0" baseline="0" noProof="0" dirty="0" smtClean="0">
                <a:ln>
                  <a:noFill/>
                </a:ln>
                <a:solidFill>
                  <a:schemeClr val="accent2"/>
                </a:solidFill>
                <a:effectLst/>
                <a:uLnTx/>
                <a:uFillTx/>
                <a:latin typeface="+mn-lt"/>
                <a:ea typeface="+mn-ea"/>
                <a:cs typeface="+mn-cs"/>
              </a:rPr>
              <a:t>your existing identity infrastructure</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p:txBody>
      </p:sp>
      <p:cxnSp>
        <p:nvCxnSpPr>
          <p:cNvPr id="10" name="Straight Connector 9"/>
          <p:cNvCxnSpPr/>
          <p:nvPr/>
        </p:nvCxnSpPr>
        <p:spPr>
          <a:xfrm rot="5400000">
            <a:off x="2323306" y="3390900"/>
            <a:ext cx="44958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build="p"/>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ounded Rectangle 58"/>
          <p:cNvSpPr/>
          <p:nvPr/>
        </p:nvSpPr>
        <p:spPr bwMode="auto">
          <a:xfrm>
            <a:off x="4648200" y="4724400"/>
            <a:ext cx="3733800" cy="1752600"/>
          </a:xfrm>
          <a:prstGeom prst="roundRect">
            <a:avLst/>
          </a:prstGeom>
          <a:solidFill>
            <a:schemeClr val="accent4">
              <a:alpha val="75000"/>
            </a:scheme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p:txBody>
      </p:sp>
      <p:sp>
        <p:nvSpPr>
          <p:cNvPr id="115" name="Cloud 114"/>
          <p:cNvSpPr/>
          <p:nvPr/>
        </p:nvSpPr>
        <p:spPr bwMode="auto">
          <a:xfrm rot="272498">
            <a:off x="-14381" y="638558"/>
            <a:ext cx="8929643" cy="3509211"/>
          </a:xfrm>
          <a:prstGeom prst="cloud">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smtClean="0">
              <a:ln>
                <a:noFill/>
              </a:ln>
              <a:solidFill>
                <a:schemeClr val="tx1"/>
              </a:solidFill>
              <a:effectLst/>
              <a:latin typeface="Franklin Gothic Book" pitchFamily="34" charset="0"/>
            </a:endParaRPr>
          </a:p>
        </p:txBody>
      </p:sp>
      <p:sp>
        <p:nvSpPr>
          <p:cNvPr id="3" name="Title 2"/>
          <p:cNvSpPr>
            <a:spLocks noGrp="1"/>
          </p:cNvSpPr>
          <p:nvPr>
            <p:ph type="title"/>
          </p:nvPr>
        </p:nvSpPr>
        <p:spPr>
          <a:xfrm>
            <a:off x="387054" y="228600"/>
            <a:ext cx="8375946" cy="443198"/>
          </a:xfrm>
        </p:spPr>
        <p:txBody>
          <a:bodyPr/>
          <a:lstStyle/>
          <a:p>
            <a:r>
              <a:rPr sz="3200" smtClean="0"/>
              <a:t>Federated Enterprise Software &amp; Service Topology</a:t>
            </a:r>
            <a:endParaRPr lang="en-US" sz="3200" dirty="0"/>
          </a:p>
        </p:txBody>
      </p:sp>
      <p:sp>
        <p:nvSpPr>
          <p:cNvPr id="4" name="Rounded Rectangle 3"/>
          <p:cNvSpPr/>
          <p:nvPr/>
        </p:nvSpPr>
        <p:spPr bwMode="auto">
          <a:xfrm>
            <a:off x="609600" y="990600"/>
            <a:ext cx="7848600" cy="2209800"/>
          </a:xfrm>
          <a:prstGeom prst="roundRect">
            <a:avLst/>
          </a:prstGeom>
          <a:solidFill>
            <a:schemeClr val="accent4">
              <a:alpha val="75000"/>
            </a:scheme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p:txBody>
      </p:sp>
      <p:sp>
        <p:nvSpPr>
          <p:cNvPr id="96" name="Rectangle 95"/>
          <p:cNvSpPr/>
          <p:nvPr/>
        </p:nvSpPr>
        <p:spPr bwMode="auto">
          <a:xfrm rot="5400000">
            <a:off x="6965411" y="2705100"/>
            <a:ext cx="228600" cy="3048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97" name="Rectangle 96"/>
          <p:cNvSpPr/>
          <p:nvPr/>
        </p:nvSpPr>
        <p:spPr bwMode="auto">
          <a:xfrm rot="5400000">
            <a:off x="7200900" y="6201819"/>
            <a:ext cx="228600" cy="3048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20" name="Rectangle 119"/>
          <p:cNvSpPr/>
          <p:nvPr/>
        </p:nvSpPr>
        <p:spPr bwMode="auto">
          <a:xfrm>
            <a:off x="6781800" y="5299859"/>
            <a:ext cx="533400" cy="1524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21" name="Rectangle 120"/>
          <p:cNvSpPr/>
          <p:nvPr/>
        </p:nvSpPr>
        <p:spPr bwMode="auto">
          <a:xfrm>
            <a:off x="6553200" y="5299859"/>
            <a:ext cx="533400" cy="1524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22" name="Rectangle 121"/>
          <p:cNvSpPr/>
          <p:nvPr/>
        </p:nvSpPr>
        <p:spPr bwMode="auto">
          <a:xfrm>
            <a:off x="3429000" y="2590800"/>
            <a:ext cx="533400" cy="1524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30" name="Rectangle 129"/>
          <p:cNvSpPr/>
          <p:nvPr/>
        </p:nvSpPr>
        <p:spPr bwMode="auto">
          <a:xfrm>
            <a:off x="9144000" y="3276600"/>
            <a:ext cx="533400" cy="338941"/>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23" name="Rounded Rectangle 122"/>
          <p:cNvSpPr/>
          <p:nvPr/>
        </p:nvSpPr>
        <p:spPr bwMode="auto">
          <a:xfrm>
            <a:off x="3276600" y="2362200"/>
            <a:ext cx="1143000" cy="1066800"/>
          </a:xfrm>
          <a:prstGeom prst="roundRect">
            <a:avLst/>
          </a:prstGeom>
          <a:solidFill>
            <a:schemeClr val="accent1"/>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sp>
        <p:nvSpPr>
          <p:cNvPr id="44" name="Rounded Rectangle 43"/>
          <p:cNvSpPr/>
          <p:nvPr/>
        </p:nvSpPr>
        <p:spPr bwMode="auto">
          <a:xfrm>
            <a:off x="3276600" y="2362200"/>
            <a:ext cx="2514600" cy="1066800"/>
          </a:xfrm>
          <a:prstGeom prst="roundRect">
            <a:avLst/>
          </a:prstGeom>
          <a:solidFill>
            <a:schemeClr val="accent1"/>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sp>
        <p:nvSpPr>
          <p:cNvPr id="41" name="Rounded Rectangle 40"/>
          <p:cNvSpPr/>
          <p:nvPr/>
        </p:nvSpPr>
        <p:spPr bwMode="auto">
          <a:xfrm>
            <a:off x="4419600" y="2438400"/>
            <a:ext cx="1295400" cy="9144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Microsoft Federation Gateway</a:t>
            </a:r>
          </a:p>
        </p:txBody>
      </p:sp>
      <p:sp>
        <p:nvSpPr>
          <p:cNvPr id="60" name="Rounded Rectangle 59"/>
          <p:cNvSpPr/>
          <p:nvPr/>
        </p:nvSpPr>
        <p:spPr bwMode="auto">
          <a:xfrm>
            <a:off x="3352800" y="2438400"/>
            <a:ext cx="990600" cy="9144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Live Identity Service</a:t>
            </a:r>
          </a:p>
        </p:txBody>
      </p:sp>
      <p:sp>
        <p:nvSpPr>
          <p:cNvPr id="45" name="Rounded Rectangle 44"/>
          <p:cNvSpPr/>
          <p:nvPr/>
        </p:nvSpPr>
        <p:spPr bwMode="auto">
          <a:xfrm>
            <a:off x="4343400" y="4495800"/>
            <a:ext cx="1295400" cy="1676400"/>
          </a:xfrm>
          <a:prstGeom prst="roundRect">
            <a:avLst/>
          </a:prstGeom>
          <a:solidFill>
            <a:schemeClr val="accent1"/>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cxnSp>
        <p:nvCxnSpPr>
          <p:cNvPr id="46" name="Straight Arrow Connector 45"/>
          <p:cNvCxnSpPr>
            <a:stCxn id="45" idx="0"/>
            <a:endCxn id="41" idx="2"/>
          </p:cNvCxnSpPr>
          <p:nvPr/>
        </p:nvCxnSpPr>
        <p:spPr>
          <a:xfrm rot="5400000" flipH="1" flipV="1">
            <a:off x="4457700" y="3886200"/>
            <a:ext cx="1143000" cy="76200"/>
          </a:xfrm>
          <a:prstGeom prst="straightConnector1">
            <a:avLst/>
          </a:prstGeom>
          <a:ln w="63500">
            <a:solidFill>
              <a:schemeClr val="accent5"/>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7" name="Rectangle 56"/>
          <p:cNvSpPr/>
          <p:nvPr/>
        </p:nvSpPr>
        <p:spPr bwMode="auto">
          <a:xfrm rot="5400000">
            <a:off x="7810500" y="6049419"/>
            <a:ext cx="228600" cy="3048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61" name="TextBox 60"/>
          <p:cNvSpPr txBox="1"/>
          <p:nvPr/>
        </p:nvSpPr>
        <p:spPr>
          <a:xfrm>
            <a:off x="5588579" y="6093023"/>
            <a:ext cx="871649" cy="307777"/>
          </a:xfrm>
          <a:prstGeom prst="rect">
            <a:avLst/>
          </a:prstGeom>
          <a:noFill/>
        </p:spPr>
        <p:txBody>
          <a:bodyPr wrap="none" rtlCol="0">
            <a:spAutoFit/>
          </a:bodyPr>
          <a:lstStyle/>
          <a:p>
            <a:pPr algn="ctr"/>
            <a:r>
              <a:rPr lang="en-US" sz="1400" dirty="0" smtClean="0"/>
              <a:t>Exchange</a:t>
            </a:r>
            <a:endParaRPr lang="en-US" sz="1400" dirty="0"/>
          </a:p>
        </p:txBody>
      </p:sp>
      <p:pic>
        <p:nvPicPr>
          <p:cNvPr id="62" name="Picture 10" descr="webServiceserver"/>
          <p:cNvPicPr>
            <a:picLocks noChangeAspect="1" noChangeArrowheads="1"/>
          </p:cNvPicPr>
          <p:nvPr/>
        </p:nvPicPr>
        <p:blipFill>
          <a:blip r:embed="rId3">
            <a:clrChange>
              <a:clrFrom>
                <a:srgbClr val="08369A"/>
              </a:clrFrom>
              <a:clrTo>
                <a:srgbClr val="08369A">
                  <a:alpha val="0"/>
                </a:srgbClr>
              </a:clrTo>
            </a:clrChange>
          </a:blip>
          <a:srcRect/>
          <a:stretch>
            <a:fillRect/>
          </a:stretch>
        </p:blipFill>
        <p:spPr bwMode="auto">
          <a:xfrm>
            <a:off x="5785680" y="5401719"/>
            <a:ext cx="533400" cy="692615"/>
          </a:xfrm>
          <a:prstGeom prst="rect">
            <a:avLst/>
          </a:prstGeom>
          <a:noFill/>
        </p:spPr>
      </p:pic>
      <p:sp>
        <p:nvSpPr>
          <p:cNvPr id="63" name="Rectangle 62"/>
          <p:cNvSpPr/>
          <p:nvPr/>
        </p:nvSpPr>
        <p:spPr bwMode="auto">
          <a:xfrm>
            <a:off x="7391400" y="5147459"/>
            <a:ext cx="533400" cy="1524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64" name="Rectangle 63"/>
          <p:cNvSpPr/>
          <p:nvPr/>
        </p:nvSpPr>
        <p:spPr bwMode="auto">
          <a:xfrm>
            <a:off x="7162800" y="5147459"/>
            <a:ext cx="533400" cy="1524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68" name="TextBox 67"/>
          <p:cNvSpPr txBox="1"/>
          <p:nvPr/>
        </p:nvSpPr>
        <p:spPr>
          <a:xfrm>
            <a:off x="6431736" y="6084542"/>
            <a:ext cx="815737" cy="307777"/>
          </a:xfrm>
          <a:prstGeom prst="rect">
            <a:avLst/>
          </a:prstGeom>
          <a:noFill/>
        </p:spPr>
        <p:txBody>
          <a:bodyPr wrap="none" rtlCol="0">
            <a:spAutoFit/>
          </a:bodyPr>
          <a:lstStyle/>
          <a:p>
            <a:pPr algn="ctr"/>
            <a:r>
              <a:rPr lang="en-US" sz="1400" dirty="0" smtClean="0"/>
              <a:t>ISV Apps</a:t>
            </a:r>
            <a:endParaRPr lang="en-US" sz="1400" dirty="0"/>
          </a:p>
        </p:txBody>
      </p:sp>
      <p:pic>
        <p:nvPicPr>
          <p:cNvPr id="69" name="Picture 10" descr="webServiceserver"/>
          <p:cNvPicPr>
            <a:picLocks noChangeAspect="1" noChangeArrowheads="1"/>
          </p:cNvPicPr>
          <p:nvPr/>
        </p:nvPicPr>
        <p:blipFill>
          <a:blip r:embed="rId3">
            <a:clrChange>
              <a:clrFrom>
                <a:srgbClr val="08369A"/>
              </a:clrFrom>
              <a:clrTo>
                <a:srgbClr val="08369A">
                  <a:alpha val="0"/>
                </a:srgbClr>
              </a:clrTo>
            </a:clrChange>
          </a:blip>
          <a:srcRect/>
          <a:stretch>
            <a:fillRect/>
          </a:stretch>
        </p:blipFill>
        <p:spPr bwMode="auto">
          <a:xfrm>
            <a:off x="6561672" y="5393238"/>
            <a:ext cx="533400" cy="692615"/>
          </a:xfrm>
          <a:prstGeom prst="rect">
            <a:avLst/>
          </a:prstGeom>
          <a:noFill/>
        </p:spPr>
      </p:pic>
      <p:sp>
        <p:nvSpPr>
          <p:cNvPr id="70" name="TextBox 69"/>
          <p:cNvSpPr txBox="1"/>
          <p:nvPr/>
        </p:nvSpPr>
        <p:spPr>
          <a:xfrm>
            <a:off x="7171272" y="6084542"/>
            <a:ext cx="976934" cy="307777"/>
          </a:xfrm>
          <a:prstGeom prst="rect">
            <a:avLst/>
          </a:prstGeom>
          <a:noFill/>
        </p:spPr>
        <p:txBody>
          <a:bodyPr wrap="none" rtlCol="0">
            <a:spAutoFit/>
          </a:bodyPr>
          <a:lstStyle/>
          <a:p>
            <a:pPr algn="ctr"/>
            <a:r>
              <a:rPr lang="en-US" sz="1400" dirty="0" smtClean="0"/>
              <a:t>SharePoint</a:t>
            </a:r>
            <a:endParaRPr lang="en-US" sz="1400" dirty="0"/>
          </a:p>
        </p:txBody>
      </p:sp>
      <p:pic>
        <p:nvPicPr>
          <p:cNvPr id="71" name="Picture 10" descr="webServiceserver"/>
          <p:cNvPicPr>
            <a:picLocks noChangeAspect="1" noChangeArrowheads="1"/>
          </p:cNvPicPr>
          <p:nvPr/>
        </p:nvPicPr>
        <p:blipFill>
          <a:blip r:embed="rId3">
            <a:clrChange>
              <a:clrFrom>
                <a:srgbClr val="08369A"/>
              </a:clrFrom>
              <a:clrTo>
                <a:srgbClr val="08369A">
                  <a:alpha val="0"/>
                </a:srgbClr>
              </a:clrTo>
            </a:clrChange>
          </a:blip>
          <a:srcRect/>
          <a:stretch>
            <a:fillRect/>
          </a:stretch>
        </p:blipFill>
        <p:spPr bwMode="auto">
          <a:xfrm>
            <a:off x="7399872" y="5393238"/>
            <a:ext cx="533400" cy="692615"/>
          </a:xfrm>
          <a:prstGeom prst="rect">
            <a:avLst/>
          </a:prstGeom>
          <a:noFill/>
        </p:spPr>
      </p:pic>
      <p:sp>
        <p:nvSpPr>
          <p:cNvPr id="72" name="Rounded Rectangle 71"/>
          <p:cNvSpPr/>
          <p:nvPr/>
        </p:nvSpPr>
        <p:spPr bwMode="auto">
          <a:xfrm>
            <a:off x="4343400" y="5334000"/>
            <a:ext cx="1295400" cy="838200"/>
          </a:xfrm>
          <a:prstGeom prst="roundRect">
            <a:avLst/>
          </a:prstGeom>
          <a:solidFill>
            <a:schemeClr val="accent1"/>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sp>
        <p:nvSpPr>
          <p:cNvPr id="73" name="Rounded Rectangle 72"/>
          <p:cNvSpPr/>
          <p:nvPr/>
        </p:nvSpPr>
        <p:spPr bwMode="auto">
          <a:xfrm>
            <a:off x="4419600" y="5452259"/>
            <a:ext cx="11430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Active</a:t>
            </a:r>
          </a:p>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Directory</a:t>
            </a:r>
          </a:p>
        </p:txBody>
      </p:sp>
      <p:sp>
        <p:nvSpPr>
          <p:cNvPr id="77" name="TextBox 76"/>
          <p:cNvSpPr txBox="1"/>
          <p:nvPr/>
        </p:nvSpPr>
        <p:spPr>
          <a:xfrm>
            <a:off x="5698637" y="4781490"/>
            <a:ext cx="2683363" cy="400110"/>
          </a:xfrm>
          <a:prstGeom prst="rect">
            <a:avLst/>
          </a:prstGeom>
          <a:noFill/>
        </p:spPr>
        <p:txBody>
          <a:bodyPr wrap="none" rtlCol="0">
            <a:spAutoFit/>
          </a:bodyPr>
          <a:lstStyle/>
          <a:p>
            <a:pPr algn="ctr"/>
            <a:r>
              <a:rPr lang="en-US" sz="2000" b="1" dirty="0" smtClean="0"/>
              <a:t>Enterprise On-Premises</a:t>
            </a:r>
            <a:endParaRPr lang="en-US" b="1" dirty="0"/>
          </a:p>
        </p:txBody>
      </p:sp>
      <p:pic>
        <p:nvPicPr>
          <p:cNvPr id="78" name="Picture 8" descr="C:\Program Files\Microsoft Resource DVD Artwork\DVD_ART\Artwork_Imagery\HARDWARE_IMAGERY\Illustration - Misc Hardware\XML Icons\user business man.png"/>
          <p:cNvPicPr>
            <a:picLocks noChangeAspect="1" noChangeArrowheads="1"/>
          </p:cNvPicPr>
          <p:nvPr/>
        </p:nvPicPr>
        <p:blipFill>
          <a:blip r:embed="rId4" cstate="print"/>
          <a:srcRect/>
          <a:stretch>
            <a:fillRect/>
          </a:stretch>
        </p:blipFill>
        <p:spPr bwMode="auto">
          <a:xfrm>
            <a:off x="5202336" y="5943600"/>
            <a:ext cx="436464" cy="530401"/>
          </a:xfrm>
          <a:prstGeom prst="rect">
            <a:avLst/>
          </a:prstGeom>
          <a:noFill/>
        </p:spPr>
      </p:pic>
      <p:sp>
        <p:nvSpPr>
          <p:cNvPr id="42" name="Rounded Rectangle 41"/>
          <p:cNvSpPr/>
          <p:nvPr/>
        </p:nvSpPr>
        <p:spPr bwMode="auto">
          <a:xfrm>
            <a:off x="4419600" y="4572000"/>
            <a:ext cx="1143000" cy="804059"/>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Microsoft </a:t>
            </a:r>
          </a:p>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Services</a:t>
            </a:r>
          </a:p>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Connector</a:t>
            </a:r>
          </a:p>
        </p:txBody>
      </p:sp>
      <p:sp>
        <p:nvSpPr>
          <p:cNvPr id="56" name="Rectangle 55"/>
          <p:cNvSpPr/>
          <p:nvPr/>
        </p:nvSpPr>
        <p:spPr bwMode="auto">
          <a:xfrm rot="5400000">
            <a:off x="6965411" y="2705100"/>
            <a:ext cx="228600" cy="3048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58" name="Rounded Rectangle 57"/>
          <p:cNvSpPr/>
          <p:nvPr/>
        </p:nvSpPr>
        <p:spPr bwMode="auto">
          <a:xfrm>
            <a:off x="7086600" y="1676400"/>
            <a:ext cx="12192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Microsoft Online</a:t>
            </a:r>
          </a:p>
        </p:txBody>
      </p:sp>
      <p:sp>
        <p:nvSpPr>
          <p:cNvPr id="65" name="Rounded Rectangle 64"/>
          <p:cNvSpPr/>
          <p:nvPr/>
        </p:nvSpPr>
        <p:spPr bwMode="auto">
          <a:xfrm>
            <a:off x="7086600" y="2362200"/>
            <a:ext cx="12192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400" dirty="0" smtClean="0">
                <a:solidFill>
                  <a:srgbClr val="FFFFFF"/>
                </a:solidFill>
                <a:effectLst>
                  <a:outerShdw blurRad="38100" dist="38100" dir="2700000" algn="tl">
                    <a:srgbClr val="000000">
                      <a:alpha val="43137"/>
                    </a:srgbClr>
                  </a:outerShdw>
                </a:effectLst>
              </a:rPr>
              <a:t>Microsoft Dynamics CRM Online</a:t>
            </a:r>
          </a:p>
        </p:txBody>
      </p:sp>
      <p:sp>
        <p:nvSpPr>
          <p:cNvPr id="66" name="Rounded Rectangle 65"/>
          <p:cNvSpPr/>
          <p:nvPr/>
        </p:nvSpPr>
        <p:spPr bwMode="auto">
          <a:xfrm>
            <a:off x="5867400" y="1676400"/>
            <a:ext cx="10668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Windows Live</a:t>
            </a:r>
          </a:p>
        </p:txBody>
      </p:sp>
      <p:sp>
        <p:nvSpPr>
          <p:cNvPr id="76" name="Rounded Rectangle 75"/>
          <p:cNvSpPr/>
          <p:nvPr/>
        </p:nvSpPr>
        <p:spPr bwMode="auto">
          <a:xfrm>
            <a:off x="5867400" y="2362200"/>
            <a:ext cx="10668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Live</a:t>
            </a:r>
          </a:p>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Mesh</a:t>
            </a:r>
          </a:p>
        </p:txBody>
      </p:sp>
      <p:cxnSp>
        <p:nvCxnSpPr>
          <p:cNvPr id="52" name="Straight Arrow Connector 51"/>
          <p:cNvCxnSpPr>
            <a:stCxn id="41" idx="2"/>
            <a:endCxn id="65" idx="2"/>
          </p:cNvCxnSpPr>
          <p:nvPr/>
        </p:nvCxnSpPr>
        <p:spPr>
          <a:xfrm rot="5400000" flipH="1" flipV="1">
            <a:off x="6191250" y="1847850"/>
            <a:ext cx="381000" cy="2628900"/>
          </a:xfrm>
          <a:prstGeom prst="straightConnector1">
            <a:avLst/>
          </a:prstGeom>
          <a:ln w="63500">
            <a:solidFill>
              <a:schemeClr val="accent5"/>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3886200" y="1000780"/>
            <a:ext cx="1164101" cy="584775"/>
          </a:xfrm>
          <a:prstGeom prst="rect">
            <a:avLst/>
          </a:prstGeom>
          <a:noFill/>
        </p:spPr>
        <p:txBody>
          <a:bodyPr wrap="none" rtlCol="0">
            <a:spAutoFit/>
          </a:bodyPr>
          <a:lstStyle/>
          <a:p>
            <a:pPr algn="ctr"/>
            <a:r>
              <a:rPr lang="en-US" sz="3200" b="1" dirty="0" smtClean="0">
                <a:effectLst>
                  <a:outerShdw blurRad="38100" dist="38100" dir="2700000" algn="tl">
                    <a:srgbClr val="000000">
                      <a:alpha val="43137"/>
                    </a:srgbClr>
                  </a:outerShdw>
                </a:effectLst>
              </a:rPr>
              <a:t>Cloud</a:t>
            </a:r>
            <a:endParaRPr lang="en-US" sz="3200" b="1" dirty="0">
              <a:effectLst>
                <a:outerShdw blurRad="38100" dist="38100" dir="2700000" algn="tl">
                  <a:srgbClr val="000000">
                    <a:alpha val="43137"/>
                  </a:srgbClr>
                </a:outerShdw>
              </a:effectLst>
            </a:endParaRPr>
          </a:p>
        </p:txBody>
      </p:sp>
      <p:grpSp>
        <p:nvGrpSpPr>
          <p:cNvPr id="2" name="Group 81"/>
          <p:cNvGrpSpPr/>
          <p:nvPr/>
        </p:nvGrpSpPr>
        <p:grpSpPr>
          <a:xfrm>
            <a:off x="685800" y="1524000"/>
            <a:ext cx="2514600" cy="1524000"/>
            <a:chOff x="685800" y="1524000"/>
            <a:chExt cx="2514600" cy="1524000"/>
          </a:xfrm>
        </p:grpSpPr>
        <p:sp>
          <p:nvSpPr>
            <p:cNvPr id="53" name="Rounded Rectangle 52"/>
            <p:cNvSpPr/>
            <p:nvPr/>
          </p:nvSpPr>
          <p:spPr bwMode="auto">
            <a:xfrm>
              <a:off x="685800" y="1524000"/>
              <a:ext cx="2514600" cy="1524000"/>
            </a:xfrm>
            <a:prstGeom prst="roundRect">
              <a:avLst/>
            </a:prstGeom>
            <a:solidFill>
              <a:schemeClr val="accent2">
                <a:lumMod val="60000"/>
                <a:lumOff val="40000"/>
              </a:scheme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sp>
          <p:nvSpPr>
            <p:cNvPr id="79" name="TextBox 78"/>
            <p:cNvSpPr txBox="1"/>
            <p:nvPr/>
          </p:nvSpPr>
          <p:spPr>
            <a:xfrm>
              <a:off x="742803" y="2678668"/>
              <a:ext cx="2400594" cy="369332"/>
            </a:xfrm>
            <a:prstGeom prst="rect">
              <a:avLst/>
            </a:prstGeom>
            <a:noFill/>
          </p:spPr>
          <p:txBody>
            <a:bodyPr wrap="none" rtlCol="0">
              <a:spAutoFit/>
            </a:bodyPr>
            <a:lstStyle/>
            <a:p>
              <a:r>
                <a:rPr lang="en-US" dirty="0" smtClean="0">
                  <a:solidFill>
                    <a:schemeClr val="tx2"/>
                  </a:solidFill>
                </a:rPr>
                <a:t>Azure Services Platform</a:t>
              </a:r>
              <a:endParaRPr lang="en-US" dirty="0">
                <a:solidFill>
                  <a:schemeClr val="tx2"/>
                </a:solidFill>
              </a:endParaRPr>
            </a:p>
          </p:txBody>
        </p:sp>
      </p:grpSp>
      <p:cxnSp>
        <p:nvCxnSpPr>
          <p:cNvPr id="49" name="Straight Arrow Connector 48"/>
          <p:cNvCxnSpPr>
            <a:stCxn id="41" idx="2"/>
            <a:endCxn id="54" idx="3"/>
          </p:cNvCxnSpPr>
          <p:nvPr/>
        </p:nvCxnSpPr>
        <p:spPr>
          <a:xfrm rot="5400000" flipH="1">
            <a:off x="3371850" y="1657350"/>
            <a:ext cx="1371600" cy="2019300"/>
          </a:xfrm>
          <a:prstGeom prst="straightConnector1">
            <a:avLst/>
          </a:prstGeom>
          <a:ln w="63500">
            <a:solidFill>
              <a:schemeClr val="accent5"/>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4" name="Rounded Rectangle 53"/>
          <p:cNvSpPr/>
          <p:nvPr/>
        </p:nvSpPr>
        <p:spPr bwMode="auto">
          <a:xfrm>
            <a:off x="1981200" y="1676400"/>
            <a:ext cx="10668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ISV Apps</a:t>
            </a:r>
          </a:p>
        </p:txBody>
      </p:sp>
      <p:sp>
        <p:nvSpPr>
          <p:cNvPr id="55" name="Rounded Rectangle 54"/>
          <p:cNvSpPr/>
          <p:nvPr/>
        </p:nvSpPr>
        <p:spPr bwMode="auto">
          <a:xfrm>
            <a:off x="762000" y="1676400"/>
            <a:ext cx="11430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Enterprise</a:t>
            </a:r>
          </a:p>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Apps</a:t>
            </a:r>
          </a:p>
        </p:txBody>
      </p:sp>
      <p:sp>
        <p:nvSpPr>
          <p:cNvPr id="83" name="Rounded Rectangle 82"/>
          <p:cNvSpPr/>
          <p:nvPr/>
        </p:nvSpPr>
        <p:spPr bwMode="auto">
          <a:xfrm>
            <a:off x="685800" y="5181600"/>
            <a:ext cx="2514600" cy="1134519"/>
          </a:xfrm>
          <a:prstGeom prst="roundRect">
            <a:avLst/>
          </a:prstGeom>
          <a:solidFill>
            <a:schemeClr val="accent4">
              <a:alpha val="75000"/>
            </a:scheme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p:txBody>
      </p:sp>
      <p:sp>
        <p:nvSpPr>
          <p:cNvPr id="84" name="TextBox 83"/>
          <p:cNvSpPr txBox="1"/>
          <p:nvPr/>
        </p:nvSpPr>
        <p:spPr>
          <a:xfrm>
            <a:off x="2133600" y="5867400"/>
            <a:ext cx="1006622" cy="338554"/>
          </a:xfrm>
          <a:prstGeom prst="rect">
            <a:avLst/>
          </a:prstGeom>
          <a:noFill/>
        </p:spPr>
        <p:txBody>
          <a:bodyPr wrap="none" rtlCol="0">
            <a:spAutoFit/>
          </a:bodyPr>
          <a:lstStyle/>
          <a:p>
            <a:pPr algn="ctr"/>
            <a:r>
              <a:rPr lang="en-US" sz="1600" dirty="0" smtClean="0"/>
              <a:t>Employee</a:t>
            </a:r>
            <a:endParaRPr lang="en-US" sz="1600" dirty="0"/>
          </a:p>
        </p:txBody>
      </p:sp>
      <p:pic>
        <p:nvPicPr>
          <p:cNvPr id="85" name="Picture 24" descr="C:\Program Files\Microsoft Resource DVD Artwork\DVD_ART\Artwork_Imagery\HARDWARE_IMAGERY\Illustration - Misc Hardware\Windows Vista Illustration Icons\Generic User.png"/>
          <p:cNvPicPr>
            <a:picLocks noChangeAspect="1" noChangeArrowheads="1"/>
          </p:cNvPicPr>
          <p:nvPr/>
        </p:nvPicPr>
        <p:blipFill>
          <a:blip r:embed="rId5" cstate="print"/>
          <a:srcRect/>
          <a:stretch>
            <a:fillRect/>
          </a:stretch>
        </p:blipFill>
        <p:spPr bwMode="auto">
          <a:xfrm flipH="1">
            <a:off x="2363418" y="5257800"/>
            <a:ext cx="546986" cy="665672"/>
          </a:xfrm>
          <a:prstGeom prst="rect">
            <a:avLst/>
          </a:prstGeom>
          <a:noFill/>
        </p:spPr>
      </p:pic>
      <p:sp>
        <p:nvSpPr>
          <p:cNvPr id="87" name="Rounded Rectangle 86"/>
          <p:cNvSpPr/>
          <p:nvPr/>
        </p:nvSpPr>
        <p:spPr bwMode="auto">
          <a:xfrm>
            <a:off x="914400" y="5105400"/>
            <a:ext cx="1066800" cy="3810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Browser</a:t>
            </a:r>
          </a:p>
        </p:txBody>
      </p:sp>
      <p:sp>
        <p:nvSpPr>
          <p:cNvPr id="89" name="Rounded Rectangle 88"/>
          <p:cNvSpPr/>
          <p:nvPr/>
        </p:nvSpPr>
        <p:spPr bwMode="auto">
          <a:xfrm>
            <a:off x="914400" y="5562600"/>
            <a:ext cx="1066800" cy="3810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Office</a:t>
            </a:r>
          </a:p>
        </p:txBody>
      </p:sp>
      <p:sp>
        <p:nvSpPr>
          <p:cNvPr id="90" name="Rounded Rectangle 89"/>
          <p:cNvSpPr/>
          <p:nvPr/>
        </p:nvSpPr>
        <p:spPr bwMode="auto">
          <a:xfrm>
            <a:off x="914400" y="6019800"/>
            <a:ext cx="1066800" cy="3810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Apps</a:t>
            </a:r>
          </a:p>
        </p:txBody>
      </p:sp>
      <p:cxnSp>
        <p:nvCxnSpPr>
          <p:cNvPr id="81" name="Straight Arrow Connector 80"/>
          <p:cNvCxnSpPr>
            <a:stCxn id="85" idx="1"/>
            <a:endCxn id="42" idx="1"/>
          </p:cNvCxnSpPr>
          <p:nvPr/>
        </p:nvCxnSpPr>
        <p:spPr>
          <a:xfrm flipV="1">
            <a:off x="2910404" y="4974030"/>
            <a:ext cx="1509196" cy="616606"/>
          </a:xfrm>
          <a:prstGeom prst="straightConnector1">
            <a:avLst/>
          </a:prstGeom>
          <a:ln w="63500">
            <a:solidFill>
              <a:schemeClr val="accent5"/>
            </a:solidFill>
            <a:headEnd type="none"/>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ppt_x"/>
                                          </p:val>
                                        </p:tav>
                                        <p:tav tm="100000">
                                          <p:val>
                                            <p:strVal val="#ppt_x"/>
                                          </p:val>
                                        </p:tav>
                                      </p:tavLst>
                                    </p:anim>
                                    <p:anim calcmode="lin" valueType="num">
                                      <p:cBhvr additive="base">
                                        <p:cTn id="8" dur="500" fill="hold"/>
                                        <p:tgtEl>
                                          <p:spTgt spid="4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2"/>
                                        </p:tgtEl>
                                        <p:attrNameLst>
                                          <p:attrName>style.visibility</p:attrName>
                                        </p:attrNameLst>
                                      </p:cBhvr>
                                      <p:to>
                                        <p:strVal val="visible"/>
                                      </p:to>
                                    </p:set>
                                    <p:anim calcmode="lin" valueType="num">
                                      <p:cBhvr additive="base">
                                        <p:cTn id="11" dur="500" fill="hold"/>
                                        <p:tgtEl>
                                          <p:spTgt spid="42"/>
                                        </p:tgtEl>
                                        <p:attrNameLst>
                                          <p:attrName>ppt_x</p:attrName>
                                        </p:attrNameLst>
                                      </p:cBhvr>
                                      <p:tavLst>
                                        <p:tav tm="0">
                                          <p:val>
                                            <p:strVal val="#ppt_x"/>
                                          </p:val>
                                        </p:tav>
                                        <p:tav tm="100000">
                                          <p:val>
                                            <p:strVal val="#ppt_x"/>
                                          </p:val>
                                        </p:tav>
                                      </p:tavLst>
                                    </p:anim>
                                    <p:anim calcmode="lin" valueType="num">
                                      <p:cBhvr additive="base">
                                        <p:cTn id="12" dur="500" fill="hold"/>
                                        <p:tgtEl>
                                          <p:spTgt spid="4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ppt_x"/>
                                          </p:val>
                                        </p:tav>
                                        <p:tav tm="100000">
                                          <p:val>
                                            <p:strVal val="#ppt_x"/>
                                          </p:val>
                                        </p:tav>
                                      </p:tavLst>
                                    </p:anim>
                                    <p:anim calcmode="lin" valueType="num">
                                      <p:cBhvr additive="base">
                                        <p:cTn id="16" dur="500" fill="hold"/>
                                        <p:tgtEl>
                                          <p:spTgt spid="4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anim calcmode="lin" valueType="num">
                                      <p:cBhvr additive="base">
                                        <p:cTn id="19" dur="500" fill="hold"/>
                                        <p:tgtEl>
                                          <p:spTgt spid="44"/>
                                        </p:tgtEl>
                                        <p:attrNameLst>
                                          <p:attrName>ppt_x</p:attrName>
                                        </p:attrNameLst>
                                      </p:cBhvr>
                                      <p:tavLst>
                                        <p:tav tm="0">
                                          <p:val>
                                            <p:strVal val="#ppt_x"/>
                                          </p:val>
                                        </p:tav>
                                        <p:tav tm="100000">
                                          <p:val>
                                            <p:strVal val="#ppt_x"/>
                                          </p:val>
                                        </p:tav>
                                      </p:tavLst>
                                    </p:anim>
                                    <p:anim calcmode="lin" valueType="num">
                                      <p:cBhvr additive="base">
                                        <p:cTn id="20"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1"/>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4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5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nodeType="clickEffect">
                                  <p:stCondLst>
                                    <p:cond delay="0"/>
                                  </p:stCondLst>
                                  <p:childTnLst>
                                    <p:set>
                                      <p:cBhvr>
                                        <p:cTn id="35" dur="1" fill="hold">
                                          <p:stCondLst>
                                            <p:cond delay="0"/>
                                          </p:stCondLst>
                                        </p:cTn>
                                        <p:tgtEl>
                                          <p:spTgt spid="52"/>
                                        </p:tgtEl>
                                        <p:attrNameLst>
                                          <p:attrName>style.visibility</p:attrName>
                                        </p:attrNameLst>
                                      </p:cBhvr>
                                      <p:to>
                                        <p:strVal val="hidden"/>
                                      </p:to>
                                    </p:set>
                                  </p:childTnLst>
                                </p:cTn>
                              </p:par>
                              <p:par>
                                <p:cTn id="36" presetID="1" presetClass="entr" presetSubtype="0" fill="hold" nodeType="withEffect">
                                  <p:stCondLst>
                                    <p:cond delay="0"/>
                                  </p:stCondLst>
                                  <p:childTnLst>
                                    <p:set>
                                      <p:cBhvr>
                                        <p:cTn id="37"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1" grpId="0" animBg="1"/>
      <p:bldP spid="45" grpId="0" animBg="1"/>
      <p:bldP spid="4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smtClean="0"/>
              <a:t>	</a:t>
            </a:r>
            <a:endParaRPr lang="en-US" sz="2400" dirty="0"/>
          </a:p>
        </p:txBody>
      </p:sp>
      <p:sp>
        <p:nvSpPr>
          <p:cNvPr id="4" name="Text Placeholder 3"/>
          <p:cNvSpPr>
            <a:spLocks noGrp="1"/>
          </p:cNvSpPr>
          <p:nvPr>
            <p:ph type="body" sz="quarter" idx="10"/>
          </p:nvPr>
        </p:nvSpPr>
        <p:spPr>
          <a:xfrm>
            <a:off x="1370013" y="2057404"/>
            <a:ext cx="6994950" cy="1384994"/>
          </a:xfrm>
        </p:spPr>
        <p:txBody>
          <a:bodyPr/>
          <a:lstStyle/>
          <a:p>
            <a:r>
              <a:rPr lang="en-US" dirty="0" smtClean="0"/>
              <a:t>demo </a:t>
            </a:r>
            <a:endParaRPr lang="en-US" dirty="0"/>
          </a:p>
        </p:txBody>
      </p:sp>
      <p:sp>
        <p:nvSpPr>
          <p:cNvPr id="5" name="TextBox 4"/>
          <p:cNvSpPr txBox="1"/>
          <p:nvPr/>
        </p:nvSpPr>
        <p:spPr>
          <a:xfrm>
            <a:off x="1228495" y="3831772"/>
            <a:ext cx="3861955" cy="646331"/>
          </a:xfrm>
          <a:prstGeom prst="rect">
            <a:avLst/>
          </a:prstGeom>
          <a:noFill/>
        </p:spPr>
        <p:txBody>
          <a:bodyPr wrap="none" rtlCol="0">
            <a:spAutoFit/>
          </a:bodyPr>
          <a:lstStyle/>
          <a:p>
            <a:pPr algn="r"/>
            <a:r>
              <a:rPr lang="en-US" sz="3600" dirty="0" smtClean="0"/>
              <a:t>Installation &amp; Setup</a:t>
            </a:r>
            <a:endParaRPr lang="en-US" sz="3600" dirty="0"/>
          </a:p>
        </p:txBody>
      </p:sp>
      <p:sp>
        <p:nvSpPr>
          <p:cNvPr id="6" name="Title 5"/>
          <p:cNvSpPr>
            <a:spLocks noGrp="1"/>
          </p:cNvSpPr>
          <p:nvPr>
            <p:ph type="ctrTitle"/>
          </p:nvPr>
        </p:nvSpPr>
        <p:spPr/>
        <p:txBody>
          <a:bodyPr/>
          <a:lstStyle/>
          <a:p>
            <a:r>
              <a:rPr smtClean="0"/>
              <a:t>Microsoft Services Connector</a:t>
            </a:r>
            <a:endParaRPr lang="en-US" dirty="0"/>
          </a:p>
        </p:txBody>
      </p:sp>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054" y="228600"/>
            <a:ext cx="8375946" cy="1163395"/>
          </a:xfrm>
        </p:spPr>
        <p:txBody>
          <a:bodyPr/>
          <a:lstStyle/>
          <a:p>
            <a:r>
              <a:rPr sz="4400" smtClean="0"/>
              <a:t>Microsoft Services Connector</a:t>
            </a:r>
            <a:br>
              <a:rPr sz="4400" smtClean="0"/>
            </a:br>
            <a:r>
              <a:rPr sz="4000" smtClean="0">
                <a:solidFill>
                  <a:schemeClr val="accent1"/>
                </a:solidFill>
              </a:rPr>
              <a:t>Setup</a:t>
            </a:r>
            <a:endParaRPr lang="en-US" sz="2000" dirty="0">
              <a:solidFill>
                <a:schemeClr val="accent1"/>
              </a:solidFill>
            </a:endParaRPr>
          </a:p>
        </p:txBody>
      </p:sp>
      <p:sp>
        <p:nvSpPr>
          <p:cNvPr id="3" name="Content Placeholder 2"/>
          <p:cNvSpPr>
            <a:spLocks noGrp="1"/>
          </p:cNvSpPr>
          <p:nvPr>
            <p:ph idx="1"/>
          </p:nvPr>
        </p:nvSpPr>
        <p:spPr>
          <a:xfrm>
            <a:off x="370114" y="1489077"/>
            <a:ext cx="8382000" cy="2930525"/>
          </a:xfrm>
        </p:spPr>
        <p:txBody>
          <a:bodyPr>
            <a:normAutofit fontScale="92500"/>
          </a:bodyPr>
          <a:lstStyle/>
          <a:p>
            <a:pPr marL="393700" lvl="1" indent="-393700">
              <a:spcAft>
                <a:spcPts val="800"/>
              </a:spcAft>
              <a:buClr>
                <a:schemeClr val="tx1"/>
              </a:buClr>
            </a:pPr>
            <a:r>
              <a:rPr lang="en-US" dirty="0" smtClean="0"/>
              <a:t>Connects Active Directory to Federation Gateway </a:t>
            </a:r>
            <a:br>
              <a:rPr lang="en-US" dirty="0" smtClean="0"/>
            </a:br>
            <a:r>
              <a:rPr lang="en-US" dirty="0" smtClean="0"/>
              <a:t>and Cloud services / applications </a:t>
            </a:r>
          </a:p>
          <a:p>
            <a:pPr marL="393700" lvl="1" indent="-393700">
              <a:spcAft>
                <a:spcPts val="800"/>
              </a:spcAft>
              <a:buClr>
                <a:schemeClr val="tx1"/>
              </a:buClr>
            </a:pPr>
            <a:r>
              <a:rPr lang="en-US" dirty="0" smtClean="0"/>
              <a:t>One-time federation setup – auto-provisioning</a:t>
            </a:r>
          </a:p>
          <a:p>
            <a:pPr marL="728662" lvl="2" indent="-393700">
              <a:spcAft>
                <a:spcPts val="800"/>
              </a:spcAft>
              <a:buClr>
                <a:schemeClr val="tx1"/>
              </a:buClr>
            </a:pPr>
            <a:r>
              <a:rPr lang="en-US" dirty="0" smtClean="0"/>
              <a:t>Domain ownership proved with SSL certificate from trusted CA</a:t>
            </a:r>
          </a:p>
          <a:p>
            <a:pPr marL="728662" lvl="2" indent="-393700">
              <a:spcAft>
                <a:spcPts val="800"/>
              </a:spcAft>
              <a:buClr>
                <a:schemeClr val="tx1"/>
              </a:buClr>
            </a:pPr>
            <a:r>
              <a:rPr lang="en-US" dirty="0" smtClean="0"/>
              <a:t>Registers enterprise domain, sign-in endpoint, and signing key(s)</a:t>
            </a:r>
          </a:p>
          <a:p>
            <a:pPr marL="393700" lvl="1" indent="-393700">
              <a:spcAft>
                <a:spcPts val="800"/>
              </a:spcAft>
              <a:buClr>
                <a:schemeClr val="tx1"/>
              </a:buClr>
            </a:pPr>
            <a:r>
              <a:rPr lang="en-US" dirty="0" smtClean="0"/>
              <a:t>On-going federation management tasks automated</a:t>
            </a:r>
            <a:endParaRPr lang="en-US" sz="2400" dirty="0" smtClean="0">
              <a:solidFill>
                <a:schemeClr val="tx1"/>
              </a:solidFill>
            </a:endParaRPr>
          </a:p>
          <a:p>
            <a:pPr>
              <a:buNone/>
            </a:pPr>
            <a:endParaRPr lang="en-US" sz="2400" dirty="0" smtClean="0">
              <a:solidFill>
                <a:schemeClr val="tx1"/>
              </a:solidFill>
            </a:endParaRPr>
          </a:p>
        </p:txBody>
      </p:sp>
      <p:sp>
        <p:nvSpPr>
          <p:cNvPr id="10" name="Rectangle 9"/>
          <p:cNvSpPr/>
          <p:nvPr/>
        </p:nvSpPr>
        <p:spPr bwMode="auto">
          <a:xfrm rot="5400000">
            <a:off x="2781300" y="6102222"/>
            <a:ext cx="228600" cy="3048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1" name="Rounded Rectangle 10"/>
          <p:cNvSpPr/>
          <p:nvPr/>
        </p:nvSpPr>
        <p:spPr bwMode="auto">
          <a:xfrm>
            <a:off x="990600" y="4724401"/>
            <a:ext cx="2362200" cy="1676400"/>
          </a:xfrm>
          <a:prstGeom prst="roundRect">
            <a:avLst/>
          </a:prstGeom>
          <a:solidFill>
            <a:schemeClr val="accent4">
              <a:alpha val="75000"/>
            </a:scheme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p:txBody>
      </p:sp>
      <p:sp>
        <p:nvSpPr>
          <p:cNvPr id="12" name="TextBox 11"/>
          <p:cNvSpPr txBox="1"/>
          <p:nvPr/>
        </p:nvSpPr>
        <p:spPr>
          <a:xfrm>
            <a:off x="1066800" y="4719936"/>
            <a:ext cx="1256754" cy="400110"/>
          </a:xfrm>
          <a:prstGeom prst="rect">
            <a:avLst/>
          </a:prstGeom>
          <a:noFill/>
        </p:spPr>
        <p:txBody>
          <a:bodyPr wrap="none" rtlCol="0">
            <a:spAutoFit/>
          </a:bodyPr>
          <a:lstStyle/>
          <a:p>
            <a:pPr algn="ctr"/>
            <a:r>
              <a:rPr lang="en-US" sz="2000" dirty="0" smtClean="0">
                <a:effectLst>
                  <a:outerShdw blurRad="38100" dist="38100" dir="2700000" algn="tl">
                    <a:srgbClr val="000000">
                      <a:alpha val="43137"/>
                    </a:srgbClr>
                  </a:outerShdw>
                </a:effectLst>
              </a:rPr>
              <a:t>Enterprise</a:t>
            </a:r>
            <a:endParaRPr lang="en-US" dirty="0">
              <a:effectLst>
                <a:outerShdw blurRad="38100" dist="38100" dir="2700000" algn="tl">
                  <a:srgbClr val="000000">
                    <a:alpha val="43137"/>
                  </a:srgbClr>
                </a:outerShdw>
              </a:effectLst>
            </a:endParaRPr>
          </a:p>
        </p:txBody>
      </p:sp>
      <p:sp>
        <p:nvSpPr>
          <p:cNvPr id="13" name="TextBox 12"/>
          <p:cNvSpPr txBox="1"/>
          <p:nvPr/>
        </p:nvSpPr>
        <p:spPr>
          <a:xfrm>
            <a:off x="1219200" y="6077340"/>
            <a:ext cx="1143000" cy="307777"/>
          </a:xfrm>
          <a:prstGeom prst="rect">
            <a:avLst/>
          </a:prstGeom>
          <a:noFill/>
        </p:spPr>
        <p:txBody>
          <a:bodyPr wrap="square" rtlCol="0">
            <a:spAutoFit/>
          </a:bodyPr>
          <a:lstStyle/>
          <a:p>
            <a:pPr algn="ctr"/>
            <a:r>
              <a:rPr lang="en-US" sz="1400" dirty="0" smtClean="0">
                <a:effectLst>
                  <a:outerShdw blurRad="38100" dist="38100" dir="2700000" algn="tl">
                    <a:srgbClr val="000000">
                      <a:alpha val="43137"/>
                    </a:srgbClr>
                  </a:outerShdw>
                </a:effectLst>
              </a:rPr>
              <a:t>Server Apps</a:t>
            </a:r>
            <a:endParaRPr lang="en-US" sz="1400" dirty="0">
              <a:effectLst>
                <a:outerShdw blurRad="38100" dist="38100" dir="2700000" algn="tl">
                  <a:srgbClr val="000000">
                    <a:alpha val="43137"/>
                  </a:srgbClr>
                </a:outerShdw>
              </a:effectLst>
            </a:endParaRPr>
          </a:p>
        </p:txBody>
      </p:sp>
      <p:pic>
        <p:nvPicPr>
          <p:cNvPr id="14" name="Picture 10" descr="webServiceserver"/>
          <p:cNvPicPr>
            <a:picLocks noChangeAspect="1" noChangeArrowheads="1"/>
          </p:cNvPicPr>
          <p:nvPr/>
        </p:nvPicPr>
        <p:blipFill>
          <a:blip r:embed="rId3">
            <a:clrChange>
              <a:clrFrom>
                <a:srgbClr val="08369A"/>
              </a:clrFrom>
              <a:clrTo>
                <a:srgbClr val="08369A">
                  <a:alpha val="0"/>
                </a:srgbClr>
              </a:clrTo>
            </a:clrChange>
          </a:blip>
          <a:srcRect/>
          <a:stretch>
            <a:fillRect/>
          </a:stretch>
        </p:blipFill>
        <p:spPr bwMode="auto">
          <a:xfrm>
            <a:off x="1524000" y="5410201"/>
            <a:ext cx="533400" cy="692615"/>
          </a:xfrm>
          <a:prstGeom prst="rect">
            <a:avLst/>
          </a:prstGeom>
          <a:noFill/>
        </p:spPr>
      </p:pic>
      <p:sp>
        <p:nvSpPr>
          <p:cNvPr id="22" name="Rounded Rectangle 21"/>
          <p:cNvSpPr/>
          <p:nvPr/>
        </p:nvSpPr>
        <p:spPr bwMode="auto">
          <a:xfrm>
            <a:off x="2590800" y="5386803"/>
            <a:ext cx="1295400" cy="838200"/>
          </a:xfrm>
          <a:prstGeom prst="roundRect">
            <a:avLst/>
          </a:prstGeom>
          <a:solidFill>
            <a:schemeClr val="accent1"/>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sp>
        <p:nvSpPr>
          <p:cNvPr id="23" name="Rounded Rectangle 22"/>
          <p:cNvSpPr/>
          <p:nvPr/>
        </p:nvSpPr>
        <p:spPr bwMode="auto">
          <a:xfrm>
            <a:off x="2590800" y="4548603"/>
            <a:ext cx="1295400" cy="1676400"/>
          </a:xfrm>
          <a:prstGeom prst="roundRect">
            <a:avLst/>
          </a:prstGeom>
          <a:solidFill>
            <a:schemeClr val="accent1"/>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sp>
        <p:nvSpPr>
          <p:cNvPr id="24" name="Rounded Rectangle 23"/>
          <p:cNvSpPr/>
          <p:nvPr/>
        </p:nvSpPr>
        <p:spPr bwMode="auto">
          <a:xfrm>
            <a:off x="2667000" y="4624803"/>
            <a:ext cx="1143000" cy="804059"/>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Microsoft </a:t>
            </a:r>
          </a:p>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Services</a:t>
            </a:r>
          </a:p>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Connector</a:t>
            </a:r>
          </a:p>
        </p:txBody>
      </p:sp>
      <p:sp>
        <p:nvSpPr>
          <p:cNvPr id="25" name="Rounded Rectangle 24"/>
          <p:cNvSpPr/>
          <p:nvPr/>
        </p:nvSpPr>
        <p:spPr bwMode="auto">
          <a:xfrm>
            <a:off x="2667000" y="5505062"/>
            <a:ext cx="11430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Active</a:t>
            </a:r>
          </a:p>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Directory</a:t>
            </a:r>
          </a:p>
        </p:txBody>
      </p:sp>
      <p:sp>
        <p:nvSpPr>
          <p:cNvPr id="29" name="Cloud 28"/>
          <p:cNvSpPr/>
          <p:nvPr/>
        </p:nvSpPr>
        <p:spPr bwMode="auto">
          <a:xfrm rot="272498">
            <a:off x="4245418" y="4211577"/>
            <a:ext cx="4446848" cy="1962937"/>
          </a:xfrm>
          <a:prstGeom prst="cloud">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smtClean="0">
              <a:ln>
                <a:noFill/>
              </a:ln>
              <a:solidFill>
                <a:schemeClr val="tx1"/>
              </a:solidFill>
              <a:effectLst/>
            </a:endParaRPr>
          </a:p>
        </p:txBody>
      </p:sp>
      <p:sp>
        <p:nvSpPr>
          <p:cNvPr id="30" name="Rounded Rectangle 29"/>
          <p:cNvSpPr/>
          <p:nvPr/>
        </p:nvSpPr>
        <p:spPr bwMode="auto">
          <a:xfrm>
            <a:off x="4876800" y="4548602"/>
            <a:ext cx="3125472" cy="1471197"/>
          </a:xfrm>
          <a:prstGeom prst="roundRect">
            <a:avLst/>
          </a:prstGeom>
          <a:solidFill>
            <a:schemeClr val="accent4">
              <a:alpha val="75000"/>
            </a:scheme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p:txBody>
      </p:sp>
      <p:sp>
        <p:nvSpPr>
          <p:cNvPr id="27" name="Rounded Rectangle 26"/>
          <p:cNvSpPr/>
          <p:nvPr/>
        </p:nvSpPr>
        <p:spPr bwMode="auto">
          <a:xfrm>
            <a:off x="4649472" y="4472403"/>
            <a:ext cx="1447800" cy="1066800"/>
          </a:xfrm>
          <a:prstGeom prst="roundRect">
            <a:avLst/>
          </a:prstGeom>
          <a:solidFill>
            <a:schemeClr val="accent1"/>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sp>
        <p:nvSpPr>
          <p:cNvPr id="28" name="Rounded Rectangle 27"/>
          <p:cNvSpPr/>
          <p:nvPr/>
        </p:nvSpPr>
        <p:spPr bwMode="auto">
          <a:xfrm>
            <a:off x="4725672" y="4548603"/>
            <a:ext cx="1295400" cy="9144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Microsoft Federation Gateway</a:t>
            </a:r>
          </a:p>
        </p:txBody>
      </p:sp>
      <p:sp>
        <p:nvSpPr>
          <p:cNvPr id="31" name="TextBox 30"/>
          <p:cNvSpPr txBox="1"/>
          <p:nvPr/>
        </p:nvSpPr>
        <p:spPr>
          <a:xfrm>
            <a:off x="7162800" y="4538247"/>
            <a:ext cx="784189" cy="400110"/>
          </a:xfrm>
          <a:prstGeom prst="rect">
            <a:avLst/>
          </a:prstGeom>
          <a:noFill/>
        </p:spPr>
        <p:txBody>
          <a:bodyPr wrap="none" rtlCol="0">
            <a:spAutoFit/>
          </a:bodyPr>
          <a:lstStyle/>
          <a:p>
            <a:pPr algn="ctr"/>
            <a:r>
              <a:rPr lang="en-US" sz="2000" dirty="0" smtClean="0">
                <a:effectLst>
                  <a:outerShdw blurRad="38100" dist="38100" dir="2700000" algn="tl">
                    <a:srgbClr val="000000">
                      <a:alpha val="43137"/>
                    </a:srgbClr>
                  </a:outerShdw>
                </a:effectLst>
              </a:rPr>
              <a:t>Cloud</a:t>
            </a:r>
            <a:endParaRPr lang="en-US" sz="2000" dirty="0">
              <a:effectLst>
                <a:outerShdw blurRad="38100" dist="38100" dir="2700000" algn="tl">
                  <a:srgbClr val="000000">
                    <a:alpha val="43137"/>
                  </a:srgbClr>
                </a:outerShdw>
              </a:effectLst>
            </a:endParaRPr>
          </a:p>
        </p:txBody>
      </p:sp>
      <p:cxnSp>
        <p:nvCxnSpPr>
          <p:cNvPr id="32" name="Straight Arrow Connector 31"/>
          <p:cNvCxnSpPr>
            <a:stCxn id="24" idx="3"/>
            <a:endCxn id="28" idx="1"/>
          </p:cNvCxnSpPr>
          <p:nvPr/>
        </p:nvCxnSpPr>
        <p:spPr>
          <a:xfrm flipV="1">
            <a:off x="3810000" y="5005803"/>
            <a:ext cx="915672" cy="21030"/>
          </a:xfrm>
          <a:prstGeom prst="straightConnector1">
            <a:avLst/>
          </a:prstGeom>
          <a:ln w="63500">
            <a:headEnd type="none"/>
            <a:tailEnd type="triangle"/>
          </a:ln>
        </p:spPr>
        <p:style>
          <a:lnRef idx="1">
            <a:schemeClr val="accent1"/>
          </a:lnRef>
          <a:fillRef idx="0">
            <a:schemeClr val="accent1"/>
          </a:fillRef>
          <a:effectRef idx="0">
            <a:schemeClr val="accent1"/>
          </a:effectRef>
          <a:fontRef idx="minor">
            <a:schemeClr val="tx1"/>
          </a:fontRef>
        </p:style>
      </p:cxnSp>
      <p:pic>
        <p:nvPicPr>
          <p:cNvPr id="17" name="Picture 8" descr="C:\Program Files\Microsoft Resource DVD Artwork\DVD_ART\Artwork_Imagery\HARDWARE_IMAGERY\Illustration - Misc Hardware\XML Icons\user business man.png"/>
          <p:cNvPicPr>
            <a:picLocks noChangeAspect="1" noChangeArrowheads="1"/>
          </p:cNvPicPr>
          <p:nvPr/>
        </p:nvPicPr>
        <p:blipFill>
          <a:blip r:embed="rId4" cstate="print"/>
          <a:srcRect/>
          <a:stretch>
            <a:fillRect/>
          </a:stretch>
        </p:blipFill>
        <p:spPr bwMode="auto">
          <a:xfrm>
            <a:off x="2438400" y="5791201"/>
            <a:ext cx="449959" cy="546801"/>
          </a:xfrm>
          <a:prstGeom prst="rect">
            <a:avLst/>
          </a:prstGeom>
          <a:noFill/>
        </p:spPr>
      </p:pic>
      <p:sp>
        <p:nvSpPr>
          <p:cNvPr id="33" name="Rounded Rectangle 32"/>
          <p:cNvSpPr/>
          <p:nvPr/>
        </p:nvSpPr>
        <p:spPr bwMode="auto">
          <a:xfrm>
            <a:off x="6478272" y="4953002"/>
            <a:ext cx="1294128" cy="3810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Applications</a:t>
            </a:r>
          </a:p>
        </p:txBody>
      </p:sp>
      <p:sp>
        <p:nvSpPr>
          <p:cNvPr id="34" name="Rounded Rectangle 33"/>
          <p:cNvSpPr/>
          <p:nvPr/>
        </p:nvSpPr>
        <p:spPr bwMode="auto">
          <a:xfrm>
            <a:off x="6477000" y="5410202"/>
            <a:ext cx="1294128" cy="533398"/>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Developer Services</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smtClean="0"/>
              <a:t>	</a:t>
            </a:r>
            <a:endParaRPr lang="en-US" sz="2400" dirty="0"/>
          </a:p>
        </p:txBody>
      </p:sp>
      <p:sp>
        <p:nvSpPr>
          <p:cNvPr id="4" name="Text Placeholder 3"/>
          <p:cNvSpPr>
            <a:spLocks noGrp="1"/>
          </p:cNvSpPr>
          <p:nvPr>
            <p:ph type="body" sz="quarter" idx="10"/>
          </p:nvPr>
        </p:nvSpPr>
        <p:spPr>
          <a:xfrm>
            <a:off x="1370013" y="2057400"/>
            <a:ext cx="6994950" cy="1384994"/>
          </a:xfrm>
        </p:spPr>
        <p:txBody>
          <a:bodyPr/>
          <a:lstStyle/>
          <a:p>
            <a:r>
              <a:rPr lang="en-US" dirty="0" smtClean="0"/>
              <a:t>demo </a:t>
            </a:r>
            <a:endParaRPr lang="en-US" dirty="0"/>
          </a:p>
        </p:txBody>
      </p:sp>
      <p:sp>
        <p:nvSpPr>
          <p:cNvPr id="5" name="TextBox 4"/>
          <p:cNvSpPr txBox="1"/>
          <p:nvPr/>
        </p:nvSpPr>
        <p:spPr>
          <a:xfrm>
            <a:off x="1315583" y="3842658"/>
            <a:ext cx="5969968" cy="1200329"/>
          </a:xfrm>
          <a:prstGeom prst="rect">
            <a:avLst/>
          </a:prstGeom>
          <a:noFill/>
        </p:spPr>
        <p:txBody>
          <a:bodyPr wrap="none" rtlCol="0">
            <a:spAutoFit/>
          </a:bodyPr>
          <a:lstStyle/>
          <a:p>
            <a:r>
              <a:rPr lang="en-US" sz="3600" dirty="0" smtClean="0"/>
              <a:t>Accessing federated resources</a:t>
            </a:r>
          </a:p>
          <a:p>
            <a:r>
              <a:rPr lang="en-US" sz="3600" dirty="0" smtClean="0"/>
              <a:t>from inside corporate network</a:t>
            </a:r>
            <a:endParaRPr lang="en-US" sz="3600" dirty="0"/>
          </a:p>
        </p:txBody>
      </p:sp>
      <p:sp>
        <p:nvSpPr>
          <p:cNvPr id="6" name="Title 5"/>
          <p:cNvSpPr>
            <a:spLocks noGrp="1"/>
          </p:cNvSpPr>
          <p:nvPr>
            <p:ph type="ctrTitle"/>
          </p:nvPr>
        </p:nvSpPr>
        <p:spPr/>
        <p:txBody>
          <a:bodyPr/>
          <a:lstStyle/>
          <a:p>
            <a:r>
              <a:rPr smtClean="0"/>
              <a:t>Microsoft Services Connector</a:t>
            </a:r>
            <a:endParaRPr lang="en-US" dirty="0"/>
          </a:p>
        </p:txBody>
      </p:sp>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054" y="228600"/>
            <a:ext cx="8528346" cy="1052596"/>
          </a:xfrm>
        </p:spPr>
        <p:txBody>
          <a:bodyPr/>
          <a:lstStyle/>
          <a:p>
            <a:r>
              <a:rPr sz="4000" smtClean="0"/>
              <a:t>Microsoft Federation Gateway </a:t>
            </a:r>
            <a:br>
              <a:rPr sz="4000" smtClean="0"/>
            </a:br>
            <a:r>
              <a:rPr sz="3600" smtClean="0">
                <a:solidFill>
                  <a:schemeClr val="accent1"/>
                </a:solidFill>
              </a:rPr>
              <a:t>Accessing Services</a:t>
            </a:r>
            <a:endParaRPr lang="en-US" sz="2000" dirty="0">
              <a:solidFill>
                <a:schemeClr val="accent1"/>
              </a:solidFill>
            </a:endParaRPr>
          </a:p>
        </p:txBody>
      </p:sp>
      <p:sp>
        <p:nvSpPr>
          <p:cNvPr id="3" name="Content Placeholder 2"/>
          <p:cNvSpPr>
            <a:spLocks noGrp="1"/>
          </p:cNvSpPr>
          <p:nvPr>
            <p:ph idx="1"/>
          </p:nvPr>
        </p:nvSpPr>
        <p:spPr>
          <a:xfrm>
            <a:off x="381000" y="1295400"/>
            <a:ext cx="4337756" cy="1635125"/>
          </a:xfrm>
        </p:spPr>
        <p:txBody>
          <a:bodyPr>
            <a:noAutofit/>
          </a:bodyPr>
          <a:lstStyle/>
          <a:p>
            <a:pPr marL="274320" lvl="1" indent="-274320">
              <a:spcAft>
                <a:spcPts val="800"/>
              </a:spcAft>
              <a:buClr>
                <a:schemeClr val="tx1"/>
              </a:buClr>
            </a:pPr>
            <a:r>
              <a:rPr lang="en-US" sz="1800" dirty="0" smtClean="0">
                <a:solidFill>
                  <a:schemeClr val="tx1"/>
                </a:solidFill>
              </a:rPr>
              <a:t>User clicks link -- </a:t>
            </a:r>
            <a:r>
              <a:rPr lang="en-US" sz="1800" dirty="0" smtClean="0"/>
              <a:t>taken to Microsoft Services Connector for authentication</a:t>
            </a:r>
          </a:p>
          <a:p>
            <a:pPr marL="274320" lvl="1" indent="-274320">
              <a:spcAft>
                <a:spcPts val="800"/>
              </a:spcAft>
              <a:buClr>
                <a:schemeClr val="tx1"/>
              </a:buClr>
            </a:pPr>
            <a:r>
              <a:rPr lang="en-US" sz="1800" dirty="0" smtClean="0"/>
              <a:t>Services Connector validates credentials with Active Directory</a:t>
            </a:r>
          </a:p>
          <a:p>
            <a:pPr marL="274320" lvl="1" indent="-274320">
              <a:spcAft>
                <a:spcPts val="800"/>
              </a:spcAft>
              <a:buClr>
                <a:schemeClr val="tx1"/>
              </a:buClr>
            </a:pPr>
            <a:r>
              <a:rPr lang="en-US" sz="1800" dirty="0" smtClean="0"/>
              <a:t>Services Connector issues login token and redirects to Federation Gateway</a:t>
            </a:r>
          </a:p>
        </p:txBody>
      </p:sp>
      <p:sp>
        <p:nvSpPr>
          <p:cNvPr id="23" name="Rounded Rectangle 22"/>
          <p:cNvSpPr/>
          <p:nvPr/>
        </p:nvSpPr>
        <p:spPr bwMode="auto">
          <a:xfrm>
            <a:off x="685800" y="3276600"/>
            <a:ext cx="2514600" cy="1134519"/>
          </a:xfrm>
          <a:prstGeom prst="roundRect">
            <a:avLst/>
          </a:prstGeom>
          <a:solidFill>
            <a:schemeClr val="accent4">
              <a:alpha val="75000"/>
            </a:scheme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p:txBody>
      </p:sp>
      <p:sp>
        <p:nvSpPr>
          <p:cNvPr id="24" name="TextBox 23"/>
          <p:cNvSpPr txBox="1"/>
          <p:nvPr/>
        </p:nvSpPr>
        <p:spPr>
          <a:xfrm>
            <a:off x="762000" y="4038600"/>
            <a:ext cx="869341" cy="338554"/>
          </a:xfrm>
          <a:prstGeom prst="rect">
            <a:avLst/>
          </a:prstGeom>
          <a:noFill/>
        </p:spPr>
        <p:txBody>
          <a:bodyPr wrap="none" rtlCol="0">
            <a:spAutoFit/>
          </a:bodyPr>
          <a:lstStyle/>
          <a:p>
            <a:pPr algn="ctr"/>
            <a:r>
              <a:rPr lang="en-US" sz="1600" dirty="0" smtClean="0">
                <a:effectLst>
                  <a:outerShdw blurRad="38100" dist="38100" dir="2700000" algn="tl">
                    <a:srgbClr val="000000">
                      <a:alpha val="43137"/>
                    </a:srgbClr>
                  </a:outerShdw>
                </a:effectLst>
              </a:rPr>
              <a:t>Desktop</a:t>
            </a:r>
            <a:endParaRPr lang="en-US" sz="1600" dirty="0">
              <a:effectLst>
                <a:outerShdw blurRad="38100" dist="38100" dir="2700000" algn="tl">
                  <a:srgbClr val="000000">
                    <a:alpha val="43137"/>
                  </a:srgbClr>
                </a:outerShdw>
              </a:effectLst>
            </a:endParaRPr>
          </a:p>
        </p:txBody>
      </p:sp>
      <p:pic>
        <p:nvPicPr>
          <p:cNvPr id="25" name="Picture 24" descr="C:\Program Files\Microsoft Resource DVD Artwork\DVD_ART\Artwork_Imagery\HARDWARE_IMAGERY\Illustration - Misc Hardware\Windows Vista Illustration Icons\Generic User.png"/>
          <p:cNvPicPr>
            <a:picLocks noChangeAspect="1" noChangeArrowheads="1"/>
          </p:cNvPicPr>
          <p:nvPr/>
        </p:nvPicPr>
        <p:blipFill>
          <a:blip r:embed="rId3" cstate="print"/>
          <a:srcRect/>
          <a:stretch>
            <a:fillRect/>
          </a:stretch>
        </p:blipFill>
        <p:spPr bwMode="auto">
          <a:xfrm flipH="1">
            <a:off x="900814" y="3352800"/>
            <a:ext cx="546986" cy="665672"/>
          </a:xfrm>
          <a:prstGeom prst="rect">
            <a:avLst/>
          </a:prstGeom>
          <a:noFill/>
        </p:spPr>
      </p:pic>
      <p:sp>
        <p:nvSpPr>
          <p:cNvPr id="26" name="Rounded Rectangle 25"/>
          <p:cNvSpPr/>
          <p:nvPr/>
        </p:nvSpPr>
        <p:spPr bwMode="auto">
          <a:xfrm>
            <a:off x="1981200" y="3200400"/>
            <a:ext cx="1066800" cy="3810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Browser</a:t>
            </a:r>
          </a:p>
        </p:txBody>
      </p:sp>
      <p:sp>
        <p:nvSpPr>
          <p:cNvPr id="27" name="Rounded Rectangle 26"/>
          <p:cNvSpPr/>
          <p:nvPr/>
        </p:nvSpPr>
        <p:spPr bwMode="auto">
          <a:xfrm>
            <a:off x="1981200" y="3657600"/>
            <a:ext cx="1066800" cy="3810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Office</a:t>
            </a:r>
          </a:p>
        </p:txBody>
      </p:sp>
      <p:sp>
        <p:nvSpPr>
          <p:cNvPr id="28" name="Rounded Rectangle 27"/>
          <p:cNvSpPr/>
          <p:nvPr/>
        </p:nvSpPr>
        <p:spPr bwMode="auto">
          <a:xfrm>
            <a:off x="1981200" y="4114800"/>
            <a:ext cx="1066800" cy="3810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Apps</a:t>
            </a:r>
          </a:p>
        </p:txBody>
      </p:sp>
      <p:sp>
        <p:nvSpPr>
          <p:cNvPr id="30" name="Rounded Rectangle 29"/>
          <p:cNvSpPr/>
          <p:nvPr/>
        </p:nvSpPr>
        <p:spPr bwMode="auto">
          <a:xfrm>
            <a:off x="990600" y="4953000"/>
            <a:ext cx="2590800" cy="1676400"/>
          </a:xfrm>
          <a:prstGeom prst="roundRect">
            <a:avLst/>
          </a:prstGeom>
          <a:solidFill>
            <a:schemeClr val="accent4">
              <a:alpha val="75000"/>
            </a:scheme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p:txBody>
      </p:sp>
      <p:sp>
        <p:nvSpPr>
          <p:cNvPr id="31" name="TextBox 30"/>
          <p:cNvSpPr txBox="1"/>
          <p:nvPr/>
        </p:nvSpPr>
        <p:spPr>
          <a:xfrm>
            <a:off x="1105446" y="5010090"/>
            <a:ext cx="1256754" cy="400110"/>
          </a:xfrm>
          <a:prstGeom prst="rect">
            <a:avLst/>
          </a:prstGeom>
          <a:noFill/>
        </p:spPr>
        <p:txBody>
          <a:bodyPr wrap="none" rtlCol="0">
            <a:spAutoFit/>
          </a:bodyPr>
          <a:lstStyle/>
          <a:p>
            <a:pPr algn="ctr"/>
            <a:r>
              <a:rPr lang="en-US" sz="2000" dirty="0" smtClean="0">
                <a:effectLst>
                  <a:outerShdw blurRad="38100" dist="38100" dir="2700000" algn="tl">
                    <a:srgbClr val="000000">
                      <a:alpha val="43137"/>
                    </a:srgbClr>
                  </a:outerShdw>
                </a:effectLst>
              </a:rPr>
              <a:t>Enterprise</a:t>
            </a:r>
            <a:endParaRPr lang="en-US" sz="1600" dirty="0">
              <a:effectLst>
                <a:outerShdw blurRad="38100" dist="38100" dir="2700000" algn="tl">
                  <a:srgbClr val="000000">
                    <a:alpha val="43137"/>
                  </a:srgbClr>
                </a:outerShdw>
              </a:effectLst>
            </a:endParaRPr>
          </a:p>
        </p:txBody>
      </p:sp>
      <p:sp>
        <p:nvSpPr>
          <p:cNvPr id="34" name="Rounded Rectangle 33"/>
          <p:cNvSpPr/>
          <p:nvPr/>
        </p:nvSpPr>
        <p:spPr bwMode="auto">
          <a:xfrm>
            <a:off x="2590800" y="5615402"/>
            <a:ext cx="1295400" cy="838200"/>
          </a:xfrm>
          <a:prstGeom prst="roundRect">
            <a:avLst/>
          </a:prstGeom>
          <a:solidFill>
            <a:schemeClr val="accent1"/>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sp>
        <p:nvSpPr>
          <p:cNvPr id="35" name="Rounded Rectangle 34"/>
          <p:cNvSpPr/>
          <p:nvPr/>
        </p:nvSpPr>
        <p:spPr bwMode="auto">
          <a:xfrm>
            <a:off x="2590800" y="4777202"/>
            <a:ext cx="1295400" cy="1676400"/>
          </a:xfrm>
          <a:prstGeom prst="roundRect">
            <a:avLst/>
          </a:prstGeom>
          <a:solidFill>
            <a:schemeClr val="accent1"/>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sp>
        <p:nvSpPr>
          <p:cNvPr id="36" name="Rounded Rectangle 35"/>
          <p:cNvSpPr/>
          <p:nvPr/>
        </p:nvSpPr>
        <p:spPr bwMode="auto">
          <a:xfrm>
            <a:off x="2667000" y="4853402"/>
            <a:ext cx="1143000" cy="804059"/>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Microsoft </a:t>
            </a:r>
          </a:p>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Services</a:t>
            </a:r>
          </a:p>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Connector</a:t>
            </a:r>
          </a:p>
        </p:txBody>
      </p:sp>
      <p:sp>
        <p:nvSpPr>
          <p:cNvPr id="37" name="Rounded Rectangle 36"/>
          <p:cNvSpPr/>
          <p:nvPr/>
        </p:nvSpPr>
        <p:spPr bwMode="auto">
          <a:xfrm>
            <a:off x="2667000" y="5733661"/>
            <a:ext cx="11430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Active</a:t>
            </a:r>
          </a:p>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Directory</a:t>
            </a:r>
          </a:p>
        </p:txBody>
      </p:sp>
      <p:sp>
        <p:nvSpPr>
          <p:cNvPr id="38" name="Cloud 37"/>
          <p:cNvSpPr/>
          <p:nvPr/>
        </p:nvSpPr>
        <p:spPr bwMode="auto">
          <a:xfrm rot="272498">
            <a:off x="4254212" y="4440526"/>
            <a:ext cx="4446848" cy="1740794"/>
          </a:xfrm>
          <a:prstGeom prst="cloud">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smtClean="0">
              <a:ln>
                <a:noFill/>
              </a:ln>
              <a:solidFill>
                <a:schemeClr val="tx1"/>
              </a:solidFill>
              <a:effectLst/>
            </a:endParaRPr>
          </a:p>
        </p:txBody>
      </p:sp>
      <p:sp>
        <p:nvSpPr>
          <p:cNvPr id="39" name="Rounded Rectangle 38"/>
          <p:cNvSpPr/>
          <p:nvPr/>
        </p:nvSpPr>
        <p:spPr bwMode="auto">
          <a:xfrm>
            <a:off x="4876800" y="4777202"/>
            <a:ext cx="3125472" cy="1471198"/>
          </a:xfrm>
          <a:prstGeom prst="roundRect">
            <a:avLst/>
          </a:prstGeom>
          <a:solidFill>
            <a:schemeClr val="accent4">
              <a:alpha val="75000"/>
            </a:scheme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p:txBody>
      </p:sp>
      <p:sp>
        <p:nvSpPr>
          <p:cNvPr id="41" name="Rounded Rectangle 40"/>
          <p:cNvSpPr/>
          <p:nvPr/>
        </p:nvSpPr>
        <p:spPr bwMode="auto">
          <a:xfrm>
            <a:off x="4649472" y="4701002"/>
            <a:ext cx="1447800" cy="1066800"/>
          </a:xfrm>
          <a:prstGeom prst="roundRect">
            <a:avLst/>
          </a:prstGeom>
          <a:solidFill>
            <a:schemeClr val="accent1"/>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sp>
        <p:nvSpPr>
          <p:cNvPr id="42" name="Rounded Rectangle 41"/>
          <p:cNvSpPr/>
          <p:nvPr/>
        </p:nvSpPr>
        <p:spPr bwMode="auto">
          <a:xfrm>
            <a:off x="4725672" y="4777202"/>
            <a:ext cx="1295400" cy="9144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Microsoft Federation Gateway</a:t>
            </a:r>
          </a:p>
        </p:txBody>
      </p:sp>
      <p:sp>
        <p:nvSpPr>
          <p:cNvPr id="43" name="TextBox 42"/>
          <p:cNvSpPr txBox="1"/>
          <p:nvPr/>
        </p:nvSpPr>
        <p:spPr>
          <a:xfrm>
            <a:off x="7010400" y="4766846"/>
            <a:ext cx="784189" cy="400110"/>
          </a:xfrm>
          <a:prstGeom prst="rect">
            <a:avLst/>
          </a:prstGeom>
          <a:noFill/>
        </p:spPr>
        <p:txBody>
          <a:bodyPr wrap="none" rtlCol="0">
            <a:spAutoFit/>
          </a:bodyPr>
          <a:lstStyle/>
          <a:p>
            <a:pPr algn="ctr"/>
            <a:r>
              <a:rPr lang="en-US" sz="2000" dirty="0" smtClean="0">
                <a:effectLst>
                  <a:outerShdw blurRad="38100" dist="38100" dir="2700000" algn="tl">
                    <a:srgbClr val="000000">
                      <a:alpha val="43137"/>
                    </a:srgbClr>
                  </a:outerShdw>
                </a:effectLst>
              </a:rPr>
              <a:t>Cloud</a:t>
            </a:r>
            <a:endParaRPr lang="en-US" sz="2000" dirty="0">
              <a:effectLst>
                <a:outerShdw blurRad="38100" dist="38100" dir="2700000" algn="tl">
                  <a:srgbClr val="000000">
                    <a:alpha val="43137"/>
                  </a:srgbClr>
                </a:outerShdw>
              </a:effectLst>
            </a:endParaRPr>
          </a:p>
        </p:txBody>
      </p:sp>
      <p:pic>
        <p:nvPicPr>
          <p:cNvPr id="45" name="Picture 8" descr="C:\Program Files\Microsoft Resource DVD Artwork\DVD_ART\Artwork_Imagery\HARDWARE_IMAGERY\Illustration - Misc Hardware\XML Icons\user business man.png"/>
          <p:cNvPicPr>
            <a:picLocks noChangeAspect="1" noChangeArrowheads="1"/>
          </p:cNvPicPr>
          <p:nvPr/>
        </p:nvPicPr>
        <p:blipFill>
          <a:blip r:embed="rId4" cstate="print"/>
          <a:srcRect/>
          <a:stretch>
            <a:fillRect/>
          </a:stretch>
        </p:blipFill>
        <p:spPr bwMode="auto">
          <a:xfrm>
            <a:off x="2438400" y="6019800"/>
            <a:ext cx="449959" cy="546801"/>
          </a:xfrm>
          <a:prstGeom prst="rect">
            <a:avLst/>
          </a:prstGeom>
          <a:noFill/>
        </p:spPr>
      </p:pic>
      <p:cxnSp>
        <p:nvCxnSpPr>
          <p:cNvPr id="53" name="Straight Arrow Connector 52"/>
          <p:cNvCxnSpPr>
            <a:stCxn id="26" idx="3"/>
            <a:endCxn id="42" idx="1"/>
          </p:cNvCxnSpPr>
          <p:nvPr/>
        </p:nvCxnSpPr>
        <p:spPr>
          <a:xfrm>
            <a:off x="3048000" y="3390900"/>
            <a:ext cx="1677672" cy="1843502"/>
          </a:xfrm>
          <a:prstGeom prst="straightConnector1">
            <a:avLst/>
          </a:prstGeom>
          <a:ln w="635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26" idx="3"/>
            <a:endCxn id="36" idx="0"/>
          </p:cNvCxnSpPr>
          <p:nvPr/>
        </p:nvCxnSpPr>
        <p:spPr>
          <a:xfrm>
            <a:off x="3048000" y="3390900"/>
            <a:ext cx="190500" cy="1462502"/>
          </a:xfrm>
          <a:prstGeom prst="straightConnector1">
            <a:avLst/>
          </a:prstGeom>
          <a:ln w="635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rot="16200000" flipV="1">
            <a:off x="2450099" y="3950701"/>
            <a:ext cx="1386302" cy="190500"/>
          </a:xfrm>
          <a:prstGeom prst="straightConnector1">
            <a:avLst/>
          </a:prstGeom>
          <a:ln w="635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rot="10800000">
            <a:off x="2971800" y="3352800"/>
            <a:ext cx="1677672" cy="1843502"/>
          </a:xfrm>
          <a:prstGeom prst="straightConnector1">
            <a:avLst/>
          </a:prstGeom>
          <a:ln w="635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endCxn id="46" idx="0"/>
          </p:cNvCxnSpPr>
          <p:nvPr/>
        </p:nvCxnSpPr>
        <p:spPr>
          <a:xfrm>
            <a:off x="3048000" y="3429002"/>
            <a:ext cx="4077336" cy="1752600"/>
          </a:xfrm>
          <a:prstGeom prst="straightConnector1">
            <a:avLst/>
          </a:prstGeom>
          <a:ln w="63500">
            <a:headEnd type="none"/>
            <a:tailEnd type="triangle"/>
          </a:ln>
        </p:spPr>
        <p:style>
          <a:lnRef idx="1">
            <a:schemeClr val="accent1"/>
          </a:lnRef>
          <a:fillRef idx="0">
            <a:schemeClr val="accent1"/>
          </a:fillRef>
          <a:effectRef idx="0">
            <a:schemeClr val="accent1"/>
          </a:effectRef>
          <a:fontRef idx="minor">
            <a:schemeClr val="tx1"/>
          </a:fontRef>
        </p:style>
      </p:cxnSp>
      <p:sp>
        <p:nvSpPr>
          <p:cNvPr id="46" name="Rounded Rectangle 45"/>
          <p:cNvSpPr/>
          <p:nvPr/>
        </p:nvSpPr>
        <p:spPr bwMode="auto">
          <a:xfrm>
            <a:off x="6478272" y="5181602"/>
            <a:ext cx="1294128" cy="3810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Applications</a:t>
            </a:r>
          </a:p>
        </p:txBody>
      </p:sp>
      <p:sp>
        <p:nvSpPr>
          <p:cNvPr id="47" name="Rounded Rectangle 46"/>
          <p:cNvSpPr/>
          <p:nvPr/>
        </p:nvSpPr>
        <p:spPr bwMode="auto">
          <a:xfrm>
            <a:off x="6477000" y="5638802"/>
            <a:ext cx="1294128" cy="533398"/>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Developer Services</a:t>
            </a:r>
          </a:p>
        </p:txBody>
      </p:sp>
      <p:sp>
        <p:nvSpPr>
          <p:cNvPr id="40" name="Content Placeholder 2"/>
          <p:cNvSpPr txBox="1">
            <a:spLocks/>
          </p:cNvSpPr>
          <p:nvPr/>
        </p:nvSpPr>
        <p:spPr>
          <a:xfrm>
            <a:off x="4800600" y="1295400"/>
            <a:ext cx="4038600" cy="1635125"/>
          </a:xfrm>
          <a:prstGeom prst="rect">
            <a:avLst/>
          </a:prstGeom>
        </p:spPr>
        <p:txBody>
          <a:bodyPr vert="horz" wrap="square" lIns="0" tIns="0" rIns="0" bIns="0" rtlCol="0">
            <a:noAutofit/>
          </a:bodyPr>
          <a:lstStyle/>
          <a:p>
            <a:pPr marL="274320" marR="0" lvl="1" indent="-274320" algn="l" defTabSz="914363" rtl="0" eaLnBrk="1" fontAlgn="auto" latinLnBrk="0" hangingPunct="1">
              <a:lnSpc>
                <a:spcPct val="90000"/>
              </a:lnSpc>
              <a:spcBef>
                <a:spcPct val="20000"/>
              </a:spcBef>
              <a:spcAft>
                <a:spcPts val="800"/>
              </a:spcAft>
              <a:buClr>
                <a:schemeClr val="tx1"/>
              </a:buClr>
              <a:buSzTx/>
              <a:buFontTx/>
              <a:buBlip>
                <a:blip r:embed="rId5"/>
              </a:buBlip>
              <a:tabLst/>
              <a:defRPr/>
            </a:pPr>
            <a:r>
              <a:rPr kumimoji="0" lang="en-US" b="0" i="0" u="none" strike="noStrike" kern="1200" cap="none" spc="0" normalizeH="0" baseline="0" noProof="0" dirty="0" smtClean="0">
                <a:ln>
                  <a:noFill/>
                </a:ln>
                <a:solidFill>
                  <a:schemeClr val="tx1"/>
                </a:solidFill>
                <a:effectLst/>
                <a:uLnTx/>
                <a:uFillTx/>
                <a:latin typeface="Calibri" pitchFamily="34" charset="0"/>
                <a:ea typeface="+mn-ea"/>
                <a:cs typeface="+mn-cs"/>
              </a:rPr>
              <a:t>Federation Gateway validates token and transforms claims</a:t>
            </a:r>
          </a:p>
          <a:p>
            <a:pPr marL="274320" marR="0" lvl="1" indent="-274320" algn="l" defTabSz="914363" rtl="0" eaLnBrk="1" fontAlgn="auto" latinLnBrk="0" hangingPunct="1">
              <a:lnSpc>
                <a:spcPct val="90000"/>
              </a:lnSpc>
              <a:spcBef>
                <a:spcPct val="20000"/>
              </a:spcBef>
              <a:spcAft>
                <a:spcPts val="800"/>
              </a:spcAft>
              <a:buClr>
                <a:schemeClr val="tx1"/>
              </a:buClr>
              <a:buSzTx/>
              <a:buFontTx/>
              <a:buBlip>
                <a:blip r:embed="rId5"/>
              </a:buBlip>
              <a:tabLst/>
              <a:defRPr/>
            </a:pPr>
            <a:r>
              <a:rPr kumimoji="0" lang="en-US" b="0" i="0" u="none" strike="noStrike" kern="1200" cap="none" spc="0" normalizeH="0" baseline="0" noProof="0" dirty="0" smtClean="0">
                <a:ln>
                  <a:noFill/>
                </a:ln>
                <a:solidFill>
                  <a:schemeClr val="tx1"/>
                </a:solidFill>
                <a:effectLst/>
                <a:uLnTx/>
                <a:uFillTx/>
                <a:latin typeface="Calibri" pitchFamily="34" charset="0"/>
                <a:ea typeface="+mn-ea"/>
                <a:cs typeface="+mn-cs"/>
              </a:rPr>
              <a:t>Federation Gateway issues service token and redirects to service</a:t>
            </a:r>
          </a:p>
          <a:p>
            <a:pPr marL="274320" marR="0" lvl="1" indent="-274320" algn="l" defTabSz="914363" rtl="0" eaLnBrk="1" fontAlgn="auto" latinLnBrk="0" hangingPunct="1">
              <a:lnSpc>
                <a:spcPct val="90000"/>
              </a:lnSpc>
              <a:spcBef>
                <a:spcPct val="20000"/>
              </a:spcBef>
              <a:spcAft>
                <a:spcPts val="800"/>
              </a:spcAft>
              <a:buClr>
                <a:schemeClr val="tx1"/>
              </a:buClr>
              <a:buSzTx/>
              <a:buFontTx/>
              <a:buBlip>
                <a:blip r:embed="rId5"/>
              </a:buBlip>
              <a:tabLst/>
              <a:defRPr/>
            </a:pPr>
            <a:r>
              <a:rPr kumimoji="0" lang="en-US" b="0" i="0" u="none" strike="noStrike" kern="1200" cap="none" spc="0" normalizeH="0" baseline="0" noProof="0" dirty="0" smtClean="0">
                <a:ln>
                  <a:noFill/>
                </a:ln>
                <a:solidFill>
                  <a:schemeClr val="tx1"/>
                </a:solidFill>
                <a:effectLst/>
                <a:uLnTx/>
                <a:uFillTx/>
                <a:latin typeface="Calibri" pitchFamily="34" charset="0"/>
                <a:ea typeface="+mn-ea"/>
                <a:cs typeface="+mn-cs"/>
              </a:rPr>
              <a:t>User accesses service</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55"/>
                                        </p:tgtEl>
                                        <p:attrNameLst>
                                          <p:attrName>style.visibility</p:attrName>
                                        </p:attrNameLst>
                                      </p:cBhvr>
                                      <p:to>
                                        <p:strVal val="hidden"/>
                                      </p:to>
                                    </p:set>
                                  </p:childTnLst>
                                </p:cTn>
                              </p:par>
                              <p:par>
                                <p:cTn id="15" presetID="6" presetClass="emph" presetSubtype="0" fill="hold" nodeType="withEffect">
                                  <p:stCondLst>
                                    <p:cond delay="0"/>
                                  </p:stCondLst>
                                  <p:childTnLst>
                                    <p:animScale>
                                      <p:cBhvr>
                                        <p:cTn id="16" dur="1000" fill="hold"/>
                                        <p:tgtEl>
                                          <p:spTgt spid="35"/>
                                        </p:tgtEl>
                                      </p:cBhvr>
                                      <p:by x="125000" y="125000"/>
                                    </p:animScale>
                                  </p:childTnLst>
                                </p:cTn>
                              </p:par>
                            </p:childTnLst>
                          </p:cTn>
                        </p:par>
                      </p:childTnLst>
                    </p:cTn>
                  </p:par>
                  <p:par>
                    <p:cTn id="17" fill="hold">
                      <p:stCondLst>
                        <p:cond delay="indefinite"/>
                      </p:stCondLst>
                      <p:childTnLst>
                        <p:par>
                          <p:cTn id="18" fill="hold">
                            <p:stCondLst>
                              <p:cond delay="0"/>
                            </p:stCondLst>
                            <p:childTnLst>
                              <p:par>
                                <p:cTn id="19" presetID="6" presetClass="emph" presetSubtype="0" fill="hold" grpId="0" nodeType="clickEffect">
                                  <p:stCondLst>
                                    <p:cond delay="0"/>
                                  </p:stCondLst>
                                  <p:childTnLst>
                                    <p:animScale>
                                      <p:cBhvr>
                                        <p:cTn id="20" dur="500" fill="hold"/>
                                        <p:tgtEl>
                                          <p:spTgt spid="35"/>
                                        </p:tgtEl>
                                      </p:cBhvr>
                                      <p:by x="80000" y="80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0">
                                            <p:txEl>
                                              <p:pRg st="0" end="0"/>
                                            </p:txEl>
                                          </p:spTgt>
                                        </p:tgtEl>
                                        <p:attrNameLst>
                                          <p:attrName>style.visibility</p:attrName>
                                        </p:attrNameLst>
                                      </p:cBhvr>
                                      <p:to>
                                        <p:strVal val="visible"/>
                                      </p:to>
                                    </p:set>
                                  </p:childTnLst>
                                </p:cTn>
                              </p:par>
                              <p:par>
                                <p:cTn id="33" presetID="1" presetClass="exit" presetSubtype="0" fill="hold" nodeType="withEffect">
                                  <p:stCondLst>
                                    <p:cond delay="0"/>
                                  </p:stCondLst>
                                  <p:childTnLst>
                                    <p:set>
                                      <p:cBhvr>
                                        <p:cTn id="34" dur="1" fill="hold">
                                          <p:stCondLst>
                                            <p:cond delay="0"/>
                                          </p:stCondLst>
                                        </p:cTn>
                                        <p:tgtEl>
                                          <p:spTgt spid="61"/>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53"/>
                                        </p:tgtEl>
                                        <p:attrNameLst>
                                          <p:attrName>style.visibility</p:attrName>
                                        </p:attrNameLst>
                                      </p:cBhvr>
                                      <p:to>
                                        <p:strVal val="hidden"/>
                                      </p:to>
                                    </p:set>
                                  </p:childTnLst>
                                </p:cTn>
                              </p:par>
                              <p:par>
                                <p:cTn id="37" presetID="6" presetClass="emph" presetSubtype="0" fill="hold" grpId="0" nodeType="withEffect">
                                  <p:stCondLst>
                                    <p:cond delay="0"/>
                                  </p:stCondLst>
                                  <p:childTnLst>
                                    <p:animScale>
                                      <p:cBhvr>
                                        <p:cTn id="38" dur="500" fill="hold"/>
                                        <p:tgtEl>
                                          <p:spTgt spid="41"/>
                                        </p:tgtEl>
                                      </p:cBhvr>
                                      <p:by x="125000" y="125000"/>
                                    </p:animScale>
                                  </p:childTnLst>
                                </p:cTn>
                              </p:par>
                            </p:childTnLst>
                          </p:cTn>
                        </p:par>
                      </p:childTnLst>
                    </p:cTn>
                  </p:par>
                  <p:par>
                    <p:cTn id="39" fill="hold">
                      <p:stCondLst>
                        <p:cond delay="indefinite"/>
                      </p:stCondLst>
                      <p:childTnLst>
                        <p:par>
                          <p:cTn id="40" fill="hold">
                            <p:stCondLst>
                              <p:cond delay="0"/>
                            </p:stCondLst>
                            <p:childTnLst>
                              <p:par>
                                <p:cTn id="41" presetID="6" presetClass="emph" presetSubtype="0" fill="hold" grpId="1" nodeType="clickEffect">
                                  <p:stCondLst>
                                    <p:cond delay="0"/>
                                  </p:stCondLst>
                                  <p:childTnLst>
                                    <p:animScale>
                                      <p:cBhvr>
                                        <p:cTn id="42" dur="500" fill="hold"/>
                                        <p:tgtEl>
                                          <p:spTgt spid="41"/>
                                        </p:tgtEl>
                                      </p:cBhvr>
                                      <p:by x="80000" y="80000"/>
                                    </p:animScale>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0">
                                            <p:txEl>
                                              <p:pRg st="1" end="1"/>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0">
                                            <p:txEl>
                                              <p:pRg st="2" end="2"/>
                                            </p:txEl>
                                          </p:spTgt>
                                        </p:tgtEl>
                                        <p:attrNameLst>
                                          <p:attrName>style.visibility</p:attrName>
                                        </p:attrNameLst>
                                      </p:cBhvr>
                                      <p:to>
                                        <p:strVal val="visible"/>
                                      </p:to>
                                    </p:set>
                                  </p:childTnLst>
                                </p:cTn>
                              </p:par>
                              <p:par>
                                <p:cTn id="55" presetID="1" presetClass="exit" presetSubtype="0" fill="hold" nodeType="withEffect">
                                  <p:stCondLst>
                                    <p:cond delay="0"/>
                                  </p:stCondLst>
                                  <p:childTnLst>
                                    <p:set>
                                      <p:cBhvr>
                                        <p:cTn id="56" dur="1" fill="hold">
                                          <p:stCondLst>
                                            <p:cond delay="0"/>
                                          </p:stCondLst>
                                        </p:cTn>
                                        <p:tgtEl>
                                          <p:spTgt spid="6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41" grpId="0" animBg="1"/>
      <p:bldP spid="41"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Microsoft Federation Gateway</a:t>
            </a:r>
            <a:endParaRPr lang="en-US" dirty="0"/>
          </a:p>
        </p:txBody>
      </p:sp>
      <p:sp>
        <p:nvSpPr>
          <p:cNvPr id="3" name="Content Placeholder 2"/>
          <p:cNvSpPr>
            <a:spLocks noGrp="1"/>
          </p:cNvSpPr>
          <p:nvPr>
            <p:ph idx="1"/>
          </p:nvPr>
        </p:nvSpPr>
        <p:spPr>
          <a:xfrm>
            <a:off x="381000" y="1412874"/>
            <a:ext cx="8382000" cy="4519839"/>
          </a:xfrm>
        </p:spPr>
        <p:txBody>
          <a:bodyPr>
            <a:noAutofit/>
          </a:bodyPr>
          <a:lstStyle/>
          <a:p>
            <a:pPr>
              <a:lnSpc>
                <a:spcPct val="100000"/>
              </a:lnSpc>
            </a:pPr>
            <a:r>
              <a:rPr lang="en-US" sz="2800" dirty="0" smtClean="0"/>
              <a:t>Info for enterprises:</a:t>
            </a:r>
          </a:p>
          <a:p>
            <a:pPr lvl="1">
              <a:lnSpc>
                <a:spcPct val="100000"/>
              </a:lnSpc>
            </a:pPr>
            <a:r>
              <a:rPr lang="en-US" sz="1800" dirty="0" smtClean="0"/>
              <a:t>Microsoft Services Connector</a:t>
            </a:r>
          </a:p>
          <a:p>
            <a:pPr lvl="2">
              <a:lnSpc>
                <a:spcPct val="100000"/>
              </a:lnSpc>
            </a:pPr>
            <a:r>
              <a:rPr lang="en-US" sz="1800" dirty="0" smtClean="0"/>
              <a:t>Built on core “Geneva” technology</a:t>
            </a:r>
          </a:p>
          <a:p>
            <a:pPr lvl="2">
              <a:lnSpc>
                <a:spcPct val="100000"/>
              </a:lnSpc>
            </a:pPr>
            <a:r>
              <a:rPr lang="en-US" sz="1800" dirty="0" smtClean="0"/>
              <a:t>Upgrade path to “Geneva” Server</a:t>
            </a:r>
          </a:p>
          <a:p>
            <a:pPr lvl="1">
              <a:lnSpc>
                <a:spcPct val="100000"/>
              </a:lnSpc>
            </a:pPr>
            <a:r>
              <a:rPr lang="en-US" sz="1800" dirty="0" smtClean="0">
                <a:solidFill>
                  <a:schemeClr val="accent1"/>
                </a:solidFill>
              </a:rPr>
              <a:t>Works for businesses without AD – BYO (Bring Your Own)</a:t>
            </a:r>
          </a:p>
          <a:p>
            <a:pPr lvl="1">
              <a:lnSpc>
                <a:spcPct val="100000"/>
              </a:lnSpc>
            </a:pPr>
            <a:r>
              <a:rPr lang="en-US" sz="1800" dirty="0" smtClean="0"/>
              <a:t>Protocols: WS-*, </a:t>
            </a:r>
            <a:r>
              <a:rPr lang="en-US" sz="1800" dirty="0" smtClean="0">
                <a:solidFill>
                  <a:schemeClr val="accent4"/>
                </a:solidFill>
              </a:rPr>
              <a:t>SAML later</a:t>
            </a:r>
          </a:p>
          <a:p>
            <a:pPr lvl="1">
              <a:lnSpc>
                <a:spcPct val="100000"/>
              </a:lnSpc>
            </a:pPr>
            <a:r>
              <a:rPr lang="en-US" sz="1800" dirty="0" smtClean="0"/>
              <a:t>Tokens: SAML</a:t>
            </a:r>
          </a:p>
          <a:p>
            <a:pPr>
              <a:lnSpc>
                <a:spcPct val="100000"/>
              </a:lnSpc>
            </a:pPr>
            <a:r>
              <a:rPr lang="en-US" sz="2800" dirty="0" smtClean="0"/>
              <a:t>Info for relying services: </a:t>
            </a:r>
          </a:p>
          <a:p>
            <a:pPr lvl="1">
              <a:lnSpc>
                <a:spcPct val="100000"/>
              </a:lnSpc>
            </a:pPr>
            <a:r>
              <a:rPr lang="en-US" sz="1800" dirty="0" smtClean="0"/>
              <a:t>Frameworks:  .NET, “Geneva”, Live</a:t>
            </a:r>
          </a:p>
          <a:p>
            <a:pPr lvl="1">
              <a:lnSpc>
                <a:spcPct val="100000"/>
              </a:lnSpc>
            </a:pPr>
            <a:r>
              <a:rPr lang="en-US" sz="1800" dirty="0" smtClean="0"/>
              <a:t>Messaging:  WS-*, SAML , Live</a:t>
            </a:r>
          </a:p>
          <a:p>
            <a:pPr lvl="1">
              <a:lnSpc>
                <a:spcPct val="100000"/>
              </a:lnSpc>
            </a:pPr>
            <a:r>
              <a:rPr lang="en-US" sz="1800" dirty="0" smtClean="0"/>
              <a:t>Tokens: SAML, Live</a:t>
            </a:r>
          </a:p>
        </p:txBody>
      </p:sp>
    </p:spTree>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smtClean="0"/>
              <a:t>	</a:t>
            </a:r>
            <a:endParaRPr lang="en-US" sz="2400" dirty="0"/>
          </a:p>
        </p:txBody>
      </p:sp>
      <p:sp>
        <p:nvSpPr>
          <p:cNvPr id="4" name="Text Placeholder 3"/>
          <p:cNvSpPr>
            <a:spLocks noGrp="1"/>
          </p:cNvSpPr>
          <p:nvPr>
            <p:ph type="body" sz="quarter" idx="10"/>
          </p:nvPr>
        </p:nvSpPr>
        <p:spPr>
          <a:xfrm>
            <a:off x="1370013" y="2068285"/>
            <a:ext cx="6994950" cy="1384994"/>
          </a:xfrm>
        </p:spPr>
        <p:txBody>
          <a:bodyPr/>
          <a:lstStyle/>
          <a:p>
            <a:r>
              <a:rPr lang="en-US" dirty="0" smtClean="0"/>
              <a:t>demo </a:t>
            </a:r>
            <a:endParaRPr lang="en-US" dirty="0"/>
          </a:p>
        </p:txBody>
      </p:sp>
      <p:sp>
        <p:nvSpPr>
          <p:cNvPr id="5" name="TextBox 4"/>
          <p:cNvSpPr txBox="1"/>
          <p:nvPr/>
        </p:nvSpPr>
        <p:spPr>
          <a:xfrm>
            <a:off x="1315583" y="3788229"/>
            <a:ext cx="6191182" cy="1200329"/>
          </a:xfrm>
          <a:prstGeom prst="rect">
            <a:avLst/>
          </a:prstGeom>
          <a:noFill/>
        </p:spPr>
        <p:txBody>
          <a:bodyPr wrap="none" rtlCol="0">
            <a:spAutoFit/>
          </a:bodyPr>
          <a:lstStyle/>
          <a:p>
            <a:r>
              <a:rPr lang="en-US" sz="3600" dirty="0" smtClean="0"/>
              <a:t>Accessing federated resources</a:t>
            </a:r>
          </a:p>
          <a:p>
            <a:r>
              <a:rPr lang="en-US" sz="3600" dirty="0" smtClean="0"/>
              <a:t>from outside corporate network</a:t>
            </a:r>
            <a:endParaRPr lang="en-US" sz="3600" dirty="0"/>
          </a:p>
        </p:txBody>
      </p:sp>
      <p:sp>
        <p:nvSpPr>
          <p:cNvPr id="6" name="Title 5"/>
          <p:cNvSpPr>
            <a:spLocks noGrp="1"/>
          </p:cNvSpPr>
          <p:nvPr>
            <p:ph type="ctrTitle"/>
          </p:nvPr>
        </p:nvSpPr>
        <p:spPr/>
        <p:txBody>
          <a:bodyPr/>
          <a:lstStyle/>
          <a:p>
            <a:r>
              <a:rPr smtClean="0"/>
              <a:t>Microsoft Services Connector</a:t>
            </a:r>
            <a:endParaRPr lang="en-US" dirty="0"/>
          </a:p>
        </p:txBody>
      </p:sp>
    </p:spTree>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Deployment Options</a:t>
            </a:r>
            <a:endParaRPr lang="en-US" dirty="0"/>
          </a:p>
        </p:txBody>
      </p:sp>
      <p:sp>
        <p:nvSpPr>
          <p:cNvPr id="5" name="Rounded Rectangle 4"/>
          <p:cNvSpPr/>
          <p:nvPr/>
        </p:nvSpPr>
        <p:spPr bwMode="auto">
          <a:xfrm>
            <a:off x="794666" y="1143000"/>
            <a:ext cx="2743200" cy="4191000"/>
          </a:xfrm>
          <a:prstGeom prst="roundRect">
            <a:avLst/>
          </a:prstGeom>
          <a:solidFill>
            <a:schemeClr val="accent4">
              <a:alpha val="75000"/>
            </a:schemeClr>
          </a:solid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p:txBody>
      </p:sp>
      <p:sp>
        <p:nvSpPr>
          <p:cNvPr id="6" name="TextBox 5"/>
          <p:cNvSpPr txBox="1"/>
          <p:nvPr/>
        </p:nvSpPr>
        <p:spPr>
          <a:xfrm>
            <a:off x="1537889" y="4933890"/>
            <a:ext cx="1256754" cy="400110"/>
          </a:xfrm>
          <a:prstGeom prst="rect">
            <a:avLst/>
          </a:prstGeom>
          <a:noFill/>
        </p:spPr>
        <p:txBody>
          <a:bodyPr wrap="none" rtlCol="0">
            <a:spAutoFit/>
          </a:bodyPr>
          <a:lstStyle/>
          <a:p>
            <a:pPr algn="ctr"/>
            <a:r>
              <a:rPr lang="en-US" sz="2000" dirty="0" smtClean="0">
                <a:effectLst>
                  <a:outerShdw blurRad="38100" dist="38100" dir="2700000" algn="tl">
                    <a:srgbClr val="000000">
                      <a:alpha val="43137"/>
                    </a:srgbClr>
                  </a:outerShdw>
                </a:effectLst>
              </a:rPr>
              <a:t>Enterprise</a:t>
            </a:r>
            <a:endParaRPr lang="en-US" sz="1600" dirty="0">
              <a:effectLst>
                <a:outerShdw blurRad="38100" dist="38100" dir="2700000" algn="tl">
                  <a:srgbClr val="000000">
                    <a:alpha val="43137"/>
                  </a:srgbClr>
                </a:outerShdw>
              </a:effectLst>
            </a:endParaRPr>
          </a:p>
        </p:txBody>
      </p:sp>
      <p:sp>
        <p:nvSpPr>
          <p:cNvPr id="7" name="Rounded Rectangle 6"/>
          <p:cNvSpPr/>
          <p:nvPr/>
        </p:nvSpPr>
        <p:spPr bwMode="auto">
          <a:xfrm>
            <a:off x="1289966" y="1405740"/>
            <a:ext cx="1752600" cy="2404259"/>
          </a:xfrm>
          <a:prstGeom prst="roundRect">
            <a:avLst/>
          </a:prstGeom>
          <a:solidFill>
            <a:schemeClr val="accent1">
              <a:lumMod val="60000"/>
              <a:lumOff val="40000"/>
            </a:schemeClr>
          </a:solid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sp>
        <p:nvSpPr>
          <p:cNvPr id="9" name="Rounded Rectangle 8"/>
          <p:cNvSpPr/>
          <p:nvPr/>
        </p:nvSpPr>
        <p:spPr bwMode="auto">
          <a:xfrm>
            <a:off x="1594766" y="2707883"/>
            <a:ext cx="1143000" cy="804059"/>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Microsoft </a:t>
            </a:r>
          </a:p>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Services</a:t>
            </a:r>
          </a:p>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Connector</a:t>
            </a:r>
          </a:p>
        </p:txBody>
      </p:sp>
      <p:sp>
        <p:nvSpPr>
          <p:cNvPr id="10" name="Rounded Rectangle 9"/>
          <p:cNvSpPr/>
          <p:nvPr/>
        </p:nvSpPr>
        <p:spPr bwMode="auto">
          <a:xfrm>
            <a:off x="1594766" y="1676400"/>
            <a:ext cx="11430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Active</a:t>
            </a:r>
          </a:p>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Directory</a:t>
            </a:r>
          </a:p>
        </p:txBody>
      </p:sp>
      <p:sp>
        <p:nvSpPr>
          <p:cNvPr id="13" name="Rounded Rectangle 12"/>
          <p:cNvSpPr/>
          <p:nvPr/>
        </p:nvSpPr>
        <p:spPr bwMode="auto">
          <a:xfrm>
            <a:off x="4595141" y="1143000"/>
            <a:ext cx="1447800" cy="4191000"/>
          </a:xfrm>
          <a:prstGeom prst="roundRect">
            <a:avLst/>
          </a:prstGeom>
          <a:solidFill>
            <a:schemeClr val="accent4">
              <a:alpha val="75000"/>
            </a:schemeClr>
          </a:solid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p:txBody>
      </p:sp>
      <p:sp>
        <p:nvSpPr>
          <p:cNvPr id="14" name="TextBox 13"/>
          <p:cNvSpPr txBox="1"/>
          <p:nvPr/>
        </p:nvSpPr>
        <p:spPr>
          <a:xfrm>
            <a:off x="4978243" y="4933890"/>
            <a:ext cx="681597" cy="400110"/>
          </a:xfrm>
          <a:prstGeom prst="rect">
            <a:avLst/>
          </a:prstGeom>
          <a:noFill/>
        </p:spPr>
        <p:txBody>
          <a:bodyPr wrap="none" rtlCol="0">
            <a:spAutoFit/>
          </a:bodyPr>
          <a:lstStyle/>
          <a:p>
            <a:pPr algn="ctr"/>
            <a:r>
              <a:rPr lang="en-US" sz="2000" dirty="0" smtClean="0">
                <a:effectLst>
                  <a:outerShdw blurRad="38100" dist="38100" dir="2700000" algn="tl">
                    <a:srgbClr val="000000">
                      <a:alpha val="43137"/>
                    </a:srgbClr>
                  </a:outerShdw>
                </a:effectLst>
              </a:rPr>
              <a:t>DMZ</a:t>
            </a:r>
            <a:endParaRPr lang="en-US" sz="1600" dirty="0">
              <a:effectLst>
                <a:outerShdw blurRad="38100" dist="38100" dir="2700000" algn="tl">
                  <a:srgbClr val="000000">
                    <a:alpha val="43137"/>
                  </a:srgbClr>
                </a:outerShdw>
              </a:effectLst>
            </a:endParaRPr>
          </a:p>
        </p:txBody>
      </p:sp>
      <p:sp>
        <p:nvSpPr>
          <p:cNvPr id="12" name="Rounded Rectangle 11"/>
          <p:cNvSpPr/>
          <p:nvPr/>
        </p:nvSpPr>
        <p:spPr bwMode="auto">
          <a:xfrm>
            <a:off x="4747541" y="2707883"/>
            <a:ext cx="1143000" cy="804059"/>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Services</a:t>
            </a:r>
          </a:p>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Connector</a:t>
            </a:r>
          </a:p>
          <a:p>
            <a:pPr algn="ctr" defTabSz="914099" fontAlgn="base">
              <a:spcBef>
                <a:spcPct val="0"/>
              </a:spcBef>
              <a:spcAft>
                <a:spcPct val="0"/>
              </a:spcAft>
            </a:pPr>
            <a:r>
              <a:rPr lang="en-US" sz="1600" dirty="0" smtClean="0">
                <a:solidFill>
                  <a:srgbClr val="FFFFFF"/>
                </a:solidFill>
                <a:effectLst>
                  <a:outerShdw blurRad="38100" dist="38100" dir="2700000" algn="tl">
                    <a:srgbClr val="000000">
                      <a:alpha val="43137"/>
                    </a:srgbClr>
                  </a:outerShdw>
                </a:effectLst>
              </a:rPr>
              <a:t>Proxy</a:t>
            </a:r>
          </a:p>
        </p:txBody>
      </p:sp>
      <p:pic>
        <p:nvPicPr>
          <p:cNvPr id="1028" name="Picture 4"/>
          <p:cNvPicPr>
            <a:picLocks noChangeAspect="1" noChangeArrowheads="1"/>
          </p:cNvPicPr>
          <p:nvPr/>
        </p:nvPicPr>
        <p:blipFill>
          <a:blip r:embed="rId3"/>
          <a:srcRect/>
          <a:stretch>
            <a:fillRect/>
          </a:stretch>
        </p:blipFill>
        <p:spPr bwMode="auto">
          <a:xfrm>
            <a:off x="3756941" y="2628900"/>
            <a:ext cx="619125" cy="962025"/>
          </a:xfrm>
          <a:prstGeom prst="rect">
            <a:avLst/>
          </a:prstGeom>
          <a:noFill/>
          <a:ln w="9525">
            <a:noFill/>
            <a:miter lim="800000"/>
            <a:headEnd/>
            <a:tailEnd/>
          </a:ln>
          <a:effectLst/>
        </p:spPr>
      </p:pic>
      <p:pic>
        <p:nvPicPr>
          <p:cNvPr id="18" name="Picture 4"/>
          <p:cNvPicPr>
            <a:picLocks noChangeAspect="1" noChangeArrowheads="1"/>
          </p:cNvPicPr>
          <p:nvPr/>
        </p:nvPicPr>
        <p:blipFill>
          <a:blip r:embed="rId3"/>
          <a:srcRect/>
          <a:stretch>
            <a:fillRect/>
          </a:stretch>
        </p:blipFill>
        <p:spPr bwMode="auto">
          <a:xfrm>
            <a:off x="6281066" y="2628900"/>
            <a:ext cx="619125" cy="962025"/>
          </a:xfrm>
          <a:prstGeom prst="rect">
            <a:avLst/>
          </a:prstGeom>
          <a:noFill/>
          <a:ln w="9525">
            <a:noFill/>
            <a:miter lim="800000"/>
            <a:headEnd/>
            <a:tailEnd/>
          </a:ln>
          <a:effectLst/>
        </p:spPr>
      </p:pic>
      <p:pic>
        <p:nvPicPr>
          <p:cNvPr id="19" name="Picture 18" descr="C:\Program Files\Microsoft Resource DVD Artwork\DVD_ART\Artwork_Imagery\HARDWARE_IMAGERY\Illustration - Misc Hardware\Windows Vista Illustration Icons\Generic User.png"/>
          <p:cNvPicPr>
            <a:picLocks noChangeAspect="1" noChangeArrowheads="1"/>
          </p:cNvPicPr>
          <p:nvPr/>
        </p:nvPicPr>
        <p:blipFill>
          <a:blip r:embed="rId4" cstate="print"/>
          <a:srcRect/>
          <a:stretch>
            <a:fillRect/>
          </a:stretch>
        </p:blipFill>
        <p:spPr bwMode="auto">
          <a:xfrm flipH="1">
            <a:off x="1892773" y="4076700"/>
            <a:ext cx="546986" cy="665672"/>
          </a:xfrm>
          <a:prstGeom prst="rect">
            <a:avLst/>
          </a:prstGeom>
          <a:noFill/>
        </p:spPr>
      </p:pic>
      <p:pic>
        <p:nvPicPr>
          <p:cNvPr id="20" name="Picture 19" descr="C:\Program Files\Microsoft Resource DVD Artwork\DVD_ART\Artwork_Imagery\HARDWARE_IMAGERY\Illustration - Misc Hardware\Windows Vista Illustration Icons\Generic User.png"/>
          <p:cNvPicPr>
            <a:picLocks noChangeAspect="1" noChangeArrowheads="1"/>
          </p:cNvPicPr>
          <p:nvPr/>
        </p:nvPicPr>
        <p:blipFill>
          <a:blip r:embed="rId4" cstate="print"/>
          <a:srcRect/>
          <a:stretch>
            <a:fillRect/>
          </a:stretch>
        </p:blipFill>
        <p:spPr bwMode="auto">
          <a:xfrm flipH="1">
            <a:off x="7470969" y="2777076"/>
            <a:ext cx="546986" cy="665672"/>
          </a:xfrm>
          <a:prstGeom prst="rect">
            <a:avLst/>
          </a:prstGeom>
          <a:noFill/>
        </p:spPr>
      </p:pic>
      <p:cxnSp>
        <p:nvCxnSpPr>
          <p:cNvPr id="22" name="Straight Connector 21"/>
          <p:cNvCxnSpPr>
            <a:stCxn id="10" idx="2"/>
            <a:endCxn id="9" idx="0"/>
          </p:cNvCxnSpPr>
          <p:nvPr/>
        </p:nvCxnSpPr>
        <p:spPr>
          <a:xfrm rot="5400000">
            <a:off x="1955325" y="2496941"/>
            <a:ext cx="421883" cy="1588"/>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1028" idx="1"/>
            <a:endCxn id="9" idx="3"/>
          </p:cNvCxnSpPr>
          <p:nvPr/>
        </p:nvCxnSpPr>
        <p:spPr>
          <a:xfrm rot="10800000">
            <a:off x="2737767" y="3109913"/>
            <a:ext cx="1019175" cy="1588"/>
          </a:xfrm>
          <a:prstGeom prst="line">
            <a:avLst/>
          </a:prstGeom>
          <a:ln w="38100">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12" idx="1"/>
            <a:endCxn id="1028" idx="3"/>
          </p:cNvCxnSpPr>
          <p:nvPr/>
        </p:nvCxnSpPr>
        <p:spPr>
          <a:xfrm rot="10800000">
            <a:off x="4376067" y="3109913"/>
            <a:ext cx="371475" cy="1588"/>
          </a:xfrm>
          <a:prstGeom prst="line">
            <a:avLst/>
          </a:prstGeom>
          <a:ln w="38100">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18" idx="1"/>
            <a:endCxn id="12" idx="3"/>
          </p:cNvCxnSpPr>
          <p:nvPr/>
        </p:nvCxnSpPr>
        <p:spPr>
          <a:xfrm rot="10800000">
            <a:off x="5890542" y="3109913"/>
            <a:ext cx="390525" cy="1588"/>
          </a:xfrm>
          <a:prstGeom prst="line">
            <a:avLst/>
          </a:prstGeom>
          <a:ln w="38100">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20" idx="3"/>
            <a:endCxn id="18" idx="3"/>
          </p:cNvCxnSpPr>
          <p:nvPr/>
        </p:nvCxnSpPr>
        <p:spPr>
          <a:xfrm rot="10800000" flipV="1">
            <a:off x="6900191" y="3109911"/>
            <a:ext cx="570778" cy="1"/>
          </a:xfrm>
          <a:prstGeom prst="line">
            <a:avLst/>
          </a:prstGeom>
          <a:ln w="38100">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7195466" y="3581400"/>
            <a:ext cx="1097993" cy="707886"/>
          </a:xfrm>
          <a:prstGeom prst="rect">
            <a:avLst/>
          </a:prstGeom>
          <a:noFill/>
        </p:spPr>
        <p:txBody>
          <a:bodyPr wrap="none" rtlCol="0">
            <a:spAutoFit/>
          </a:bodyPr>
          <a:lstStyle/>
          <a:p>
            <a:pPr algn="ctr"/>
            <a:r>
              <a:rPr lang="en-US" sz="2000" dirty="0" smtClean="0">
                <a:effectLst>
                  <a:outerShdw blurRad="38100" dist="38100" dir="2700000" algn="tl">
                    <a:srgbClr val="000000">
                      <a:alpha val="43137"/>
                    </a:srgbClr>
                  </a:outerShdw>
                </a:effectLst>
              </a:rPr>
              <a:t>External </a:t>
            </a:r>
          </a:p>
          <a:p>
            <a:pPr algn="ctr"/>
            <a:r>
              <a:rPr lang="en-US" sz="2000" dirty="0" smtClean="0">
                <a:effectLst>
                  <a:outerShdw blurRad="38100" dist="38100" dir="2700000" algn="tl">
                    <a:srgbClr val="000000">
                      <a:alpha val="43137"/>
                    </a:srgbClr>
                  </a:outerShdw>
                </a:effectLst>
              </a:rPr>
              <a:t>user</a:t>
            </a:r>
            <a:endParaRPr lang="en-US" sz="1600" dirty="0">
              <a:effectLst>
                <a:outerShdw blurRad="38100" dist="38100" dir="2700000" algn="tl">
                  <a:srgbClr val="000000">
                    <a:alpha val="43137"/>
                  </a:srgbClr>
                </a:outerShdw>
              </a:effectLst>
            </a:endParaRPr>
          </a:p>
        </p:txBody>
      </p:sp>
      <p:sp>
        <p:nvSpPr>
          <p:cNvPr id="40" name="TextBox 39"/>
          <p:cNvSpPr txBox="1"/>
          <p:nvPr/>
        </p:nvSpPr>
        <p:spPr>
          <a:xfrm>
            <a:off x="870866" y="4055593"/>
            <a:ext cx="1000275" cy="707886"/>
          </a:xfrm>
          <a:prstGeom prst="rect">
            <a:avLst/>
          </a:prstGeom>
          <a:noFill/>
        </p:spPr>
        <p:txBody>
          <a:bodyPr wrap="none" rtlCol="0">
            <a:spAutoFit/>
          </a:bodyPr>
          <a:lstStyle/>
          <a:p>
            <a:pPr algn="ctr"/>
            <a:r>
              <a:rPr lang="en-US" sz="2000" dirty="0" smtClean="0">
                <a:effectLst>
                  <a:outerShdw blurRad="38100" dist="38100" dir="2700000" algn="tl">
                    <a:srgbClr val="000000">
                      <a:alpha val="43137"/>
                    </a:srgbClr>
                  </a:outerShdw>
                </a:effectLst>
              </a:rPr>
              <a:t>Internal</a:t>
            </a:r>
          </a:p>
          <a:p>
            <a:pPr algn="ctr"/>
            <a:r>
              <a:rPr lang="en-US" sz="2000" dirty="0" smtClean="0">
                <a:effectLst>
                  <a:outerShdw blurRad="38100" dist="38100" dir="2700000" algn="tl">
                    <a:srgbClr val="000000">
                      <a:alpha val="43137"/>
                    </a:srgbClr>
                  </a:outerShdw>
                </a:effectLst>
              </a:rPr>
              <a:t>user</a:t>
            </a:r>
            <a:endParaRPr lang="en-US" sz="1600" dirty="0">
              <a:effectLst>
                <a:outerShdw blurRad="38100" dist="38100" dir="2700000" algn="tl">
                  <a:srgbClr val="000000">
                    <a:alpha val="43137"/>
                  </a:srgbClr>
                </a:outerShdw>
              </a:effectLst>
            </a:endParaRPr>
          </a:p>
        </p:txBody>
      </p:sp>
      <p:cxnSp>
        <p:nvCxnSpPr>
          <p:cNvPr id="41" name="Straight Connector 40"/>
          <p:cNvCxnSpPr>
            <a:stCxn id="19" idx="0"/>
            <a:endCxn id="9" idx="2"/>
          </p:cNvCxnSpPr>
          <p:nvPr/>
        </p:nvCxnSpPr>
        <p:spPr>
          <a:xfrm rot="5400000" flipH="1" flipV="1">
            <a:off x="1883887" y="3794321"/>
            <a:ext cx="564758" cy="1588"/>
          </a:xfrm>
          <a:prstGeom prst="line">
            <a:avLst/>
          </a:prstGeom>
          <a:ln w="38100">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4" name="Content Placeholder 2"/>
          <p:cNvSpPr txBox="1">
            <a:spLocks/>
          </p:cNvSpPr>
          <p:nvPr/>
        </p:nvSpPr>
        <p:spPr>
          <a:xfrm>
            <a:off x="381000" y="5562599"/>
            <a:ext cx="8382000" cy="990601"/>
          </a:xfrm>
          <a:prstGeom prst="rect">
            <a:avLst/>
          </a:prstGeom>
        </p:spPr>
        <p:txBody>
          <a:bodyPr>
            <a:normAutofit fontScale="62500" lnSpcReduction="20000"/>
          </a:bodyPr>
          <a:lstStyle/>
          <a:p>
            <a:pPr marL="376256" indent="-369888">
              <a:lnSpc>
                <a:spcPct val="120000"/>
              </a:lnSpc>
              <a:spcBef>
                <a:spcPct val="20000"/>
              </a:spcBef>
              <a:buFontTx/>
              <a:buBlip>
                <a:blip r:embed="rId5"/>
              </a:buBlip>
            </a:pPr>
            <a:r>
              <a:rPr lang="en-US" sz="2800" dirty="0" smtClean="0">
                <a:latin typeface="Calibri" pitchFamily="34" charset="0"/>
              </a:rPr>
              <a:t>Range of network infrastructures: </a:t>
            </a:r>
            <a:br>
              <a:rPr lang="en-US" sz="2800" dirty="0" smtClean="0">
                <a:latin typeface="Calibri" pitchFamily="34" charset="0"/>
              </a:rPr>
            </a:br>
            <a:r>
              <a:rPr lang="en-US" sz="2800" dirty="0" smtClean="0">
                <a:latin typeface="Calibri" pitchFamily="34" charset="0"/>
              </a:rPr>
              <a:t>Single server, Server farm, Proxy server</a:t>
            </a:r>
          </a:p>
          <a:p>
            <a:pPr marL="376256" indent="-369888">
              <a:lnSpc>
                <a:spcPct val="120000"/>
              </a:lnSpc>
              <a:spcBef>
                <a:spcPct val="20000"/>
              </a:spcBef>
              <a:buFontTx/>
              <a:buBlip>
                <a:blip r:embed="rId5"/>
              </a:buBlip>
            </a:pPr>
            <a:r>
              <a:rPr lang="en-US" sz="2800" dirty="0" smtClean="0">
                <a:latin typeface="Calibri" pitchFamily="34" charset="0"/>
              </a:rPr>
              <a:t>Active </a:t>
            </a:r>
            <a:r>
              <a:rPr kumimoji="0" lang="en-US" sz="2800" b="0" i="0" u="none" strike="noStrike" kern="1200" cap="none" spc="0" normalizeH="0" baseline="0" noProof="0" dirty="0" smtClean="0">
                <a:ln>
                  <a:noFill/>
                </a:ln>
                <a:solidFill>
                  <a:schemeClr val="tx1"/>
                </a:solidFill>
                <a:effectLst/>
                <a:uLnTx/>
                <a:uFillTx/>
                <a:latin typeface="Calibri" pitchFamily="34" charset="0"/>
                <a:ea typeface="+mn-ea"/>
                <a:cs typeface="+mn-cs"/>
              </a:rPr>
              <a:t>Directory:  </a:t>
            </a:r>
            <a:r>
              <a:rPr lang="en-US" sz="2800" dirty="0" smtClean="0">
                <a:latin typeface="Calibri" pitchFamily="34" charset="0"/>
              </a:rPr>
              <a:t>S</a:t>
            </a:r>
            <a:r>
              <a:rPr kumimoji="0" lang="en-US" sz="2800" b="0" i="0" u="none" strike="noStrike" kern="1200" cap="none" spc="0" normalizeH="0" baseline="0" noProof="0" dirty="0" smtClean="0">
                <a:ln>
                  <a:noFill/>
                </a:ln>
                <a:solidFill>
                  <a:schemeClr val="tx1"/>
                </a:solidFill>
                <a:effectLst/>
                <a:uLnTx/>
                <a:uFillTx/>
                <a:latin typeface="Calibri" pitchFamily="34" charset="0"/>
                <a:ea typeface="+mn-ea"/>
                <a:cs typeface="+mn-cs"/>
              </a:rPr>
              <a:t>ingle domain, Single forest, Multiple forests</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20"/>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3"/>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30"/>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27"/>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2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2" grpId="0" animBg="1"/>
      <p:bldP spid="36" grpId="0"/>
      <p:bldP spid="40" grpId="0"/>
      <p:bldP spid="4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054" y="228600"/>
            <a:ext cx="8375946" cy="664797"/>
          </a:xfrm>
        </p:spPr>
        <p:txBody>
          <a:bodyPr/>
          <a:lstStyle/>
          <a:p>
            <a:r>
              <a:rPr smtClean="0">
                <a:sym typeface="Wingdings" pitchFamily="2" charset="2"/>
              </a:rPr>
              <a:t>Benefit: Reduced </a:t>
            </a:r>
            <a:r>
              <a:rPr smtClean="0"/>
              <a:t>Federation Costs</a:t>
            </a:r>
            <a:endParaRPr lang="en-US" dirty="0"/>
          </a:p>
        </p:txBody>
      </p:sp>
      <p:sp>
        <p:nvSpPr>
          <p:cNvPr id="3" name="Content Placeholder 2"/>
          <p:cNvSpPr>
            <a:spLocks noGrp="1"/>
          </p:cNvSpPr>
          <p:nvPr>
            <p:ph idx="1"/>
          </p:nvPr>
        </p:nvSpPr>
        <p:spPr>
          <a:xfrm>
            <a:off x="381000" y="1412874"/>
            <a:ext cx="8534400" cy="4911725"/>
          </a:xfrm>
        </p:spPr>
        <p:txBody>
          <a:bodyPr>
            <a:normAutofit fontScale="70000" lnSpcReduction="20000"/>
          </a:bodyPr>
          <a:lstStyle/>
          <a:p>
            <a:r>
              <a:rPr lang="en-US" sz="4000" dirty="0" smtClean="0"/>
              <a:t>Federation Gateway &amp; Services Connector provides:</a:t>
            </a:r>
          </a:p>
          <a:p>
            <a:pPr lvl="2"/>
            <a:endParaRPr lang="en-US" sz="3200" dirty="0" smtClean="0"/>
          </a:p>
          <a:p>
            <a:pPr lvl="1"/>
            <a:r>
              <a:rPr lang="en-US" sz="3600" dirty="0" smtClean="0"/>
              <a:t>Fewer federation relationships to configure</a:t>
            </a:r>
          </a:p>
          <a:p>
            <a:pPr lvl="1"/>
            <a:endParaRPr lang="en-US" sz="3600" dirty="0" smtClean="0"/>
          </a:p>
          <a:p>
            <a:pPr lvl="1"/>
            <a:r>
              <a:rPr lang="en-US" sz="3600" dirty="0" smtClean="0"/>
              <a:t>Protects corporate account security</a:t>
            </a:r>
          </a:p>
          <a:p>
            <a:pPr lvl="2"/>
            <a:endParaRPr lang="en-US" sz="3200" dirty="0" smtClean="0"/>
          </a:p>
          <a:p>
            <a:pPr lvl="1"/>
            <a:r>
              <a:rPr lang="en-US" sz="3600" dirty="0" smtClean="0"/>
              <a:t>No new user accounts needed</a:t>
            </a:r>
          </a:p>
          <a:p>
            <a:pPr lvl="2"/>
            <a:endParaRPr lang="en-US" sz="3200" dirty="0" smtClean="0"/>
          </a:p>
          <a:p>
            <a:pPr lvl="1"/>
            <a:r>
              <a:rPr lang="en-US" sz="3600" dirty="0" smtClean="0"/>
              <a:t>No extra passwords for users to forget!</a:t>
            </a:r>
          </a:p>
          <a:p>
            <a:pPr lvl="2"/>
            <a:endParaRPr lang="en-US" sz="3200" dirty="0" smtClean="0"/>
          </a:p>
          <a:p>
            <a:r>
              <a:rPr lang="en-US" sz="4000" dirty="0" smtClean="0">
                <a:sym typeface="Wingdings" pitchFamily="2" charset="2"/>
              </a:rPr>
              <a:t> </a:t>
            </a:r>
            <a:r>
              <a:rPr lang="en-US" sz="4000" dirty="0" smtClean="0">
                <a:solidFill>
                  <a:schemeClr val="accent2"/>
                </a:solidFill>
                <a:sym typeface="Wingdings" pitchFamily="2" charset="2"/>
              </a:rPr>
              <a:t>Happier systems administrators! </a:t>
            </a:r>
            <a:endParaRPr lang="en-US" sz="4000" dirty="0">
              <a:solidFill>
                <a:schemeClr val="accent2"/>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How You Get It</a:t>
            </a:r>
            <a:endParaRPr lang="en-US" dirty="0"/>
          </a:p>
        </p:txBody>
      </p:sp>
      <p:sp>
        <p:nvSpPr>
          <p:cNvPr id="3" name="Content Placeholder 2"/>
          <p:cNvSpPr>
            <a:spLocks noGrp="1"/>
          </p:cNvSpPr>
          <p:nvPr>
            <p:ph idx="1"/>
          </p:nvPr>
        </p:nvSpPr>
        <p:spPr>
          <a:xfrm>
            <a:off x="381000" y="1369331"/>
            <a:ext cx="8382000" cy="2210862"/>
          </a:xfrm>
        </p:spPr>
        <p:txBody>
          <a:bodyPr>
            <a:noAutofit/>
          </a:bodyPr>
          <a:lstStyle/>
          <a:p>
            <a:pPr>
              <a:lnSpc>
                <a:spcPct val="100000"/>
              </a:lnSpc>
            </a:pPr>
            <a:r>
              <a:rPr lang="en-US" sz="2400" dirty="0" smtClean="0">
                <a:solidFill>
                  <a:schemeClr val="accent2"/>
                </a:solidFill>
              </a:rPr>
              <a:t>Microsoft Services Connector</a:t>
            </a:r>
          </a:p>
          <a:p>
            <a:pPr lvl="1">
              <a:lnSpc>
                <a:spcPct val="100000"/>
              </a:lnSpc>
            </a:pPr>
            <a:r>
              <a:rPr lang="en-US" sz="1800" dirty="0" smtClean="0">
                <a:solidFill>
                  <a:schemeClr val="tx1"/>
                </a:solidFill>
              </a:rPr>
              <a:t>Community Tech Preview (CTP) available </a:t>
            </a:r>
            <a:r>
              <a:rPr lang="en-US" sz="1800" dirty="0" smtClean="0">
                <a:solidFill>
                  <a:schemeClr val="accent5">
                    <a:lumMod val="60000"/>
                    <a:lumOff val="40000"/>
                  </a:schemeClr>
                </a:solidFill>
              </a:rPr>
              <a:t>now</a:t>
            </a:r>
            <a:r>
              <a:rPr lang="en-US" sz="1800" dirty="0" smtClean="0">
                <a:solidFill>
                  <a:schemeClr val="tx1"/>
                </a:solidFill>
              </a:rPr>
              <a:t>:  </a:t>
            </a:r>
            <a:r>
              <a:rPr lang="en-US" sz="1800" dirty="0" smtClean="0">
                <a:solidFill>
                  <a:schemeClr val="accent3"/>
                </a:solidFill>
                <a:hlinkClick r:id="rId3"/>
              </a:rPr>
              <a:t>http://www.microsoft.com/servicesconnector</a:t>
            </a:r>
            <a:r>
              <a:rPr lang="en-US" sz="1800" dirty="0" smtClean="0">
                <a:solidFill>
                  <a:schemeClr val="tx1"/>
                </a:solidFill>
              </a:rPr>
              <a:t> </a:t>
            </a:r>
          </a:p>
          <a:p>
            <a:pPr lvl="1">
              <a:lnSpc>
                <a:spcPct val="100000"/>
              </a:lnSpc>
            </a:pPr>
            <a:r>
              <a:rPr lang="en-US" sz="1800" dirty="0" smtClean="0">
                <a:solidFill>
                  <a:schemeClr val="tx1"/>
                </a:solidFill>
              </a:rPr>
              <a:t>Beta in early 2009</a:t>
            </a:r>
          </a:p>
          <a:p>
            <a:pPr>
              <a:lnSpc>
                <a:spcPct val="100000"/>
              </a:lnSpc>
            </a:pPr>
            <a:r>
              <a:rPr lang="en-US" sz="2400" dirty="0" smtClean="0">
                <a:solidFill>
                  <a:schemeClr val="accent2"/>
                </a:solidFill>
              </a:rPr>
              <a:t>Microsoft Federation Gateway</a:t>
            </a:r>
          </a:p>
          <a:p>
            <a:pPr lvl="1">
              <a:lnSpc>
                <a:spcPct val="100000"/>
              </a:lnSpc>
            </a:pPr>
            <a:r>
              <a:rPr lang="en-US" sz="1800" dirty="0" smtClean="0">
                <a:solidFill>
                  <a:schemeClr val="tx1"/>
                </a:solidFill>
              </a:rPr>
              <a:t>Already in Production since 2006</a:t>
            </a:r>
          </a:p>
          <a:p>
            <a:pPr lvl="1">
              <a:lnSpc>
                <a:spcPct val="100000"/>
              </a:lnSpc>
            </a:pPr>
            <a:r>
              <a:rPr lang="en-US" sz="1800" dirty="0" smtClean="0"/>
              <a:t>Whitepaper:  </a:t>
            </a:r>
            <a:r>
              <a:rPr lang="en-US" sz="1800" dirty="0" smtClean="0">
                <a:hlinkClick r:id="rId4"/>
              </a:rPr>
              <a:t>http://go.microsoft.com/fwlink/?LinkID=111692</a:t>
            </a:r>
            <a:endParaRPr lang="en-US" sz="1800" dirty="0" smtClean="0"/>
          </a:p>
          <a:p>
            <a:pPr lvl="1">
              <a:lnSpc>
                <a:spcPct val="100000"/>
              </a:lnSpc>
            </a:pPr>
            <a:r>
              <a:rPr lang="en-US" sz="1800" dirty="0" smtClean="0"/>
              <a:t>Easy 2-step on-boarding with Microsoft Services Connector </a:t>
            </a:r>
          </a:p>
          <a:p>
            <a:pPr lvl="1">
              <a:lnSpc>
                <a:spcPct val="100000"/>
              </a:lnSpc>
            </a:pPr>
            <a:r>
              <a:rPr lang="en-US" sz="1800" dirty="0" smtClean="0"/>
              <a:t>BYI on-boarding document: </a:t>
            </a:r>
            <a:r>
              <a:rPr lang="en-US" sz="1800" dirty="0" smtClean="0">
                <a:solidFill>
                  <a:schemeClr val="tx1"/>
                </a:solidFill>
                <a:hlinkClick r:id="rId5"/>
              </a:rPr>
              <a:t>http://go.microsoft.com/fwlink/?LinkID=131673</a:t>
            </a:r>
            <a:endParaRPr lang="en-US" sz="1600" dirty="0" smtClean="0">
              <a:solidFill>
                <a:srgbClr val="FF0000"/>
              </a:solidFill>
            </a:endParaRPr>
          </a:p>
          <a:p>
            <a:pPr>
              <a:lnSpc>
                <a:spcPct val="100000"/>
              </a:lnSpc>
            </a:pPr>
            <a:r>
              <a:rPr lang="en-US" sz="2400" dirty="0" smtClean="0">
                <a:solidFill>
                  <a:schemeClr val="tx1"/>
                </a:solidFill>
              </a:rPr>
              <a:t>We want your </a:t>
            </a:r>
            <a:r>
              <a:rPr lang="en-US" sz="2400" dirty="0" smtClean="0">
                <a:solidFill>
                  <a:schemeClr val="accent5">
                    <a:lumMod val="60000"/>
                    <a:lumOff val="40000"/>
                  </a:schemeClr>
                </a:solidFill>
              </a:rPr>
              <a:t>feedback</a:t>
            </a:r>
            <a:r>
              <a:rPr lang="en-US" sz="2400" dirty="0" smtClean="0">
                <a:solidFill>
                  <a:schemeClr val="tx1"/>
                </a:solidFill>
              </a:rPr>
              <a:t>! </a:t>
            </a:r>
          </a:p>
          <a:p>
            <a:pPr lvl="1">
              <a:lnSpc>
                <a:spcPct val="100000"/>
              </a:lnSpc>
            </a:pPr>
            <a:r>
              <a:rPr lang="en-US" sz="1800" dirty="0" smtClean="0"/>
              <a:t>CTP Feedback Forum: </a:t>
            </a:r>
            <a:r>
              <a:rPr lang="en-US" sz="1800" dirty="0" smtClean="0">
                <a:solidFill>
                  <a:schemeClr val="tx1"/>
                </a:solidFill>
                <a:hlinkClick r:id="rId6"/>
              </a:rPr>
              <a:t>http://connect.microsoft.com/servicesconnector</a:t>
            </a:r>
            <a:endParaRPr lang="en-US" sz="1200" dirty="0" smtClean="0">
              <a:solidFill>
                <a:schemeClr val="tx1"/>
              </a:solidFill>
            </a:endParaRPr>
          </a:p>
        </p:txBody>
      </p:sp>
    </p:spTree>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054" y="228600"/>
            <a:ext cx="8375946" cy="1163395"/>
          </a:xfrm>
        </p:spPr>
        <p:txBody>
          <a:bodyPr/>
          <a:lstStyle/>
          <a:p>
            <a:r>
              <a:rPr lang="en-US" dirty="0" smtClean="0"/>
              <a:t>Summary</a:t>
            </a:r>
            <a:br>
              <a:rPr lang="en-US" dirty="0" smtClean="0"/>
            </a:br>
            <a:r>
              <a:rPr lang="en-US" sz="3600" dirty="0" smtClean="0">
                <a:solidFill>
                  <a:schemeClr val="accent1"/>
                </a:solidFill>
              </a:rPr>
              <a:t>Call-to-action</a:t>
            </a:r>
            <a:endParaRPr lang="en-US" dirty="0">
              <a:solidFill>
                <a:schemeClr val="accent1"/>
              </a:solidFill>
            </a:endParaRPr>
          </a:p>
        </p:txBody>
      </p:sp>
      <p:sp>
        <p:nvSpPr>
          <p:cNvPr id="3" name="Text Placeholder 2"/>
          <p:cNvSpPr>
            <a:spLocks noGrp="1"/>
          </p:cNvSpPr>
          <p:nvPr>
            <p:ph idx="1"/>
          </p:nvPr>
        </p:nvSpPr>
        <p:spPr>
          <a:xfrm>
            <a:off x="374650" y="1554389"/>
            <a:ext cx="8382000" cy="4911725"/>
          </a:xfrm>
        </p:spPr>
        <p:txBody>
          <a:bodyPr>
            <a:normAutofit/>
          </a:bodyPr>
          <a:lstStyle/>
          <a:p>
            <a:pPr>
              <a:lnSpc>
                <a:spcPct val="100000"/>
              </a:lnSpc>
              <a:spcAft>
                <a:spcPts val="1800"/>
              </a:spcAft>
            </a:pPr>
            <a:r>
              <a:rPr lang="en-US" dirty="0" smtClean="0"/>
              <a:t>Federated identity makes switching to Cloud services easier:</a:t>
            </a:r>
          </a:p>
          <a:p>
            <a:pPr lvl="1">
              <a:lnSpc>
                <a:spcPct val="100000"/>
              </a:lnSpc>
              <a:spcAft>
                <a:spcPts val="1800"/>
              </a:spcAft>
            </a:pPr>
            <a:r>
              <a:rPr lang="en-US" dirty="0" smtClean="0">
                <a:solidFill>
                  <a:schemeClr val="accent2"/>
                </a:solidFill>
              </a:rPr>
              <a:t>Microsoft Federation Gateway </a:t>
            </a:r>
            <a:r>
              <a:rPr lang="en-US" dirty="0" smtClean="0"/>
              <a:t>for federation of both enterprises and services</a:t>
            </a:r>
          </a:p>
          <a:p>
            <a:pPr lvl="1">
              <a:lnSpc>
                <a:spcPct val="100000"/>
              </a:lnSpc>
              <a:spcAft>
                <a:spcPts val="1800"/>
              </a:spcAft>
            </a:pPr>
            <a:r>
              <a:rPr lang="en-US" dirty="0" smtClean="0">
                <a:solidFill>
                  <a:schemeClr val="accent2"/>
                </a:solidFill>
              </a:rPr>
              <a:t>Microsoft Services Connector </a:t>
            </a:r>
            <a:r>
              <a:rPr lang="en-US" dirty="0" smtClean="0"/>
              <a:t>extends AD into the Cloud - just a 2-step on-boarding process</a:t>
            </a:r>
          </a:p>
          <a:p>
            <a:pPr>
              <a:lnSpc>
                <a:spcPct val="100000"/>
              </a:lnSpc>
              <a:spcAft>
                <a:spcPts val="1800"/>
              </a:spcAft>
            </a:pPr>
            <a:r>
              <a:rPr lang="en-US" dirty="0" smtClean="0">
                <a:solidFill>
                  <a:schemeClr val="accent5">
                    <a:lumMod val="60000"/>
                    <a:lumOff val="40000"/>
                  </a:schemeClr>
                </a:solidFill>
              </a:rPr>
              <a:t>Try</a:t>
            </a:r>
            <a:r>
              <a:rPr lang="en-US" dirty="0" smtClean="0"/>
              <a:t> the Microsoft Services Connector </a:t>
            </a:r>
            <a:r>
              <a:rPr lang="en-US" dirty="0" smtClean="0">
                <a:solidFill>
                  <a:schemeClr val="accent5">
                    <a:lumMod val="60000"/>
                    <a:lumOff val="40000"/>
                  </a:schemeClr>
                </a:solidFill>
              </a:rPr>
              <a:t>CTP </a:t>
            </a:r>
            <a:r>
              <a:rPr lang="en-US" dirty="0" smtClean="0"/>
              <a:t>now </a:t>
            </a:r>
            <a:br>
              <a:rPr lang="en-US" dirty="0" smtClean="0"/>
            </a:br>
            <a:r>
              <a:rPr lang="en-US" dirty="0" smtClean="0"/>
              <a:t>&amp; </a:t>
            </a:r>
            <a:r>
              <a:rPr lang="en-US" dirty="0" smtClean="0">
                <a:solidFill>
                  <a:schemeClr val="accent5">
                    <a:lumMod val="60000"/>
                    <a:lumOff val="40000"/>
                  </a:schemeClr>
                </a:solidFill>
              </a:rPr>
              <a:t>sign up </a:t>
            </a:r>
            <a:r>
              <a:rPr lang="en-US" dirty="0" smtClean="0"/>
              <a:t>for early 2009 Beta release</a:t>
            </a:r>
          </a:p>
          <a:p>
            <a:pPr>
              <a:lnSpc>
                <a:spcPct val="100000"/>
              </a:lnSpc>
              <a:spcAft>
                <a:spcPts val="1800"/>
              </a:spcAft>
            </a:pPr>
            <a:endParaRPr lang="en-US" dirty="0" smtClean="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3">
                                            <p:txEl>
                                              <p:pRg st="1" end="1"/>
                                            </p:txEl>
                                          </p:spTgt>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p:txBody>
          <a:bodyPr/>
          <a:lstStyle/>
          <a:p>
            <a:r>
              <a:rPr lang="en-US" dirty="0" smtClean="0"/>
              <a:t>Q &amp; A</a:t>
            </a:r>
            <a:endParaRPr lang="en-US" dirty="0"/>
          </a:p>
        </p:txBody>
      </p:sp>
      <p:sp>
        <p:nvSpPr>
          <p:cNvPr id="5" name="Text Placeholder 2"/>
          <p:cNvSpPr txBox="1">
            <a:spLocks/>
          </p:cNvSpPr>
          <p:nvPr/>
        </p:nvSpPr>
        <p:spPr>
          <a:xfrm>
            <a:off x="1243122" y="3029803"/>
            <a:ext cx="6994950" cy="3002511"/>
          </a:xfrm>
          <a:prstGeom prst="rect">
            <a:avLst/>
          </a:prstGeom>
          <a:scene3d>
            <a:camera prst="orthographicFront"/>
            <a:lightRig rig="contrasting" dir="t"/>
          </a:scene3d>
          <a:sp3d/>
        </p:spPr>
        <p:txBody>
          <a:bodyPr vert="horz" wrap="square" lIns="0" tIns="0" rIns="0" bIns="0" rtlCol="0" anchor="t" anchorCtr="0">
            <a:noAutofit/>
            <a:sp3d extrusionH="57150">
              <a:bevelT w="19050" h="31750"/>
              <a:contourClr>
                <a:srgbClr val="CCFF99"/>
              </a:contourClr>
            </a:sp3d>
          </a:bodyPr>
          <a:lstStyle/>
          <a:p>
            <a:pPr marL="0" marR="0" lvl="0" indent="0" algn="r" defTabSz="914363" rtl="0" eaLnBrk="1" fontAlgn="auto" latinLnBrk="0" hangingPunct="1">
              <a:lnSpc>
                <a:spcPct val="90000"/>
              </a:lnSpc>
              <a:spcBef>
                <a:spcPct val="0"/>
              </a:spcBef>
              <a:spcAft>
                <a:spcPts val="0"/>
              </a:spcAft>
              <a:buClrTx/>
              <a:buSzPct val="120000"/>
              <a:buFont typeface="Arial" pitchFamily="34" charset="0"/>
              <a:buNone/>
              <a:tabLst/>
              <a:defRPr/>
            </a:pPr>
            <a:endParaRPr lang="en-GB" sz="4800" dirty="0">
              <a:ln w="11430"/>
              <a:gradFill flip="none" rotWithShape="1">
                <a:gsLst>
                  <a:gs pos="0">
                    <a:srgbClr val="FFFFFF"/>
                  </a:gs>
                  <a:gs pos="28000">
                    <a:srgbClr val="B0DEFE"/>
                  </a:gs>
                  <a:gs pos="62000">
                    <a:srgbClr val="5DBDFF"/>
                  </a:gs>
                  <a:gs pos="88000">
                    <a:srgbClr val="0386D7"/>
                  </a:gs>
                </a:gsLst>
                <a:lin ang="5400000" scaled="1"/>
                <a:tileRect/>
              </a:gradFill>
              <a:latin typeface="Calibri" pitchFamily="34" charset="0"/>
            </a:endParaRPr>
          </a:p>
        </p:txBody>
      </p:sp>
    </p:spTree>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hone2.png"/>
          <p:cNvPicPr>
            <a:picLocks noChangeAspect="1"/>
          </p:cNvPicPr>
          <p:nvPr/>
        </p:nvPicPr>
        <p:blipFill>
          <a:blip r:embed="rId3"/>
          <a:stretch>
            <a:fillRect/>
          </a:stretch>
        </p:blipFill>
        <p:spPr>
          <a:xfrm>
            <a:off x="1068696" y="455903"/>
            <a:ext cx="2090971" cy="4545588"/>
          </a:xfrm>
          <a:prstGeom prst="rect">
            <a:avLst/>
          </a:prstGeom>
          <a:effectLst>
            <a:glow rad="228600">
              <a:schemeClr val="bg1">
                <a:alpha val="40000"/>
              </a:schemeClr>
            </a:glow>
          </a:effectLst>
        </p:spPr>
      </p:pic>
      <p:sp>
        <p:nvSpPr>
          <p:cNvPr id="6" name="Rounded Rectangle 5"/>
          <p:cNvSpPr/>
          <p:nvPr/>
        </p:nvSpPr>
        <p:spPr bwMode="blackGray">
          <a:xfrm>
            <a:off x="595175" y="5049980"/>
            <a:ext cx="8022353" cy="1170712"/>
          </a:xfrm>
          <a:prstGeom prst="roundRect">
            <a:avLst/>
          </a:prstGeom>
          <a:noFill/>
          <a:ln w="9525">
            <a:noFill/>
            <a:miter lim="800000"/>
            <a:headEnd/>
            <a:tailEnd/>
          </a:ln>
          <a:scene3d>
            <a:camera prst="orthographicFront"/>
            <a:lightRig rig="contrasting" dir="t">
              <a:rot lat="0" lon="0" rev="7800000"/>
            </a:lightRig>
          </a:scene3d>
          <a:sp3d prstMaterial="metal">
            <a:bevelB w="0" h="0"/>
          </a:sp3d>
        </p:spPr>
        <p:txBody>
          <a:bodyPr anchor="ctr" anchorCtr="0"/>
          <a:lstStyle/>
          <a:p>
            <a:pPr algn="l" defTabSz="914099" rtl="0" fontAlgn="base">
              <a:lnSpc>
                <a:spcPts val="2100"/>
              </a:lnSpc>
              <a:spcBef>
                <a:spcPct val="0"/>
              </a:spcBef>
              <a:spcAft>
                <a:spcPct val="0"/>
              </a:spcAft>
              <a:defRPr/>
            </a:pPr>
            <a:r>
              <a:rPr lang="en-GB" sz="2200" i="1" kern="1200" dirty="0">
                <a:solidFill>
                  <a:srgbClr val="FFFFFF"/>
                </a:solidFill>
                <a:latin typeface="Calibri"/>
                <a:ea typeface="+mn-ea"/>
                <a:cs typeface="+mn-cs"/>
              </a:rPr>
              <a:t>With an amazing line up of international speakers, there are even more chances to win an evaluation prize! So make sure you submit feedback for all the sessions you attend!</a:t>
            </a:r>
            <a:endParaRPr lang="en-US" sz="2200" b="1" i="1" kern="1200" dirty="0">
              <a:solidFill>
                <a:srgbClr val="FFFFFF"/>
              </a:solidFill>
              <a:effectLst>
                <a:outerShdw blurRad="38100" dist="38100" dir="2700000" algn="tl">
                  <a:srgbClr val="000000">
                    <a:alpha val="43137"/>
                  </a:srgbClr>
                </a:outerShdw>
              </a:effectLst>
              <a:latin typeface="Calibri"/>
              <a:ea typeface="+mn-ea"/>
              <a:cs typeface="+mn-cs"/>
            </a:endParaRPr>
          </a:p>
        </p:txBody>
      </p:sp>
      <p:sp>
        <p:nvSpPr>
          <p:cNvPr id="4" name="Rounded Rectangle 3"/>
          <p:cNvSpPr/>
          <p:nvPr/>
        </p:nvSpPr>
        <p:spPr bwMode="blackGray">
          <a:xfrm>
            <a:off x="4020858" y="2359395"/>
            <a:ext cx="4559476" cy="2508012"/>
          </a:xfrm>
          <a:prstGeom prst="roundRect">
            <a:avLst/>
          </a:prstGeom>
          <a:noFill/>
          <a:ln w="9525">
            <a:noFill/>
            <a:miter lim="800000"/>
            <a:headEnd/>
            <a:tailEnd/>
          </a:ln>
          <a:scene3d>
            <a:camera prst="orthographicFront"/>
            <a:lightRig rig="contrasting" dir="t">
              <a:rot lat="0" lon="0" rev="7800000"/>
            </a:lightRig>
          </a:scene3d>
          <a:sp3d prstMaterial="metal">
            <a:bevelB w="0" h="0"/>
          </a:sp3d>
        </p:spPr>
        <p:txBody>
          <a:bodyPr anchor="ctr" anchorCtr="0"/>
          <a:lstStyle/>
          <a:p>
            <a:pPr algn="r" defTabSz="914099" rtl="0" fontAlgn="base">
              <a:lnSpc>
                <a:spcPts val="2800"/>
              </a:lnSpc>
              <a:spcBef>
                <a:spcPct val="0"/>
              </a:spcBef>
              <a:spcAft>
                <a:spcPct val="0"/>
              </a:spcAft>
              <a:defRPr/>
            </a:pPr>
            <a:r>
              <a:rPr lang="en-US" sz="2600" kern="1200" dirty="0">
                <a:solidFill>
                  <a:srgbClr val="FFFFFF"/>
                </a:solidFill>
                <a:effectLst>
                  <a:outerShdw blurRad="38100" dist="38100" dir="2700000" algn="tl">
                    <a:srgbClr val="000000">
                      <a:alpha val="43137"/>
                    </a:srgbClr>
                  </a:outerShdw>
                </a:effectLst>
                <a:latin typeface="Calibri"/>
                <a:ea typeface="+mn-ea"/>
                <a:cs typeface="+mn-cs"/>
              </a:rPr>
              <a:t>Don’t forget to complete</a:t>
            </a:r>
            <a:br>
              <a:rPr lang="en-US" sz="2600" kern="1200" dirty="0">
                <a:solidFill>
                  <a:srgbClr val="FFFFFF"/>
                </a:solidFill>
                <a:effectLst>
                  <a:outerShdw blurRad="38100" dist="38100" dir="2700000" algn="tl">
                    <a:srgbClr val="000000">
                      <a:alpha val="43137"/>
                    </a:srgbClr>
                  </a:outerShdw>
                </a:effectLst>
                <a:latin typeface="Calibri"/>
                <a:ea typeface="+mn-ea"/>
                <a:cs typeface="+mn-cs"/>
              </a:rPr>
            </a:br>
            <a:r>
              <a:rPr lang="en-US" sz="2600" kern="1200" dirty="0">
                <a:solidFill>
                  <a:srgbClr val="FFFFFF"/>
                </a:solidFill>
                <a:effectLst>
                  <a:outerShdw blurRad="38100" dist="38100" dir="2700000" algn="tl">
                    <a:srgbClr val="000000">
                      <a:alpha val="43137"/>
                    </a:srgbClr>
                  </a:outerShdw>
                </a:effectLst>
                <a:latin typeface="Calibri"/>
                <a:ea typeface="+mn-ea"/>
                <a:cs typeface="+mn-cs"/>
              </a:rPr>
              <a:t>your session feedback forms via the </a:t>
            </a:r>
            <a:r>
              <a:rPr lang="en-US" sz="2600" kern="1200" dirty="0" err="1">
                <a:solidFill>
                  <a:srgbClr val="FFFFFF"/>
                </a:solidFill>
                <a:effectLst>
                  <a:outerShdw blurRad="38100" dist="38100" dir="2700000" algn="tl">
                    <a:srgbClr val="000000">
                      <a:alpha val="43137"/>
                    </a:srgbClr>
                  </a:outerShdw>
                </a:effectLst>
                <a:latin typeface="Calibri"/>
                <a:ea typeface="+mn-ea"/>
                <a:cs typeface="+mn-cs"/>
              </a:rPr>
              <a:t>CommNet</a:t>
            </a:r>
            <a:r>
              <a:rPr lang="en-US" sz="2600" kern="1200" dirty="0">
                <a:solidFill>
                  <a:srgbClr val="FFFFFF"/>
                </a:solidFill>
                <a:effectLst>
                  <a:outerShdw blurRad="38100" dist="38100" dir="2700000" algn="tl">
                    <a:srgbClr val="000000">
                      <a:alpha val="43137"/>
                    </a:srgbClr>
                  </a:outerShdw>
                </a:effectLst>
                <a:latin typeface="Calibri"/>
                <a:ea typeface="+mn-ea"/>
                <a:cs typeface="+mn-cs"/>
              </a:rPr>
              <a:t> terminals</a:t>
            </a:r>
            <a:br>
              <a:rPr lang="en-US" sz="2600" kern="1200" dirty="0">
                <a:solidFill>
                  <a:srgbClr val="FFFFFF"/>
                </a:solidFill>
                <a:effectLst>
                  <a:outerShdw blurRad="38100" dist="38100" dir="2700000" algn="tl">
                    <a:srgbClr val="000000">
                      <a:alpha val="43137"/>
                    </a:srgbClr>
                  </a:outerShdw>
                </a:effectLst>
                <a:latin typeface="Calibri"/>
                <a:ea typeface="+mn-ea"/>
                <a:cs typeface="+mn-cs"/>
              </a:rPr>
            </a:br>
            <a:r>
              <a:rPr lang="en-US" sz="2600" kern="1200" dirty="0">
                <a:solidFill>
                  <a:srgbClr val="FFFFFF"/>
                </a:solidFill>
                <a:effectLst>
                  <a:outerShdw blurRad="38100" dist="38100" dir="2700000" algn="tl">
                    <a:srgbClr val="000000">
                      <a:alpha val="43137"/>
                    </a:srgbClr>
                  </a:outerShdw>
                </a:effectLst>
                <a:latin typeface="Calibri"/>
                <a:ea typeface="+mn-ea"/>
                <a:cs typeface="+mn-cs"/>
              </a:rPr>
              <a:t>or the Registered Delegate Pages for your chance to</a:t>
            </a:r>
            <a:br>
              <a:rPr lang="en-US" sz="2600" kern="1200" dirty="0">
                <a:solidFill>
                  <a:srgbClr val="FFFFFF"/>
                </a:solidFill>
                <a:effectLst>
                  <a:outerShdw blurRad="38100" dist="38100" dir="2700000" algn="tl">
                    <a:srgbClr val="000000">
                      <a:alpha val="43137"/>
                    </a:srgbClr>
                  </a:outerShdw>
                </a:effectLst>
                <a:latin typeface="Calibri"/>
                <a:ea typeface="+mn-ea"/>
                <a:cs typeface="+mn-cs"/>
              </a:rPr>
            </a:br>
            <a:r>
              <a:rPr lang="en-US" sz="2600" kern="1200" dirty="0">
                <a:solidFill>
                  <a:srgbClr val="FFFFFF"/>
                </a:solidFill>
                <a:effectLst>
                  <a:outerShdw blurRad="38100" dist="38100" dir="2700000" algn="tl">
                    <a:srgbClr val="000000">
                      <a:alpha val="43137"/>
                    </a:srgbClr>
                  </a:outerShdw>
                </a:effectLst>
                <a:latin typeface="Calibri"/>
                <a:ea typeface="+mn-ea"/>
                <a:cs typeface="+mn-cs"/>
              </a:rPr>
              <a:t>win a </a:t>
            </a:r>
            <a:r>
              <a:rPr lang="en-US" sz="2600" b="1" kern="1200" dirty="0">
                <a:solidFill>
                  <a:srgbClr val="FFFFFF"/>
                </a:solidFill>
                <a:effectLst>
                  <a:outerShdw blurRad="38100" dist="38100" dir="2700000" algn="tl">
                    <a:srgbClr val="000000">
                      <a:alpha val="43137"/>
                    </a:srgbClr>
                  </a:outerShdw>
                </a:effectLst>
                <a:latin typeface="Calibri"/>
                <a:ea typeface="+mn-ea"/>
                <a:cs typeface="+mn-cs"/>
              </a:rPr>
              <a:t>HTC Touch Dual!</a:t>
            </a:r>
          </a:p>
        </p:txBody>
      </p:sp>
      <p:sp>
        <p:nvSpPr>
          <p:cNvPr id="7" name="Rectangle 6"/>
          <p:cNvSpPr/>
          <p:nvPr/>
        </p:nvSpPr>
        <p:spPr bwMode="blackGray">
          <a:xfrm>
            <a:off x="636741" y="6073921"/>
            <a:ext cx="7426613" cy="513914"/>
          </a:xfrm>
          <a:prstGeom prst="rect">
            <a:avLst/>
          </a:prstGeom>
          <a:noFill/>
          <a:ln w="9525">
            <a:noFill/>
            <a:miter lim="800000"/>
            <a:headEnd/>
            <a:tailEnd/>
          </a:ln>
          <a:scene3d>
            <a:camera prst="orthographicFront"/>
            <a:lightRig rig="contrasting" dir="t">
              <a:rot lat="0" lon="0" rev="7800000"/>
            </a:lightRig>
          </a:scene3d>
          <a:sp3d prstMaterial="metal">
            <a:bevelB w="0" h="0"/>
          </a:sp3d>
        </p:spPr>
        <p:txBody>
          <a:bodyPr anchor="ctr" anchorCtr="0"/>
          <a:lstStyle/>
          <a:p>
            <a:pPr algn="l" defTabSz="914099" rtl="0" fontAlgn="base">
              <a:lnSpc>
                <a:spcPts val="3000"/>
              </a:lnSpc>
              <a:spcBef>
                <a:spcPct val="0"/>
              </a:spcBef>
              <a:spcAft>
                <a:spcPct val="0"/>
              </a:spcAft>
              <a:defRPr/>
            </a:pPr>
            <a:r>
              <a:rPr lang="en-US" kern="800" spc="-20" dirty="0">
                <a:solidFill>
                  <a:srgbClr val="3290E6"/>
                </a:solidFill>
                <a:effectLst>
                  <a:outerShdw blurRad="38100" dist="38100" dir="2700000" algn="tl">
                    <a:srgbClr val="000000">
                      <a:alpha val="43137"/>
                    </a:srgbClr>
                  </a:outerShdw>
                </a:effectLst>
                <a:latin typeface="Calibri"/>
                <a:ea typeface="+mn-ea"/>
                <a:cs typeface="+mn-cs"/>
              </a:rPr>
              <a:t>http://www.microsoft.com/emea/teched2008/itpro/feedback.aspx</a:t>
            </a:r>
            <a:endParaRPr lang="en-US" b="1" i="1" kern="800" spc="-20" dirty="0">
              <a:solidFill>
                <a:srgbClr val="3290E6"/>
              </a:solidFill>
              <a:effectLst>
                <a:outerShdw blurRad="38100" dist="38100" dir="2700000" algn="tl">
                  <a:srgbClr val="000000">
                    <a:alpha val="43137"/>
                  </a:srgbClr>
                </a:outerShdw>
              </a:effectLst>
              <a:latin typeface="Calibri"/>
              <a:ea typeface="+mn-ea"/>
              <a:cs typeface="+mn-cs"/>
            </a:endParaRPr>
          </a:p>
        </p:txBody>
      </p:sp>
      <p:sp>
        <p:nvSpPr>
          <p:cNvPr id="8" name="Rounded Rectangle 7"/>
          <p:cNvSpPr/>
          <p:nvPr/>
        </p:nvSpPr>
        <p:spPr bwMode="blackGray">
          <a:xfrm>
            <a:off x="3646714" y="549226"/>
            <a:ext cx="4883728" cy="1170712"/>
          </a:xfrm>
          <a:prstGeom prst="roundRect">
            <a:avLst/>
          </a:prstGeom>
          <a:noFill/>
          <a:ln w="9525">
            <a:noFill/>
            <a:miter lim="800000"/>
            <a:headEnd/>
            <a:tailEnd/>
          </a:ln>
          <a:scene3d>
            <a:camera prst="orthographicFront"/>
            <a:lightRig rig="contrasting" dir="t">
              <a:rot lat="0" lon="0" rev="7800000"/>
            </a:lightRig>
          </a:scene3d>
          <a:sp3d prstMaterial="metal">
            <a:bevelB w="0" h="0"/>
          </a:sp3d>
        </p:spPr>
        <p:txBody>
          <a:bodyPr anchor="ctr" anchorCtr="0"/>
          <a:lstStyle/>
          <a:p>
            <a:pPr lvl="0" algn="r" defTabSz="914099" fontAlgn="base">
              <a:lnSpc>
                <a:spcPts val="2700"/>
              </a:lnSpc>
              <a:spcBef>
                <a:spcPct val="0"/>
              </a:spcBef>
              <a:spcAft>
                <a:spcPct val="0"/>
              </a:spcAft>
              <a:defRPr/>
            </a:pPr>
            <a:r>
              <a:rPr lang="en-GB" sz="2800" dirty="0" smtClean="0">
                <a:solidFill>
                  <a:srgbClr val="6CADF4"/>
                </a:solidFill>
              </a:rPr>
              <a:t>Now extended from</a:t>
            </a:r>
            <a:br>
              <a:rPr lang="en-GB" sz="2800" dirty="0" smtClean="0">
                <a:solidFill>
                  <a:srgbClr val="6CADF4"/>
                </a:solidFill>
              </a:rPr>
            </a:br>
            <a:r>
              <a:rPr lang="en-GB" sz="2800" dirty="0" smtClean="0">
                <a:solidFill>
                  <a:srgbClr val="6CADF4"/>
                </a:solidFill>
              </a:rPr>
              <a:t>2 to 24 hours after session</a:t>
            </a:r>
            <a:br>
              <a:rPr lang="en-GB" sz="2800" dirty="0" smtClean="0">
                <a:solidFill>
                  <a:srgbClr val="6CADF4"/>
                </a:solidFill>
              </a:rPr>
            </a:br>
            <a:r>
              <a:rPr lang="en-GB" sz="2800" dirty="0" smtClean="0">
                <a:solidFill>
                  <a:srgbClr val="6CADF4"/>
                </a:solidFill>
              </a:rPr>
              <a:t>for more chance to WIN</a:t>
            </a:r>
            <a:endParaRPr lang="en-US" sz="2800" b="1" dirty="0" smtClean="0">
              <a:solidFill>
                <a:srgbClr val="6CADF4"/>
              </a:solidFill>
              <a:effectLst>
                <a:outerShdw blurRad="38100" dist="38100" dir="2700000" algn="tl">
                  <a:srgbClr val="000000">
                    <a:alpha val="43137"/>
                  </a:srgbClr>
                </a:outerShdw>
              </a:effectLst>
              <a:latin typeface="+mj-lt"/>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7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anim calcmode="lin" valueType="num">
                                      <p:cBhvr>
                                        <p:cTn id="11" dur="1000" fill="hold"/>
                                        <p:tgtEl>
                                          <p:spTgt spid="4"/>
                                        </p:tgtEl>
                                        <p:attrNameLst>
                                          <p:attrName>ppt_x</p:attrName>
                                        </p:attrNameLst>
                                      </p:cBhvr>
                                      <p:tavLst>
                                        <p:tav tm="0">
                                          <p:val>
                                            <p:strVal val="#ppt_x"/>
                                          </p:val>
                                        </p:tav>
                                        <p:tav tm="100000">
                                          <p:val>
                                            <p:strVal val="#ppt_x"/>
                                          </p:val>
                                        </p:tav>
                                      </p:tavLst>
                                    </p:anim>
                                    <p:anim calcmode="lin" valueType="num">
                                      <p:cBhvr>
                                        <p:cTn id="1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blackWhite">
          <a:xfrm>
            <a:off x="398963" y="5638800"/>
            <a:ext cx="8382000" cy="523206"/>
          </a:xfrm>
          <a:prstGeom prst="rect">
            <a:avLst/>
          </a:prstGeom>
          <a:noFill/>
          <a:ln w="12700">
            <a:noFill/>
            <a:miter lim="800000"/>
            <a:headEnd type="none" w="sm" len="sm"/>
            <a:tailEnd type="none" w="sm" len="sm"/>
          </a:ln>
          <a:effectLst/>
        </p:spPr>
        <p:txBody>
          <a:bodyPr vert="horz" wrap="square" lIns="91425" tIns="45713" rIns="91425" bIns="45713" numCol="1" anchor="t" anchorCtr="0" compatLnSpc="1">
            <a:prstTxWarp prst="textNoShape">
              <a:avLst/>
            </a:prstTxWarp>
            <a:spAutoFit/>
          </a:bodyPr>
          <a:lstStyle/>
          <a:p>
            <a:pPr algn="ctr" defTabSz="914099" eaLnBrk="0" hangingPunct="0"/>
            <a:r>
              <a:rPr lang="en-US" sz="700" dirty="0">
                <a:latin typeface="Calibri" pitchFamily="34" charset="0"/>
                <a:cs typeface="Arial" charset="0"/>
              </a:rPr>
              <a:t>© </a:t>
            </a:r>
            <a:r>
              <a:rPr lang="en-US" sz="700" dirty="0" smtClean="0">
                <a:latin typeface="Calibri" pitchFamily="34" charset="0"/>
                <a:cs typeface="Arial" charset="0"/>
              </a:rPr>
              <a:t>2008 Microsoft </a:t>
            </a:r>
            <a:r>
              <a:rPr lang="en-US" sz="700" dirty="0">
                <a:latin typeface="Calibri" pitchFamily="34" charset="0"/>
                <a:cs typeface="Arial" charset="0"/>
              </a:rPr>
              <a:t>Corporation. All rights reserved. Microsoft, Windows, Windows Vista and other product names are or may be registered trademarks and/or trademarks in the U.S. and/or other countries.</a:t>
            </a:r>
          </a:p>
          <a:p>
            <a:pPr algn="ctr" defTabSz="914099" eaLnBrk="0" hangingPunct="0"/>
            <a:r>
              <a:rPr lang="en-US" sz="700" dirty="0">
                <a:latin typeface="Calibri" pitchFamily="34" charset="0"/>
                <a:cs typeface="Arial"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r>
              <a:rPr lang="en-US" sz="700" dirty="0" smtClean="0">
                <a:latin typeface="Calibri" pitchFamily="34" charset="0"/>
                <a:cs typeface="Arial" charset="0"/>
              </a:rPr>
              <a:t>MICROSOFT </a:t>
            </a:r>
            <a:r>
              <a:rPr lang="en-US" sz="700" dirty="0">
                <a:latin typeface="Calibri" pitchFamily="34" charset="0"/>
                <a:cs typeface="Arial" charset="0"/>
              </a:rPr>
              <a:t>MAKES NO WARRANTIES, EXPRESS, IMPLIED OR STATUTORY, AS TO THE INFORMATION IN THIS PRESENTATION.</a:t>
            </a:r>
          </a:p>
        </p:txBody>
      </p:sp>
      <p:pic>
        <p:nvPicPr>
          <p:cNvPr id="7" name="Picture 2" descr="Microsoft logo and tagline"/>
          <p:cNvPicPr>
            <a:picLocks noChangeAspect="1" noChangeArrowheads="1"/>
          </p:cNvPicPr>
          <p:nvPr/>
        </p:nvPicPr>
        <p:blipFill>
          <a:blip r:embed="rId3"/>
          <a:srcRect r="25754" b="36106"/>
          <a:stretch>
            <a:fillRect/>
          </a:stretch>
        </p:blipFill>
        <p:spPr bwMode="black">
          <a:xfrm>
            <a:off x="2213840" y="2666735"/>
            <a:ext cx="4718061" cy="875731"/>
          </a:xfrm>
          <a:prstGeom prst="rect">
            <a:avLst/>
          </a:prstGeom>
          <a:noFill/>
          <a:ln>
            <a:noFill/>
          </a:ln>
        </p:spPr>
      </p:pic>
    </p:spTree>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1_TechEd2008_ITPro_4-3">
  <a:themeElements>
    <a:clrScheme name="Custom 1">
      <a:dk1>
        <a:srgbClr val="FFFFFF"/>
      </a:dk1>
      <a:lt1>
        <a:srgbClr val="FFFFFF"/>
      </a:lt1>
      <a:dk2>
        <a:srgbClr val="FFFFFF"/>
      </a:dk2>
      <a:lt2>
        <a:srgbClr val="7F7F7F"/>
      </a:lt2>
      <a:accent1>
        <a:srgbClr val="5EA7EA"/>
      </a:accent1>
      <a:accent2>
        <a:srgbClr val="97D256"/>
      </a:accent2>
      <a:accent3>
        <a:srgbClr val="11508A"/>
      </a:accent3>
      <a:accent4>
        <a:srgbClr val="7F7F7F"/>
      </a:accent4>
      <a:accent5>
        <a:srgbClr val="95337B"/>
      </a:accent5>
      <a:accent6>
        <a:srgbClr val="186CB8"/>
      </a:accent6>
      <a:hlink>
        <a:srgbClr val="19B0E5"/>
      </a:hlink>
      <a:folHlink>
        <a:srgbClr val="186CB8"/>
      </a:folHlink>
    </a:clrScheme>
    <a:fontScheme name="Custom 2">
      <a:majorFont>
        <a:latin typeface="Calibri"/>
        <a:ea typeface=""/>
        <a:cs typeface=""/>
      </a:majorFont>
      <a:minorFont>
        <a:latin typeface="Calibri"/>
        <a:ea typeface=""/>
        <a:cs typeface=""/>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a:defRPr sz="2000" dirty="0" smtClean="0">
            <a:solidFill>
              <a:srgbClr val="FFFFFF"/>
            </a:solidFill>
            <a:effectLst>
              <a:outerShdw blurRad="38100" dist="38100" dir="2700000" algn="tl">
                <a:srgbClr val="000000">
                  <a:alpha val="43137"/>
                </a:srgbClr>
              </a:outerShdw>
            </a:effectLst>
            <a:latin typeface="Calibri" pitchFamily="34" charset="0"/>
          </a:defRPr>
        </a:defPPr>
      </a:lstStyle>
      <a:style>
        <a:lnRef idx="0">
          <a:schemeClr val="accent4"/>
        </a:lnRef>
        <a:fillRef idx="3">
          <a:schemeClr val="accent4"/>
        </a:fillRef>
        <a:effectRef idx="3">
          <a:schemeClr val="accent4"/>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FAD18D62016C640A18B4602AF84C96B" ma:contentTypeVersion="0" ma:contentTypeDescription="Create a new document." ma:contentTypeScope="" ma:versionID="caa81f01dd96cdfbc3682f85211525f3">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727A27AF-67A1-4A64-B04E-6572043AD347}">
  <ds:schemaRefs>
    <ds:schemaRef ds:uri="http://schemas.microsoft.com/sharepoint/v3/contenttype/forms"/>
  </ds:schemaRefs>
</ds:datastoreItem>
</file>

<file path=customXml/itemProps2.xml><?xml version="1.0" encoding="utf-8"?>
<ds:datastoreItem xmlns:ds="http://schemas.openxmlformats.org/officeDocument/2006/customXml" ds:itemID="{36E36A69-20AF-4475-8E56-46E6A5BAB14A}">
  <ds:schemaRefs>
    <ds:schemaRef ds:uri="http://schemas.microsoft.com/office/2006/documentManagement/types"/>
    <ds:schemaRef ds:uri="http://purl.org/dc/elements/1.1/"/>
    <ds:schemaRef ds:uri="http://purl.org/dc/terms/"/>
    <ds:schemaRef ds:uri="http://purl.org/dc/dcmitype/"/>
    <ds:schemaRef ds:uri="http://www.w3.org/XML/1998/namespace"/>
    <ds:schemaRef ds:uri="http://schemas.microsoft.com/office/2006/metadata/properties"/>
    <ds:schemaRef ds:uri="http://schemas.openxmlformats.org/package/2006/metadata/core-properties"/>
  </ds:schemaRefs>
</ds:datastoreItem>
</file>

<file path=customXml/itemProps3.xml><?xml version="1.0" encoding="utf-8"?>
<ds:datastoreItem xmlns:ds="http://schemas.openxmlformats.org/officeDocument/2006/customXml" ds:itemID="{C720BFF8-353C-459A-AFEF-E21478A415F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TechEd2008_ITPro_4-3</Template>
  <TotalTime>1428</TotalTime>
  <Words>1909</Words>
  <Application>Microsoft Office PowerPoint</Application>
  <PresentationFormat>On-screen Show (4:3)</PresentationFormat>
  <Paragraphs>372</Paragraphs>
  <Slides>25</Slides>
  <Notes>18</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1_TechEd2008_ITPro_4-3</vt:lpstr>
      <vt:lpstr>Slide 1</vt:lpstr>
      <vt:lpstr>Connecting Active Directory To Cloud Services</vt:lpstr>
      <vt:lpstr>Agenda Connecting Active Directory To Cloud Services</vt:lpstr>
      <vt:lpstr>Microsoft Identity Software + Services  One identity model that puts users in control of their identities</vt:lpstr>
      <vt:lpstr>Identity Challenges</vt:lpstr>
      <vt:lpstr>Federated Ecosystem Benefits from making federated identity work</vt:lpstr>
      <vt:lpstr>Switching to Cloud Services</vt:lpstr>
      <vt:lpstr>Federated Identity Relationships Point-to-Point</vt:lpstr>
      <vt:lpstr>Federated Identity Relationships Hub and Spoke</vt:lpstr>
      <vt:lpstr>Solution: Easy Federated Identity</vt:lpstr>
      <vt:lpstr>Federated Enterprise Software &amp; Service Topology</vt:lpstr>
      <vt:lpstr>Microsoft Services Connector</vt:lpstr>
      <vt:lpstr>Microsoft Services Connector Setup</vt:lpstr>
      <vt:lpstr>Microsoft Services Connector</vt:lpstr>
      <vt:lpstr>Microsoft Federation Gateway  Accessing Services</vt:lpstr>
      <vt:lpstr>Microsoft Federation Gateway</vt:lpstr>
      <vt:lpstr>Microsoft Services Connector</vt:lpstr>
      <vt:lpstr>Deployment Options</vt:lpstr>
      <vt:lpstr>Benefit: Reduced Federation Costs</vt:lpstr>
      <vt:lpstr>How You Get It</vt:lpstr>
      <vt:lpstr>Summary Call-to-action</vt:lpstr>
      <vt:lpstr>Slide 22</vt:lpstr>
      <vt:lpstr>Slide 23</vt:lpstr>
      <vt:lpstr>Slide 24</vt:lpstr>
      <vt:lpstr>Slide 25</vt:lpstr>
    </vt:vector>
  </TitlesOfParts>
  <Manager>&lt;Content Manager Name Here&gt;</Manager>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Connecting Active Directory To Cloud Services</dc:title>
  <dc:subject>Tech Ed 2008 TechEd Tech-Ed</dc:subject>
  <dc:creator>Jorgen Thelin</dc:creator>
  <dc:description>Template: Mary Feil-Jacobs (maryjf), Heather Tall, Slidework LLC, Claire Hoover, Silverfox Productions
Formatting:
Event Date: June 9-13, 2008
Event Location: Orlando, FL
Audience: Technical, partners and customers, dev, developers, developer, IT IT Pro Pros Professionals,</dc:description>
  <cp:lastModifiedBy>jthelin</cp:lastModifiedBy>
  <cp:revision>90</cp:revision>
  <dcterms:created xsi:type="dcterms:W3CDTF">2008-04-17T09:28:09Z</dcterms:created>
  <dcterms:modified xsi:type="dcterms:W3CDTF">2008-11-17T22:36:09Z</dcterms:modified>
</cp:coreProperties>
</file>