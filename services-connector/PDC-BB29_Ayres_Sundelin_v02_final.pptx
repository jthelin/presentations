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1"/>
    <p:sldMasterId id="2147483718" r:id="rId2"/>
  </p:sldMasterIdLst>
  <p:notesMasterIdLst>
    <p:notesMasterId r:id="rId26"/>
  </p:notesMasterIdLst>
  <p:handoutMasterIdLst>
    <p:handoutMasterId r:id="rId27"/>
  </p:handoutMasterIdLst>
  <p:sldIdLst>
    <p:sldId id="256" r:id="rId3"/>
    <p:sldId id="257" r:id="rId4"/>
    <p:sldId id="338" r:id="rId5"/>
    <p:sldId id="339" r:id="rId6"/>
    <p:sldId id="336" r:id="rId7"/>
    <p:sldId id="326" r:id="rId8"/>
    <p:sldId id="295" r:id="rId9"/>
    <p:sldId id="316" r:id="rId10"/>
    <p:sldId id="299" r:id="rId11"/>
    <p:sldId id="314" r:id="rId12"/>
    <p:sldId id="302" r:id="rId13"/>
    <p:sldId id="332" r:id="rId14"/>
    <p:sldId id="320" r:id="rId15"/>
    <p:sldId id="300" r:id="rId16"/>
    <p:sldId id="329" r:id="rId17"/>
    <p:sldId id="337" r:id="rId18"/>
    <p:sldId id="324" r:id="rId19"/>
    <p:sldId id="333" r:id="rId20"/>
    <p:sldId id="311" r:id="rId21"/>
    <p:sldId id="313" r:id="rId22"/>
    <p:sldId id="330" r:id="rId23"/>
    <p:sldId id="309" r:id="rId24"/>
    <p:sldId id="331" r:id="rId25"/>
  </p:sldIdLst>
  <p:sldSz cx="9144000" cy="6858000" type="screen4x3"/>
  <p:notesSz cx="6858000" cy="91440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CC"/>
    <a:srgbClr val="080808"/>
    <a:srgbClr val="FFFFFF"/>
    <a:srgbClr val="F6AE1E"/>
    <a:srgbClr val="FF0066"/>
    <a:srgbClr val="000000"/>
    <a:srgbClr val="F3AF35"/>
    <a:srgbClr val="9C42E6"/>
    <a:srgbClr val="D1943B"/>
    <a:srgbClr val="F8F57B"/>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0" autoAdjust="0"/>
    <p:restoredTop sz="74000" autoAdjust="0"/>
  </p:normalViewPr>
  <p:slideViewPr>
    <p:cSldViewPr>
      <p:cViewPr varScale="1">
        <p:scale>
          <a:sx n="65" d="100"/>
          <a:sy n="65" d="100"/>
        </p:scale>
        <p:origin x="-102" y="-312"/>
      </p:cViewPr>
      <p:guideLst>
        <p:guide orient="horz" pos="96"/>
        <p:guide orient="horz" pos="887"/>
        <p:guide orient="horz" pos="1484"/>
        <p:guide orient="horz" pos="1008"/>
        <p:guide orient="horz" pos="2544"/>
        <p:guide pos="3116"/>
        <p:guide pos="244"/>
        <p:guide pos="460"/>
        <p:guide pos="5516"/>
        <p:guide pos="893"/>
        <p:guide pos="5293"/>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51" d="100"/>
          <a:sy n="51" d="100"/>
        </p:scale>
        <p:origin x="-1884"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Connecting Active Directory To Microsoft Cloud Services</a:t>
            </a:r>
            <a:endParaRPr lang="en-US" dirty="0">
              <a:latin typeface="Calibri"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Calibri" pitchFamily="34" charset="0"/>
              </a:rPr>
              <a:pPr/>
              <a:t>10/26/2008</a:t>
            </a:fld>
            <a:endParaRPr lang="en-US" dirty="0">
              <a:latin typeface="Calibri" pitchFamily="34" charset="0"/>
            </a:endParaRPr>
          </a:p>
        </p:txBody>
      </p:sp>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Calibri" pitchFamily="34" charset="0"/>
              </a:rPr>
            </a:br>
            <a:r>
              <a:rPr lang="en-US" sz="500" dirty="0" smtClean="0">
                <a:solidFill>
                  <a:srgbClr val="000000"/>
                </a:solidFill>
                <a:latin typeface="Calibr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Calibri" pitchFamily="34" charset="0"/>
              </a:rPr>
              <a:pPr/>
              <a:t>‹#›</a:t>
            </a:fld>
            <a:endParaRPr lang="en-US" dirty="0">
              <a:latin typeface="Calibri"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pitchFamily="34" charset="0"/>
              </a:defRPr>
            </a:lvl1pPr>
          </a:lstStyle>
          <a:p>
            <a:r>
              <a:rPr lang="en-US" dirty="0" smtClean="0"/>
              <a:t>Connecting Active Directory To Microsoft Cloud Services</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pitchFamily="34" charset="0"/>
              </a:defRPr>
            </a:lvl1pPr>
          </a:lstStyle>
          <a:p>
            <a:fld id="{7C3FBCD4-166E-446F-AF18-7D4A0CF9AEF6}" type="datetimeFigureOut">
              <a:rPr lang="en-US" smtClean="0"/>
              <a:pPr/>
              <a:t>10/26/2008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Calibri" pitchFamily="34" charset="0"/>
              </a:rPr>
            </a:br>
            <a:r>
              <a:rPr lang="en-US" dirty="0" smtClean="0">
                <a:solidFill>
                  <a:srgbClr val="000000"/>
                </a:solidFill>
                <a:latin typeface="Calibr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Calibri" pitchFamily="34" charset="0"/>
              </a:defRPr>
            </a:lvl1pPr>
          </a:lstStyle>
          <a:p>
            <a:fld id="{8B263312-38AA-4E1E-B2B5-0F8F122B24FE}"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Calibr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Calibr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10/26/2008 1:28 PM</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Calibri" pitchFamily="34" charset="0"/>
              </a:rPr>
            </a:br>
            <a:r>
              <a:rPr lang="en-US" sz="500" dirty="0" smtClean="0">
                <a:solidFill>
                  <a:srgbClr val="000000"/>
                </a:solidFill>
                <a:latin typeface="Calibri" pitchFamily="34" charset="0"/>
              </a:rPr>
              <a:t>MICROSOFT MAKES NO WARRANTIES, EXPRESS, IMPLIED OR STATUTORY, AS TO THE INFORMATION IN THIS PRESENTATION.</a:t>
            </a:r>
          </a:p>
          <a:p>
            <a:endParaRPr lang="en-US" sz="500" dirty="0">
              <a:latin typeface="Calibri" pitchFamily="34" charset="0"/>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10/26/2008 1:28 PM</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Calibri" pitchFamily="34" charset="0"/>
              </a:rPr>
            </a:br>
            <a:r>
              <a:rPr lang="en-US" sz="500" dirty="0" smtClean="0">
                <a:solidFill>
                  <a:srgbClr val="000000"/>
                </a:solidFill>
                <a:latin typeface="Calibri" pitchFamily="34" charset="0"/>
              </a:rPr>
              <a:t>MICROSOFT MAKES NO WARRANTIES, EXPRESS, IMPLIED OR STATUTORY, AS TO THE INFORMATION IN THIS PRESENTATION.</a:t>
            </a:r>
          </a:p>
          <a:p>
            <a:endParaRPr lang="en-US" sz="500" dirty="0">
              <a:latin typeface="Calibri" pitchFamily="34" charset="0"/>
            </a:endParaRPr>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SLIDE FOR EVERY IDENTITY DECK</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SLIDE FOR EVERY IDENTITY DECK</a:t>
            </a:r>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p:txBody>
      </p:sp>
      <p:sp>
        <p:nvSpPr>
          <p:cNvPr id="4" name="Slide Number Placeholder 3"/>
          <p:cNvSpPr>
            <a:spLocks noGrp="1"/>
          </p:cNvSpPr>
          <p:nvPr>
            <p:ph type="sldNum" sz="quarter" idx="10"/>
          </p:nvPr>
        </p:nvSpPr>
        <p:spPr/>
        <p:txBody>
          <a:bodyPr/>
          <a:lstStyle/>
          <a:p>
            <a:fld id="{8B263312-38AA-4E1E-B2B5-0F8F122B24FE}" type="slidenum">
              <a:rPr lang="en-US" smtClean="0"/>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10/26/2008 1:28 PM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Calibri" pitchFamily="34" charset="0"/>
              </a:rPr>
            </a:br>
            <a:r>
              <a:rPr lang="en-US" dirty="0" smtClean="0">
                <a:solidFill>
                  <a:srgbClr val="000000"/>
                </a:solidFill>
                <a:latin typeface="Calibri" pitchFamily="34" charset="0"/>
              </a:rPr>
              <a:t>MICROSOFT MAKES NO WARRANTIES, EXPRESS, IMPLIED OR STATUTORY, AS TO THE INFORMATION IN THIS PRESENTATION.</a:t>
            </a:r>
          </a:p>
          <a:p>
            <a:endParaRPr lang="en-US" dirty="0">
              <a:latin typeface="Calibr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None/>
            </a:pPr>
            <a:endParaRPr lang="en-US" sz="2000" dirty="0" smtClean="0">
              <a:solidFill>
                <a:schemeClr val="tx1"/>
              </a:solidFill>
            </a:endParaRPr>
          </a:p>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F7B60A7-BE35-42C4-BE08-75032A3AAEE8}"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10/26/2008 1:28 PM</a:t>
            </a:fld>
            <a:endParaRPr lang="en-US"/>
          </a:p>
        </p:txBody>
      </p:sp>
      <p:sp>
        <p:nvSpPr>
          <p:cNvPr id="6" name="Footer Placeholder 5"/>
          <p:cNvSpPr>
            <a:spLocks noGrp="1"/>
          </p:cNvSpPr>
          <p:nvPr>
            <p:ph type="ftr" sz="quarter" idx="12"/>
          </p:nvPr>
        </p:nvSpPr>
        <p:spPr/>
        <p:txBody>
          <a:bodyPr/>
          <a:lstStyle/>
          <a:p>
            <a:r>
              <a:rPr lang="en-US" dirty="0" smtClean="0">
                <a:solidFill>
                  <a:srgbClr val="000000"/>
                </a:solidFill>
                <a:latin typeface="Calibri" pitchFamily="34" charset="0"/>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latin typeface="Calibr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latin typeface="Calibri" pitchFamily="34" charset="0"/>
              </a:rPr>
            </a:br>
            <a:r>
              <a:rPr lang="en-US" dirty="0" smtClean="0">
                <a:solidFill>
                  <a:srgbClr val="000000"/>
                </a:solidFill>
                <a:latin typeface="Calibri" pitchFamily="34" charset="0"/>
              </a:rPr>
              <a:t>MICROSOFT MAKES NO WARRANTIES, EXPRESS, IMPLIED OR STATUTORY, AS TO THE INFORMATION IN THIS PRESENTATION.</a:t>
            </a:r>
          </a:p>
          <a:p>
            <a:endParaRPr lang="en-US" dirty="0">
              <a:latin typeface="Calibri" pitchFamily="34" charset="0"/>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pPr/>
              <a:t>23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20135" y="1905001"/>
            <a:ext cx="7681913"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4945954" y="4038600"/>
            <a:ext cx="3456094"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Click to edit Master subtitle style</a:t>
            </a:r>
            <a:endParaRPr lang="en-US" dirty="0"/>
          </a:p>
        </p:txBody>
      </p:sp>
      <p:sp>
        <p:nvSpPr>
          <p:cNvPr id="7" name="Text Placeholder 6"/>
          <p:cNvSpPr>
            <a:spLocks noGrp="1"/>
          </p:cNvSpPr>
          <p:nvPr>
            <p:ph type="body" sz="quarter" idx="10" hasCustomPrompt="1"/>
          </p:nvPr>
        </p:nvSpPr>
        <p:spPr>
          <a:xfrm>
            <a:off x="4945954" y="5486400"/>
            <a:ext cx="3456094" cy="838200"/>
          </a:xfrm>
        </p:spPr>
        <p:txBody>
          <a:bodyPr vert="horz" wrap="square" lIns="0" tIns="0" rIns="0" bIns="0" rtlCol="0">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r>
              <a:rPr lang="en-US" dirty="0" smtClean="0"/>
              <a:t>	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mo, Partner and Custom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4945954" y="5334001"/>
            <a:ext cx="3456094"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	Presenter Name</a:t>
            </a:r>
          </a:p>
          <a:p>
            <a:r>
              <a:rPr lang="en-US" sz="2400" dirty="0" smtClean="0"/>
              <a:t>	Title</a:t>
            </a:r>
          </a:p>
          <a:p>
            <a:r>
              <a:rPr lang="en-US" sz="2400" dirty="0" smtClean="0"/>
              <a:t>	Group</a:t>
            </a:r>
            <a:endParaRPr lang="en-US" sz="2400" dirty="0"/>
          </a:p>
        </p:txBody>
      </p:sp>
      <p:sp>
        <p:nvSpPr>
          <p:cNvPr id="7" name="Text Placeholder 6"/>
          <p:cNvSpPr>
            <a:spLocks noGrp="1"/>
          </p:cNvSpPr>
          <p:nvPr>
            <p:ph type="body" sz="quarter" idx="10" hasCustomPrompt="1"/>
          </p:nvPr>
        </p:nvSpPr>
        <p:spPr>
          <a:xfrm>
            <a:off x="730044" y="1905000"/>
            <a:ext cx="7682119" cy="1384994"/>
          </a:xfrm>
        </p:spPr>
        <p:txBody>
          <a:bodyPr vert="horz" wrap="square" lIns="0" tIns="0" rIns="0" bIns="0" rtlCol="0"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marL="0" lvl="0" indent="0" algn="l" defTabSz="914363" rtl="0" eaLnBrk="1" latinLnBrk="0" hangingPunct="1">
              <a:lnSpc>
                <a:spcPct val="78000"/>
              </a:lnSpc>
              <a:spcBef>
                <a:spcPct val="20000"/>
              </a:spcBef>
              <a:spcAft>
                <a:spcPts val="800"/>
              </a:spcAft>
              <a:buFont typeface="Arial" pitchFamily="34" charset="0"/>
              <a:buNone/>
            </a:pPr>
            <a:r>
              <a:rPr lang="en-US" dirty="0" smtClean="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deo and Announc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t"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hasCustomPrompt="1"/>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730044" y="1411552"/>
            <a:ext cx="7672003"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Placeholder 1"/>
          <p:cNvSpPr>
            <a:spLocks noGrp="1"/>
          </p:cNvSpPr>
          <p:nvPr>
            <p:ph type="title"/>
          </p:nvPr>
        </p:nvSpPr>
        <p:spPr>
          <a:xfrm>
            <a:off x="387054" y="152400"/>
            <a:ext cx="8375946" cy="609398"/>
          </a:xfrm>
          <a:prstGeom prst="rect">
            <a:avLst/>
          </a:prstGeom>
        </p:spPr>
        <p:txBody>
          <a:bodyPr vert="horz" wrap="square" lIns="0" tIns="0" rIns="0" bIns="0" rtlCol="0" anchor="t">
            <a:spAutoFit/>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this Slide for FUTURE Content</a:t>
            </a:r>
            <a:endParaRPr lang="en-US" dirty="0"/>
          </a:p>
        </p:txBody>
      </p:sp>
      <p:sp>
        <p:nvSpPr>
          <p:cNvPr id="6" name="Text Placeholder 5"/>
          <p:cNvSpPr>
            <a:spLocks noGrp="1"/>
          </p:cNvSpPr>
          <p:nvPr>
            <p:ph type="body" sz="quarter" idx="10"/>
          </p:nvPr>
        </p:nvSpPr>
        <p:spPr>
          <a:xfrm>
            <a:off x="730044" y="1411553"/>
            <a:ext cx="7672004"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730044" y="1412875"/>
            <a:ext cx="7681532"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730045" y="1411554"/>
            <a:ext cx="3670461" cy="1981376"/>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86330" y="1411554"/>
            <a:ext cx="3725246" cy="1981376"/>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045" y="1411553"/>
            <a:ext cx="3670461"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30044" y="2174876"/>
            <a:ext cx="3670461"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43495" y="1411553"/>
            <a:ext cx="3658553"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43495" y="2174876"/>
            <a:ext cx="3668081"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baseline="0"/>
            </a:lvl1pPr>
          </a:lstStyle>
          <a:p>
            <a:r>
              <a:rPr lang="en-US" dirty="0" smtClean="0"/>
              <a:t>Use this Slide for Speaker Notes</a:t>
            </a:r>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white"/>
        <p:txBody>
          <a:bodyPr/>
          <a:lstStyle>
            <a:lvl1pPr>
              <a:defRPr/>
            </a:lvl1pPr>
          </a:lstStyle>
          <a:p>
            <a:r>
              <a:rPr lang="en-US" dirty="0" smtClean="0"/>
              <a:t>Use this Slide for Speaker Notes</a:t>
            </a:r>
            <a:endParaRPr lang="en-US" dirty="0"/>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veloper Co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CURRENT Software Code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UTURE - Developer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Use for FUTURE Software Code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7350" y="152400"/>
            <a:ext cx="8369300" cy="55399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730250" y="1408113"/>
            <a:ext cx="7672388" cy="1994841"/>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694" r:id="rId1"/>
    <p:sldLayoutId id="2147483695" r:id="rId2"/>
    <p:sldLayoutId id="2147483723" r:id="rId3"/>
    <p:sldLayoutId id="2147483696" r:id="rId4"/>
    <p:sldLayoutId id="2147483722"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Lst>
  <p:transition>
    <p:fade/>
  </p:transition>
  <p:txStyles>
    <p:titleStyle>
      <a:lvl1pPr algn="l" defTabSz="914363" rtl="0" eaLnBrk="1" latinLnBrk="0" hangingPunct="1">
        <a:lnSpc>
          <a:spcPct val="90000"/>
        </a:lnSpc>
        <a:spcBef>
          <a:spcPct val="0"/>
        </a:spcBef>
        <a:buNone/>
        <a:defRPr lang="en-US" sz="4000" b="0" kern="1200" cap="none" spc="-15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3700" indent="-393700" algn="l" defTabSz="914363" rtl="0" eaLnBrk="1" latinLnBrk="0" hangingPunct="1">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4363" rtl="0" eaLnBrk="1" latinLnBrk="0" hangingPunct="1">
        <a:lnSpc>
          <a:spcPct val="78000"/>
        </a:lnSpc>
        <a:spcBef>
          <a:spcPct val="20000"/>
        </a:spcBef>
        <a:spcAft>
          <a:spcPts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5" name="Picture 4" descr="16-9-coding-white-space.png"/>
          <p:cNvPicPr>
            <a:picLocks noChangeAspect="1"/>
          </p:cNvPicPr>
          <p:nvPr/>
        </p:nvPicPr>
        <p:blipFill>
          <a:blip r:embed="rId5"/>
          <a:stretch>
            <a:fillRect/>
          </a:stretch>
        </p:blipFill>
        <p:spPr>
          <a:xfrm>
            <a:off x="387350" y="1331495"/>
            <a:ext cx="8369300" cy="5526505"/>
          </a:xfrm>
          <a:prstGeom prst="rect">
            <a:avLst/>
          </a:prstGeom>
        </p:spPr>
      </p:pic>
      <p:sp>
        <p:nvSpPr>
          <p:cNvPr id="2" name="Title Placeholder 1"/>
          <p:cNvSpPr>
            <a:spLocks noGrp="1"/>
          </p:cNvSpPr>
          <p:nvPr>
            <p:ph type="title"/>
          </p:nvPr>
        </p:nvSpPr>
        <p:spPr>
          <a:xfrm>
            <a:off x="381000" y="152400"/>
            <a:ext cx="8382000" cy="553998"/>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73505" y="1459832"/>
            <a:ext cx="8005009" cy="160293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21" r:id="rId1"/>
    <p:sldLayoutId id="2147483724" r:id="rId2"/>
  </p:sldLayoutIdLst>
  <p:transition>
    <p:fade/>
  </p:transition>
  <p:txStyles>
    <p:titleStyle>
      <a:lvl1pPr algn="l" defTabSz="914363" rtl="0" eaLnBrk="1" latinLnBrk="0" hangingPunct="1">
        <a:lnSpc>
          <a:spcPct val="90000"/>
        </a:lnSpc>
        <a:spcBef>
          <a:spcPct val="0"/>
        </a:spcBef>
        <a:buNone/>
        <a:defRPr lang="en-US" sz="4000" b="0" kern="1200" cap="none" spc="-150" dirty="0">
          <a:ln w="3175">
            <a:noFill/>
          </a:ln>
          <a:gradFill>
            <a:gsLst>
              <a:gs pos="0">
                <a:srgbClr val="FFFFFF"/>
              </a:gs>
              <a:gs pos="86000">
                <a:srgbClr val="FFFFFF"/>
              </a:gs>
            </a:gsLst>
            <a:lin ang="5400000" scaled="0"/>
          </a:gradFill>
          <a:effectLst/>
          <a:latin typeface="+mj-lt"/>
          <a:ea typeface="+mn-ea"/>
          <a:cs typeface="Arial" charset="0"/>
        </a:defRPr>
      </a:lvl1pPr>
    </p:titleStyle>
    <p:bodyStyle>
      <a:lvl1pPr marL="0" indent="0" algn="l" defTabSz="914363" rtl="0" eaLnBrk="1" latinLnBrk="0" hangingPunct="1">
        <a:lnSpc>
          <a:spcPct val="78000"/>
        </a:lnSpc>
        <a:spcBef>
          <a:spcPct val="20000"/>
        </a:spcBef>
        <a:buFont typeface="Arial" pitchFamily="34" charset="0"/>
        <a:buNone/>
        <a:defRPr sz="2800" b="0" kern="1200">
          <a:solidFill>
            <a:schemeClr val="tx1"/>
          </a:solidFill>
          <a:latin typeface="Consolas" pitchFamily="49" charset="0"/>
          <a:ea typeface="+mn-ea"/>
          <a:cs typeface="Courier New" pitchFamily="49" charset="0"/>
        </a:defRPr>
      </a:lvl1pPr>
      <a:lvl2pPr marL="384954" indent="-7937" algn="l" defTabSz="914363" rtl="0" eaLnBrk="1" latinLnBrk="0" hangingPunct="1">
        <a:lnSpc>
          <a:spcPct val="78000"/>
        </a:lnSpc>
        <a:spcBef>
          <a:spcPct val="20000"/>
        </a:spcBef>
        <a:buFont typeface="Arial" pitchFamily="34" charset="0"/>
        <a:buNone/>
        <a:defRPr sz="2400" b="0" kern="1200">
          <a:solidFill>
            <a:schemeClr val="tx1"/>
          </a:solidFill>
          <a:latin typeface="Consolas" pitchFamily="49" charset="0"/>
          <a:ea typeface="+mn-ea"/>
          <a:cs typeface="Courier New" pitchFamily="49" charset="0"/>
        </a:defRPr>
      </a:lvl2pPr>
      <a:lvl3pPr marL="761970" indent="-7937" algn="l" defTabSz="914363" rtl="0" eaLnBrk="1" latinLnBrk="0" hangingPunct="1">
        <a:lnSpc>
          <a:spcPct val="78000"/>
        </a:lnSpc>
        <a:spcBef>
          <a:spcPct val="20000"/>
        </a:spcBef>
        <a:buFont typeface="Arial" pitchFamily="34" charset="0"/>
        <a:buNone/>
        <a:defRPr sz="2000" b="0" kern="1200">
          <a:solidFill>
            <a:schemeClr val="tx1"/>
          </a:solidFill>
          <a:latin typeface="Consolas" pitchFamily="49" charset="0"/>
          <a:ea typeface="+mn-ea"/>
          <a:cs typeface="Courier New" pitchFamily="49" charset="0"/>
        </a:defRPr>
      </a:lvl3pPr>
      <a:lvl4pPr marL="1094009" indent="7937" algn="l" defTabSz="914363" rtl="0" eaLnBrk="1" latinLnBrk="0" hangingPunct="1">
        <a:lnSpc>
          <a:spcPct val="78000"/>
        </a:lnSpc>
        <a:spcBef>
          <a:spcPct val="20000"/>
        </a:spcBef>
        <a:buFont typeface="Arial" pitchFamily="34" charset="0"/>
        <a:buNone/>
        <a:defRPr sz="2000" b="0" kern="1200">
          <a:solidFill>
            <a:schemeClr val="tx1"/>
          </a:solidFill>
          <a:latin typeface="Consolas" pitchFamily="49" charset="0"/>
          <a:ea typeface="+mn-ea"/>
          <a:cs typeface="Courier New" pitchFamily="49" charset="0"/>
        </a:defRPr>
      </a:lvl4pPr>
      <a:lvl5pPr marL="1426047" indent="0" algn="l" defTabSz="914363" rtl="0" eaLnBrk="1" latinLnBrk="0" hangingPunct="1">
        <a:lnSpc>
          <a:spcPct val="78000"/>
        </a:lnSpc>
        <a:spcBef>
          <a:spcPct val="20000"/>
        </a:spcBef>
        <a:buFont typeface="Arial" pitchFamily="34" charset="0"/>
        <a:buNone/>
        <a:defRPr sz="2000" b="0" kern="1200">
          <a:solidFill>
            <a:schemeClr val="tx1"/>
          </a:solidFill>
          <a:latin typeface="Consolas"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www.microsoft.com/servicesconnector"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hyperlink" Target="http://connect.microsoft.com/servicesconnector/community/discussion/richui/default.aspx" TargetMode="External"/><Relationship Id="rId5" Type="http://schemas.openxmlformats.org/officeDocument/2006/relationships/hyperlink" Target="http://go.microsoft.com/fwlink/?LinkID=131673" TargetMode="External"/><Relationship Id="rId4" Type="http://schemas.openxmlformats.org/officeDocument/2006/relationships/hyperlink" Target="http://go.microsoft.com/fwlink/?LinkID=111692"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Connecting Active Directory To Microsoft </a:t>
            </a:r>
            <a:r>
              <a:rPr lang="en-US" dirty="0" smtClean="0"/>
              <a:t>Services</a:t>
            </a:r>
            <a:endParaRPr lang="en-US" dirty="0"/>
          </a:p>
        </p:txBody>
      </p:sp>
      <p:sp>
        <p:nvSpPr>
          <p:cNvPr id="3" name="Subtitle 2"/>
          <p:cNvSpPr>
            <a:spLocks noGrp="1"/>
          </p:cNvSpPr>
          <p:nvPr>
            <p:ph type="subTitle" idx="1"/>
          </p:nvPr>
        </p:nvSpPr>
        <p:spPr/>
        <p:txBody>
          <a:bodyPr/>
          <a:lstStyle/>
          <a:p>
            <a:r>
              <a:rPr lang="en-US" dirty="0" smtClean="0"/>
              <a:t>	Lynn Ayres</a:t>
            </a:r>
          </a:p>
          <a:p>
            <a:r>
              <a:rPr lang="en-US" sz="2400" dirty="0" smtClean="0"/>
              <a:t>	Program Manager</a:t>
            </a:r>
          </a:p>
          <a:p>
            <a:r>
              <a:rPr lang="en-US" sz="2400" dirty="0" smtClean="0"/>
              <a:t>	Identity Services</a:t>
            </a:r>
            <a:endParaRPr lang="en-US" sz="2400" dirty="0"/>
          </a:p>
        </p:txBody>
      </p:sp>
      <p:sp>
        <p:nvSpPr>
          <p:cNvPr id="6" name="Text Placeholder 5"/>
          <p:cNvSpPr>
            <a:spLocks noGrp="1"/>
          </p:cNvSpPr>
          <p:nvPr>
            <p:ph type="body" sz="quarter" idx="10"/>
          </p:nvPr>
        </p:nvSpPr>
        <p:spPr/>
        <p:txBody>
          <a:bodyPr/>
          <a:lstStyle/>
          <a:p>
            <a:r>
              <a:rPr lang="en-US" dirty="0" smtClean="0"/>
              <a:t>	</a:t>
            </a:r>
            <a:r>
              <a:rPr smtClean="0"/>
              <a:t>Tore Sundelin</a:t>
            </a:r>
            <a:endParaRPr lang="en-US" dirty="0" smtClean="0"/>
          </a:p>
          <a:p>
            <a:r>
              <a:rPr lang="en-US" sz="2400" dirty="0" smtClean="0"/>
              <a:t>	</a:t>
            </a:r>
            <a:r>
              <a:rPr sz="2400" smtClean="0"/>
              <a:t>Program Manager</a:t>
            </a:r>
            <a:endParaRPr lang="en-US" sz="2400" dirty="0" smtClean="0"/>
          </a:p>
          <a:p>
            <a:r>
              <a:rPr lang="en-US" sz="2400" dirty="0" smtClean="0"/>
              <a:t>	</a:t>
            </a:r>
            <a:r>
              <a:rPr sz="2400" smtClean="0"/>
              <a:t>Identity Services</a:t>
            </a:r>
            <a:endParaRPr lang="en-US" sz="2400" dirty="0"/>
          </a:p>
        </p:txBody>
      </p:sp>
      <p:sp>
        <p:nvSpPr>
          <p:cNvPr id="5" name="TextBox 4"/>
          <p:cNvSpPr txBox="1"/>
          <p:nvPr/>
        </p:nvSpPr>
        <p:spPr>
          <a:xfrm>
            <a:off x="7696200" y="152400"/>
            <a:ext cx="1060450" cy="400110"/>
          </a:xfrm>
          <a:prstGeom prst="rect">
            <a:avLst/>
          </a:prstGeom>
          <a:noFill/>
        </p:spPr>
        <p:txBody>
          <a:bodyPr wrap="square" rtlCol="0">
            <a:spAutoFit/>
          </a:bodyPr>
          <a:lstStyle/>
          <a:p>
            <a:pPr algn="r"/>
            <a:r>
              <a:rPr lang="en-US" sz="2000" dirty="0" smtClean="0"/>
              <a:t>BB29</a:t>
            </a:r>
            <a:endParaRPr lang="en-US" sz="2000" dirty="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triped Right Arrow 41"/>
          <p:cNvSpPr/>
          <p:nvPr/>
        </p:nvSpPr>
        <p:spPr bwMode="auto">
          <a:xfrm>
            <a:off x="838200" y="2362200"/>
            <a:ext cx="6858000" cy="3124200"/>
          </a:xfrm>
          <a:prstGeom prst="stripedRightArrow">
            <a:avLst/>
          </a:prstGeom>
          <a:solidFill>
            <a:schemeClr val="bg1">
              <a:lumMod val="50000"/>
              <a:lumOff val="50000"/>
            </a:schemeClr>
          </a:solidFill>
          <a:ln>
            <a:noFill/>
            <a:headEnd type="none" w="med" len="med"/>
            <a:tailEnd type="none" w="med" len="med"/>
          </a:ln>
          <a:effectLst>
            <a:outerShdw blurRad="39000" dist="25400" dir="5400000" rotWithShape="0">
              <a:srgbClr val="000000">
                <a:alpha val="38000"/>
              </a:srgbClr>
            </a:outerShdw>
          </a:effectLst>
        </p:spPr>
        <p:style>
          <a:lnRef idx="1">
            <a:schemeClr val="accent2"/>
          </a:lnRef>
          <a:fillRef idx="1003">
            <a:schemeClr val="dk1"/>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3" name="Title 2"/>
          <p:cNvSpPr>
            <a:spLocks noGrp="1"/>
          </p:cNvSpPr>
          <p:nvPr>
            <p:ph type="title"/>
          </p:nvPr>
        </p:nvSpPr>
        <p:spPr>
          <a:xfrm>
            <a:off x="387054" y="152400"/>
            <a:ext cx="8375946" cy="886397"/>
          </a:xfrm>
        </p:spPr>
        <p:txBody>
          <a:bodyPr/>
          <a:lstStyle/>
          <a:p>
            <a:r>
              <a:rPr smtClean="0"/>
              <a:t>Microsoft Identity Software + Services</a:t>
            </a:r>
            <a:br>
              <a:rPr smtClean="0"/>
            </a:br>
            <a:r>
              <a:rPr sz="2400" smtClean="0">
                <a:solidFill>
                  <a:schemeClr val="accent1"/>
                </a:solidFill>
              </a:rPr>
              <a:t>One identity model that puts users in control of their identities</a:t>
            </a:r>
            <a:endParaRPr lang="en-US" dirty="0"/>
          </a:p>
        </p:txBody>
      </p:sp>
      <p:sp>
        <p:nvSpPr>
          <p:cNvPr id="105" name="Rounded Rectangle 104"/>
          <p:cNvSpPr/>
          <p:nvPr/>
        </p:nvSpPr>
        <p:spPr bwMode="auto">
          <a:xfrm>
            <a:off x="400050" y="2057400"/>
            <a:ext cx="8343900" cy="4648200"/>
          </a:xfrm>
          <a:prstGeom prst="roundRect">
            <a:avLst/>
          </a:prstGeom>
          <a:solidFill>
            <a:schemeClr val="bg1">
              <a:lumMod val="75000"/>
              <a:lumOff val="25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sp>
        <p:nvSpPr>
          <p:cNvPr id="106" name="Rectangle 105"/>
          <p:cNvSpPr/>
          <p:nvPr/>
        </p:nvSpPr>
        <p:spPr bwMode="auto">
          <a:xfrm>
            <a:off x="53340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Framework</a:t>
            </a:r>
          </a:p>
        </p:txBody>
      </p:sp>
      <p:sp>
        <p:nvSpPr>
          <p:cNvPr id="107" name="Rectangle 106"/>
          <p:cNvSpPr/>
          <p:nvPr/>
        </p:nvSpPr>
        <p:spPr bwMode="auto">
          <a:xfrm>
            <a:off x="67818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Framework</a:t>
            </a:r>
          </a:p>
        </p:txBody>
      </p:sp>
      <p:sp>
        <p:nvSpPr>
          <p:cNvPr id="108" name="Rectangle 107"/>
          <p:cNvSpPr/>
          <p:nvPr/>
        </p:nvSpPr>
        <p:spPr bwMode="auto">
          <a:xfrm>
            <a:off x="38862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Windows </a:t>
            </a:r>
            <a:r>
              <a:rPr lang="en-US" kern="1200" dirty="0" err="1">
                <a:solidFill>
                  <a:srgbClr val="FFFFFF"/>
                </a:solidFill>
                <a:latin typeface="Calibri"/>
                <a:ea typeface="+mn-ea"/>
                <a:cs typeface="+mn-cs"/>
              </a:rPr>
              <a:t>CardSpace</a:t>
            </a:r>
            <a:r>
              <a:rPr lang="en-US" kern="1200" dirty="0">
                <a:solidFill>
                  <a:srgbClr val="FFFFFF"/>
                </a:solidFill>
                <a:latin typeface="Calibri"/>
                <a:ea typeface="+mn-ea"/>
                <a:cs typeface="+mn-cs"/>
              </a:rPr>
              <a:t> “Geneva”</a:t>
            </a:r>
          </a:p>
        </p:txBody>
      </p:sp>
      <p:sp>
        <p:nvSpPr>
          <p:cNvPr id="109" name="Rectangle 108"/>
          <p:cNvSpPr/>
          <p:nvPr/>
        </p:nvSpPr>
        <p:spPr bwMode="auto">
          <a:xfrm>
            <a:off x="1066800" y="5715000"/>
            <a:ext cx="2667000" cy="38100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Active Directory</a:t>
            </a:r>
          </a:p>
        </p:txBody>
      </p:sp>
      <p:sp>
        <p:nvSpPr>
          <p:cNvPr id="110" name="Rectangle 109"/>
          <p:cNvSpPr/>
          <p:nvPr/>
        </p:nvSpPr>
        <p:spPr bwMode="auto">
          <a:xfrm>
            <a:off x="1066800" y="4724400"/>
            <a:ext cx="12192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a:t>
            </a:r>
            <a:r>
              <a:rPr lang="en-US" kern="1200" dirty="0" smtClean="0">
                <a:solidFill>
                  <a:srgbClr val="FFFFFF"/>
                </a:solidFill>
                <a:latin typeface="Calibri"/>
                <a:ea typeface="+mn-ea"/>
                <a:cs typeface="+mn-cs"/>
              </a:rPr>
              <a:t>Server</a:t>
            </a:r>
          </a:p>
        </p:txBody>
      </p:sp>
      <p:sp>
        <p:nvSpPr>
          <p:cNvPr id="111" name="Rectangle 110"/>
          <p:cNvSpPr/>
          <p:nvPr/>
        </p:nvSpPr>
        <p:spPr bwMode="auto">
          <a:xfrm>
            <a:off x="2438400" y="4724400"/>
            <a:ext cx="12954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Services Connector</a:t>
            </a:r>
          </a:p>
        </p:txBody>
      </p:sp>
      <p:cxnSp>
        <p:nvCxnSpPr>
          <p:cNvPr id="115" name="Straight Connector 114"/>
          <p:cNvCxnSpPr>
            <a:stCxn id="105" idx="1"/>
            <a:endCxn id="118" idx="2"/>
          </p:cNvCxnSpPr>
          <p:nvPr/>
        </p:nvCxnSpPr>
        <p:spPr>
          <a:xfrm rot="10800000" flipH="1" flipV="1">
            <a:off x="400050" y="4381499"/>
            <a:ext cx="7829550" cy="1"/>
          </a:xfrm>
          <a:prstGeom prst="line">
            <a:avLst/>
          </a:prstGeom>
          <a:ln w="38100">
            <a:solidFill>
              <a:schemeClr val="bg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rot="16200000">
            <a:off x="-375910" y="5186691"/>
            <a:ext cx="2057400" cy="523220"/>
          </a:xfrm>
          <a:prstGeom prst="rect">
            <a:avLst/>
          </a:prstGeom>
          <a:noFill/>
        </p:spPr>
        <p:txBody>
          <a:bodyPr wrap="square" rtlCol="0">
            <a:spAutoFit/>
          </a:bodyPr>
          <a:lstStyle/>
          <a:p>
            <a:pPr algn="ctr"/>
            <a:r>
              <a:rPr lang="en-US" sz="2800" dirty="0" smtClean="0"/>
              <a:t>Software</a:t>
            </a:r>
            <a:endParaRPr lang="en-US" sz="2800" dirty="0"/>
          </a:p>
        </p:txBody>
      </p:sp>
      <p:sp>
        <p:nvSpPr>
          <p:cNvPr id="117" name="TextBox 116"/>
          <p:cNvSpPr txBox="1"/>
          <p:nvPr/>
        </p:nvSpPr>
        <p:spPr>
          <a:xfrm rot="16200000">
            <a:off x="-375910" y="3053091"/>
            <a:ext cx="2057400" cy="523220"/>
          </a:xfrm>
          <a:prstGeom prst="rect">
            <a:avLst/>
          </a:prstGeom>
          <a:noFill/>
        </p:spPr>
        <p:txBody>
          <a:bodyPr wrap="square" rtlCol="0">
            <a:spAutoFit/>
          </a:bodyPr>
          <a:lstStyle/>
          <a:p>
            <a:pPr algn="ctr"/>
            <a:r>
              <a:rPr lang="en-US" sz="2800" dirty="0" smtClean="0"/>
              <a:t>Services</a:t>
            </a:r>
            <a:endParaRPr lang="en-US" sz="2800" dirty="0"/>
          </a:p>
        </p:txBody>
      </p:sp>
      <p:sp>
        <p:nvSpPr>
          <p:cNvPr id="118" name="TextBox 117"/>
          <p:cNvSpPr txBox="1"/>
          <p:nvPr/>
        </p:nvSpPr>
        <p:spPr>
          <a:xfrm rot="5400000">
            <a:off x="6395710" y="4119890"/>
            <a:ext cx="4190999" cy="523220"/>
          </a:xfrm>
          <a:prstGeom prst="rect">
            <a:avLst/>
          </a:prstGeom>
          <a:noFill/>
        </p:spPr>
        <p:txBody>
          <a:bodyPr wrap="square" rtlCol="0">
            <a:spAutoFit/>
          </a:bodyPr>
          <a:lstStyle/>
          <a:p>
            <a:pPr algn="ctr"/>
            <a:r>
              <a:rPr lang="en-US" sz="2800" dirty="0" smtClean="0"/>
              <a:t>Claims-Based Access</a:t>
            </a:r>
            <a:endParaRPr lang="en-US" sz="2800" dirty="0"/>
          </a:p>
        </p:txBody>
      </p:sp>
      <p:sp>
        <p:nvSpPr>
          <p:cNvPr id="39" name="Rounded Rectangle 38"/>
          <p:cNvSpPr/>
          <p:nvPr/>
        </p:nvSpPr>
        <p:spPr bwMode="auto">
          <a:xfrm>
            <a:off x="6096000" y="1371600"/>
            <a:ext cx="2362200" cy="533399"/>
          </a:xfrm>
          <a:prstGeom prst="roundRect">
            <a:avLst/>
          </a:prstGeom>
          <a:ln>
            <a:headEnd type="none" w="med" len="med"/>
            <a:tailEnd type="none" w="med" len="med"/>
          </a:ln>
        </p:spPr>
        <p:style>
          <a:lnRef idx="0">
            <a:schemeClr val="accent5"/>
          </a:lnRef>
          <a:fillRef idx="1001">
            <a:schemeClr val="dk1"/>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lvl="0" algn="ctr">
              <a:defRPr/>
            </a:pPr>
            <a:r>
              <a:rPr lang="en-US" b="0" dirty="0" smtClean="0">
                <a:solidFill>
                  <a:srgbClr val="FFFF00"/>
                </a:solidFill>
                <a:latin typeface="Calibri" pitchFamily="34" charset="0"/>
              </a:rPr>
              <a:t>Standards Based</a:t>
            </a:r>
          </a:p>
        </p:txBody>
      </p:sp>
      <p:sp>
        <p:nvSpPr>
          <p:cNvPr id="40" name="Rounded Rectangle 39"/>
          <p:cNvSpPr/>
          <p:nvPr/>
        </p:nvSpPr>
        <p:spPr bwMode="auto">
          <a:xfrm>
            <a:off x="3352800" y="1371600"/>
            <a:ext cx="2438400" cy="533400"/>
          </a:xfrm>
          <a:prstGeom prst="roundRect">
            <a:avLst/>
          </a:prstGeom>
          <a:ln>
            <a:headEnd type="none" w="med" len="med"/>
            <a:tailEnd type="none" w="med" len="med"/>
          </a:ln>
        </p:spPr>
        <p:style>
          <a:lnRef idx="0">
            <a:schemeClr val="accent4"/>
          </a:lnRef>
          <a:fillRef idx="1001">
            <a:schemeClr val="dk1"/>
          </a:fillRef>
          <a:effectRef idx="3">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a:buFont typeface="Wingdings 2" pitchFamily="18" charset="2"/>
              <a:buNone/>
              <a:defRPr/>
            </a:pPr>
            <a:r>
              <a:rPr lang="en-US" b="0" dirty="0" smtClean="0">
                <a:solidFill>
                  <a:srgbClr val="FFFF00"/>
                </a:solidFill>
                <a:latin typeface="Calibri" pitchFamily="34" charset="0"/>
              </a:rPr>
              <a:t>Enhances Developer Productivity</a:t>
            </a:r>
          </a:p>
        </p:txBody>
      </p:sp>
      <p:sp>
        <p:nvSpPr>
          <p:cNvPr id="43" name="Rounded Rectangle 42"/>
          <p:cNvSpPr/>
          <p:nvPr/>
        </p:nvSpPr>
        <p:spPr bwMode="auto">
          <a:xfrm>
            <a:off x="685800" y="1371600"/>
            <a:ext cx="2362200" cy="533400"/>
          </a:xfrm>
          <a:prstGeom prst="roundRect">
            <a:avLst/>
          </a:prstGeom>
          <a:ln>
            <a:headEnd type="none" w="med" len="med"/>
            <a:tailEnd type="none" w="med" len="med"/>
          </a:ln>
        </p:spPr>
        <p:style>
          <a:lnRef idx="0">
            <a:schemeClr val="accent1"/>
          </a:lnRef>
          <a:fillRef idx="1001">
            <a:schemeClr val="dk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a:defRPr/>
            </a:pPr>
            <a:r>
              <a:rPr lang="en-US" b="0" dirty="0" smtClean="0">
                <a:solidFill>
                  <a:srgbClr val="FFFF00"/>
                </a:solidFill>
                <a:latin typeface="Calibri" pitchFamily="34" charset="0"/>
              </a:rPr>
              <a:t>Flexibility via Choice</a:t>
            </a:r>
          </a:p>
        </p:txBody>
      </p:sp>
      <p:pic>
        <p:nvPicPr>
          <p:cNvPr id="44" name="Picture 3" descr="C:\Program Files\Microsoft Resource DVD Artwork\DVD_ART\Artwork_Imagery\HARDWARE_IMAGERY\Illustration - Misc Hardware\XML Icons\Internet cloud web.png"/>
          <p:cNvPicPr>
            <a:picLocks noChangeAspect="1" noChangeArrowheads="1"/>
          </p:cNvPicPr>
          <p:nvPr/>
        </p:nvPicPr>
        <p:blipFill>
          <a:blip r:embed="rId3" cstate="print"/>
          <a:srcRect/>
          <a:stretch>
            <a:fillRect/>
          </a:stretch>
        </p:blipFill>
        <p:spPr bwMode="auto">
          <a:xfrm>
            <a:off x="1600200" y="2133600"/>
            <a:ext cx="5943600" cy="2185856"/>
          </a:xfrm>
          <a:prstGeom prst="rect">
            <a:avLst/>
          </a:prstGeom>
          <a:noFill/>
        </p:spPr>
      </p:pic>
      <p:sp>
        <p:nvSpPr>
          <p:cNvPr id="112" name="Rectangle 111"/>
          <p:cNvSpPr/>
          <p:nvPr/>
        </p:nvSpPr>
        <p:spPr bwMode="auto">
          <a:xfrm>
            <a:off x="1981200" y="2590800"/>
            <a:ext cx="1524000" cy="1371600"/>
          </a:xfrm>
          <a:prstGeom prst="rect">
            <a:avLst/>
          </a:prstGeom>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a:t>
            </a:r>
            <a:r>
              <a:rPr lang="en-US" kern="1200" dirty="0" smtClean="0">
                <a:solidFill>
                  <a:srgbClr val="FFFFFF"/>
                </a:solidFill>
                <a:latin typeface="Calibri"/>
                <a:ea typeface="+mn-ea"/>
                <a:cs typeface="+mn-cs"/>
              </a:rPr>
              <a:t>ID</a:t>
            </a:r>
          </a:p>
        </p:txBody>
      </p:sp>
      <p:sp>
        <p:nvSpPr>
          <p:cNvPr id="113" name="Rectangle 112"/>
          <p:cNvSpPr/>
          <p:nvPr/>
        </p:nvSpPr>
        <p:spPr bwMode="auto">
          <a:xfrm>
            <a:off x="3810000" y="2590800"/>
            <a:ext cx="1524000" cy="1371600"/>
          </a:xfrm>
          <a:prstGeom prst="rect">
            <a:avLst/>
          </a:prstGeom>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Federation Gateway</a:t>
            </a:r>
          </a:p>
        </p:txBody>
      </p:sp>
      <p:sp>
        <p:nvSpPr>
          <p:cNvPr id="114" name="Rectangle 113"/>
          <p:cNvSpPr/>
          <p:nvPr/>
        </p:nvSpPr>
        <p:spPr bwMode="auto">
          <a:xfrm>
            <a:off x="5638800" y="2590800"/>
            <a:ext cx="1524000" cy="1371600"/>
          </a:xfrm>
          <a:prstGeom prst="rect">
            <a:avLst/>
          </a:prstGeom>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non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err="1" smtClean="0">
                <a:solidFill>
                  <a:srgbClr val="FFFFFF"/>
                </a:solidFill>
                <a:latin typeface="Calibri"/>
                <a:ea typeface="+mn-ea"/>
                <a:cs typeface="+mn-cs"/>
              </a:rPr>
              <a:t>.Net</a:t>
            </a:r>
            <a:r>
              <a:rPr lang="en-US" kern="1200" dirty="0" smtClean="0">
                <a:solidFill>
                  <a:srgbClr val="FFFFFF"/>
                </a:solidFill>
                <a:latin typeface="Calibri"/>
                <a:ea typeface="+mn-ea"/>
                <a:cs typeface="+mn-cs"/>
              </a:rPr>
              <a:t> Access </a:t>
            </a:r>
          </a:p>
          <a:p>
            <a:pPr algn="ctr" defTabSz="914099" rtl="0" fontAlgn="base">
              <a:spcBef>
                <a:spcPct val="0"/>
              </a:spcBef>
              <a:spcAft>
                <a:spcPct val="0"/>
              </a:spcAft>
            </a:pPr>
            <a:r>
              <a:rPr lang="en-US" kern="1200" dirty="0" smtClean="0">
                <a:solidFill>
                  <a:srgbClr val="FFFFFF"/>
                </a:solidFill>
                <a:latin typeface="Calibri"/>
                <a:ea typeface="+mn-ea"/>
                <a:cs typeface="+mn-cs"/>
              </a:rPr>
              <a:t>Control </a:t>
            </a:r>
          </a:p>
          <a:p>
            <a:pPr algn="ctr" defTabSz="914099" rtl="0" fontAlgn="base">
              <a:spcBef>
                <a:spcPct val="0"/>
              </a:spcBef>
              <a:spcAft>
                <a:spcPct val="0"/>
              </a:spcAft>
            </a:pPr>
            <a:r>
              <a:rPr lang="en-US" kern="1200" dirty="0" smtClean="0">
                <a:solidFill>
                  <a:srgbClr val="FFFFFF"/>
                </a:solidFill>
                <a:latin typeface="Calibri"/>
                <a:ea typeface="+mn-ea"/>
                <a:cs typeface="+mn-cs"/>
              </a:rPr>
              <a:t>Service</a:t>
            </a:r>
            <a:endParaRPr lang="en-US" kern="1200" dirty="0">
              <a:solidFill>
                <a:srgbClr val="FFFFFF"/>
              </a:solidFill>
              <a:latin typeface="Calibri"/>
              <a:ea typeface="+mn-ea"/>
              <a:cs typeface="+mn-cs"/>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triped Right Arrow 41"/>
          <p:cNvSpPr/>
          <p:nvPr/>
        </p:nvSpPr>
        <p:spPr bwMode="auto">
          <a:xfrm>
            <a:off x="838200" y="2362200"/>
            <a:ext cx="6858000" cy="3124200"/>
          </a:xfrm>
          <a:prstGeom prst="stripedRightArrow">
            <a:avLst/>
          </a:prstGeom>
          <a:solidFill>
            <a:schemeClr val="bg1">
              <a:lumMod val="50000"/>
              <a:lumOff val="50000"/>
            </a:schemeClr>
          </a:solidFill>
          <a:ln>
            <a:noFill/>
            <a:headEnd type="none" w="med" len="med"/>
            <a:tailEnd type="none" w="med" len="med"/>
          </a:ln>
          <a:effectLst>
            <a:outerShdw blurRad="39000" dist="25400" dir="5400000" rotWithShape="0">
              <a:srgbClr val="000000">
                <a:alpha val="38000"/>
              </a:srgbClr>
            </a:outerShdw>
          </a:effectLst>
        </p:spPr>
        <p:style>
          <a:lnRef idx="1">
            <a:schemeClr val="accent2"/>
          </a:lnRef>
          <a:fillRef idx="1003">
            <a:schemeClr val="dk1"/>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3" name="Title 2"/>
          <p:cNvSpPr>
            <a:spLocks noGrp="1"/>
          </p:cNvSpPr>
          <p:nvPr>
            <p:ph type="title"/>
          </p:nvPr>
        </p:nvSpPr>
        <p:spPr>
          <a:xfrm>
            <a:off x="387054" y="152400"/>
            <a:ext cx="8375946" cy="886397"/>
          </a:xfrm>
        </p:spPr>
        <p:txBody>
          <a:bodyPr/>
          <a:lstStyle/>
          <a:p>
            <a:r>
              <a:rPr smtClean="0"/>
              <a:t>Microsoft Identity Software + Services</a:t>
            </a:r>
            <a:br>
              <a:rPr smtClean="0"/>
            </a:br>
            <a:r>
              <a:rPr sz="2400" smtClean="0">
                <a:solidFill>
                  <a:schemeClr val="accent1"/>
                </a:solidFill>
              </a:rPr>
              <a:t> One identity model that puts users in control of their identities</a:t>
            </a:r>
            <a:endParaRPr lang="en-US" dirty="0"/>
          </a:p>
        </p:txBody>
      </p:sp>
      <p:sp>
        <p:nvSpPr>
          <p:cNvPr id="105" name="Rounded Rectangle 104"/>
          <p:cNvSpPr/>
          <p:nvPr/>
        </p:nvSpPr>
        <p:spPr bwMode="auto">
          <a:xfrm>
            <a:off x="400050" y="2057400"/>
            <a:ext cx="8343900" cy="4648200"/>
          </a:xfrm>
          <a:prstGeom prst="roundRect">
            <a:avLst/>
          </a:prstGeom>
          <a:solidFill>
            <a:schemeClr val="bg1">
              <a:lumMod val="75000"/>
              <a:lumOff val="25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sp>
        <p:nvSpPr>
          <p:cNvPr id="107" name="Rectangle 106"/>
          <p:cNvSpPr/>
          <p:nvPr/>
        </p:nvSpPr>
        <p:spPr bwMode="auto">
          <a:xfrm>
            <a:off x="67818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Framework</a:t>
            </a:r>
          </a:p>
        </p:txBody>
      </p:sp>
      <p:cxnSp>
        <p:nvCxnSpPr>
          <p:cNvPr id="115" name="Straight Connector 114"/>
          <p:cNvCxnSpPr>
            <a:stCxn id="105" idx="1"/>
            <a:endCxn id="118" idx="2"/>
          </p:cNvCxnSpPr>
          <p:nvPr/>
        </p:nvCxnSpPr>
        <p:spPr>
          <a:xfrm rot="10800000" flipH="1">
            <a:off x="400050" y="4381500"/>
            <a:ext cx="7829550" cy="1588"/>
          </a:xfrm>
          <a:prstGeom prst="line">
            <a:avLst/>
          </a:prstGeom>
          <a:ln w="38100">
            <a:solidFill>
              <a:schemeClr val="bg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bwMode="auto">
          <a:xfrm>
            <a:off x="6096000" y="1371600"/>
            <a:ext cx="2362200" cy="533399"/>
          </a:xfrm>
          <a:prstGeom prst="roundRect">
            <a:avLst/>
          </a:prstGeom>
          <a:ln>
            <a:headEnd type="none" w="med" len="med"/>
            <a:tailEnd type="none" w="med" len="med"/>
          </a:ln>
        </p:spPr>
        <p:style>
          <a:lnRef idx="0">
            <a:schemeClr val="accent5"/>
          </a:lnRef>
          <a:fillRef idx="1001">
            <a:schemeClr val="dk1"/>
          </a:fillRef>
          <a:effectRef idx="3">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lvl="0" algn="ctr">
              <a:defRPr/>
            </a:pPr>
            <a:r>
              <a:rPr lang="en-US" b="0" dirty="0" smtClean="0">
                <a:solidFill>
                  <a:srgbClr val="FFFF00"/>
                </a:solidFill>
                <a:latin typeface="Calibri" pitchFamily="34" charset="0"/>
              </a:rPr>
              <a:t>Standards Based</a:t>
            </a:r>
          </a:p>
        </p:txBody>
      </p:sp>
      <p:sp>
        <p:nvSpPr>
          <p:cNvPr id="40" name="Rounded Rectangle 39"/>
          <p:cNvSpPr/>
          <p:nvPr/>
        </p:nvSpPr>
        <p:spPr bwMode="auto">
          <a:xfrm>
            <a:off x="3352800" y="1371600"/>
            <a:ext cx="2438400" cy="533400"/>
          </a:xfrm>
          <a:prstGeom prst="roundRect">
            <a:avLst/>
          </a:prstGeom>
          <a:ln>
            <a:headEnd type="none" w="med" len="med"/>
            <a:tailEnd type="none" w="med" len="med"/>
          </a:ln>
        </p:spPr>
        <p:style>
          <a:lnRef idx="0">
            <a:schemeClr val="accent4"/>
          </a:lnRef>
          <a:fillRef idx="1001">
            <a:schemeClr val="dk1"/>
          </a:fillRef>
          <a:effectRef idx="3">
            <a:schemeClr val="accent4"/>
          </a:effectRef>
          <a:fontRef idx="minor">
            <a:schemeClr val="lt1"/>
          </a:fontRef>
        </p:style>
        <p:txBody>
          <a:bodyPr vert="horz" wrap="square" lIns="91436" tIns="45718" rIns="91436" bIns="45718" numCol="1" rtlCol="0" anchor="ctr" anchorCtr="0" compatLnSpc="1">
            <a:prstTxWarp prst="textNoShape">
              <a:avLst/>
            </a:prstTxWarp>
          </a:bodyPr>
          <a:lstStyle/>
          <a:p>
            <a:pPr algn="ctr">
              <a:buFont typeface="Wingdings 2" pitchFamily="18" charset="2"/>
              <a:buNone/>
              <a:defRPr/>
            </a:pPr>
            <a:r>
              <a:rPr lang="en-US" b="0" dirty="0" smtClean="0">
                <a:solidFill>
                  <a:srgbClr val="FFFF00"/>
                </a:solidFill>
                <a:latin typeface="Calibri" pitchFamily="34" charset="0"/>
              </a:rPr>
              <a:t>Enhances Developer Productivity</a:t>
            </a:r>
          </a:p>
        </p:txBody>
      </p:sp>
      <p:pic>
        <p:nvPicPr>
          <p:cNvPr id="44" name="Picture 3" descr="C:\Program Files\Microsoft Resource DVD Artwork\DVD_ART\Artwork_Imagery\HARDWARE_IMAGERY\Illustration - Misc Hardware\XML Icons\Internet cloud web.png"/>
          <p:cNvPicPr>
            <a:picLocks noChangeAspect="1" noChangeArrowheads="1"/>
          </p:cNvPicPr>
          <p:nvPr/>
        </p:nvPicPr>
        <p:blipFill>
          <a:blip r:embed="rId3" cstate="print"/>
          <a:srcRect/>
          <a:stretch>
            <a:fillRect/>
          </a:stretch>
        </p:blipFill>
        <p:spPr bwMode="auto">
          <a:xfrm>
            <a:off x="1600200" y="2133600"/>
            <a:ext cx="5943600" cy="2185856"/>
          </a:xfrm>
          <a:prstGeom prst="rect">
            <a:avLst/>
          </a:prstGeom>
          <a:noFill/>
        </p:spPr>
      </p:pic>
      <p:sp>
        <p:nvSpPr>
          <p:cNvPr id="112" name="Rectangle 111"/>
          <p:cNvSpPr/>
          <p:nvPr/>
        </p:nvSpPr>
        <p:spPr bwMode="auto">
          <a:xfrm>
            <a:off x="1981200" y="2590800"/>
            <a:ext cx="1524000" cy="1371600"/>
          </a:xfrm>
          <a:prstGeom prst="rect">
            <a:avLst/>
          </a:prstGeom>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Live </a:t>
            </a:r>
            <a:r>
              <a:rPr lang="en-US" kern="1200" dirty="0" smtClean="0">
                <a:solidFill>
                  <a:srgbClr val="FFFFFF"/>
                </a:solidFill>
                <a:latin typeface="Calibri"/>
                <a:ea typeface="+mn-ea"/>
                <a:cs typeface="+mn-cs"/>
              </a:rPr>
              <a:t>ID</a:t>
            </a:r>
          </a:p>
        </p:txBody>
      </p:sp>
      <p:sp>
        <p:nvSpPr>
          <p:cNvPr id="114" name="Rectangle 113"/>
          <p:cNvSpPr/>
          <p:nvPr/>
        </p:nvSpPr>
        <p:spPr bwMode="auto">
          <a:xfrm>
            <a:off x="5638800" y="2590800"/>
            <a:ext cx="1524000" cy="1371600"/>
          </a:xfrm>
          <a:prstGeom prst="rect">
            <a:avLst/>
          </a:prstGeom>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non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err="1" smtClean="0">
                <a:solidFill>
                  <a:srgbClr val="FFFFFF"/>
                </a:solidFill>
                <a:latin typeface="Calibri"/>
                <a:ea typeface="+mn-ea"/>
                <a:cs typeface="+mn-cs"/>
              </a:rPr>
              <a:t>.Net</a:t>
            </a:r>
            <a:r>
              <a:rPr lang="en-US" kern="1200" dirty="0" smtClean="0">
                <a:solidFill>
                  <a:srgbClr val="FFFFFF"/>
                </a:solidFill>
                <a:latin typeface="Calibri"/>
                <a:ea typeface="+mn-ea"/>
                <a:cs typeface="+mn-cs"/>
              </a:rPr>
              <a:t> Access </a:t>
            </a:r>
          </a:p>
          <a:p>
            <a:pPr algn="ctr" defTabSz="914099" rtl="0" fontAlgn="base">
              <a:spcBef>
                <a:spcPct val="0"/>
              </a:spcBef>
              <a:spcAft>
                <a:spcPct val="0"/>
              </a:spcAft>
            </a:pPr>
            <a:r>
              <a:rPr lang="en-US" kern="1200" dirty="0" smtClean="0">
                <a:solidFill>
                  <a:srgbClr val="FFFFFF"/>
                </a:solidFill>
                <a:latin typeface="Calibri"/>
                <a:ea typeface="+mn-ea"/>
                <a:cs typeface="+mn-cs"/>
              </a:rPr>
              <a:t>Control </a:t>
            </a:r>
          </a:p>
          <a:p>
            <a:pPr algn="ctr" defTabSz="914099" rtl="0" fontAlgn="base">
              <a:spcBef>
                <a:spcPct val="0"/>
              </a:spcBef>
              <a:spcAft>
                <a:spcPct val="0"/>
              </a:spcAft>
            </a:pPr>
            <a:r>
              <a:rPr lang="en-US" kern="1200" dirty="0" smtClean="0">
                <a:solidFill>
                  <a:srgbClr val="FFFFFF"/>
                </a:solidFill>
                <a:latin typeface="Calibri"/>
                <a:ea typeface="+mn-ea"/>
                <a:cs typeface="+mn-cs"/>
              </a:rPr>
              <a:t>Service</a:t>
            </a:r>
            <a:endParaRPr lang="en-US" kern="1200" dirty="0">
              <a:solidFill>
                <a:srgbClr val="FFFFFF"/>
              </a:solidFill>
              <a:latin typeface="Calibri"/>
              <a:ea typeface="+mn-ea"/>
              <a:cs typeface="+mn-cs"/>
            </a:endParaRPr>
          </a:p>
        </p:txBody>
      </p:sp>
      <p:sp>
        <p:nvSpPr>
          <p:cNvPr id="106" name="Rectangle 105"/>
          <p:cNvSpPr/>
          <p:nvPr/>
        </p:nvSpPr>
        <p:spPr bwMode="auto">
          <a:xfrm>
            <a:off x="53340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Framework</a:t>
            </a:r>
          </a:p>
        </p:txBody>
      </p:sp>
      <p:sp>
        <p:nvSpPr>
          <p:cNvPr id="108" name="Rectangle 107"/>
          <p:cNvSpPr/>
          <p:nvPr/>
        </p:nvSpPr>
        <p:spPr bwMode="auto">
          <a:xfrm>
            <a:off x="3886200" y="4724400"/>
            <a:ext cx="1295400" cy="1371600"/>
          </a:xfrm>
          <a:prstGeom prst="rect">
            <a:avLst/>
          </a:prstGeom>
          <a:ln>
            <a:no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Windows </a:t>
            </a:r>
            <a:r>
              <a:rPr lang="en-US" kern="1200" dirty="0" err="1">
                <a:solidFill>
                  <a:srgbClr val="FFFFFF"/>
                </a:solidFill>
                <a:latin typeface="Calibri"/>
                <a:ea typeface="+mn-ea"/>
                <a:cs typeface="+mn-cs"/>
              </a:rPr>
              <a:t>CardSpace</a:t>
            </a:r>
            <a:r>
              <a:rPr lang="en-US" kern="1200" dirty="0">
                <a:solidFill>
                  <a:srgbClr val="FFFFFF"/>
                </a:solidFill>
                <a:latin typeface="Calibri"/>
                <a:ea typeface="+mn-ea"/>
                <a:cs typeface="+mn-cs"/>
              </a:rPr>
              <a:t> “Geneva”</a:t>
            </a:r>
          </a:p>
        </p:txBody>
      </p:sp>
      <p:sp>
        <p:nvSpPr>
          <p:cNvPr id="110" name="Rectangle 109"/>
          <p:cNvSpPr/>
          <p:nvPr/>
        </p:nvSpPr>
        <p:spPr bwMode="auto">
          <a:xfrm>
            <a:off x="1066800" y="4724400"/>
            <a:ext cx="12192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“Geneva” </a:t>
            </a:r>
            <a:r>
              <a:rPr lang="en-US" kern="1200" dirty="0" smtClean="0">
                <a:solidFill>
                  <a:srgbClr val="FFFFFF"/>
                </a:solidFill>
                <a:latin typeface="Calibri"/>
                <a:ea typeface="+mn-ea"/>
                <a:cs typeface="+mn-cs"/>
              </a:rPr>
              <a:t>Server</a:t>
            </a:r>
          </a:p>
        </p:txBody>
      </p:sp>
      <p:sp>
        <p:nvSpPr>
          <p:cNvPr id="23" name="Rounded Rectangle 22"/>
          <p:cNvSpPr/>
          <p:nvPr/>
        </p:nvSpPr>
        <p:spPr bwMode="auto">
          <a:xfrm>
            <a:off x="381000" y="2057400"/>
            <a:ext cx="8343900" cy="4648200"/>
          </a:xfrm>
          <a:prstGeom prst="roundRect">
            <a:avLst/>
          </a:prstGeom>
          <a:solidFill>
            <a:schemeClr val="bg1">
              <a:lumMod val="75000"/>
              <a:lumOff val="25000"/>
              <a:alpha val="90000"/>
            </a:schemeClr>
          </a:solidFill>
          <a:ln>
            <a:solidFill>
              <a:schemeClr val="bg1">
                <a:lumMod val="50000"/>
                <a:lumOff val="50000"/>
              </a:schemeClr>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a:p>
            <a:pPr algn="ctr" defTabSz="914099" fontAlgn="base">
              <a:spcBef>
                <a:spcPct val="0"/>
              </a:spcBef>
              <a:spcAft>
                <a:spcPct val="0"/>
              </a:spcAft>
            </a:pPr>
            <a:endParaRPr lang="en-US" sz="2000" dirty="0" smtClean="0">
              <a:solidFill>
                <a:srgbClr val="FFFFFF"/>
              </a:solidFill>
            </a:endParaRPr>
          </a:p>
        </p:txBody>
      </p:sp>
      <p:sp>
        <p:nvSpPr>
          <p:cNvPr id="113" name="Rectangle 112"/>
          <p:cNvSpPr/>
          <p:nvPr/>
        </p:nvSpPr>
        <p:spPr bwMode="auto">
          <a:xfrm>
            <a:off x="3810000" y="2590800"/>
            <a:ext cx="1524000" cy="1371600"/>
          </a:xfrm>
          <a:prstGeom prst="rect">
            <a:avLst/>
          </a:prstGeom>
          <a:ln>
            <a:noFill/>
            <a:headEnd type="none" w="med" len="med"/>
            <a:tailEnd type="none" w="med" len="med"/>
          </a:ln>
        </p:spPr>
        <p:style>
          <a:lnRef idx="1">
            <a:schemeClr val="accent6"/>
          </a:lnRef>
          <a:fillRef idx="3">
            <a:schemeClr val="accent6"/>
          </a:fillRef>
          <a:effectRef idx="2">
            <a:schemeClr val="accent6"/>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Federation Gateway</a:t>
            </a:r>
          </a:p>
        </p:txBody>
      </p:sp>
      <p:sp>
        <p:nvSpPr>
          <p:cNvPr id="111" name="Rectangle 110"/>
          <p:cNvSpPr/>
          <p:nvPr/>
        </p:nvSpPr>
        <p:spPr bwMode="auto">
          <a:xfrm>
            <a:off x="2438400" y="4724400"/>
            <a:ext cx="1295400" cy="85344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Microsoft Services Connector</a:t>
            </a:r>
          </a:p>
        </p:txBody>
      </p:sp>
      <p:sp>
        <p:nvSpPr>
          <p:cNvPr id="109" name="Rectangle 108"/>
          <p:cNvSpPr/>
          <p:nvPr/>
        </p:nvSpPr>
        <p:spPr bwMode="auto">
          <a:xfrm>
            <a:off x="1066800" y="5715000"/>
            <a:ext cx="2667000" cy="381000"/>
          </a:xfrm>
          <a:prstGeom prst="rect">
            <a:avLst/>
          </a:prstGeom>
          <a:gradFill flip="none" rotWithShape="1">
            <a:gsLst>
              <a:gs pos="0">
                <a:srgbClr val="FF6600">
                  <a:shade val="30000"/>
                  <a:satMod val="115000"/>
                </a:srgbClr>
              </a:gs>
              <a:gs pos="50000">
                <a:srgbClr val="FF6600">
                  <a:shade val="67500"/>
                  <a:satMod val="115000"/>
                </a:srgbClr>
              </a:gs>
              <a:gs pos="100000">
                <a:srgbClr val="FF6600">
                  <a:shade val="100000"/>
                  <a:satMod val="115000"/>
                </a:srgbClr>
              </a:gs>
            </a:gsLst>
            <a:lin ang="16200000" scaled="1"/>
            <a:tileRect/>
          </a:grad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rtl="0" fontAlgn="base">
              <a:spcBef>
                <a:spcPct val="0"/>
              </a:spcBef>
              <a:spcAft>
                <a:spcPct val="0"/>
              </a:spcAft>
            </a:pPr>
            <a:r>
              <a:rPr lang="en-US" kern="1200" dirty="0">
                <a:solidFill>
                  <a:srgbClr val="FFFFFF"/>
                </a:solidFill>
                <a:latin typeface="Calibri"/>
                <a:ea typeface="+mn-ea"/>
                <a:cs typeface="+mn-cs"/>
              </a:rPr>
              <a:t>Active Directory</a:t>
            </a:r>
          </a:p>
        </p:txBody>
      </p:sp>
      <p:sp>
        <p:nvSpPr>
          <p:cNvPr id="116" name="TextBox 115"/>
          <p:cNvSpPr txBox="1"/>
          <p:nvPr/>
        </p:nvSpPr>
        <p:spPr>
          <a:xfrm rot="16200000">
            <a:off x="-375910" y="5186691"/>
            <a:ext cx="2057400" cy="523220"/>
          </a:xfrm>
          <a:prstGeom prst="rect">
            <a:avLst/>
          </a:prstGeom>
          <a:noFill/>
        </p:spPr>
        <p:txBody>
          <a:bodyPr wrap="square" rtlCol="0">
            <a:spAutoFit/>
          </a:bodyPr>
          <a:lstStyle/>
          <a:p>
            <a:pPr algn="ctr"/>
            <a:r>
              <a:rPr lang="en-US" sz="2800" dirty="0" smtClean="0"/>
              <a:t>Software</a:t>
            </a:r>
            <a:endParaRPr lang="en-US" sz="2800" dirty="0"/>
          </a:p>
        </p:txBody>
      </p:sp>
      <p:sp>
        <p:nvSpPr>
          <p:cNvPr id="117" name="TextBox 116"/>
          <p:cNvSpPr txBox="1"/>
          <p:nvPr/>
        </p:nvSpPr>
        <p:spPr>
          <a:xfrm rot="16200000">
            <a:off x="-375910" y="3053091"/>
            <a:ext cx="2057400" cy="523220"/>
          </a:xfrm>
          <a:prstGeom prst="rect">
            <a:avLst/>
          </a:prstGeom>
          <a:noFill/>
        </p:spPr>
        <p:txBody>
          <a:bodyPr wrap="square" rtlCol="0">
            <a:spAutoFit/>
          </a:bodyPr>
          <a:lstStyle/>
          <a:p>
            <a:pPr algn="ctr"/>
            <a:r>
              <a:rPr lang="en-US" sz="2800" dirty="0" smtClean="0"/>
              <a:t>Services</a:t>
            </a:r>
            <a:endParaRPr lang="en-US" sz="2800" dirty="0"/>
          </a:p>
        </p:txBody>
      </p:sp>
      <p:sp>
        <p:nvSpPr>
          <p:cNvPr id="118" name="TextBox 117"/>
          <p:cNvSpPr txBox="1"/>
          <p:nvPr/>
        </p:nvSpPr>
        <p:spPr>
          <a:xfrm rot="5400000">
            <a:off x="6433810" y="4119890"/>
            <a:ext cx="4114800" cy="523220"/>
          </a:xfrm>
          <a:prstGeom prst="rect">
            <a:avLst/>
          </a:prstGeom>
          <a:noFill/>
        </p:spPr>
        <p:txBody>
          <a:bodyPr wrap="square" rtlCol="0">
            <a:spAutoFit/>
          </a:bodyPr>
          <a:lstStyle/>
          <a:p>
            <a:pPr algn="ctr"/>
            <a:r>
              <a:rPr lang="en-US" sz="2800" dirty="0" smtClean="0"/>
              <a:t>Claims-Based Access</a:t>
            </a:r>
            <a:endParaRPr lang="en-US" sz="2800" dirty="0"/>
          </a:p>
        </p:txBody>
      </p:sp>
      <p:sp>
        <p:nvSpPr>
          <p:cNvPr id="26" name="Rounded Rectangle 25"/>
          <p:cNvSpPr/>
          <p:nvPr/>
        </p:nvSpPr>
        <p:spPr bwMode="auto">
          <a:xfrm>
            <a:off x="685800" y="1371600"/>
            <a:ext cx="2362200" cy="533400"/>
          </a:xfrm>
          <a:prstGeom prst="roundRect">
            <a:avLst/>
          </a:prstGeom>
          <a:ln>
            <a:headEnd type="none" w="med" len="med"/>
            <a:tailEnd type="none" w="med" len="med"/>
          </a:ln>
        </p:spPr>
        <p:style>
          <a:lnRef idx="0">
            <a:schemeClr val="accent1"/>
          </a:lnRef>
          <a:fillRef idx="1001">
            <a:schemeClr val="dk1"/>
          </a:fillRef>
          <a:effectRef idx="3">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a:defRPr/>
            </a:pPr>
            <a:r>
              <a:rPr lang="en-US" b="0" dirty="0" smtClean="0">
                <a:solidFill>
                  <a:srgbClr val="FFFF00"/>
                </a:solidFill>
                <a:latin typeface="Calibri" pitchFamily="34" charset="0"/>
              </a:rPr>
              <a:t>Flexibility via Choice</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loud 114"/>
          <p:cNvSpPr/>
          <p:nvPr/>
        </p:nvSpPr>
        <p:spPr bwMode="auto">
          <a:xfrm rot="272498">
            <a:off x="483966" y="2223196"/>
            <a:ext cx="8176068" cy="3509211"/>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Franklin Gothic Book" pitchFamily="34" charset="0"/>
            </a:endParaRPr>
          </a:p>
        </p:txBody>
      </p:sp>
      <p:sp>
        <p:nvSpPr>
          <p:cNvPr id="3" name="Title 2"/>
          <p:cNvSpPr>
            <a:spLocks noGrp="1"/>
          </p:cNvSpPr>
          <p:nvPr>
            <p:ph type="title"/>
          </p:nvPr>
        </p:nvSpPr>
        <p:spPr>
          <a:xfrm>
            <a:off x="387054" y="152400"/>
            <a:ext cx="8375946" cy="553998"/>
          </a:xfrm>
        </p:spPr>
        <p:txBody>
          <a:bodyPr/>
          <a:lstStyle/>
          <a:p>
            <a:r>
              <a:rPr lang="en-US" dirty="0" smtClean="0"/>
              <a:t>Why Are We Here?</a:t>
            </a:r>
            <a:endParaRPr lang="en-US" dirty="0"/>
          </a:p>
        </p:txBody>
      </p:sp>
      <p:sp>
        <p:nvSpPr>
          <p:cNvPr id="96" name="Rectangle 95"/>
          <p:cNvSpPr/>
          <p:nvPr/>
        </p:nvSpPr>
        <p:spPr bwMode="auto">
          <a:xfrm rot="5400000">
            <a:off x="6965411" y="3253901"/>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4" name="Rectangle 113"/>
          <p:cNvSpPr/>
          <p:nvPr/>
        </p:nvSpPr>
        <p:spPr bwMode="auto">
          <a:xfrm>
            <a:off x="1066800" y="3368201"/>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9" name="Rectangle 118"/>
          <p:cNvSpPr/>
          <p:nvPr/>
        </p:nvSpPr>
        <p:spPr bwMode="auto">
          <a:xfrm>
            <a:off x="1524000" y="3368201"/>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2" name="Rectangle 121"/>
          <p:cNvSpPr/>
          <p:nvPr/>
        </p:nvSpPr>
        <p:spPr bwMode="auto">
          <a:xfrm>
            <a:off x="3352800" y="3368201"/>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30" name="Rectangle 129"/>
          <p:cNvSpPr/>
          <p:nvPr/>
        </p:nvSpPr>
        <p:spPr bwMode="auto">
          <a:xfrm>
            <a:off x="9144000" y="3825401"/>
            <a:ext cx="533400" cy="338941"/>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40" name="TextBox 39"/>
          <p:cNvSpPr txBox="1"/>
          <p:nvPr/>
        </p:nvSpPr>
        <p:spPr>
          <a:xfrm>
            <a:off x="1992346" y="3527804"/>
            <a:ext cx="5170454" cy="830997"/>
          </a:xfrm>
          <a:prstGeom prst="rect">
            <a:avLst/>
          </a:prstGeom>
          <a:noFill/>
        </p:spPr>
        <p:txBody>
          <a:bodyPr wrap="none" rtlCol="0">
            <a:spAutoFit/>
          </a:bodyPr>
          <a:lstStyle/>
          <a:p>
            <a:r>
              <a:rPr lang="en-US" sz="4800" b="1" dirty="0" smtClean="0">
                <a:solidFill>
                  <a:schemeClr val="bg1"/>
                </a:solidFill>
              </a:rPr>
              <a:t>Services Revolution</a:t>
            </a:r>
            <a:endParaRPr lang="en-US" sz="4800" b="1" dirty="0">
              <a:solidFill>
                <a:schemeClr val="bg1"/>
              </a:solidFill>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txBox="1">
            <a:spLocks/>
          </p:cNvSpPr>
          <p:nvPr/>
        </p:nvSpPr>
        <p:spPr>
          <a:xfrm>
            <a:off x="700468" y="3886200"/>
            <a:ext cx="7681532" cy="969240"/>
          </a:xfrm>
          <a:prstGeom prst="rect">
            <a:avLst/>
          </a:prstGeom>
        </p:spPr>
        <p:txBody>
          <a:bodyPr vert="horz" wrap="square" lIns="0" tIns="0" rIns="0" bIns="0" rtlCol="0">
            <a:spAutoFit/>
          </a:bodyPr>
          <a:lstStyle/>
          <a:p>
            <a:pPr marL="393700" marR="0" lvl="0"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Identity can be a barrier </a:t>
            </a:r>
            <a:r>
              <a:rPr kumimoji="0" lang="en-US" sz="3200" i="0" u="none" strike="noStrike" kern="1200" normalizeH="0" baseline="0" noProof="0" dirty="0" smtClean="0">
                <a:ln w="18415" cmpd="sng">
                  <a:solidFill>
                    <a:srgbClr val="FFFFFF"/>
                  </a:solidFill>
                  <a:prstDash val="solid"/>
                </a:ln>
                <a:solidFill>
                  <a:srgbClr val="FFFFFF"/>
                </a:solidFill>
                <a:effectLst>
                  <a:outerShdw blurRad="63500" dir="3600000" algn="tl" rotWithShape="0">
                    <a:srgbClr val="000000">
                      <a:alpha val="70000"/>
                    </a:srgbClr>
                  </a:outerShdw>
                </a:effectLst>
                <a:uLnTx/>
                <a:uFillTx/>
                <a:latin typeface="+mn-lt"/>
                <a:ea typeface="+mn-ea"/>
                <a:cs typeface="+mn-cs"/>
              </a:rPr>
              <a:t>enabler</a:t>
            </a:r>
            <a:endParaRPr kumimoji="0" lang="en-US" sz="2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endParaRPr>
          </a:p>
          <a:p>
            <a:pPr marL="393700" marR="0" lvl="0"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None/>
              <a:tabLst/>
              <a:defRPr/>
            </a:pP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                                   </a:t>
            </a:r>
          </a:p>
        </p:txBody>
      </p:sp>
      <p:sp>
        <p:nvSpPr>
          <p:cNvPr id="3" name="Content Placeholder 2"/>
          <p:cNvSpPr>
            <a:spLocks noGrp="1"/>
          </p:cNvSpPr>
          <p:nvPr>
            <p:ph type="body" sz="quarter" idx="10"/>
          </p:nvPr>
        </p:nvSpPr>
        <p:spPr/>
        <p:txBody>
          <a:bodyPr/>
          <a:lstStyle/>
          <a:p>
            <a:r>
              <a:rPr lang="en-US" dirty="0" smtClean="0"/>
              <a:t>Different security zones</a:t>
            </a:r>
          </a:p>
          <a:p>
            <a:endParaRPr lang="en-US" dirty="0" smtClean="0"/>
          </a:p>
          <a:p>
            <a:r>
              <a:rPr lang="en-US" dirty="0" smtClean="0"/>
              <a:t>Multiple islands</a:t>
            </a:r>
          </a:p>
          <a:p>
            <a:pPr>
              <a:buNone/>
            </a:pPr>
            <a:r>
              <a:rPr lang="en-US" dirty="0" smtClean="0"/>
              <a:t>                                   </a:t>
            </a:r>
          </a:p>
        </p:txBody>
      </p:sp>
      <p:sp>
        <p:nvSpPr>
          <p:cNvPr id="2" name="Title 1"/>
          <p:cNvSpPr>
            <a:spLocks noGrp="1"/>
          </p:cNvSpPr>
          <p:nvPr>
            <p:ph type="title"/>
          </p:nvPr>
        </p:nvSpPr>
        <p:spPr/>
        <p:txBody>
          <a:bodyPr/>
          <a:lstStyle/>
          <a:p>
            <a:r>
              <a:rPr smtClean="0"/>
              <a:t>Identity Challenges</a:t>
            </a:r>
            <a:endParaRPr lang="en-US" dirty="0"/>
          </a:p>
        </p:txBody>
      </p:sp>
      <p:cxnSp>
        <p:nvCxnSpPr>
          <p:cNvPr id="5" name="Straight Connector 4"/>
          <p:cNvCxnSpPr/>
          <p:nvPr/>
        </p:nvCxnSpPr>
        <p:spPr>
          <a:xfrm>
            <a:off x="3886200" y="4038600"/>
            <a:ext cx="1066800" cy="1588"/>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Content Placeholder 2"/>
          <p:cNvSpPr txBox="1">
            <a:spLocks/>
          </p:cNvSpPr>
          <p:nvPr/>
        </p:nvSpPr>
        <p:spPr>
          <a:xfrm>
            <a:off x="700468" y="3886200"/>
            <a:ext cx="7681532" cy="969240"/>
          </a:xfrm>
          <a:prstGeom prst="rect">
            <a:avLst/>
          </a:prstGeom>
        </p:spPr>
        <p:txBody>
          <a:bodyPr vert="horz" wrap="square" lIns="0" tIns="0" rIns="0" bIns="0" rtlCol="0">
            <a:spAutoFit/>
          </a:bodyPr>
          <a:lstStyle/>
          <a:p>
            <a:pPr marL="393700" marR="0" lvl="0"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Identity can be a barrier </a:t>
            </a:r>
            <a:endParaRPr kumimoji="0" lang="en-US" sz="28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endParaRPr>
          </a:p>
          <a:p>
            <a:pPr marL="393700" marR="0" lvl="0"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None/>
              <a:tabLst/>
              <a:defRPr/>
            </a:pP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1">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2907719"/>
          </a:xfrm>
        </p:spPr>
        <p:txBody>
          <a:bodyPr/>
          <a:lstStyle/>
          <a:p>
            <a:pPr marL="514350" indent="-514350">
              <a:buFont typeface="+mj-lt"/>
              <a:buAutoNum type="arabicPeriod"/>
            </a:pPr>
            <a:r>
              <a:rPr lang="en-US" dirty="0" smtClean="0">
                <a:solidFill>
                  <a:schemeClr val="tx1"/>
                </a:solidFill>
              </a:rPr>
              <a:t>Switch from a server (Exchange) to a cloud service </a:t>
            </a:r>
          </a:p>
          <a:p>
            <a:pPr marL="514350" indent="-514350">
              <a:buFont typeface="+mj-lt"/>
              <a:buAutoNum type="arabicPeriod"/>
            </a:pPr>
            <a:r>
              <a:rPr lang="en-US" dirty="0" smtClean="0">
                <a:solidFill>
                  <a:schemeClr val="tx1"/>
                </a:solidFill>
              </a:rPr>
              <a:t>Adopt a new service</a:t>
            </a:r>
          </a:p>
          <a:p>
            <a:pPr marL="514350" indent="-514350">
              <a:buFont typeface="+mj-lt"/>
              <a:buAutoNum type="arabicPeriod"/>
            </a:pPr>
            <a:r>
              <a:rPr lang="en-US" dirty="0" smtClean="0">
                <a:solidFill>
                  <a:schemeClr val="tx1"/>
                </a:solidFill>
              </a:rPr>
              <a:t>Move an on-premises app to a cloud service</a:t>
            </a:r>
          </a:p>
          <a:p>
            <a:pPr marL="514350" indent="-514350">
              <a:buFont typeface="+mj-lt"/>
              <a:buAutoNum type="arabicPeriod"/>
            </a:pPr>
            <a:endParaRPr lang="en-US" dirty="0" smtClean="0">
              <a:solidFill>
                <a:schemeClr val="tx1"/>
              </a:solidFill>
            </a:endParaRPr>
          </a:p>
        </p:txBody>
      </p:sp>
      <p:sp>
        <p:nvSpPr>
          <p:cNvPr id="2" name="Title 1"/>
          <p:cNvSpPr>
            <a:spLocks noGrp="1"/>
          </p:cNvSpPr>
          <p:nvPr>
            <p:ph type="title"/>
          </p:nvPr>
        </p:nvSpPr>
        <p:spPr/>
        <p:txBody>
          <a:bodyPr/>
          <a:lstStyle/>
          <a:p>
            <a:r>
              <a:rPr smtClean="0"/>
              <a:t>Scenarios</a:t>
            </a:r>
            <a:endParaRPr lang="en-US" dirty="0"/>
          </a:p>
        </p:txBody>
      </p:sp>
      <p:sp>
        <p:nvSpPr>
          <p:cNvPr id="4" name="Content Placeholder 2"/>
          <p:cNvSpPr txBox="1">
            <a:spLocks/>
          </p:cNvSpPr>
          <p:nvPr/>
        </p:nvSpPr>
        <p:spPr>
          <a:xfrm>
            <a:off x="730250" y="3581400"/>
            <a:ext cx="8305800" cy="1737399"/>
          </a:xfrm>
          <a:prstGeom prst="rect">
            <a:avLst/>
          </a:prstGeom>
        </p:spPr>
        <p:txBody>
          <a:bodyPr vert="horz" wrap="square" lIns="0" tIns="0" rIns="0" bIns="0" rtlCol="0">
            <a:spAutoFit/>
          </a:bodyPr>
          <a:lstStyle/>
          <a:p>
            <a:pPr marL="514350" marR="0" lvl="0" indent="-514350" algn="l" defTabSz="914363" rtl="0" eaLnBrk="1" fontAlgn="auto" latinLnBrk="0" hangingPunct="1">
              <a:lnSpc>
                <a:spcPct val="78000"/>
              </a:lnSpc>
              <a:spcBef>
                <a:spcPct val="20000"/>
              </a:spcBef>
              <a:spcAft>
                <a:spcPts val="800"/>
              </a:spcAft>
              <a:buClr>
                <a:schemeClr val="tx1"/>
              </a:buClr>
              <a:buSzPct val="80000"/>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520700" marR="0" lvl="0" indent="-520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How does a business use services </a:t>
            </a:r>
            <a:r>
              <a:rPr kumimoji="0" lang="en-US" sz="3200" b="0" i="0" u="none" strike="noStrike" kern="1200" cap="none" spc="0" normalizeH="0" baseline="0" noProof="0" dirty="0" smtClean="0">
                <a:ln>
                  <a:noFill/>
                </a:ln>
                <a:solidFill>
                  <a:schemeClr val="accent3"/>
                </a:solidFill>
                <a:effectLst/>
                <a:uLnTx/>
                <a:uFillTx/>
                <a:latin typeface="+mn-lt"/>
                <a:ea typeface="+mn-ea"/>
                <a:cs typeface="+mn-cs"/>
              </a:rPr>
              <a:t>without changing their on-premises identity infrastructure?</a:t>
            </a:r>
            <a:r>
              <a:rPr kumimoji="0" lang="en-US" sz="3200" b="0" i="0" u="none" strike="noStrike" kern="1200" cap="none" spc="0" normalizeH="0" baseline="0" noProof="0" dirty="0" smtClean="0">
                <a:ln>
                  <a:noFill/>
                </a:ln>
                <a:solidFill>
                  <a:schemeClr val="accent1"/>
                </a:solidFill>
                <a:effectLst/>
                <a:uLnTx/>
                <a:uFillTx/>
                <a:latin typeface="+mn-lt"/>
                <a:ea typeface="+mn-ea"/>
                <a:cs typeface="+mn-cs"/>
              </a:rPr>
              <a:t> </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(ex: Active Directory)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loud 114"/>
          <p:cNvSpPr/>
          <p:nvPr/>
        </p:nvSpPr>
        <p:spPr bwMode="auto">
          <a:xfrm rot="272498">
            <a:off x="-14381" y="638558"/>
            <a:ext cx="8929643" cy="3509211"/>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latin typeface="Franklin Gothic Book" pitchFamily="34" charset="0"/>
            </a:endParaRPr>
          </a:p>
        </p:txBody>
      </p:sp>
      <p:sp>
        <p:nvSpPr>
          <p:cNvPr id="3" name="Title 2"/>
          <p:cNvSpPr>
            <a:spLocks noGrp="1"/>
          </p:cNvSpPr>
          <p:nvPr>
            <p:ph type="title"/>
          </p:nvPr>
        </p:nvSpPr>
        <p:spPr>
          <a:xfrm>
            <a:off x="387054" y="152400"/>
            <a:ext cx="8375946" cy="498598"/>
          </a:xfrm>
        </p:spPr>
        <p:txBody>
          <a:bodyPr/>
          <a:lstStyle/>
          <a:p>
            <a:r>
              <a:rPr sz="3600" smtClean="0"/>
              <a:t>Enterprise Software And Service Topology</a:t>
            </a:r>
            <a:endParaRPr lang="en-US" sz="3600" dirty="0"/>
          </a:p>
        </p:txBody>
      </p:sp>
      <p:sp>
        <p:nvSpPr>
          <p:cNvPr id="4" name="Rounded Rectangle 3"/>
          <p:cNvSpPr/>
          <p:nvPr/>
        </p:nvSpPr>
        <p:spPr bwMode="auto">
          <a:xfrm>
            <a:off x="609600" y="990600"/>
            <a:ext cx="7848600" cy="22098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86" name="Rounded Rectangle 85"/>
          <p:cNvSpPr/>
          <p:nvPr/>
        </p:nvSpPr>
        <p:spPr bwMode="auto">
          <a:xfrm>
            <a:off x="685800" y="5181600"/>
            <a:ext cx="2514600" cy="1134519"/>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88" name="TextBox 87"/>
          <p:cNvSpPr txBox="1"/>
          <p:nvPr/>
        </p:nvSpPr>
        <p:spPr>
          <a:xfrm>
            <a:off x="2286000" y="5867400"/>
            <a:ext cx="869341" cy="338554"/>
          </a:xfrm>
          <a:prstGeom prst="rect">
            <a:avLst/>
          </a:prstGeom>
          <a:noFill/>
        </p:spPr>
        <p:txBody>
          <a:bodyPr wrap="none" rtlCol="0">
            <a:spAutoFit/>
          </a:bodyPr>
          <a:lstStyle/>
          <a:p>
            <a:pPr algn="ctr"/>
            <a:r>
              <a:rPr lang="en-US" sz="1600" dirty="0" smtClean="0"/>
              <a:t>Desktop</a:t>
            </a:r>
            <a:endParaRPr lang="en-US" sz="1600" dirty="0"/>
          </a:p>
        </p:txBody>
      </p:sp>
      <p:sp>
        <p:nvSpPr>
          <p:cNvPr id="96" name="Rectangle 95"/>
          <p:cNvSpPr/>
          <p:nvPr/>
        </p:nvSpPr>
        <p:spPr bwMode="auto">
          <a:xfrm rot="5400000">
            <a:off x="6965411" y="2705100"/>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97" name="Rectangle 96"/>
          <p:cNvSpPr/>
          <p:nvPr/>
        </p:nvSpPr>
        <p:spPr bwMode="auto">
          <a:xfrm rot="5400000">
            <a:off x="7810500" y="6049419"/>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55" name="Rounded Rectangle 54"/>
          <p:cNvSpPr/>
          <p:nvPr/>
        </p:nvSpPr>
        <p:spPr bwMode="auto">
          <a:xfrm>
            <a:off x="4648200" y="4876800"/>
            <a:ext cx="3733800" cy="16002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65" name="TextBox 64"/>
          <p:cNvSpPr txBox="1"/>
          <p:nvPr/>
        </p:nvSpPr>
        <p:spPr>
          <a:xfrm>
            <a:off x="5588579" y="6093023"/>
            <a:ext cx="871649" cy="307777"/>
          </a:xfrm>
          <a:prstGeom prst="rect">
            <a:avLst/>
          </a:prstGeom>
          <a:noFill/>
        </p:spPr>
        <p:txBody>
          <a:bodyPr wrap="none" rtlCol="0">
            <a:spAutoFit/>
          </a:bodyPr>
          <a:lstStyle/>
          <a:p>
            <a:pPr algn="ctr"/>
            <a:r>
              <a:rPr lang="en-US" sz="1400" dirty="0" smtClean="0"/>
              <a:t>Exchange</a:t>
            </a:r>
            <a:endParaRPr lang="en-US" sz="1400" dirty="0"/>
          </a:p>
        </p:txBody>
      </p:sp>
      <p:pic>
        <p:nvPicPr>
          <p:cNvPr id="66"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5785680" y="5401719"/>
            <a:ext cx="533400" cy="692615"/>
          </a:xfrm>
          <a:prstGeom prst="rect">
            <a:avLst/>
          </a:prstGeom>
          <a:noFill/>
        </p:spPr>
      </p:pic>
      <p:sp>
        <p:nvSpPr>
          <p:cNvPr id="114" name="Rectangle 113"/>
          <p:cNvSpPr/>
          <p:nvPr/>
        </p:nvSpPr>
        <p:spPr bwMode="auto">
          <a:xfrm>
            <a:off x="1066800" y="28194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9" name="Rectangle 118"/>
          <p:cNvSpPr/>
          <p:nvPr/>
        </p:nvSpPr>
        <p:spPr bwMode="auto">
          <a:xfrm>
            <a:off x="1524000" y="28194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0" name="Rectangle 119"/>
          <p:cNvSpPr/>
          <p:nvPr/>
        </p:nvSpPr>
        <p:spPr bwMode="auto">
          <a:xfrm>
            <a:off x="73914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1" name="Rectangle 120"/>
          <p:cNvSpPr/>
          <p:nvPr/>
        </p:nvSpPr>
        <p:spPr bwMode="auto">
          <a:xfrm>
            <a:off x="71628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2" name="Rectangle 121"/>
          <p:cNvSpPr/>
          <p:nvPr/>
        </p:nvSpPr>
        <p:spPr bwMode="auto">
          <a:xfrm>
            <a:off x="3352800" y="28194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30" name="Rectangle 129"/>
          <p:cNvSpPr/>
          <p:nvPr/>
        </p:nvSpPr>
        <p:spPr bwMode="auto">
          <a:xfrm>
            <a:off x="9144000" y="3276600"/>
            <a:ext cx="533400" cy="338941"/>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pic>
        <p:nvPicPr>
          <p:cNvPr id="67" name="Picture 24" descr="C:\Program Files\Microsoft Resource DVD Artwork\DVD_ART\Artwork_Imagery\HARDWARE_IMAGERY\Illustration - Misc Hardware\Windows Vista Illustration Icons\Generic User.png"/>
          <p:cNvPicPr>
            <a:picLocks noChangeAspect="1" noChangeArrowheads="1"/>
          </p:cNvPicPr>
          <p:nvPr/>
        </p:nvPicPr>
        <p:blipFill>
          <a:blip r:embed="rId4" cstate="print"/>
          <a:srcRect/>
          <a:stretch>
            <a:fillRect/>
          </a:stretch>
        </p:blipFill>
        <p:spPr bwMode="auto">
          <a:xfrm flipH="1">
            <a:off x="2424814" y="5257800"/>
            <a:ext cx="546986" cy="665672"/>
          </a:xfrm>
          <a:prstGeom prst="rect">
            <a:avLst/>
          </a:prstGeom>
          <a:noFill/>
        </p:spPr>
      </p:pic>
      <p:sp>
        <p:nvSpPr>
          <p:cNvPr id="74" name="Rounded Rectangle 73"/>
          <p:cNvSpPr/>
          <p:nvPr/>
        </p:nvSpPr>
        <p:spPr bwMode="auto">
          <a:xfrm>
            <a:off x="762000" y="2362200"/>
            <a:ext cx="2362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Azure</a:t>
            </a:r>
            <a:r>
              <a:rPr lang="en-US" sz="1600" dirty="0" smtClean="0">
                <a:solidFill>
                  <a:srgbClr val="FFFFFF"/>
                </a:solidFill>
              </a:rPr>
              <a:t> </a:t>
            </a:r>
            <a:r>
              <a:rPr lang="en-US" sz="1600" dirty="0" smtClean="0">
                <a:solidFill>
                  <a:srgbClr val="FFFFFF"/>
                </a:solidFill>
              </a:rPr>
              <a:t>Services Platform</a:t>
            </a:r>
          </a:p>
        </p:txBody>
      </p:sp>
      <p:sp>
        <p:nvSpPr>
          <p:cNvPr id="75" name="Rounded Rectangle 74"/>
          <p:cNvSpPr/>
          <p:nvPr/>
        </p:nvSpPr>
        <p:spPr bwMode="auto">
          <a:xfrm>
            <a:off x="2057400" y="1600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ISV Apps</a:t>
            </a:r>
          </a:p>
        </p:txBody>
      </p:sp>
      <p:sp>
        <p:nvSpPr>
          <p:cNvPr id="81" name="Rounded Rectangle 80"/>
          <p:cNvSpPr/>
          <p:nvPr/>
        </p:nvSpPr>
        <p:spPr bwMode="auto">
          <a:xfrm>
            <a:off x="7086600" y="16002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Online</a:t>
            </a:r>
          </a:p>
        </p:txBody>
      </p:sp>
      <p:sp>
        <p:nvSpPr>
          <p:cNvPr id="84" name="Rounded Rectangle 83"/>
          <p:cNvSpPr/>
          <p:nvPr/>
        </p:nvSpPr>
        <p:spPr bwMode="auto">
          <a:xfrm>
            <a:off x="7086600" y="23622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400" dirty="0" smtClean="0">
                <a:solidFill>
                  <a:srgbClr val="FFFFFF"/>
                </a:solidFill>
              </a:rPr>
              <a:t>Microsoft Dynamics CRM Online</a:t>
            </a:r>
          </a:p>
        </p:txBody>
      </p:sp>
      <p:sp>
        <p:nvSpPr>
          <p:cNvPr id="92" name="Rounded Rectangle 91"/>
          <p:cNvSpPr/>
          <p:nvPr/>
        </p:nvSpPr>
        <p:spPr bwMode="auto">
          <a:xfrm>
            <a:off x="5867400" y="1600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Windows Live</a:t>
            </a:r>
          </a:p>
        </p:txBody>
      </p:sp>
      <p:sp>
        <p:nvSpPr>
          <p:cNvPr id="99" name="Rounded Rectangle 98"/>
          <p:cNvSpPr/>
          <p:nvPr/>
        </p:nvSpPr>
        <p:spPr bwMode="auto">
          <a:xfrm>
            <a:off x="914400" y="51054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Browser</a:t>
            </a:r>
          </a:p>
        </p:txBody>
      </p:sp>
      <p:sp>
        <p:nvSpPr>
          <p:cNvPr id="100" name="Rounded Rectangle 99"/>
          <p:cNvSpPr/>
          <p:nvPr/>
        </p:nvSpPr>
        <p:spPr bwMode="auto">
          <a:xfrm>
            <a:off x="914400" y="55626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Office</a:t>
            </a:r>
          </a:p>
        </p:txBody>
      </p:sp>
      <p:sp>
        <p:nvSpPr>
          <p:cNvPr id="101" name="Rounded Rectangle 100"/>
          <p:cNvSpPr/>
          <p:nvPr/>
        </p:nvSpPr>
        <p:spPr bwMode="auto">
          <a:xfrm>
            <a:off x="914400" y="60198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Apps</a:t>
            </a:r>
          </a:p>
        </p:txBody>
      </p:sp>
      <p:sp>
        <p:nvSpPr>
          <p:cNvPr id="107" name="TextBox 106"/>
          <p:cNvSpPr txBox="1"/>
          <p:nvPr/>
        </p:nvSpPr>
        <p:spPr>
          <a:xfrm>
            <a:off x="6431736" y="6084542"/>
            <a:ext cx="815737" cy="307777"/>
          </a:xfrm>
          <a:prstGeom prst="rect">
            <a:avLst/>
          </a:prstGeom>
          <a:noFill/>
        </p:spPr>
        <p:txBody>
          <a:bodyPr wrap="none" rtlCol="0">
            <a:spAutoFit/>
          </a:bodyPr>
          <a:lstStyle/>
          <a:p>
            <a:pPr algn="ctr"/>
            <a:r>
              <a:rPr lang="en-US" sz="1400" dirty="0" smtClean="0"/>
              <a:t>ISV Apps</a:t>
            </a:r>
            <a:endParaRPr lang="en-US" sz="1400" dirty="0"/>
          </a:p>
        </p:txBody>
      </p:sp>
      <p:pic>
        <p:nvPicPr>
          <p:cNvPr id="108"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6561672" y="5393238"/>
            <a:ext cx="533400" cy="692615"/>
          </a:xfrm>
          <a:prstGeom prst="rect">
            <a:avLst/>
          </a:prstGeom>
          <a:noFill/>
        </p:spPr>
      </p:pic>
      <p:sp>
        <p:nvSpPr>
          <p:cNvPr id="109" name="TextBox 108"/>
          <p:cNvSpPr txBox="1"/>
          <p:nvPr/>
        </p:nvSpPr>
        <p:spPr>
          <a:xfrm>
            <a:off x="7171272" y="6084542"/>
            <a:ext cx="976934" cy="307777"/>
          </a:xfrm>
          <a:prstGeom prst="rect">
            <a:avLst/>
          </a:prstGeom>
          <a:noFill/>
        </p:spPr>
        <p:txBody>
          <a:bodyPr wrap="none" rtlCol="0">
            <a:spAutoFit/>
          </a:bodyPr>
          <a:lstStyle/>
          <a:p>
            <a:pPr algn="ctr"/>
            <a:r>
              <a:rPr lang="en-US" sz="1400" dirty="0" smtClean="0"/>
              <a:t>SharePoint</a:t>
            </a:r>
            <a:endParaRPr lang="en-US" sz="1400" dirty="0"/>
          </a:p>
        </p:txBody>
      </p:sp>
      <p:pic>
        <p:nvPicPr>
          <p:cNvPr id="110"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7399872" y="5393238"/>
            <a:ext cx="533400" cy="692615"/>
          </a:xfrm>
          <a:prstGeom prst="rect">
            <a:avLst/>
          </a:prstGeom>
          <a:noFill/>
        </p:spPr>
      </p:pic>
      <p:sp>
        <p:nvSpPr>
          <p:cNvPr id="113" name="Rounded Rectangle 112"/>
          <p:cNvSpPr/>
          <p:nvPr/>
        </p:nvSpPr>
        <p:spPr bwMode="auto">
          <a:xfrm>
            <a:off x="762000" y="1600200"/>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Enterprise</a:t>
            </a:r>
          </a:p>
          <a:p>
            <a:pPr algn="ctr" defTabSz="914099" fontAlgn="base">
              <a:spcBef>
                <a:spcPct val="0"/>
              </a:spcBef>
              <a:spcAft>
                <a:spcPct val="0"/>
              </a:spcAft>
            </a:pPr>
            <a:r>
              <a:rPr lang="en-US" sz="1600" dirty="0" smtClean="0">
                <a:solidFill>
                  <a:srgbClr val="FFFFFF"/>
                </a:solidFill>
              </a:rPr>
              <a:t>Apps</a:t>
            </a:r>
          </a:p>
        </p:txBody>
      </p:sp>
      <p:sp>
        <p:nvSpPr>
          <p:cNvPr id="117" name="Rounded Rectangle 116"/>
          <p:cNvSpPr/>
          <p:nvPr/>
        </p:nvSpPr>
        <p:spPr bwMode="auto">
          <a:xfrm>
            <a:off x="5867400" y="2362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Live</a:t>
            </a:r>
          </a:p>
          <a:p>
            <a:pPr algn="ctr" defTabSz="914099" fontAlgn="base">
              <a:spcBef>
                <a:spcPct val="0"/>
              </a:spcBef>
              <a:spcAft>
                <a:spcPct val="0"/>
              </a:spcAft>
            </a:pPr>
            <a:r>
              <a:rPr lang="en-US" sz="1600" dirty="0" smtClean="0">
                <a:solidFill>
                  <a:srgbClr val="FFFFFF"/>
                </a:solidFill>
              </a:rPr>
              <a:t>Mesh</a:t>
            </a:r>
          </a:p>
        </p:txBody>
      </p:sp>
      <p:sp>
        <p:nvSpPr>
          <p:cNvPr id="118" name="TextBox 117"/>
          <p:cNvSpPr txBox="1"/>
          <p:nvPr/>
        </p:nvSpPr>
        <p:spPr>
          <a:xfrm>
            <a:off x="3886200" y="1000780"/>
            <a:ext cx="1164101" cy="584775"/>
          </a:xfrm>
          <a:prstGeom prst="rect">
            <a:avLst/>
          </a:prstGeom>
          <a:noFill/>
        </p:spPr>
        <p:txBody>
          <a:bodyPr wrap="none" rtlCol="0">
            <a:spAutoFit/>
          </a:bodyPr>
          <a:lstStyle/>
          <a:p>
            <a:pPr algn="ctr"/>
            <a:r>
              <a:rPr lang="en-US" sz="3200" b="1" dirty="0" smtClean="0">
                <a:effectLst>
                  <a:outerShdw blurRad="38100" dist="38100" dir="2700000" algn="tl">
                    <a:srgbClr val="000000">
                      <a:alpha val="43137"/>
                    </a:srgbClr>
                  </a:outerShdw>
                </a:effectLst>
              </a:rPr>
              <a:t>Cloud</a:t>
            </a:r>
            <a:endParaRPr lang="en-US" sz="3200" b="1" dirty="0">
              <a:effectLst>
                <a:outerShdw blurRad="38100" dist="38100" dir="2700000" algn="tl">
                  <a:srgbClr val="000000">
                    <a:alpha val="43137"/>
                  </a:srgbClr>
                </a:outerShdw>
              </a:effectLst>
            </a:endParaRPr>
          </a:p>
        </p:txBody>
      </p:sp>
      <p:sp>
        <p:nvSpPr>
          <p:cNvPr id="123" name="Rounded Rectangle 122"/>
          <p:cNvSpPr/>
          <p:nvPr/>
        </p:nvSpPr>
        <p:spPr bwMode="auto">
          <a:xfrm>
            <a:off x="3962400" y="2362200"/>
            <a:ext cx="11430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60" name="Rounded Rectangle 59"/>
          <p:cNvSpPr/>
          <p:nvPr/>
        </p:nvSpPr>
        <p:spPr bwMode="auto">
          <a:xfrm>
            <a:off x="4038600" y="2438400"/>
            <a:ext cx="9906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Live Identity Service</a:t>
            </a:r>
          </a:p>
        </p:txBody>
      </p:sp>
      <p:sp>
        <p:nvSpPr>
          <p:cNvPr id="124" name="Rounded Rectangle 123"/>
          <p:cNvSpPr/>
          <p:nvPr/>
        </p:nvSpPr>
        <p:spPr bwMode="auto">
          <a:xfrm>
            <a:off x="4343400" y="5334000"/>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111" name="Rounded Rectangle 110"/>
          <p:cNvSpPr/>
          <p:nvPr/>
        </p:nvSpPr>
        <p:spPr bwMode="auto">
          <a:xfrm>
            <a:off x="4419600" y="5452259"/>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Active Directory</a:t>
            </a:r>
          </a:p>
        </p:txBody>
      </p:sp>
      <p:sp>
        <p:nvSpPr>
          <p:cNvPr id="125" name="TextBox 124"/>
          <p:cNvSpPr txBox="1"/>
          <p:nvPr/>
        </p:nvSpPr>
        <p:spPr>
          <a:xfrm>
            <a:off x="4893828" y="4897995"/>
            <a:ext cx="3183372" cy="461665"/>
          </a:xfrm>
          <a:prstGeom prst="rect">
            <a:avLst/>
          </a:prstGeom>
          <a:noFill/>
        </p:spPr>
        <p:txBody>
          <a:bodyPr wrap="none" rtlCol="0">
            <a:spAutoFit/>
          </a:bodyPr>
          <a:lstStyle/>
          <a:p>
            <a:pPr algn="ctr"/>
            <a:r>
              <a:rPr lang="en-US" sz="2400" b="1" dirty="0" smtClean="0"/>
              <a:t>Enterprise On-Premises</a:t>
            </a:r>
            <a:endParaRPr lang="en-US" sz="2000" b="1" dirty="0"/>
          </a:p>
        </p:txBody>
      </p:sp>
      <p:pic>
        <p:nvPicPr>
          <p:cNvPr id="89" name="Picture 8" descr="C:\Program Files\Microsoft Resource DVD Artwork\DVD_ART\Artwork_Imagery\HARDWARE_IMAGERY\Illustration - Misc Hardware\XML Icons\user business man.png"/>
          <p:cNvPicPr>
            <a:picLocks noChangeAspect="1" noChangeArrowheads="1"/>
          </p:cNvPicPr>
          <p:nvPr/>
        </p:nvPicPr>
        <p:blipFill>
          <a:blip r:embed="rId5" cstate="print"/>
          <a:srcRect/>
          <a:stretch>
            <a:fillRect/>
          </a:stretch>
        </p:blipFill>
        <p:spPr bwMode="auto">
          <a:xfrm>
            <a:off x="5049936" y="5943600"/>
            <a:ext cx="436464" cy="530401"/>
          </a:xfrm>
          <a:prstGeom prst="rect">
            <a:avLst/>
          </a:prstGeom>
          <a:noFill/>
        </p:spPr>
      </p:pic>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dirty="0" smtClean="0">
                <a:solidFill>
                  <a:schemeClr val="tx1"/>
                </a:solidFill>
              </a:rPr>
              <a:t>IT admin </a:t>
            </a:r>
          </a:p>
          <a:p>
            <a:pPr lvl="1"/>
            <a:endParaRPr lang="en-US" sz="3200" dirty="0" smtClean="0">
              <a:solidFill>
                <a:schemeClr val="tx1"/>
              </a:solidFill>
            </a:endParaRPr>
          </a:p>
          <a:p>
            <a:r>
              <a:rPr lang="en-US" dirty="0" smtClean="0">
                <a:solidFill>
                  <a:schemeClr val="tx1"/>
                </a:solidFill>
              </a:rPr>
              <a:t>Employees</a:t>
            </a:r>
          </a:p>
          <a:p>
            <a:pPr lvl="1"/>
            <a:endParaRPr lang="en-US" sz="3200" dirty="0" smtClean="0">
              <a:solidFill>
                <a:schemeClr val="tx1"/>
              </a:solidFill>
            </a:endParaRPr>
          </a:p>
          <a:p>
            <a:r>
              <a:rPr lang="en-US" dirty="0" smtClean="0">
                <a:solidFill>
                  <a:schemeClr val="tx1"/>
                </a:solidFill>
              </a:rPr>
              <a:t>Developers  </a:t>
            </a:r>
          </a:p>
        </p:txBody>
      </p:sp>
      <p:sp>
        <p:nvSpPr>
          <p:cNvPr id="2" name="Title 1"/>
          <p:cNvSpPr>
            <a:spLocks noGrp="1"/>
          </p:cNvSpPr>
          <p:nvPr>
            <p:ph type="title"/>
          </p:nvPr>
        </p:nvSpPr>
        <p:spPr>
          <a:xfrm>
            <a:off x="387054" y="152400"/>
            <a:ext cx="8375946" cy="553998"/>
          </a:xfrm>
        </p:spPr>
        <p:txBody>
          <a:bodyPr/>
          <a:lstStyle/>
          <a:p>
            <a:r>
              <a:rPr lang="en-US" dirty="0" smtClean="0"/>
              <a:t>Solution Must Satisfy:</a:t>
            </a:r>
            <a:endParaRPr lang="en-US" dirty="0"/>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30044" y="1411552"/>
            <a:ext cx="7672003" cy="2322559"/>
          </a:xfrm>
        </p:spPr>
        <p:txBody>
          <a:bodyPr/>
          <a:lstStyle/>
          <a:p>
            <a:r>
              <a:rPr lang="en-US" dirty="0" smtClean="0"/>
              <a:t>Federation is the solution, but we need to do more</a:t>
            </a:r>
          </a:p>
          <a:p>
            <a:pPr>
              <a:buNone/>
            </a:pPr>
            <a:endParaRPr lang="en-US" dirty="0" smtClean="0"/>
          </a:p>
          <a:p>
            <a:r>
              <a:rPr lang="en-US" dirty="0" smtClean="0"/>
              <a:t>Microsoft will offer a free tool that greatly simplifies on-boarding to cloud services</a:t>
            </a:r>
            <a:endParaRPr lang="en-US" dirty="0"/>
          </a:p>
        </p:txBody>
      </p:sp>
      <p:sp>
        <p:nvSpPr>
          <p:cNvPr id="3" name="Title 2"/>
          <p:cNvSpPr>
            <a:spLocks noGrp="1"/>
          </p:cNvSpPr>
          <p:nvPr>
            <p:ph type="title"/>
          </p:nvPr>
        </p:nvSpPr>
        <p:spPr>
          <a:xfrm>
            <a:off x="387054" y="152400"/>
            <a:ext cx="8375946" cy="498598"/>
          </a:xfrm>
        </p:spPr>
        <p:txBody>
          <a:bodyPr/>
          <a:lstStyle/>
          <a:p>
            <a:r>
              <a:rPr lang="en-US" sz="3600" dirty="0" smtClean="0"/>
              <a:t>Federation Is Industry Endorsed Solution</a:t>
            </a:r>
            <a:r>
              <a:rPr sz="3600" smtClean="0"/>
              <a:t>  </a:t>
            </a:r>
            <a:endParaRPr lang="en-US" sz="3600" dirty="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4313168"/>
          </a:xfrm>
        </p:spPr>
        <p:txBody>
          <a:bodyPr/>
          <a:lstStyle/>
          <a:p>
            <a:r>
              <a:rPr lang="en-US" dirty="0" smtClean="0">
                <a:solidFill>
                  <a:schemeClr val="tx1"/>
                </a:solidFill>
              </a:rPr>
              <a:t>Federation hub brokers access for Cloud services: </a:t>
            </a:r>
          </a:p>
          <a:p>
            <a:pPr lvl="1"/>
            <a:r>
              <a:rPr lang="en-US" sz="3200" dirty="0" smtClean="0">
                <a:solidFill>
                  <a:schemeClr val="tx1"/>
                </a:solidFill>
              </a:rPr>
              <a:t>Microsoft cloud applications</a:t>
            </a:r>
          </a:p>
          <a:p>
            <a:pPr lvl="1"/>
            <a:r>
              <a:rPr lang="en-US" sz="3200" dirty="0" smtClean="0">
                <a:solidFill>
                  <a:schemeClr val="tx1"/>
                </a:solidFill>
              </a:rPr>
              <a:t>Developers using </a:t>
            </a:r>
            <a:r>
              <a:rPr lang="en-US" sz="3200" dirty="0" smtClean="0">
                <a:solidFill>
                  <a:schemeClr val="tx1"/>
                </a:solidFill>
              </a:rPr>
              <a:t>Azure</a:t>
            </a:r>
            <a:r>
              <a:rPr lang="en-US" sz="3200" dirty="0" smtClean="0">
                <a:solidFill>
                  <a:schemeClr val="tx1"/>
                </a:solidFill>
              </a:rPr>
              <a:t> </a:t>
            </a:r>
            <a:r>
              <a:rPr lang="en-US" sz="3200" dirty="0" smtClean="0">
                <a:solidFill>
                  <a:schemeClr val="tx1"/>
                </a:solidFill>
              </a:rPr>
              <a:t>Services Platform</a:t>
            </a:r>
          </a:p>
          <a:p>
            <a:pPr lvl="1"/>
            <a:r>
              <a:rPr lang="en-US" sz="3200" dirty="0" smtClean="0">
                <a:solidFill>
                  <a:schemeClr val="tx1"/>
                </a:solidFill>
              </a:rPr>
              <a:t>Other businesses using the Gateway</a:t>
            </a:r>
          </a:p>
          <a:p>
            <a:pPr lvl="1"/>
            <a:endParaRPr lang="en-US" sz="3200" dirty="0" smtClean="0">
              <a:solidFill>
                <a:schemeClr val="tx1"/>
              </a:solidFill>
            </a:endParaRPr>
          </a:p>
          <a:p>
            <a:r>
              <a:rPr lang="en-US" dirty="0" smtClean="0">
                <a:solidFill>
                  <a:schemeClr val="tx1"/>
                </a:solidFill>
              </a:rPr>
              <a:t>Manage one relationship to connect to any service</a:t>
            </a:r>
          </a:p>
          <a:p>
            <a:pPr lvl="1">
              <a:buNone/>
            </a:pPr>
            <a:endParaRPr lang="en-US" sz="3600" dirty="0" smtClean="0">
              <a:solidFill>
                <a:schemeClr val="tx1"/>
              </a:solidFill>
            </a:endParaRPr>
          </a:p>
        </p:txBody>
      </p:sp>
      <p:sp>
        <p:nvSpPr>
          <p:cNvPr id="2" name="Title 1"/>
          <p:cNvSpPr>
            <a:spLocks noGrp="1"/>
          </p:cNvSpPr>
          <p:nvPr>
            <p:ph type="title"/>
          </p:nvPr>
        </p:nvSpPr>
        <p:spPr>
          <a:xfrm>
            <a:off x="387054" y="152400"/>
            <a:ext cx="8375946" cy="498598"/>
          </a:xfrm>
        </p:spPr>
        <p:txBody>
          <a:bodyPr/>
          <a:lstStyle/>
          <a:p>
            <a:r>
              <a:rPr sz="3600" smtClean="0"/>
              <a:t>Solution:  Microsoft Federation Gateway</a:t>
            </a:r>
            <a:endParaRPr lang="en-US" sz="3600" dirty="0"/>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dirty="0" smtClean="0">
                <a:solidFill>
                  <a:schemeClr val="tx1"/>
                </a:solidFill>
              </a:rPr>
              <a:t>Free download for quick and easy setup</a:t>
            </a:r>
          </a:p>
          <a:p>
            <a:endParaRPr lang="en-US" dirty="0" smtClean="0">
              <a:solidFill>
                <a:schemeClr val="tx1"/>
              </a:solidFill>
            </a:endParaRPr>
          </a:p>
          <a:p>
            <a:r>
              <a:rPr lang="en-US" dirty="0" smtClean="0">
                <a:solidFill>
                  <a:schemeClr val="tx1"/>
                </a:solidFill>
              </a:rPr>
              <a:t>Connects Active Directory to the Gateway and cloud services and applications </a:t>
            </a:r>
          </a:p>
          <a:p>
            <a:endParaRPr lang="en-US" dirty="0" smtClean="0">
              <a:solidFill>
                <a:schemeClr val="tx1"/>
              </a:solidFill>
            </a:endParaRPr>
          </a:p>
          <a:p>
            <a:r>
              <a:rPr lang="en-US" dirty="0" smtClean="0">
                <a:solidFill>
                  <a:schemeClr val="tx1"/>
                </a:solidFill>
              </a:rPr>
              <a:t>Protects corporate account security</a:t>
            </a:r>
            <a:endParaRPr lang="en-US" sz="3600" dirty="0" smtClean="0">
              <a:solidFill>
                <a:schemeClr val="tx1"/>
              </a:solidFill>
            </a:endParaRPr>
          </a:p>
        </p:txBody>
      </p:sp>
      <p:sp>
        <p:nvSpPr>
          <p:cNvPr id="2" name="Title 1"/>
          <p:cNvSpPr>
            <a:spLocks noGrp="1"/>
          </p:cNvSpPr>
          <p:nvPr>
            <p:ph type="title"/>
          </p:nvPr>
        </p:nvSpPr>
        <p:spPr>
          <a:xfrm>
            <a:off x="387054" y="152400"/>
            <a:ext cx="8375946" cy="498598"/>
          </a:xfrm>
        </p:spPr>
        <p:txBody>
          <a:bodyPr/>
          <a:lstStyle/>
          <a:p>
            <a:r>
              <a:rPr sz="3600" smtClean="0"/>
              <a:t>Solution:  Microsoft Services Connector</a:t>
            </a:r>
            <a:endParaRPr lang="en-US" sz="3600" dirty="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p:cNvSpPr/>
          <p:nvPr/>
        </p:nvSpPr>
        <p:spPr bwMode="auto">
          <a:xfrm>
            <a:off x="4648200" y="4724400"/>
            <a:ext cx="3733800" cy="17526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115" name="Cloud 114"/>
          <p:cNvSpPr/>
          <p:nvPr/>
        </p:nvSpPr>
        <p:spPr bwMode="auto">
          <a:xfrm rot="272498">
            <a:off x="-14381" y="638558"/>
            <a:ext cx="8929643" cy="3509211"/>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latin typeface="Franklin Gothic Book" pitchFamily="34" charset="0"/>
            </a:endParaRPr>
          </a:p>
        </p:txBody>
      </p:sp>
      <p:sp>
        <p:nvSpPr>
          <p:cNvPr id="53" name="Text Placeholder 52"/>
          <p:cNvSpPr>
            <a:spLocks noGrp="1"/>
          </p:cNvSpPr>
          <p:nvPr>
            <p:ph type="body" sz="quarter" idx="10"/>
          </p:nvPr>
        </p:nvSpPr>
        <p:spPr/>
        <p:txBody>
          <a:bodyPr/>
          <a:lstStyle/>
          <a:p>
            <a:endParaRPr lang="en-US"/>
          </a:p>
        </p:txBody>
      </p:sp>
      <p:sp>
        <p:nvSpPr>
          <p:cNvPr id="3" name="Title 2"/>
          <p:cNvSpPr>
            <a:spLocks noGrp="1"/>
          </p:cNvSpPr>
          <p:nvPr>
            <p:ph type="title"/>
          </p:nvPr>
        </p:nvSpPr>
        <p:spPr>
          <a:xfrm>
            <a:off x="387054" y="152400"/>
            <a:ext cx="8375946" cy="498598"/>
          </a:xfrm>
        </p:spPr>
        <p:txBody>
          <a:bodyPr/>
          <a:lstStyle/>
          <a:p>
            <a:r>
              <a:rPr sz="3600" smtClean="0"/>
              <a:t>Enterprise Software And Service Topology</a:t>
            </a:r>
            <a:endParaRPr lang="en-US" sz="3600" dirty="0"/>
          </a:p>
        </p:txBody>
      </p:sp>
      <p:sp>
        <p:nvSpPr>
          <p:cNvPr id="4" name="Rounded Rectangle 3"/>
          <p:cNvSpPr/>
          <p:nvPr/>
        </p:nvSpPr>
        <p:spPr bwMode="auto">
          <a:xfrm>
            <a:off x="609600" y="990600"/>
            <a:ext cx="7848600" cy="22098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86" name="Rounded Rectangle 85"/>
          <p:cNvSpPr/>
          <p:nvPr/>
        </p:nvSpPr>
        <p:spPr bwMode="auto">
          <a:xfrm>
            <a:off x="685800" y="5334000"/>
            <a:ext cx="2514600" cy="1134519"/>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88" name="TextBox 87"/>
          <p:cNvSpPr txBox="1"/>
          <p:nvPr/>
        </p:nvSpPr>
        <p:spPr>
          <a:xfrm>
            <a:off x="2286000" y="6019800"/>
            <a:ext cx="869341" cy="338554"/>
          </a:xfrm>
          <a:prstGeom prst="rect">
            <a:avLst/>
          </a:prstGeom>
          <a:noFill/>
        </p:spPr>
        <p:txBody>
          <a:bodyPr wrap="none" rtlCol="0">
            <a:spAutoFit/>
          </a:bodyPr>
          <a:lstStyle/>
          <a:p>
            <a:pPr algn="ctr"/>
            <a:r>
              <a:rPr lang="en-US" sz="1600" dirty="0" smtClean="0"/>
              <a:t>Desktop</a:t>
            </a:r>
            <a:endParaRPr lang="en-US" sz="1600" dirty="0"/>
          </a:p>
        </p:txBody>
      </p:sp>
      <p:sp>
        <p:nvSpPr>
          <p:cNvPr id="96" name="Rectangle 95"/>
          <p:cNvSpPr/>
          <p:nvPr/>
        </p:nvSpPr>
        <p:spPr bwMode="auto">
          <a:xfrm rot="5400000">
            <a:off x="6965411" y="2705100"/>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97" name="Rectangle 96"/>
          <p:cNvSpPr/>
          <p:nvPr/>
        </p:nvSpPr>
        <p:spPr bwMode="auto">
          <a:xfrm rot="5400000">
            <a:off x="7200900" y="6201819"/>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4" name="Rectangle 113"/>
          <p:cNvSpPr/>
          <p:nvPr/>
        </p:nvSpPr>
        <p:spPr bwMode="auto">
          <a:xfrm>
            <a:off x="1066800" y="28194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9" name="Rectangle 118"/>
          <p:cNvSpPr/>
          <p:nvPr/>
        </p:nvSpPr>
        <p:spPr bwMode="auto">
          <a:xfrm>
            <a:off x="1524000" y="28194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0" name="Rectangle 119"/>
          <p:cNvSpPr/>
          <p:nvPr/>
        </p:nvSpPr>
        <p:spPr bwMode="auto">
          <a:xfrm>
            <a:off x="6781800" y="52998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1" name="Rectangle 120"/>
          <p:cNvSpPr/>
          <p:nvPr/>
        </p:nvSpPr>
        <p:spPr bwMode="auto">
          <a:xfrm>
            <a:off x="6553200" y="52998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22" name="Rectangle 121"/>
          <p:cNvSpPr/>
          <p:nvPr/>
        </p:nvSpPr>
        <p:spPr bwMode="auto">
          <a:xfrm>
            <a:off x="3429000" y="2590800"/>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30" name="Rectangle 129"/>
          <p:cNvSpPr/>
          <p:nvPr/>
        </p:nvSpPr>
        <p:spPr bwMode="auto">
          <a:xfrm>
            <a:off x="9144000" y="3276600"/>
            <a:ext cx="533400" cy="338941"/>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pic>
        <p:nvPicPr>
          <p:cNvPr id="67" name="Picture 24" descr="C:\Program Files\Microsoft Resource DVD Artwork\DVD_ART\Artwork_Imagery\HARDWARE_IMAGERY\Illustration - Misc Hardware\Windows Vista Illustration Icons\Generic User.png"/>
          <p:cNvPicPr>
            <a:picLocks noChangeAspect="1" noChangeArrowheads="1"/>
          </p:cNvPicPr>
          <p:nvPr/>
        </p:nvPicPr>
        <p:blipFill>
          <a:blip r:embed="rId3" cstate="print"/>
          <a:srcRect/>
          <a:stretch>
            <a:fillRect/>
          </a:stretch>
        </p:blipFill>
        <p:spPr bwMode="auto">
          <a:xfrm flipH="1">
            <a:off x="2424814" y="5410200"/>
            <a:ext cx="546986" cy="665672"/>
          </a:xfrm>
          <a:prstGeom prst="rect">
            <a:avLst/>
          </a:prstGeom>
          <a:noFill/>
        </p:spPr>
      </p:pic>
      <p:sp>
        <p:nvSpPr>
          <p:cNvPr id="74" name="Rounded Rectangle 73"/>
          <p:cNvSpPr/>
          <p:nvPr/>
        </p:nvSpPr>
        <p:spPr bwMode="auto">
          <a:xfrm>
            <a:off x="762000" y="2362200"/>
            <a:ext cx="2362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Azure</a:t>
            </a:r>
            <a:r>
              <a:rPr lang="en-US" sz="1600" dirty="0" smtClean="0">
                <a:solidFill>
                  <a:srgbClr val="FFFFFF"/>
                </a:solidFill>
              </a:rPr>
              <a:t> </a:t>
            </a:r>
            <a:r>
              <a:rPr lang="en-US" sz="1600" dirty="0" smtClean="0">
                <a:solidFill>
                  <a:srgbClr val="FFFFFF"/>
                </a:solidFill>
              </a:rPr>
              <a:t>Services Platform</a:t>
            </a:r>
          </a:p>
        </p:txBody>
      </p:sp>
      <p:sp>
        <p:nvSpPr>
          <p:cNvPr id="75" name="Rounded Rectangle 74"/>
          <p:cNvSpPr/>
          <p:nvPr/>
        </p:nvSpPr>
        <p:spPr bwMode="auto">
          <a:xfrm>
            <a:off x="2057400" y="1600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ISV Apps</a:t>
            </a:r>
          </a:p>
        </p:txBody>
      </p:sp>
      <p:sp>
        <p:nvSpPr>
          <p:cNvPr id="99" name="Rounded Rectangle 98"/>
          <p:cNvSpPr/>
          <p:nvPr/>
        </p:nvSpPr>
        <p:spPr bwMode="auto">
          <a:xfrm>
            <a:off x="914400" y="52578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Browser</a:t>
            </a:r>
          </a:p>
        </p:txBody>
      </p:sp>
      <p:sp>
        <p:nvSpPr>
          <p:cNvPr id="100" name="Rounded Rectangle 99"/>
          <p:cNvSpPr/>
          <p:nvPr/>
        </p:nvSpPr>
        <p:spPr bwMode="auto">
          <a:xfrm>
            <a:off x="914400" y="57150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Office</a:t>
            </a:r>
          </a:p>
        </p:txBody>
      </p:sp>
      <p:sp>
        <p:nvSpPr>
          <p:cNvPr id="101" name="Rounded Rectangle 100"/>
          <p:cNvSpPr/>
          <p:nvPr/>
        </p:nvSpPr>
        <p:spPr bwMode="auto">
          <a:xfrm>
            <a:off x="914400" y="61722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Apps</a:t>
            </a:r>
          </a:p>
        </p:txBody>
      </p:sp>
      <p:sp>
        <p:nvSpPr>
          <p:cNvPr id="113" name="Rounded Rectangle 112"/>
          <p:cNvSpPr/>
          <p:nvPr/>
        </p:nvSpPr>
        <p:spPr bwMode="auto">
          <a:xfrm>
            <a:off x="762000" y="1600200"/>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Enterprise</a:t>
            </a:r>
          </a:p>
          <a:p>
            <a:pPr algn="ctr" defTabSz="914099" fontAlgn="base">
              <a:spcBef>
                <a:spcPct val="0"/>
              </a:spcBef>
              <a:spcAft>
                <a:spcPct val="0"/>
              </a:spcAft>
            </a:pPr>
            <a:r>
              <a:rPr lang="en-US" sz="1600" dirty="0" smtClean="0">
                <a:solidFill>
                  <a:srgbClr val="FFFFFF"/>
                </a:solidFill>
              </a:rPr>
              <a:t>Apps</a:t>
            </a:r>
          </a:p>
        </p:txBody>
      </p:sp>
      <p:sp>
        <p:nvSpPr>
          <p:cNvPr id="123" name="Rounded Rectangle 122"/>
          <p:cNvSpPr/>
          <p:nvPr/>
        </p:nvSpPr>
        <p:spPr bwMode="auto">
          <a:xfrm>
            <a:off x="3276600" y="2362200"/>
            <a:ext cx="11430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4" name="Rounded Rectangle 43"/>
          <p:cNvSpPr/>
          <p:nvPr/>
        </p:nvSpPr>
        <p:spPr bwMode="auto">
          <a:xfrm>
            <a:off x="3276600" y="2362200"/>
            <a:ext cx="25146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1" name="Rounded Rectangle 40"/>
          <p:cNvSpPr/>
          <p:nvPr/>
        </p:nvSpPr>
        <p:spPr bwMode="auto">
          <a:xfrm>
            <a:off x="4419600" y="2438400"/>
            <a:ext cx="12954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Federation Gateway</a:t>
            </a:r>
          </a:p>
        </p:txBody>
      </p:sp>
      <p:sp>
        <p:nvSpPr>
          <p:cNvPr id="60" name="Rounded Rectangle 59"/>
          <p:cNvSpPr/>
          <p:nvPr/>
        </p:nvSpPr>
        <p:spPr bwMode="auto">
          <a:xfrm>
            <a:off x="3352800" y="2438400"/>
            <a:ext cx="9906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Live Identity Service</a:t>
            </a:r>
          </a:p>
        </p:txBody>
      </p:sp>
      <p:sp>
        <p:nvSpPr>
          <p:cNvPr id="45" name="Rounded Rectangle 44"/>
          <p:cNvSpPr/>
          <p:nvPr/>
        </p:nvSpPr>
        <p:spPr bwMode="auto">
          <a:xfrm>
            <a:off x="4343400" y="4495800"/>
            <a:ext cx="1295400" cy="16764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cxnSp>
        <p:nvCxnSpPr>
          <p:cNvPr id="46" name="Straight Arrow Connector 45"/>
          <p:cNvCxnSpPr>
            <a:stCxn id="45" idx="0"/>
            <a:endCxn id="41" idx="2"/>
          </p:cNvCxnSpPr>
          <p:nvPr/>
        </p:nvCxnSpPr>
        <p:spPr>
          <a:xfrm rot="5400000" flipH="1" flipV="1">
            <a:off x="4457700" y="3886200"/>
            <a:ext cx="1143000" cy="762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1" idx="0"/>
            <a:endCxn id="75" idx="3"/>
          </p:cNvCxnSpPr>
          <p:nvPr/>
        </p:nvCxnSpPr>
        <p:spPr>
          <a:xfrm rot="16200000" flipV="1">
            <a:off x="3829050" y="1200150"/>
            <a:ext cx="533400" cy="19431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bwMode="auto">
          <a:xfrm rot="5400000">
            <a:off x="7810500" y="6049419"/>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1" name="TextBox 60"/>
          <p:cNvSpPr txBox="1"/>
          <p:nvPr/>
        </p:nvSpPr>
        <p:spPr>
          <a:xfrm>
            <a:off x="5588579" y="6093023"/>
            <a:ext cx="871649" cy="307777"/>
          </a:xfrm>
          <a:prstGeom prst="rect">
            <a:avLst/>
          </a:prstGeom>
          <a:noFill/>
        </p:spPr>
        <p:txBody>
          <a:bodyPr wrap="none" rtlCol="0">
            <a:spAutoFit/>
          </a:bodyPr>
          <a:lstStyle/>
          <a:p>
            <a:pPr algn="ctr"/>
            <a:r>
              <a:rPr lang="en-US" sz="1400" dirty="0" smtClean="0"/>
              <a:t>Exchange</a:t>
            </a:r>
            <a:endParaRPr lang="en-US" sz="1400" dirty="0"/>
          </a:p>
        </p:txBody>
      </p:sp>
      <p:pic>
        <p:nvPicPr>
          <p:cNvPr id="62" name="Picture 10" descr="webServiceserver"/>
          <p:cNvPicPr>
            <a:picLocks noChangeAspect="1" noChangeArrowheads="1"/>
          </p:cNvPicPr>
          <p:nvPr/>
        </p:nvPicPr>
        <p:blipFill>
          <a:blip r:embed="rId4">
            <a:clrChange>
              <a:clrFrom>
                <a:srgbClr val="08369A"/>
              </a:clrFrom>
              <a:clrTo>
                <a:srgbClr val="08369A">
                  <a:alpha val="0"/>
                </a:srgbClr>
              </a:clrTo>
            </a:clrChange>
          </a:blip>
          <a:srcRect/>
          <a:stretch>
            <a:fillRect/>
          </a:stretch>
        </p:blipFill>
        <p:spPr bwMode="auto">
          <a:xfrm>
            <a:off x="5785680" y="5401719"/>
            <a:ext cx="533400" cy="692615"/>
          </a:xfrm>
          <a:prstGeom prst="rect">
            <a:avLst/>
          </a:prstGeom>
          <a:noFill/>
        </p:spPr>
      </p:pic>
      <p:sp>
        <p:nvSpPr>
          <p:cNvPr id="63" name="Rectangle 62"/>
          <p:cNvSpPr/>
          <p:nvPr/>
        </p:nvSpPr>
        <p:spPr bwMode="auto">
          <a:xfrm>
            <a:off x="73914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4" name="Rectangle 63"/>
          <p:cNvSpPr/>
          <p:nvPr/>
        </p:nvSpPr>
        <p:spPr bwMode="auto">
          <a:xfrm>
            <a:off x="7162800" y="5147459"/>
            <a:ext cx="533400" cy="1524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68" name="TextBox 67"/>
          <p:cNvSpPr txBox="1"/>
          <p:nvPr/>
        </p:nvSpPr>
        <p:spPr>
          <a:xfrm>
            <a:off x="6431736" y="6084542"/>
            <a:ext cx="815737" cy="307777"/>
          </a:xfrm>
          <a:prstGeom prst="rect">
            <a:avLst/>
          </a:prstGeom>
          <a:noFill/>
        </p:spPr>
        <p:txBody>
          <a:bodyPr wrap="none" rtlCol="0">
            <a:spAutoFit/>
          </a:bodyPr>
          <a:lstStyle/>
          <a:p>
            <a:pPr algn="ctr"/>
            <a:r>
              <a:rPr lang="en-US" sz="1400" dirty="0" smtClean="0"/>
              <a:t>ISV Apps</a:t>
            </a:r>
            <a:endParaRPr lang="en-US" sz="1400" dirty="0"/>
          </a:p>
        </p:txBody>
      </p:sp>
      <p:pic>
        <p:nvPicPr>
          <p:cNvPr id="69" name="Picture 10" descr="webServiceserver"/>
          <p:cNvPicPr>
            <a:picLocks noChangeAspect="1" noChangeArrowheads="1"/>
          </p:cNvPicPr>
          <p:nvPr/>
        </p:nvPicPr>
        <p:blipFill>
          <a:blip r:embed="rId4">
            <a:clrChange>
              <a:clrFrom>
                <a:srgbClr val="08369A"/>
              </a:clrFrom>
              <a:clrTo>
                <a:srgbClr val="08369A">
                  <a:alpha val="0"/>
                </a:srgbClr>
              </a:clrTo>
            </a:clrChange>
          </a:blip>
          <a:srcRect/>
          <a:stretch>
            <a:fillRect/>
          </a:stretch>
        </p:blipFill>
        <p:spPr bwMode="auto">
          <a:xfrm>
            <a:off x="6561672" y="5393238"/>
            <a:ext cx="533400" cy="692615"/>
          </a:xfrm>
          <a:prstGeom prst="rect">
            <a:avLst/>
          </a:prstGeom>
          <a:noFill/>
        </p:spPr>
      </p:pic>
      <p:sp>
        <p:nvSpPr>
          <p:cNvPr id="70" name="TextBox 69"/>
          <p:cNvSpPr txBox="1"/>
          <p:nvPr/>
        </p:nvSpPr>
        <p:spPr>
          <a:xfrm>
            <a:off x="7171272" y="6084542"/>
            <a:ext cx="976934" cy="307777"/>
          </a:xfrm>
          <a:prstGeom prst="rect">
            <a:avLst/>
          </a:prstGeom>
          <a:noFill/>
        </p:spPr>
        <p:txBody>
          <a:bodyPr wrap="none" rtlCol="0">
            <a:spAutoFit/>
          </a:bodyPr>
          <a:lstStyle/>
          <a:p>
            <a:pPr algn="ctr"/>
            <a:r>
              <a:rPr lang="en-US" sz="1400" dirty="0" smtClean="0"/>
              <a:t>SharePoint</a:t>
            </a:r>
            <a:endParaRPr lang="en-US" sz="1400" dirty="0"/>
          </a:p>
        </p:txBody>
      </p:sp>
      <p:pic>
        <p:nvPicPr>
          <p:cNvPr id="71" name="Picture 10" descr="webServiceserver"/>
          <p:cNvPicPr>
            <a:picLocks noChangeAspect="1" noChangeArrowheads="1"/>
          </p:cNvPicPr>
          <p:nvPr/>
        </p:nvPicPr>
        <p:blipFill>
          <a:blip r:embed="rId4">
            <a:clrChange>
              <a:clrFrom>
                <a:srgbClr val="08369A"/>
              </a:clrFrom>
              <a:clrTo>
                <a:srgbClr val="08369A">
                  <a:alpha val="0"/>
                </a:srgbClr>
              </a:clrTo>
            </a:clrChange>
          </a:blip>
          <a:srcRect/>
          <a:stretch>
            <a:fillRect/>
          </a:stretch>
        </p:blipFill>
        <p:spPr bwMode="auto">
          <a:xfrm>
            <a:off x="7399872" y="5393238"/>
            <a:ext cx="533400" cy="692615"/>
          </a:xfrm>
          <a:prstGeom prst="rect">
            <a:avLst/>
          </a:prstGeom>
          <a:noFill/>
        </p:spPr>
      </p:pic>
      <p:sp>
        <p:nvSpPr>
          <p:cNvPr id="72" name="Rounded Rectangle 71"/>
          <p:cNvSpPr/>
          <p:nvPr/>
        </p:nvSpPr>
        <p:spPr bwMode="auto">
          <a:xfrm>
            <a:off x="4343400" y="5334000"/>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73" name="Rounded Rectangle 72"/>
          <p:cNvSpPr/>
          <p:nvPr/>
        </p:nvSpPr>
        <p:spPr bwMode="auto">
          <a:xfrm>
            <a:off x="4419600" y="5452259"/>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Active</a:t>
            </a:r>
          </a:p>
          <a:p>
            <a:pPr algn="ctr" defTabSz="914099" fontAlgn="base">
              <a:spcBef>
                <a:spcPct val="0"/>
              </a:spcBef>
              <a:spcAft>
                <a:spcPct val="0"/>
              </a:spcAft>
            </a:pPr>
            <a:r>
              <a:rPr lang="en-US" sz="1600" dirty="0" smtClean="0">
                <a:solidFill>
                  <a:srgbClr val="FFFFFF"/>
                </a:solidFill>
              </a:rPr>
              <a:t>Directory</a:t>
            </a:r>
          </a:p>
        </p:txBody>
      </p:sp>
      <p:sp>
        <p:nvSpPr>
          <p:cNvPr id="77" name="TextBox 76"/>
          <p:cNvSpPr txBox="1"/>
          <p:nvPr/>
        </p:nvSpPr>
        <p:spPr>
          <a:xfrm>
            <a:off x="5698637" y="4781490"/>
            <a:ext cx="2683363" cy="400110"/>
          </a:xfrm>
          <a:prstGeom prst="rect">
            <a:avLst/>
          </a:prstGeom>
          <a:noFill/>
        </p:spPr>
        <p:txBody>
          <a:bodyPr wrap="none" rtlCol="0">
            <a:spAutoFit/>
          </a:bodyPr>
          <a:lstStyle/>
          <a:p>
            <a:pPr algn="ctr"/>
            <a:r>
              <a:rPr lang="en-US" sz="2000" b="1" dirty="0" smtClean="0"/>
              <a:t>Enterprise On-Premises</a:t>
            </a:r>
            <a:endParaRPr lang="en-US" b="1" dirty="0"/>
          </a:p>
        </p:txBody>
      </p:sp>
      <p:pic>
        <p:nvPicPr>
          <p:cNvPr id="78" name="Picture 8" descr="C:\Program Files\Microsoft Resource DVD Artwork\DVD_ART\Artwork_Imagery\HARDWARE_IMAGERY\Illustration - Misc Hardware\XML Icons\user business man.png"/>
          <p:cNvPicPr>
            <a:picLocks noChangeAspect="1" noChangeArrowheads="1"/>
          </p:cNvPicPr>
          <p:nvPr/>
        </p:nvPicPr>
        <p:blipFill>
          <a:blip r:embed="rId5" cstate="print"/>
          <a:srcRect/>
          <a:stretch>
            <a:fillRect/>
          </a:stretch>
        </p:blipFill>
        <p:spPr bwMode="auto">
          <a:xfrm>
            <a:off x="5202336" y="5943600"/>
            <a:ext cx="436464" cy="530401"/>
          </a:xfrm>
          <a:prstGeom prst="rect">
            <a:avLst/>
          </a:prstGeom>
          <a:noFill/>
        </p:spPr>
      </p:pic>
      <p:sp>
        <p:nvSpPr>
          <p:cNvPr id="42" name="Rounded Rectangle 41"/>
          <p:cNvSpPr/>
          <p:nvPr/>
        </p:nvSpPr>
        <p:spPr bwMode="auto">
          <a:xfrm>
            <a:off x="4419600" y="4572000"/>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a:t>
            </a:r>
          </a:p>
          <a:p>
            <a:pPr algn="ctr" defTabSz="914099" fontAlgn="base">
              <a:spcBef>
                <a:spcPct val="0"/>
              </a:spcBef>
              <a:spcAft>
                <a:spcPct val="0"/>
              </a:spcAft>
            </a:pPr>
            <a:r>
              <a:rPr lang="en-US" sz="1600" dirty="0" smtClean="0">
                <a:solidFill>
                  <a:srgbClr val="FFFFFF"/>
                </a:solidFill>
              </a:rPr>
              <a:t>Services</a:t>
            </a:r>
          </a:p>
          <a:p>
            <a:pPr algn="ctr" defTabSz="914099" fontAlgn="base">
              <a:spcBef>
                <a:spcPct val="0"/>
              </a:spcBef>
              <a:spcAft>
                <a:spcPct val="0"/>
              </a:spcAft>
            </a:pPr>
            <a:r>
              <a:rPr lang="en-US" sz="1600" dirty="0" smtClean="0">
                <a:solidFill>
                  <a:srgbClr val="FFFFFF"/>
                </a:solidFill>
              </a:rPr>
              <a:t>Connector</a:t>
            </a:r>
          </a:p>
        </p:txBody>
      </p:sp>
      <p:sp>
        <p:nvSpPr>
          <p:cNvPr id="56" name="Rectangle 55"/>
          <p:cNvSpPr/>
          <p:nvPr/>
        </p:nvSpPr>
        <p:spPr bwMode="auto">
          <a:xfrm rot="5400000">
            <a:off x="6965411" y="2705100"/>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58" name="Rounded Rectangle 57"/>
          <p:cNvSpPr/>
          <p:nvPr/>
        </p:nvSpPr>
        <p:spPr bwMode="auto">
          <a:xfrm>
            <a:off x="7086600" y="16002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Online</a:t>
            </a:r>
          </a:p>
        </p:txBody>
      </p:sp>
      <p:sp>
        <p:nvSpPr>
          <p:cNvPr id="65" name="Rounded Rectangle 64"/>
          <p:cNvSpPr/>
          <p:nvPr/>
        </p:nvSpPr>
        <p:spPr bwMode="auto">
          <a:xfrm>
            <a:off x="7086600" y="2362200"/>
            <a:ext cx="12192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400" dirty="0" smtClean="0">
                <a:solidFill>
                  <a:srgbClr val="FFFFFF"/>
                </a:solidFill>
              </a:rPr>
              <a:t>Microsoft Dynamics CRM Online</a:t>
            </a:r>
          </a:p>
        </p:txBody>
      </p:sp>
      <p:sp>
        <p:nvSpPr>
          <p:cNvPr id="66" name="Rounded Rectangle 65"/>
          <p:cNvSpPr/>
          <p:nvPr/>
        </p:nvSpPr>
        <p:spPr bwMode="auto">
          <a:xfrm>
            <a:off x="5867400" y="1600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Windows Live</a:t>
            </a:r>
          </a:p>
        </p:txBody>
      </p:sp>
      <p:sp>
        <p:nvSpPr>
          <p:cNvPr id="76" name="Rounded Rectangle 75"/>
          <p:cNvSpPr/>
          <p:nvPr/>
        </p:nvSpPr>
        <p:spPr bwMode="auto">
          <a:xfrm>
            <a:off x="5867400" y="2362200"/>
            <a:ext cx="10668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Live</a:t>
            </a:r>
          </a:p>
          <a:p>
            <a:pPr algn="ctr" defTabSz="914099" fontAlgn="base">
              <a:spcBef>
                <a:spcPct val="0"/>
              </a:spcBef>
              <a:spcAft>
                <a:spcPct val="0"/>
              </a:spcAft>
            </a:pPr>
            <a:r>
              <a:rPr lang="en-US" sz="1600" dirty="0" smtClean="0">
                <a:solidFill>
                  <a:srgbClr val="FFFFFF"/>
                </a:solidFill>
              </a:rPr>
              <a:t>Mesh</a:t>
            </a:r>
          </a:p>
        </p:txBody>
      </p:sp>
      <p:cxnSp>
        <p:nvCxnSpPr>
          <p:cNvPr id="52" name="Straight Arrow Connector 51"/>
          <p:cNvCxnSpPr>
            <a:stCxn id="41" idx="0"/>
            <a:endCxn id="65" idx="1"/>
          </p:cNvCxnSpPr>
          <p:nvPr/>
        </p:nvCxnSpPr>
        <p:spPr>
          <a:xfrm rot="16200000" flipH="1">
            <a:off x="5962650" y="1543050"/>
            <a:ext cx="228600" cy="20193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886200" y="1000780"/>
            <a:ext cx="1164101" cy="584775"/>
          </a:xfrm>
          <a:prstGeom prst="rect">
            <a:avLst/>
          </a:prstGeom>
          <a:noFill/>
        </p:spPr>
        <p:txBody>
          <a:bodyPr wrap="none" rtlCol="0">
            <a:spAutoFit/>
          </a:bodyPr>
          <a:lstStyle/>
          <a:p>
            <a:pPr algn="ctr"/>
            <a:r>
              <a:rPr lang="en-US" sz="3200" b="1" dirty="0" smtClean="0">
                <a:effectLst>
                  <a:outerShdw blurRad="38100" dist="38100" dir="2700000" algn="tl">
                    <a:srgbClr val="000000">
                      <a:alpha val="43137"/>
                    </a:srgbClr>
                  </a:outerShdw>
                </a:effectLst>
              </a:rPr>
              <a:t>Cloud</a:t>
            </a:r>
            <a:endParaRPr lang="en-US" sz="3200" b="1" dirty="0">
              <a:effectLst>
                <a:outerShdw blurRad="38100" dist="38100" dir="2700000" algn="tl">
                  <a:srgbClr val="000000">
                    <a:alpha val="43137"/>
                  </a:srgbClr>
                </a:outerShdw>
              </a:effectLs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ppt_x"/>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 calcmode="lin" valueType="num">
                                      <p:cBhvr additive="base">
                                        <p:cTn id="19" dur="500" fill="hold"/>
                                        <p:tgtEl>
                                          <p:spTgt spid="44"/>
                                        </p:tgtEl>
                                        <p:attrNameLst>
                                          <p:attrName>ppt_x</p:attrName>
                                        </p:attrNameLst>
                                      </p:cBhvr>
                                      <p:tavLst>
                                        <p:tav tm="0">
                                          <p:val>
                                            <p:strVal val="#ppt_x"/>
                                          </p:val>
                                        </p:tav>
                                        <p:tav tm="100000">
                                          <p:val>
                                            <p:strVal val="#ppt_x"/>
                                          </p:val>
                                        </p:tav>
                                      </p:tavLst>
                                    </p:anim>
                                    <p:anim calcmode="lin" valueType="num">
                                      <p:cBhvr additive="base">
                                        <p:cTn id="2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1" grpId="0" animBg="1"/>
      <p:bldP spid="45" grpId="0" animBg="1"/>
      <p:bldP spid="4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810696" cy="914400"/>
          </a:xfrm>
        </p:spPr>
        <p:txBody>
          <a:bodyPr/>
          <a:lstStyle/>
          <a:p>
            <a:r>
              <a:rPr smtClean="0"/>
              <a:t>Microsoft Services Connector</a:t>
            </a:r>
            <a:endParaRPr lang="en-US" dirty="0">
              <a:solidFill>
                <a:schemeClr val="accent1"/>
              </a:solidFill>
            </a:endParaRPr>
          </a:p>
        </p:txBody>
      </p:sp>
      <p:sp>
        <p:nvSpPr>
          <p:cNvPr id="3" name="Subtitle 2"/>
          <p:cNvSpPr>
            <a:spLocks noGrp="1"/>
          </p:cNvSpPr>
          <p:nvPr>
            <p:ph type="subTitle" idx="1"/>
          </p:nvPr>
        </p:nvSpPr>
        <p:spPr/>
        <p:txBody>
          <a:bodyPr/>
          <a:lstStyle/>
          <a:p>
            <a:r>
              <a:rPr lang="en-US" dirty="0" smtClean="0"/>
              <a:t>	Tore Sundelin</a:t>
            </a:r>
          </a:p>
          <a:p>
            <a:r>
              <a:rPr lang="en-US" sz="2400" dirty="0" smtClean="0"/>
              <a:t>	Program Manager</a:t>
            </a:r>
          </a:p>
          <a:p>
            <a:r>
              <a:rPr lang="en-US" sz="2400" dirty="0" smtClean="0"/>
              <a:t>	Identity Services</a:t>
            </a:r>
            <a:endParaRPr lang="en-US" sz="2400" dirty="0"/>
          </a:p>
        </p:txBody>
      </p:sp>
      <p:sp>
        <p:nvSpPr>
          <p:cNvPr id="4" name="Text Placeholder 3"/>
          <p:cNvSpPr>
            <a:spLocks noGrp="1"/>
          </p:cNvSpPr>
          <p:nvPr>
            <p:ph type="body" sz="quarter" idx="10"/>
          </p:nvPr>
        </p:nvSpPr>
        <p:spPr/>
        <p:txBody>
          <a:bodyPr/>
          <a:lstStyle/>
          <a:p>
            <a:r>
              <a:rPr lang="en-US" dirty="0" smtClean="0"/>
              <a:t>demo </a:t>
            </a:r>
            <a:endParaRPr lang="en-US" dirty="0"/>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normAutofit lnSpcReduction="10000"/>
          </a:bodyPr>
          <a:lstStyle/>
          <a:p>
            <a:pPr marL="393700" lvl="1" indent="-393700">
              <a:spcAft>
                <a:spcPts val="800"/>
              </a:spcAft>
              <a:buClr>
                <a:schemeClr val="tx1"/>
              </a:buClr>
            </a:pPr>
            <a:r>
              <a:rPr lang="en-US" dirty="0" smtClean="0">
                <a:solidFill>
                  <a:schemeClr val="tx1"/>
                </a:solidFill>
              </a:rPr>
              <a:t>Registers the enterprise’s domain, sign-in endpoint, and a token signing key</a:t>
            </a:r>
          </a:p>
          <a:p>
            <a:pPr marL="393700" lvl="1" indent="-393700">
              <a:spcAft>
                <a:spcPts val="800"/>
              </a:spcAft>
              <a:buClr>
                <a:schemeClr val="tx1"/>
              </a:buClr>
            </a:pPr>
            <a:r>
              <a:rPr lang="en-US" dirty="0" smtClean="0">
                <a:solidFill>
                  <a:schemeClr val="tx1"/>
                </a:solidFill>
              </a:rPr>
              <a:t>Enterprise asserts domain ownership via an SSL cert issued by a trusted CA </a:t>
            </a:r>
          </a:p>
          <a:p>
            <a:pPr marL="393700" lvl="1" indent="-393700">
              <a:spcAft>
                <a:spcPts val="800"/>
              </a:spcAft>
              <a:buClr>
                <a:schemeClr val="tx1"/>
              </a:buClr>
            </a:pPr>
            <a:r>
              <a:rPr lang="en-US" dirty="0" smtClean="0">
                <a:solidFill>
                  <a:schemeClr val="tx1"/>
                </a:solidFill>
              </a:rPr>
              <a:t>Ongoing management is automatic</a:t>
            </a:r>
            <a:endParaRPr lang="en-US" sz="2400" dirty="0" smtClean="0">
              <a:solidFill>
                <a:schemeClr val="tx1"/>
              </a:solidFill>
            </a:endParaRPr>
          </a:p>
          <a:p>
            <a:pPr>
              <a:buNone/>
            </a:pPr>
            <a:endParaRPr lang="en-US" sz="2400" dirty="0" smtClean="0">
              <a:solidFill>
                <a:schemeClr val="tx1"/>
              </a:solidFill>
            </a:endParaRPr>
          </a:p>
        </p:txBody>
      </p:sp>
      <p:sp>
        <p:nvSpPr>
          <p:cNvPr id="2" name="Title 1"/>
          <p:cNvSpPr>
            <a:spLocks noGrp="1"/>
          </p:cNvSpPr>
          <p:nvPr>
            <p:ph type="title"/>
          </p:nvPr>
        </p:nvSpPr>
        <p:spPr/>
        <p:txBody>
          <a:bodyPr/>
          <a:lstStyle/>
          <a:p>
            <a:r>
              <a:rPr smtClean="0"/>
              <a:t>What Happened:  Setup</a:t>
            </a:r>
            <a:endParaRPr lang="en-US" sz="3200" dirty="0"/>
          </a:p>
        </p:txBody>
      </p:sp>
      <p:sp>
        <p:nvSpPr>
          <p:cNvPr id="10" name="Rectangle 9"/>
          <p:cNvSpPr/>
          <p:nvPr/>
        </p:nvSpPr>
        <p:spPr bwMode="auto">
          <a:xfrm rot="5400000">
            <a:off x="2781300" y="6102222"/>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11" name="Rounded Rectangle 10"/>
          <p:cNvSpPr/>
          <p:nvPr/>
        </p:nvSpPr>
        <p:spPr bwMode="auto">
          <a:xfrm>
            <a:off x="990600" y="4724401"/>
            <a:ext cx="2362200" cy="16764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12" name="TextBox 11"/>
          <p:cNvSpPr txBox="1"/>
          <p:nvPr/>
        </p:nvSpPr>
        <p:spPr>
          <a:xfrm>
            <a:off x="1066800" y="4719936"/>
            <a:ext cx="1256754"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Enterprise</a:t>
            </a:r>
            <a:endParaRPr lang="en-US" dirty="0">
              <a:effectLst>
                <a:outerShdw blurRad="38100" dist="38100" dir="2700000" algn="tl">
                  <a:srgbClr val="000000">
                    <a:alpha val="43137"/>
                  </a:srgbClr>
                </a:outerShdw>
              </a:effectLst>
            </a:endParaRPr>
          </a:p>
        </p:txBody>
      </p:sp>
      <p:sp>
        <p:nvSpPr>
          <p:cNvPr id="13" name="TextBox 12"/>
          <p:cNvSpPr txBox="1"/>
          <p:nvPr/>
        </p:nvSpPr>
        <p:spPr>
          <a:xfrm>
            <a:off x="1219200" y="6077340"/>
            <a:ext cx="1143000" cy="307777"/>
          </a:xfrm>
          <a:prstGeom prst="rect">
            <a:avLst/>
          </a:prstGeom>
          <a:noFill/>
        </p:spPr>
        <p:txBody>
          <a:bodyPr wrap="square" rtlCol="0">
            <a:spAutoFit/>
          </a:bodyPr>
          <a:lstStyle/>
          <a:p>
            <a:pPr algn="ctr"/>
            <a:r>
              <a:rPr lang="en-US" sz="1400" dirty="0" smtClean="0">
                <a:effectLst>
                  <a:outerShdw blurRad="38100" dist="38100" dir="2700000" algn="tl">
                    <a:srgbClr val="000000">
                      <a:alpha val="43137"/>
                    </a:srgbClr>
                  </a:outerShdw>
                </a:effectLst>
              </a:rPr>
              <a:t>Server Apps</a:t>
            </a:r>
            <a:endParaRPr lang="en-US" sz="1400" dirty="0">
              <a:effectLst>
                <a:outerShdw blurRad="38100" dist="38100" dir="2700000" algn="tl">
                  <a:srgbClr val="000000">
                    <a:alpha val="43137"/>
                  </a:srgbClr>
                </a:outerShdw>
              </a:effectLst>
            </a:endParaRPr>
          </a:p>
        </p:txBody>
      </p:sp>
      <p:pic>
        <p:nvPicPr>
          <p:cNvPr id="14" name="Picture 10" descr="webServiceserver"/>
          <p:cNvPicPr>
            <a:picLocks noChangeAspect="1" noChangeArrowheads="1"/>
          </p:cNvPicPr>
          <p:nvPr/>
        </p:nvPicPr>
        <p:blipFill>
          <a:blip r:embed="rId3">
            <a:clrChange>
              <a:clrFrom>
                <a:srgbClr val="08369A"/>
              </a:clrFrom>
              <a:clrTo>
                <a:srgbClr val="08369A">
                  <a:alpha val="0"/>
                </a:srgbClr>
              </a:clrTo>
            </a:clrChange>
          </a:blip>
          <a:srcRect/>
          <a:stretch>
            <a:fillRect/>
          </a:stretch>
        </p:blipFill>
        <p:spPr bwMode="auto">
          <a:xfrm>
            <a:off x="1524000" y="5410201"/>
            <a:ext cx="533400" cy="692615"/>
          </a:xfrm>
          <a:prstGeom prst="rect">
            <a:avLst/>
          </a:prstGeom>
          <a:noFill/>
        </p:spPr>
      </p:pic>
      <p:sp>
        <p:nvSpPr>
          <p:cNvPr id="22" name="Rounded Rectangle 21"/>
          <p:cNvSpPr/>
          <p:nvPr/>
        </p:nvSpPr>
        <p:spPr bwMode="auto">
          <a:xfrm>
            <a:off x="2590800" y="5386803"/>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23" name="Rounded Rectangle 22"/>
          <p:cNvSpPr/>
          <p:nvPr/>
        </p:nvSpPr>
        <p:spPr bwMode="auto">
          <a:xfrm>
            <a:off x="2590800" y="4548603"/>
            <a:ext cx="1295400" cy="16764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24" name="Rounded Rectangle 23"/>
          <p:cNvSpPr/>
          <p:nvPr/>
        </p:nvSpPr>
        <p:spPr bwMode="auto">
          <a:xfrm>
            <a:off x="2667000" y="4624803"/>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a:t>
            </a:r>
          </a:p>
          <a:p>
            <a:pPr algn="ctr" defTabSz="914099" fontAlgn="base">
              <a:spcBef>
                <a:spcPct val="0"/>
              </a:spcBef>
              <a:spcAft>
                <a:spcPct val="0"/>
              </a:spcAft>
            </a:pPr>
            <a:r>
              <a:rPr lang="en-US" sz="1600" dirty="0" smtClean="0">
                <a:solidFill>
                  <a:srgbClr val="FFFFFF"/>
                </a:solidFill>
              </a:rPr>
              <a:t>Services</a:t>
            </a:r>
          </a:p>
          <a:p>
            <a:pPr algn="ctr" defTabSz="914099" fontAlgn="base">
              <a:spcBef>
                <a:spcPct val="0"/>
              </a:spcBef>
              <a:spcAft>
                <a:spcPct val="0"/>
              </a:spcAft>
            </a:pPr>
            <a:r>
              <a:rPr lang="en-US" sz="1600" dirty="0" smtClean="0">
                <a:solidFill>
                  <a:srgbClr val="FFFFFF"/>
                </a:solidFill>
              </a:rPr>
              <a:t>Connector</a:t>
            </a:r>
          </a:p>
        </p:txBody>
      </p:sp>
      <p:sp>
        <p:nvSpPr>
          <p:cNvPr id="25" name="Rounded Rectangle 24"/>
          <p:cNvSpPr/>
          <p:nvPr/>
        </p:nvSpPr>
        <p:spPr bwMode="auto">
          <a:xfrm>
            <a:off x="2667000" y="5505062"/>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Active</a:t>
            </a:r>
          </a:p>
          <a:p>
            <a:pPr algn="ctr" defTabSz="914099" fontAlgn="base">
              <a:spcBef>
                <a:spcPct val="0"/>
              </a:spcBef>
              <a:spcAft>
                <a:spcPct val="0"/>
              </a:spcAft>
            </a:pPr>
            <a:r>
              <a:rPr lang="en-US" sz="1600" dirty="0" smtClean="0">
                <a:solidFill>
                  <a:srgbClr val="FFFFFF"/>
                </a:solidFill>
              </a:rPr>
              <a:t>Directory</a:t>
            </a:r>
          </a:p>
        </p:txBody>
      </p:sp>
      <p:sp>
        <p:nvSpPr>
          <p:cNvPr id="29" name="Cloud 28"/>
          <p:cNvSpPr/>
          <p:nvPr/>
        </p:nvSpPr>
        <p:spPr bwMode="auto">
          <a:xfrm rot="272498">
            <a:off x="4245418" y="4211577"/>
            <a:ext cx="4446848" cy="1962937"/>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endParaRPr>
          </a:p>
        </p:txBody>
      </p:sp>
      <p:sp>
        <p:nvSpPr>
          <p:cNvPr id="30" name="Rounded Rectangle 29"/>
          <p:cNvSpPr/>
          <p:nvPr/>
        </p:nvSpPr>
        <p:spPr bwMode="auto">
          <a:xfrm>
            <a:off x="4876800" y="4548602"/>
            <a:ext cx="3125472" cy="1471197"/>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27" name="Rounded Rectangle 26"/>
          <p:cNvSpPr/>
          <p:nvPr/>
        </p:nvSpPr>
        <p:spPr bwMode="auto">
          <a:xfrm>
            <a:off x="4649472" y="4472403"/>
            <a:ext cx="14478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28" name="Rounded Rectangle 27"/>
          <p:cNvSpPr/>
          <p:nvPr/>
        </p:nvSpPr>
        <p:spPr bwMode="auto">
          <a:xfrm>
            <a:off x="4725672" y="4548603"/>
            <a:ext cx="12954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Federation Gateway</a:t>
            </a:r>
          </a:p>
        </p:txBody>
      </p:sp>
      <p:sp>
        <p:nvSpPr>
          <p:cNvPr id="31" name="TextBox 30"/>
          <p:cNvSpPr txBox="1"/>
          <p:nvPr/>
        </p:nvSpPr>
        <p:spPr>
          <a:xfrm>
            <a:off x="6150109" y="4538247"/>
            <a:ext cx="1850891"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Microsoft Cloud</a:t>
            </a:r>
            <a:endParaRPr lang="en-US" sz="2000" dirty="0">
              <a:effectLst>
                <a:outerShdw blurRad="38100" dist="38100" dir="2700000" algn="tl">
                  <a:srgbClr val="000000">
                    <a:alpha val="43137"/>
                  </a:srgbClr>
                </a:outerShdw>
              </a:effectLst>
            </a:endParaRPr>
          </a:p>
        </p:txBody>
      </p:sp>
      <p:cxnSp>
        <p:nvCxnSpPr>
          <p:cNvPr id="32" name="Straight Arrow Connector 31"/>
          <p:cNvCxnSpPr>
            <a:stCxn id="24" idx="3"/>
            <a:endCxn id="28" idx="1"/>
          </p:cNvCxnSpPr>
          <p:nvPr/>
        </p:nvCxnSpPr>
        <p:spPr>
          <a:xfrm flipV="1">
            <a:off x="3810000" y="5005803"/>
            <a:ext cx="915672" cy="2103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pic>
        <p:nvPicPr>
          <p:cNvPr id="17" name="Picture 8" descr="C:\Program Files\Microsoft Resource DVD Artwork\DVD_ART\Artwork_Imagery\HARDWARE_IMAGERY\Illustration - Misc Hardware\XML Icons\user business man.png"/>
          <p:cNvPicPr>
            <a:picLocks noChangeAspect="1" noChangeArrowheads="1"/>
          </p:cNvPicPr>
          <p:nvPr/>
        </p:nvPicPr>
        <p:blipFill>
          <a:blip r:embed="rId4" cstate="print"/>
          <a:srcRect/>
          <a:stretch>
            <a:fillRect/>
          </a:stretch>
        </p:blipFill>
        <p:spPr bwMode="auto">
          <a:xfrm>
            <a:off x="2438400" y="5791201"/>
            <a:ext cx="449959" cy="546801"/>
          </a:xfrm>
          <a:prstGeom prst="rect">
            <a:avLst/>
          </a:prstGeom>
          <a:noFill/>
        </p:spPr>
      </p:pic>
      <p:sp>
        <p:nvSpPr>
          <p:cNvPr id="33" name="Rounded Rectangle 32"/>
          <p:cNvSpPr/>
          <p:nvPr/>
        </p:nvSpPr>
        <p:spPr bwMode="auto">
          <a:xfrm>
            <a:off x="6478272" y="4953002"/>
            <a:ext cx="1294128"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Applications</a:t>
            </a:r>
          </a:p>
        </p:txBody>
      </p:sp>
      <p:sp>
        <p:nvSpPr>
          <p:cNvPr id="34" name="Rounded Rectangle 33"/>
          <p:cNvSpPr/>
          <p:nvPr/>
        </p:nvSpPr>
        <p:spPr bwMode="auto">
          <a:xfrm>
            <a:off x="6477000" y="5410202"/>
            <a:ext cx="1294128" cy="533398"/>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Developer Services</a:t>
            </a: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528050" cy="553998"/>
          </a:xfrm>
        </p:spPr>
        <p:txBody>
          <a:bodyPr/>
          <a:lstStyle/>
          <a:p>
            <a:r>
              <a:rPr smtClean="0"/>
              <a:t>What Happened:  Accessing Services</a:t>
            </a:r>
            <a:endParaRPr lang="en-US" sz="3200" dirty="0"/>
          </a:p>
        </p:txBody>
      </p:sp>
      <p:sp>
        <p:nvSpPr>
          <p:cNvPr id="3" name="Content Placeholder 2"/>
          <p:cNvSpPr>
            <a:spLocks noGrp="1"/>
          </p:cNvSpPr>
          <p:nvPr>
            <p:ph idx="1"/>
          </p:nvPr>
        </p:nvSpPr>
        <p:spPr>
          <a:xfrm>
            <a:off x="457200" y="1524000"/>
            <a:ext cx="8305800" cy="336118"/>
          </a:xfrm>
        </p:spPr>
        <p:txBody>
          <a:bodyPr/>
          <a:lstStyle/>
          <a:p>
            <a:pPr marL="393700" lvl="1" indent="-393700">
              <a:spcAft>
                <a:spcPts val="800"/>
              </a:spcAft>
              <a:buClr>
                <a:schemeClr val="tx1"/>
              </a:buClr>
            </a:pPr>
            <a:r>
              <a:rPr lang="en-US" dirty="0" smtClean="0">
                <a:solidFill>
                  <a:schemeClr val="tx1"/>
                </a:solidFill>
              </a:rPr>
              <a:t>User clicks link for service</a:t>
            </a:r>
          </a:p>
        </p:txBody>
      </p:sp>
      <p:sp>
        <p:nvSpPr>
          <p:cNvPr id="23" name="Rounded Rectangle 22"/>
          <p:cNvSpPr/>
          <p:nvPr/>
        </p:nvSpPr>
        <p:spPr bwMode="auto">
          <a:xfrm>
            <a:off x="685800" y="2743200"/>
            <a:ext cx="2514600" cy="1134519"/>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24" name="TextBox 23"/>
          <p:cNvSpPr txBox="1"/>
          <p:nvPr/>
        </p:nvSpPr>
        <p:spPr>
          <a:xfrm>
            <a:off x="762000" y="3505200"/>
            <a:ext cx="869341" cy="338554"/>
          </a:xfrm>
          <a:prstGeom prst="rect">
            <a:avLst/>
          </a:prstGeom>
          <a:noFill/>
        </p:spPr>
        <p:txBody>
          <a:bodyPr wrap="none" rtlCol="0">
            <a:spAutoFit/>
          </a:bodyPr>
          <a:lstStyle/>
          <a:p>
            <a:pPr algn="ctr"/>
            <a:r>
              <a:rPr lang="en-US" sz="1600" dirty="0" smtClean="0">
                <a:effectLst>
                  <a:outerShdw blurRad="38100" dist="38100" dir="2700000" algn="tl">
                    <a:srgbClr val="000000">
                      <a:alpha val="43137"/>
                    </a:srgbClr>
                  </a:outerShdw>
                </a:effectLst>
              </a:rPr>
              <a:t>Desktop</a:t>
            </a:r>
            <a:endParaRPr lang="en-US" sz="1600" dirty="0">
              <a:effectLst>
                <a:outerShdw blurRad="38100" dist="38100" dir="2700000" algn="tl">
                  <a:srgbClr val="000000">
                    <a:alpha val="43137"/>
                  </a:srgbClr>
                </a:outerShdw>
              </a:effectLst>
            </a:endParaRPr>
          </a:p>
        </p:txBody>
      </p:sp>
      <p:pic>
        <p:nvPicPr>
          <p:cNvPr id="25" name="Picture 24" descr="C:\Program Files\Microsoft Resource DVD Artwork\DVD_ART\Artwork_Imagery\HARDWARE_IMAGERY\Illustration - Misc Hardware\Windows Vista Illustration Icons\Generic User.png"/>
          <p:cNvPicPr>
            <a:picLocks noChangeAspect="1" noChangeArrowheads="1"/>
          </p:cNvPicPr>
          <p:nvPr/>
        </p:nvPicPr>
        <p:blipFill>
          <a:blip r:embed="rId3" cstate="print"/>
          <a:srcRect/>
          <a:stretch>
            <a:fillRect/>
          </a:stretch>
        </p:blipFill>
        <p:spPr bwMode="auto">
          <a:xfrm flipH="1">
            <a:off x="900814" y="2819400"/>
            <a:ext cx="546986" cy="665672"/>
          </a:xfrm>
          <a:prstGeom prst="rect">
            <a:avLst/>
          </a:prstGeom>
          <a:noFill/>
        </p:spPr>
      </p:pic>
      <p:sp>
        <p:nvSpPr>
          <p:cNvPr id="26" name="Rounded Rectangle 25"/>
          <p:cNvSpPr/>
          <p:nvPr/>
        </p:nvSpPr>
        <p:spPr bwMode="auto">
          <a:xfrm>
            <a:off x="1981200" y="26670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Browser</a:t>
            </a:r>
          </a:p>
        </p:txBody>
      </p:sp>
      <p:sp>
        <p:nvSpPr>
          <p:cNvPr id="27" name="Rounded Rectangle 26"/>
          <p:cNvSpPr/>
          <p:nvPr/>
        </p:nvSpPr>
        <p:spPr bwMode="auto">
          <a:xfrm>
            <a:off x="1981200" y="31242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Office</a:t>
            </a:r>
          </a:p>
        </p:txBody>
      </p:sp>
      <p:sp>
        <p:nvSpPr>
          <p:cNvPr id="28" name="Rounded Rectangle 27"/>
          <p:cNvSpPr/>
          <p:nvPr/>
        </p:nvSpPr>
        <p:spPr bwMode="auto">
          <a:xfrm>
            <a:off x="1981200" y="3581400"/>
            <a:ext cx="1066800"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Apps</a:t>
            </a:r>
          </a:p>
        </p:txBody>
      </p:sp>
      <p:sp>
        <p:nvSpPr>
          <p:cNvPr id="29" name="Rectangle 28"/>
          <p:cNvSpPr/>
          <p:nvPr/>
        </p:nvSpPr>
        <p:spPr bwMode="auto">
          <a:xfrm rot="5400000">
            <a:off x="2781300" y="5797421"/>
            <a:ext cx="228600" cy="304800"/>
          </a:xfrm>
          <a:prstGeom prst="rect">
            <a:avLst/>
          </a:prstGeom>
          <a:noFill/>
          <a:ln>
            <a:no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300" dirty="0" smtClean="0">
              <a:solidFill>
                <a:srgbClr val="FFFFFF"/>
              </a:solidFill>
            </a:endParaRPr>
          </a:p>
        </p:txBody>
      </p:sp>
      <p:sp>
        <p:nvSpPr>
          <p:cNvPr id="30" name="Rounded Rectangle 29"/>
          <p:cNvSpPr/>
          <p:nvPr/>
        </p:nvSpPr>
        <p:spPr bwMode="auto">
          <a:xfrm>
            <a:off x="990600" y="4419600"/>
            <a:ext cx="2590800" cy="1676400"/>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31" name="TextBox 30"/>
          <p:cNvSpPr txBox="1"/>
          <p:nvPr/>
        </p:nvSpPr>
        <p:spPr>
          <a:xfrm>
            <a:off x="1105446" y="4476690"/>
            <a:ext cx="1256754"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Enterprise</a:t>
            </a:r>
            <a:endParaRPr lang="en-US" sz="1600" dirty="0">
              <a:effectLst>
                <a:outerShdw blurRad="38100" dist="38100" dir="2700000" algn="tl">
                  <a:srgbClr val="000000">
                    <a:alpha val="43137"/>
                  </a:srgbClr>
                </a:outerShdw>
              </a:effectLst>
            </a:endParaRPr>
          </a:p>
        </p:txBody>
      </p:sp>
      <p:sp>
        <p:nvSpPr>
          <p:cNvPr id="32" name="TextBox 31"/>
          <p:cNvSpPr txBox="1"/>
          <p:nvPr/>
        </p:nvSpPr>
        <p:spPr>
          <a:xfrm>
            <a:off x="1219200" y="5772539"/>
            <a:ext cx="1143000" cy="307777"/>
          </a:xfrm>
          <a:prstGeom prst="rect">
            <a:avLst/>
          </a:prstGeom>
          <a:noFill/>
        </p:spPr>
        <p:txBody>
          <a:bodyPr wrap="square" rtlCol="0">
            <a:spAutoFit/>
          </a:bodyPr>
          <a:lstStyle/>
          <a:p>
            <a:pPr algn="ctr"/>
            <a:r>
              <a:rPr lang="en-US" sz="1400" dirty="0" smtClean="0">
                <a:effectLst>
                  <a:outerShdw blurRad="38100" dist="38100" dir="2700000" algn="tl">
                    <a:srgbClr val="000000">
                      <a:alpha val="43137"/>
                    </a:srgbClr>
                  </a:outerShdw>
                </a:effectLst>
              </a:rPr>
              <a:t>Server Apps</a:t>
            </a:r>
            <a:endParaRPr lang="en-US" sz="1400" dirty="0">
              <a:effectLst>
                <a:outerShdw blurRad="38100" dist="38100" dir="2700000" algn="tl">
                  <a:srgbClr val="000000">
                    <a:alpha val="43137"/>
                  </a:srgbClr>
                </a:outerShdw>
              </a:effectLst>
            </a:endParaRPr>
          </a:p>
        </p:txBody>
      </p:sp>
      <p:pic>
        <p:nvPicPr>
          <p:cNvPr id="33" name="Picture 10" descr="webServiceserver"/>
          <p:cNvPicPr>
            <a:picLocks noChangeAspect="1" noChangeArrowheads="1"/>
          </p:cNvPicPr>
          <p:nvPr/>
        </p:nvPicPr>
        <p:blipFill>
          <a:blip r:embed="rId4">
            <a:clrChange>
              <a:clrFrom>
                <a:srgbClr val="08369A"/>
              </a:clrFrom>
              <a:clrTo>
                <a:srgbClr val="08369A">
                  <a:alpha val="0"/>
                </a:srgbClr>
              </a:clrTo>
            </a:clrChange>
          </a:blip>
          <a:srcRect/>
          <a:stretch>
            <a:fillRect/>
          </a:stretch>
        </p:blipFill>
        <p:spPr bwMode="auto">
          <a:xfrm>
            <a:off x="1524000" y="5105400"/>
            <a:ext cx="533400" cy="692615"/>
          </a:xfrm>
          <a:prstGeom prst="rect">
            <a:avLst/>
          </a:prstGeom>
          <a:noFill/>
        </p:spPr>
      </p:pic>
      <p:sp>
        <p:nvSpPr>
          <p:cNvPr id="34" name="Rounded Rectangle 33"/>
          <p:cNvSpPr/>
          <p:nvPr/>
        </p:nvSpPr>
        <p:spPr bwMode="auto">
          <a:xfrm>
            <a:off x="2590800" y="5082002"/>
            <a:ext cx="1295400" cy="8382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35" name="Rounded Rectangle 34"/>
          <p:cNvSpPr/>
          <p:nvPr/>
        </p:nvSpPr>
        <p:spPr bwMode="auto">
          <a:xfrm>
            <a:off x="2590800" y="4243802"/>
            <a:ext cx="1295400" cy="16764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36" name="Rounded Rectangle 35"/>
          <p:cNvSpPr/>
          <p:nvPr/>
        </p:nvSpPr>
        <p:spPr bwMode="auto">
          <a:xfrm>
            <a:off x="2667000" y="4320002"/>
            <a:ext cx="1143000" cy="804059"/>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a:t>
            </a:r>
          </a:p>
          <a:p>
            <a:pPr algn="ctr" defTabSz="914099" fontAlgn="base">
              <a:spcBef>
                <a:spcPct val="0"/>
              </a:spcBef>
              <a:spcAft>
                <a:spcPct val="0"/>
              </a:spcAft>
            </a:pPr>
            <a:r>
              <a:rPr lang="en-US" sz="1600" dirty="0" smtClean="0">
                <a:solidFill>
                  <a:srgbClr val="FFFFFF"/>
                </a:solidFill>
              </a:rPr>
              <a:t>Services</a:t>
            </a:r>
          </a:p>
          <a:p>
            <a:pPr algn="ctr" defTabSz="914099" fontAlgn="base">
              <a:spcBef>
                <a:spcPct val="0"/>
              </a:spcBef>
              <a:spcAft>
                <a:spcPct val="0"/>
              </a:spcAft>
            </a:pPr>
            <a:r>
              <a:rPr lang="en-US" sz="1600" dirty="0" smtClean="0">
                <a:solidFill>
                  <a:srgbClr val="FFFFFF"/>
                </a:solidFill>
              </a:rPr>
              <a:t>Connector</a:t>
            </a:r>
          </a:p>
        </p:txBody>
      </p:sp>
      <p:sp>
        <p:nvSpPr>
          <p:cNvPr id="37" name="Rounded Rectangle 36"/>
          <p:cNvSpPr/>
          <p:nvPr/>
        </p:nvSpPr>
        <p:spPr bwMode="auto">
          <a:xfrm>
            <a:off x="2667000" y="5200261"/>
            <a:ext cx="1143000" cy="6096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Active</a:t>
            </a:r>
          </a:p>
          <a:p>
            <a:pPr algn="ctr" defTabSz="914099" fontAlgn="base">
              <a:spcBef>
                <a:spcPct val="0"/>
              </a:spcBef>
              <a:spcAft>
                <a:spcPct val="0"/>
              </a:spcAft>
            </a:pPr>
            <a:r>
              <a:rPr lang="en-US" sz="1600" dirty="0" smtClean="0">
                <a:solidFill>
                  <a:srgbClr val="FFFFFF"/>
                </a:solidFill>
              </a:rPr>
              <a:t>Directory</a:t>
            </a:r>
          </a:p>
        </p:txBody>
      </p:sp>
      <p:sp>
        <p:nvSpPr>
          <p:cNvPr id="38" name="Cloud 37"/>
          <p:cNvSpPr/>
          <p:nvPr/>
        </p:nvSpPr>
        <p:spPr bwMode="auto">
          <a:xfrm rot="272498">
            <a:off x="4254212" y="3907126"/>
            <a:ext cx="4446848" cy="1740794"/>
          </a:xfrm>
          <a:prstGeom prst="cloud">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smtClean="0">
              <a:ln>
                <a:noFill/>
              </a:ln>
              <a:solidFill>
                <a:schemeClr val="tx1"/>
              </a:solidFill>
              <a:effectLst/>
            </a:endParaRPr>
          </a:p>
        </p:txBody>
      </p:sp>
      <p:sp>
        <p:nvSpPr>
          <p:cNvPr id="39" name="Rounded Rectangle 38"/>
          <p:cNvSpPr/>
          <p:nvPr/>
        </p:nvSpPr>
        <p:spPr bwMode="auto">
          <a:xfrm>
            <a:off x="4876800" y="4243802"/>
            <a:ext cx="3125472" cy="1471198"/>
          </a:xfrm>
          <a:prstGeom prst="roundRect">
            <a:avLst/>
          </a:prstGeom>
          <a:solidFill>
            <a:schemeClr val="accent4">
              <a:alpha val="75000"/>
            </a:schemeClr>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a:p>
            <a:pPr algn="ctr" defTabSz="914099" fontAlgn="base">
              <a:spcBef>
                <a:spcPct val="0"/>
              </a:spcBef>
              <a:spcAft>
                <a:spcPct val="0"/>
              </a:spcAft>
            </a:pPr>
            <a:endParaRPr lang="en-US" dirty="0" smtClean="0">
              <a:solidFill>
                <a:srgbClr val="FFFFFF"/>
              </a:solidFill>
            </a:endParaRPr>
          </a:p>
        </p:txBody>
      </p:sp>
      <p:sp>
        <p:nvSpPr>
          <p:cNvPr id="41" name="Rounded Rectangle 40"/>
          <p:cNvSpPr/>
          <p:nvPr/>
        </p:nvSpPr>
        <p:spPr bwMode="auto">
          <a:xfrm>
            <a:off x="4649472" y="4167602"/>
            <a:ext cx="1447800" cy="1066800"/>
          </a:xfrm>
          <a:prstGeom prst="roundRect">
            <a:avLst/>
          </a:prstGeom>
          <a:solidFill>
            <a:schemeClr val="accent1"/>
          </a:solidFill>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1600" dirty="0" smtClean="0">
              <a:solidFill>
                <a:srgbClr val="FFFFFF"/>
              </a:solidFill>
            </a:endParaRPr>
          </a:p>
        </p:txBody>
      </p:sp>
      <p:sp>
        <p:nvSpPr>
          <p:cNvPr id="42" name="Rounded Rectangle 41"/>
          <p:cNvSpPr/>
          <p:nvPr/>
        </p:nvSpPr>
        <p:spPr bwMode="auto">
          <a:xfrm>
            <a:off x="4725672" y="4243802"/>
            <a:ext cx="1295400" cy="9144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Microsoft Federation Gateway</a:t>
            </a:r>
          </a:p>
        </p:txBody>
      </p:sp>
      <p:sp>
        <p:nvSpPr>
          <p:cNvPr id="43" name="TextBox 42"/>
          <p:cNvSpPr txBox="1"/>
          <p:nvPr/>
        </p:nvSpPr>
        <p:spPr>
          <a:xfrm>
            <a:off x="6172200" y="4233446"/>
            <a:ext cx="1850891" cy="400110"/>
          </a:xfrm>
          <a:prstGeom prst="rect">
            <a:avLst/>
          </a:prstGeom>
          <a:noFill/>
        </p:spPr>
        <p:txBody>
          <a:bodyPr wrap="none" rtlCol="0">
            <a:spAutoFit/>
          </a:bodyPr>
          <a:lstStyle/>
          <a:p>
            <a:pPr algn="ctr"/>
            <a:r>
              <a:rPr lang="en-US" sz="2000" dirty="0" smtClean="0">
                <a:effectLst>
                  <a:outerShdw blurRad="38100" dist="38100" dir="2700000" algn="tl">
                    <a:srgbClr val="000000">
                      <a:alpha val="43137"/>
                    </a:srgbClr>
                  </a:outerShdw>
                </a:effectLst>
              </a:rPr>
              <a:t>Microsoft Cloud</a:t>
            </a:r>
            <a:endParaRPr lang="en-US" sz="2000" dirty="0">
              <a:effectLst>
                <a:outerShdw blurRad="38100" dist="38100" dir="2700000" algn="tl">
                  <a:srgbClr val="000000">
                    <a:alpha val="43137"/>
                  </a:srgbClr>
                </a:outerShdw>
              </a:effectLst>
            </a:endParaRPr>
          </a:p>
        </p:txBody>
      </p:sp>
      <p:pic>
        <p:nvPicPr>
          <p:cNvPr id="45" name="Picture 8" descr="C:\Program Files\Microsoft Resource DVD Artwork\DVD_ART\Artwork_Imagery\HARDWARE_IMAGERY\Illustration - Misc Hardware\XML Icons\user business man.png"/>
          <p:cNvPicPr>
            <a:picLocks noChangeAspect="1" noChangeArrowheads="1"/>
          </p:cNvPicPr>
          <p:nvPr/>
        </p:nvPicPr>
        <p:blipFill>
          <a:blip r:embed="rId5" cstate="print"/>
          <a:srcRect/>
          <a:stretch>
            <a:fillRect/>
          </a:stretch>
        </p:blipFill>
        <p:spPr bwMode="auto">
          <a:xfrm>
            <a:off x="2438400" y="5486400"/>
            <a:ext cx="449959" cy="546801"/>
          </a:xfrm>
          <a:prstGeom prst="rect">
            <a:avLst/>
          </a:prstGeom>
          <a:noFill/>
        </p:spPr>
      </p:pic>
      <p:sp>
        <p:nvSpPr>
          <p:cNvPr id="49" name="Content Placeholder 2"/>
          <p:cNvSpPr txBox="1">
            <a:spLocks/>
          </p:cNvSpPr>
          <p:nvPr/>
        </p:nvSpPr>
        <p:spPr>
          <a:xfrm>
            <a:off x="457200" y="1524000"/>
            <a:ext cx="8305800" cy="336118"/>
          </a:xfrm>
          <a:prstGeom prst="rect">
            <a:avLst/>
          </a:prstGeom>
        </p:spPr>
        <p:txBody>
          <a:bodyPr vert="horz" wrap="square" lIns="0" tIns="0" rIns="0" bIns="0" rtlCol="0">
            <a:spAutoFit/>
          </a:bodyPr>
          <a:lstStyle/>
          <a:p>
            <a:pPr marL="393700" marR="0" lvl="1"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2800" b="0" i="0" u="none" strike="noStrike" kern="1200" cap="none" spc="0" normalizeH="0" baseline="0" noProof="0" dirty="0" smtClean="0">
                <a:ln>
                  <a:noFill/>
                </a:ln>
                <a:solidFill>
                  <a:schemeClr val="tx1"/>
                </a:solidFill>
                <a:effectLst/>
                <a:uLnTx/>
                <a:uFillTx/>
                <a:ea typeface="+mn-ea"/>
                <a:cs typeface="+mn-cs"/>
              </a:rPr>
              <a:t>Connector validates</a:t>
            </a:r>
            <a:r>
              <a:rPr kumimoji="0" lang="en-US" sz="2800" b="0" i="0" u="none" strike="noStrike" kern="1200" cap="none" spc="0" normalizeH="0" noProof="0" dirty="0" smtClean="0">
                <a:ln>
                  <a:noFill/>
                </a:ln>
                <a:solidFill>
                  <a:schemeClr val="tx1"/>
                </a:solidFill>
                <a:effectLst/>
                <a:uLnTx/>
                <a:uFillTx/>
                <a:ea typeface="+mn-ea"/>
                <a:cs typeface="+mn-cs"/>
              </a:rPr>
              <a:t> credentials with Active Directory</a:t>
            </a:r>
            <a:endParaRPr kumimoji="0" lang="en-US" sz="2800" b="0" i="0" u="none" strike="noStrike" kern="1200" cap="none" spc="0" normalizeH="0" baseline="0" noProof="0" dirty="0" smtClean="0">
              <a:ln>
                <a:noFill/>
              </a:ln>
              <a:solidFill>
                <a:schemeClr val="tx1"/>
              </a:solidFill>
              <a:effectLst/>
              <a:uLnTx/>
              <a:uFillTx/>
              <a:ea typeface="+mn-ea"/>
              <a:cs typeface="+mn-cs"/>
            </a:endParaRPr>
          </a:p>
        </p:txBody>
      </p:sp>
      <p:cxnSp>
        <p:nvCxnSpPr>
          <p:cNvPr id="53" name="Straight Arrow Connector 52"/>
          <p:cNvCxnSpPr>
            <a:stCxn id="26" idx="3"/>
            <a:endCxn id="42" idx="1"/>
          </p:cNvCxnSpPr>
          <p:nvPr/>
        </p:nvCxnSpPr>
        <p:spPr>
          <a:xfrm>
            <a:off x="3048000" y="2857500"/>
            <a:ext cx="1677672" cy="1843502"/>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26" idx="3"/>
            <a:endCxn id="36" idx="0"/>
          </p:cNvCxnSpPr>
          <p:nvPr/>
        </p:nvCxnSpPr>
        <p:spPr>
          <a:xfrm>
            <a:off x="3048000" y="2857500"/>
            <a:ext cx="190500" cy="1462502"/>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sp>
        <p:nvSpPr>
          <p:cNvPr id="59" name="Content Placeholder 2"/>
          <p:cNvSpPr txBox="1">
            <a:spLocks/>
          </p:cNvSpPr>
          <p:nvPr/>
        </p:nvSpPr>
        <p:spPr>
          <a:xfrm>
            <a:off x="457200" y="1524000"/>
            <a:ext cx="8305800" cy="683007"/>
          </a:xfrm>
          <a:prstGeom prst="rect">
            <a:avLst/>
          </a:prstGeom>
        </p:spPr>
        <p:txBody>
          <a:bodyPr vert="horz" wrap="square" lIns="0" tIns="0" rIns="0" bIns="0" rtlCol="0">
            <a:spAutoFit/>
          </a:bodyPr>
          <a:lstStyle/>
          <a:p>
            <a:pPr marL="393700" marR="0" lvl="1"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2800" b="0" i="0" u="none" strike="noStrike" kern="1200" cap="none" spc="0" normalizeH="0" baseline="0" noProof="0" dirty="0" smtClean="0">
                <a:ln>
                  <a:noFill/>
                </a:ln>
                <a:solidFill>
                  <a:schemeClr val="tx1"/>
                </a:solidFill>
                <a:effectLst/>
                <a:uLnTx/>
                <a:uFillTx/>
                <a:ea typeface="+mn-ea"/>
                <a:cs typeface="+mn-cs"/>
              </a:rPr>
              <a:t>Connector issues a</a:t>
            </a:r>
            <a:r>
              <a:rPr kumimoji="0" lang="en-US" sz="2800" b="0" i="0" u="none" strike="noStrike" kern="1200" cap="none" spc="0" normalizeH="0" noProof="0" dirty="0" smtClean="0">
                <a:ln>
                  <a:noFill/>
                </a:ln>
                <a:solidFill>
                  <a:schemeClr val="tx1"/>
                </a:solidFill>
                <a:effectLst/>
                <a:uLnTx/>
                <a:uFillTx/>
                <a:ea typeface="+mn-ea"/>
                <a:cs typeface="+mn-cs"/>
              </a:rPr>
              <a:t> login token and redirects to Microsoft Federation Gateway</a:t>
            </a:r>
            <a:endParaRPr kumimoji="0" lang="en-US" sz="2800" b="0" i="0" u="none" strike="noStrike" kern="1200" cap="none" spc="0" normalizeH="0" baseline="0" noProof="0" dirty="0" smtClean="0">
              <a:ln>
                <a:noFill/>
              </a:ln>
              <a:solidFill>
                <a:schemeClr val="tx1"/>
              </a:solidFill>
              <a:effectLst/>
              <a:uLnTx/>
              <a:uFillTx/>
              <a:ea typeface="+mn-ea"/>
              <a:cs typeface="+mn-cs"/>
            </a:endParaRPr>
          </a:p>
        </p:txBody>
      </p:sp>
      <p:sp>
        <p:nvSpPr>
          <p:cNvPr id="60" name="Content Placeholder 2"/>
          <p:cNvSpPr txBox="1">
            <a:spLocks/>
          </p:cNvSpPr>
          <p:nvPr/>
        </p:nvSpPr>
        <p:spPr>
          <a:xfrm>
            <a:off x="457200" y="1524000"/>
            <a:ext cx="8305800" cy="672235"/>
          </a:xfrm>
          <a:prstGeom prst="rect">
            <a:avLst/>
          </a:prstGeom>
        </p:spPr>
        <p:txBody>
          <a:bodyPr vert="horz" wrap="square" lIns="0" tIns="0" rIns="0" bIns="0" rtlCol="0">
            <a:spAutoFit/>
          </a:bodyPr>
          <a:lstStyle/>
          <a:p>
            <a:pPr marL="393700" marR="0" lvl="1"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2800" b="0" i="0" u="none" strike="noStrike" kern="1200" cap="none" spc="0" normalizeH="0" baseline="0" noProof="0" dirty="0" smtClean="0">
                <a:ln>
                  <a:noFill/>
                </a:ln>
                <a:solidFill>
                  <a:schemeClr val="tx1"/>
                </a:solidFill>
                <a:effectLst/>
                <a:uLnTx/>
                <a:uFillTx/>
                <a:ea typeface="+mn-ea"/>
                <a:cs typeface="+mn-cs"/>
              </a:rPr>
              <a:t>Federation Gateway validates token and</a:t>
            </a:r>
            <a:r>
              <a:rPr kumimoji="0" lang="en-US" sz="2800" b="0" i="0" u="none" strike="noStrike" kern="1200" cap="none" spc="0" normalizeH="0" noProof="0" dirty="0" smtClean="0">
                <a:ln>
                  <a:noFill/>
                </a:ln>
                <a:solidFill>
                  <a:schemeClr val="tx1"/>
                </a:solidFill>
                <a:effectLst/>
                <a:uLnTx/>
                <a:uFillTx/>
                <a:ea typeface="+mn-ea"/>
                <a:cs typeface="+mn-cs"/>
              </a:rPr>
              <a:t> transforms claims</a:t>
            </a:r>
            <a:endParaRPr kumimoji="0" lang="en-US" sz="2800" b="0" i="0" u="none" strike="noStrike" kern="1200" cap="none" spc="0" normalizeH="0" baseline="0" noProof="0" dirty="0" smtClean="0">
              <a:ln>
                <a:noFill/>
              </a:ln>
              <a:solidFill>
                <a:schemeClr val="tx1"/>
              </a:solidFill>
              <a:effectLst/>
              <a:uLnTx/>
              <a:uFillTx/>
              <a:ea typeface="+mn-ea"/>
              <a:cs typeface="+mn-cs"/>
            </a:endParaRPr>
          </a:p>
        </p:txBody>
      </p:sp>
      <p:cxnSp>
        <p:nvCxnSpPr>
          <p:cNvPr id="61" name="Straight Arrow Connector 60"/>
          <p:cNvCxnSpPr/>
          <p:nvPr/>
        </p:nvCxnSpPr>
        <p:spPr>
          <a:xfrm rot="16200000" flipV="1">
            <a:off x="2450099" y="3417301"/>
            <a:ext cx="1386302" cy="1905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sp>
        <p:nvSpPr>
          <p:cNvPr id="67" name="Content Placeholder 2"/>
          <p:cNvSpPr txBox="1">
            <a:spLocks/>
          </p:cNvSpPr>
          <p:nvPr/>
        </p:nvSpPr>
        <p:spPr>
          <a:xfrm>
            <a:off x="457200" y="1524000"/>
            <a:ext cx="8305800" cy="683007"/>
          </a:xfrm>
          <a:prstGeom prst="rect">
            <a:avLst/>
          </a:prstGeom>
        </p:spPr>
        <p:txBody>
          <a:bodyPr vert="horz" wrap="square" lIns="0" tIns="0" rIns="0" bIns="0" rtlCol="0">
            <a:spAutoFit/>
          </a:bodyPr>
          <a:lstStyle/>
          <a:p>
            <a:pPr marL="393700" marR="0" lvl="1"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2800" b="0" i="0" u="none" strike="noStrike" kern="1200" cap="none" spc="0" normalizeH="0" baseline="0" noProof="0" dirty="0" smtClean="0">
                <a:ln>
                  <a:noFill/>
                </a:ln>
                <a:solidFill>
                  <a:schemeClr val="tx1"/>
                </a:solidFill>
                <a:effectLst/>
                <a:uLnTx/>
                <a:uFillTx/>
                <a:ea typeface="+mn-ea"/>
                <a:cs typeface="+mn-cs"/>
              </a:rPr>
              <a:t>Federation Gateway issues </a:t>
            </a:r>
            <a:r>
              <a:rPr lang="en-US" sz="2800" dirty="0" smtClean="0"/>
              <a:t>service token and redirects to requested service</a:t>
            </a:r>
            <a:endParaRPr kumimoji="0" lang="en-US" sz="2800" b="0" i="0" u="none" strike="noStrike" kern="1200" cap="none" spc="0" normalizeH="0" baseline="0" noProof="0" dirty="0" smtClean="0">
              <a:ln>
                <a:noFill/>
              </a:ln>
              <a:solidFill>
                <a:schemeClr val="tx1"/>
              </a:solidFill>
              <a:effectLst/>
              <a:uLnTx/>
              <a:uFillTx/>
              <a:ea typeface="+mn-ea"/>
              <a:cs typeface="+mn-cs"/>
            </a:endParaRPr>
          </a:p>
        </p:txBody>
      </p:sp>
      <p:sp>
        <p:nvSpPr>
          <p:cNvPr id="68" name="Content Placeholder 2"/>
          <p:cNvSpPr txBox="1">
            <a:spLocks/>
          </p:cNvSpPr>
          <p:nvPr/>
        </p:nvSpPr>
        <p:spPr>
          <a:xfrm>
            <a:off x="457200" y="1524000"/>
            <a:ext cx="8305800" cy="346890"/>
          </a:xfrm>
          <a:prstGeom prst="rect">
            <a:avLst/>
          </a:prstGeom>
        </p:spPr>
        <p:txBody>
          <a:bodyPr vert="horz" wrap="square" lIns="0" tIns="0" rIns="0" bIns="0" rtlCol="0">
            <a:spAutoFit/>
          </a:bodyPr>
          <a:lstStyle/>
          <a:p>
            <a:pPr marL="393700" marR="0" lvl="1"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2800" b="0" i="0" u="none" strike="noStrike" kern="1200" cap="none" spc="0" normalizeH="0" baseline="0" noProof="0" dirty="0" smtClean="0">
                <a:ln>
                  <a:noFill/>
                </a:ln>
                <a:solidFill>
                  <a:schemeClr val="tx1"/>
                </a:solidFill>
                <a:effectLst/>
                <a:uLnTx/>
                <a:uFillTx/>
                <a:ea typeface="+mn-ea"/>
                <a:cs typeface="+mn-cs"/>
              </a:rPr>
              <a:t>User accesses</a:t>
            </a:r>
            <a:r>
              <a:rPr kumimoji="0" lang="en-US" sz="2800" b="0" i="0" u="none" strike="noStrike" kern="1200" cap="none" spc="0" normalizeH="0" noProof="0" dirty="0" smtClean="0">
                <a:ln>
                  <a:noFill/>
                </a:ln>
                <a:solidFill>
                  <a:schemeClr val="tx1"/>
                </a:solidFill>
                <a:effectLst/>
                <a:uLnTx/>
                <a:uFillTx/>
                <a:ea typeface="+mn-ea"/>
                <a:cs typeface="+mn-cs"/>
              </a:rPr>
              <a:t> service</a:t>
            </a:r>
            <a:endParaRPr kumimoji="0" lang="en-US" sz="2800" b="0" i="0" u="none" strike="noStrike" kern="1200" cap="none" spc="0" normalizeH="0" baseline="0" noProof="0" dirty="0" smtClean="0">
              <a:ln>
                <a:noFill/>
              </a:ln>
              <a:solidFill>
                <a:schemeClr val="tx1"/>
              </a:solidFill>
              <a:effectLst/>
              <a:uLnTx/>
              <a:uFillTx/>
              <a:ea typeface="+mn-ea"/>
              <a:cs typeface="+mn-cs"/>
            </a:endParaRPr>
          </a:p>
        </p:txBody>
      </p:sp>
      <p:cxnSp>
        <p:nvCxnSpPr>
          <p:cNvPr id="69" name="Straight Arrow Connector 68"/>
          <p:cNvCxnSpPr/>
          <p:nvPr/>
        </p:nvCxnSpPr>
        <p:spPr>
          <a:xfrm rot="10800000">
            <a:off x="2971800" y="2819400"/>
            <a:ext cx="1677672" cy="1843502"/>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endCxn id="46" idx="0"/>
          </p:cNvCxnSpPr>
          <p:nvPr/>
        </p:nvCxnSpPr>
        <p:spPr>
          <a:xfrm>
            <a:off x="3048000" y="2895602"/>
            <a:ext cx="4077336" cy="1752600"/>
          </a:xfrm>
          <a:prstGeom prst="straightConnector1">
            <a:avLst/>
          </a:prstGeom>
          <a:ln w="63500">
            <a:headEnd type="none"/>
            <a:tailEnd type="triangle"/>
          </a:ln>
        </p:spPr>
        <p:style>
          <a:lnRef idx="1">
            <a:schemeClr val="accent1"/>
          </a:lnRef>
          <a:fillRef idx="0">
            <a:schemeClr val="accent1"/>
          </a:fillRef>
          <a:effectRef idx="0">
            <a:schemeClr val="accent1"/>
          </a:effectRef>
          <a:fontRef idx="minor">
            <a:schemeClr val="tx1"/>
          </a:fontRef>
        </p:style>
      </p:cxnSp>
      <p:sp>
        <p:nvSpPr>
          <p:cNvPr id="44" name="Content Placeholder 2"/>
          <p:cNvSpPr txBox="1">
            <a:spLocks/>
          </p:cNvSpPr>
          <p:nvPr/>
        </p:nvSpPr>
        <p:spPr>
          <a:xfrm>
            <a:off x="457200" y="1524000"/>
            <a:ext cx="8305800" cy="672235"/>
          </a:xfrm>
          <a:prstGeom prst="rect">
            <a:avLst/>
          </a:prstGeom>
        </p:spPr>
        <p:txBody>
          <a:bodyPr vert="horz" wrap="square" lIns="0" tIns="0" rIns="0" bIns="0" rtlCol="0">
            <a:spAutoFit/>
          </a:bodyPr>
          <a:lstStyle/>
          <a:p>
            <a:pPr marL="393700" marR="0" lvl="1"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2800" b="0" i="0" u="none" strike="noStrike" kern="1200" cap="none" spc="0" normalizeH="0" baseline="0" noProof="0" dirty="0" smtClean="0">
                <a:ln>
                  <a:noFill/>
                </a:ln>
                <a:solidFill>
                  <a:schemeClr val="tx1"/>
                </a:solidFill>
                <a:effectLst/>
                <a:uLnTx/>
                <a:uFillTx/>
                <a:ea typeface="+mn-ea"/>
                <a:cs typeface="+mn-cs"/>
              </a:rPr>
              <a:t>User taken to Microsoft Services Connector for authentication</a:t>
            </a:r>
          </a:p>
        </p:txBody>
      </p:sp>
      <p:sp>
        <p:nvSpPr>
          <p:cNvPr id="46" name="Rounded Rectangle 45"/>
          <p:cNvSpPr/>
          <p:nvPr/>
        </p:nvSpPr>
        <p:spPr bwMode="auto">
          <a:xfrm>
            <a:off x="6478272" y="4648202"/>
            <a:ext cx="1294128" cy="381000"/>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Applications</a:t>
            </a:r>
          </a:p>
        </p:txBody>
      </p:sp>
      <p:sp>
        <p:nvSpPr>
          <p:cNvPr id="47" name="Rounded Rectangle 46"/>
          <p:cNvSpPr/>
          <p:nvPr/>
        </p:nvSpPr>
        <p:spPr bwMode="auto">
          <a:xfrm>
            <a:off x="6477000" y="5105402"/>
            <a:ext cx="1294128" cy="533398"/>
          </a:xfrm>
          <a:prstGeom prst="roundRect">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600" dirty="0" smtClean="0">
                <a:solidFill>
                  <a:srgbClr val="FFFFFF"/>
                </a:solidFill>
              </a:rPr>
              <a:t>Developer Services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hidden"/>
                                      </p:to>
                                    </p:set>
                                  </p:childTnLst>
                                </p:cTn>
                              </p:par>
                              <p:par>
                                <p:cTn id="11" presetID="1" presetClass="entr" presetSubtype="0" fill="hold" grpId="1" nodeType="withEffect">
                                  <p:stCondLst>
                                    <p:cond delay="0"/>
                                  </p:stCondLst>
                                  <p:childTnLst>
                                    <p:set>
                                      <p:cBhvr>
                                        <p:cTn id="12" dur="1" fill="hold">
                                          <p:stCondLst>
                                            <p:cond delay="0"/>
                                          </p:stCondLst>
                                        </p:cTn>
                                        <p:tgtEl>
                                          <p:spTgt spid="4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xEl>
                                              <p:pRg st="0" end="0"/>
                                            </p:txEl>
                                          </p:spTgt>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44">
                                            <p:txEl>
                                              <p:pRg st="0" end="0"/>
                                            </p:txEl>
                                          </p:spTgt>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5"/>
                                        </p:tgtEl>
                                        <p:attrNameLst>
                                          <p:attrName>style.visibility</p:attrName>
                                        </p:attrNameLst>
                                      </p:cBhvr>
                                      <p:to>
                                        <p:strVal val="hidden"/>
                                      </p:to>
                                    </p:set>
                                  </p:childTnLst>
                                </p:cTn>
                              </p:par>
                              <p:par>
                                <p:cTn id="23" presetID="6" presetClass="emph" presetSubtype="0" fill="hold" nodeType="withEffect">
                                  <p:stCondLst>
                                    <p:cond delay="0"/>
                                  </p:stCondLst>
                                  <p:childTnLst>
                                    <p:animScale>
                                      <p:cBhvr>
                                        <p:cTn id="24" dur="1000" fill="hold"/>
                                        <p:tgtEl>
                                          <p:spTgt spid="35"/>
                                        </p:tgtEl>
                                      </p:cBhvr>
                                      <p:by x="125000" y="125000"/>
                                    </p:animScale>
                                  </p:childTnLst>
                                </p:cTn>
                              </p:par>
                            </p:childTnLst>
                          </p:cTn>
                        </p:par>
                      </p:childTnLst>
                    </p:cTn>
                  </p:par>
                  <p:par>
                    <p:cTn id="25" fill="hold">
                      <p:stCondLst>
                        <p:cond delay="indefinite"/>
                      </p:stCondLst>
                      <p:childTnLst>
                        <p:par>
                          <p:cTn id="26" fill="hold">
                            <p:stCondLst>
                              <p:cond delay="0"/>
                            </p:stCondLst>
                            <p:childTnLst>
                              <p:par>
                                <p:cTn id="27" presetID="6" presetClass="emph" presetSubtype="0" fill="hold" grpId="0" nodeType="clickEffect">
                                  <p:stCondLst>
                                    <p:cond delay="0"/>
                                  </p:stCondLst>
                                  <p:childTnLst>
                                    <p:animScale>
                                      <p:cBhvr>
                                        <p:cTn id="28" dur="500" fill="hold"/>
                                        <p:tgtEl>
                                          <p:spTgt spid="35"/>
                                        </p:tgtEl>
                                      </p:cBhvr>
                                      <p:by x="80000" y="80000"/>
                                    </p:animScale>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49">
                                            <p:txEl>
                                              <p:pRg st="0" end="0"/>
                                            </p:txEl>
                                          </p:spTgt>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59">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59">
                                            <p:txEl>
                                              <p:pRg st="0" end="0"/>
                                            </p:txEl>
                                          </p:spTgt>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60">
                                            <p:txEl>
                                              <p:pRg st="0" end="0"/>
                                            </p:txEl>
                                          </p:spTgt>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61"/>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53"/>
                                        </p:tgtEl>
                                        <p:attrNameLst>
                                          <p:attrName>style.visibility</p:attrName>
                                        </p:attrNameLst>
                                      </p:cBhvr>
                                      <p:to>
                                        <p:strVal val="hidden"/>
                                      </p:to>
                                    </p:set>
                                  </p:childTnLst>
                                </p:cTn>
                              </p:par>
                              <p:par>
                                <p:cTn id="49" presetID="6" presetClass="emph" presetSubtype="0" fill="hold" grpId="0" nodeType="withEffect">
                                  <p:stCondLst>
                                    <p:cond delay="0"/>
                                  </p:stCondLst>
                                  <p:childTnLst>
                                    <p:animScale>
                                      <p:cBhvr>
                                        <p:cTn id="50" dur="500" fill="hold"/>
                                        <p:tgtEl>
                                          <p:spTgt spid="41"/>
                                        </p:tgtEl>
                                      </p:cBhvr>
                                      <p:by x="125000" y="125000"/>
                                    </p:animScale>
                                  </p:childTnLst>
                                </p:cTn>
                              </p:par>
                            </p:childTnLst>
                          </p:cTn>
                        </p:par>
                      </p:childTnLst>
                    </p:cTn>
                  </p:par>
                  <p:par>
                    <p:cTn id="51" fill="hold">
                      <p:stCondLst>
                        <p:cond delay="indefinite"/>
                      </p:stCondLst>
                      <p:childTnLst>
                        <p:par>
                          <p:cTn id="52" fill="hold">
                            <p:stCondLst>
                              <p:cond delay="0"/>
                            </p:stCondLst>
                            <p:childTnLst>
                              <p:par>
                                <p:cTn id="53" presetID="6" presetClass="emph" presetSubtype="0" fill="hold" grpId="1" nodeType="clickEffect">
                                  <p:stCondLst>
                                    <p:cond delay="0"/>
                                  </p:stCondLst>
                                  <p:childTnLst>
                                    <p:animScale>
                                      <p:cBhvr>
                                        <p:cTn id="54" dur="500" fill="hold"/>
                                        <p:tgtEl>
                                          <p:spTgt spid="41"/>
                                        </p:tgtEl>
                                      </p:cBhvr>
                                      <p:by x="80000" y="80000"/>
                                    </p:animScale>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60">
                                            <p:txEl>
                                              <p:pRg st="0" end="0"/>
                                            </p:txEl>
                                          </p:spTgt>
                                        </p:tgtEl>
                                        <p:attrNameLst>
                                          <p:attrName>style.visibility</p:attrName>
                                        </p:attrNameLst>
                                      </p:cBhvr>
                                      <p:to>
                                        <p:strVal val="hidden"/>
                                      </p:to>
                                    </p:set>
                                  </p:childTnLst>
                                </p:cTn>
                              </p:par>
                              <p:par>
                                <p:cTn id="59" presetID="1" presetClass="entr" presetSubtype="0" fill="hold" grpId="0" nodeType="withEffect">
                                  <p:stCondLst>
                                    <p:cond delay="0"/>
                                  </p:stCondLst>
                                  <p:childTnLst>
                                    <p:set>
                                      <p:cBhvr>
                                        <p:cTn id="60" dur="1" fill="hold">
                                          <p:stCondLst>
                                            <p:cond delay="0"/>
                                          </p:stCondLst>
                                        </p:cTn>
                                        <p:tgtEl>
                                          <p:spTgt spid="67">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67">
                                            <p:txEl>
                                              <p:pRg st="0" end="0"/>
                                            </p:txEl>
                                          </p:spTgt>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68">
                                            <p:txEl>
                                              <p:pRg st="0" end="0"/>
                                            </p:txEl>
                                          </p:spTgt>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35" grpId="0" animBg="1"/>
      <p:bldP spid="41" grpId="0" animBg="1"/>
      <p:bldP spid="41" grpId="1" animBg="1"/>
      <p:bldP spid="49" grpId="0" build="p"/>
      <p:bldP spid="60" grpId="0" build="p"/>
      <p:bldP spid="67" grpId="0" build="p"/>
      <p:bldP spid="68" grpId="0" build="p"/>
      <p:bldP spid="44" grpId="0" build="p"/>
      <p:bldP spid="44" grpI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4353884"/>
          </a:xfrm>
        </p:spPr>
        <p:txBody>
          <a:bodyPr/>
          <a:lstStyle/>
          <a:p>
            <a:r>
              <a:rPr lang="en-US" dirty="0" smtClean="0">
                <a:solidFill>
                  <a:schemeClr val="tx1"/>
                </a:solidFill>
              </a:rPr>
              <a:t>Businesses federate once to connect to any service</a:t>
            </a:r>
          </a:p>
          <a:p>
            <a:endParaRPr lang="en-US" dirty="0" smtClean="0">
              <a:solidFill>
                <a:schemeClr val="tx1"/>
              </a:solidFill>
            </a:endParaRPr>
          </a:p>
          <a:p>
            <a:r>
              <a:rPr lang="en-US" dirty="0" smtClean="0">
                <a:solidFill>
                  <a:schemeClr val="tx1"/>
                </a:solidFill>
              </a:rPr>
              <a:t>Services federate once to connect to any business</a:t>
            </a:r>
          </a:p>
          <a:p>
            <a:endParaRPr lang="en-US" dirty="0" smtClean="0">
              <a:solidFill>
                <a:schemeClr val="tx1"/>
              </a:solidFill>
            </a:endParaRPr>
          </a:p>
          <a:p>
            <a:r>
              <a:rPr lang="en-US" dirty="0" smtClean="0">
                <a:solidFill>
                  <a:schemeClr val="tx1"/>
                </a:solidFill>
              </a:rPr>
              <a:t>Hub and spoke model abstracts complexity:</a:t>
            </a:r>
          </a:p>
          <a:p>
            <a:pPr lvl="1"/>
            <a:r>
              <a:rPr lang="en-US" dirty="0" smtClean="0">
                <a:solidFill>
                  <a:schemeClr val="tx1"/>
                </a:solidFill>
              </a:rPr>
              <a:t>Endpoint changes, key rollovers, protocol changes, etc. </a:t>
            </a:r>
          </a:p>
        </p:txBody>
      </p:sp>
      <p:sp>
        <p:nvSpPr>
          <p:cNvPr id="2" name="Title 1"/>
          <p:cNvSpPr>
            <a:spLocks noGrp="1"/>
          </p:cNvSpPr>
          <p:nvPr>
            <p:ph type="title"/>
          </p:nvPr>
        </p:nvSpPr>
        <p:spPr>
          <a:xfrm>
            <a:off x="387054" y="152400"/>
            <a:ext cx="8375946" cy="498598"/>
          </a:xfrm>
        </p:spPr>
        <p:txBody>
          <a:bodyPr/>
          <a:lstStyle/>
          <a:p>
            <a:r>
              <a:rPr sz="3600" smtClean="0"/>
              <a:t>Drill Down:  Microsoft Federation Gateway</a:t>
            </a:r>
            <a:endParaRPr lang="en-US" sz="3600" dirty="0"/>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2995564"/>
          </a:xfrm>
        </p:spPr>
        <p:txBody>
          <a:bodyPr/>
          <a:lstStyle/>
          <a:p>
            <a:r>
              <a:rPr lang="en-US" sz="4000" dirty="0" smtClean="0">
                <a:solidFill>
                  <a:schemeClr val="tx1"/>
                </a:solidFill>
              </a:rPr>
              <a:t>For businesses:</a:t>
            </a:r>
          </a:p>
          <a:p>
            <a:pPr lvl="1"/>
            <a:r>
              <a:rPr lang="en-US" sz="3200" dirty="0" smtClean="0">
                <a:solidFill>
                  <a:schemeClr val="tx1"/>
                </a:solidFill>
              </a:rPr>
              <a:t>Microsoft Services Connector, “Geneva” </a:t>
            </a:r>
          </a:p>
          <a:p>
            <a:pPr lvl="1"/>
            <a:r>
              <a:rPr lang="en-US" sz="3200" dirty="0" smtClean="0">
                <a:solidFill>
                  <a:schemeClr val="accent3"/>
                </a:solidFill>
              </a:rPr>
              <a:t>Works for businesses without AD</a:t>
            </a:r>
          </a:p>
          <a:p>
            <a:pPr lvl="1"/>
            <a:r>
              <a:rPr lang="en-US" sz="3200" dirty="0" smtClean="0">
                <a:solidFill>
                  <a:schemeClr val="tx1"/>
                </a:solidFill>
              </a:rPr>
              <a:t>Protocols: </a:t>
            </a:r>
            <a:r>
              <a:rPr lang="en-US" sz="3200" dirty="0" smtClean="0"/>
              <a:t>WS-*, </a:t>
            </a:r>
            <a:r>
              <a:rPr lang="en-US" sz="3200" dirty="0" smtClean="0">
                <a:solidFill>
                  <a:schemeClr val="accent4"/>
                </a:solidFill>
              </a:rPr>
              <a:t>SAML</a:t>
            </a:r>
          </a:p>
          <a:p>
            <a:pPr lvl="1"/>
            <a:r>
              <a:rPr lang="en-US" sz="3200" dirty="0" smtClean="0">
                <a:solidFill>
                  <a:schemeClr val="tx1"/>
                </a:solidFill>
              </a:rPr>
              <a:t>Tokens: SAML</a:t>
            </a:r>
          </a:p>
          <a:p>
            <a:pPr lvl="1"/>
            <a:endParaRPr lang="en-US" sz="3200" dirty="0" smtClean="0">
              <a:solidFill>
                <a:schemeClr val="tx1"/>
              </a:solidFill>
            </a:endParaRPr>
          </a:p>
        </p:txBody>
      </p:sp>
      <p:sp>
        <p:nvSpPr>
          <p:cNvPr id="2" name="Title 1"/>
          <p:cNvSpPr>
            <a:spLocks noGrp="1"/>
          </p:cNvSpPr>
          <p:nvPr>
            <p:ph type="title"/>
          </p:nvPr>
        </p:nvSpPr>
        <p:spPr>
          <a:xfrm>
            <a:off x="387054" y="152400"/>
            <a:ext cx="8375946" cy="498598"/>
          </a:xfrm>
        </p:spPr>
        <p:txBody>
          <a:bodyPr/>
          <a:lstStyle/>
          <a:p>
            <a:r>
              <a:rPr sz="3600" smtClean="0"/>
              <a:t>Drill Down:  Microsoft Federation Gateway </a:t>
            </a:r>
            <a:endParaRPr lang="en-US" sz="3600" dirty="0"/>
          </a:p>
        </p:txBody>
      </p:sp>
      <p:sp>
        <p:nvSpPr>
          <p:cNvPr id="4" name="Content Placeholder 2"/>
          <p:cNvSpPr txBox="1">
            <a:spLocks/>
          </p:cNvSpPr>
          <p:nvPr/>
        </p:nvSpPr>
        <p:spPr>
          <a:xfrm>
            <a:off x="533400" y="4038600"/>
            <a:ext cx="8305800" cy="2537618"/>
          </a:xfrm>
          <a:prstGeom prst="rect">
            <a:avLst/>
          </a:prstGeom>
        </p:spPr>
        <p:txBody>
          <a:bodyPr vert="horz" wrap="square" lIns="0" tIns="0" rIns="0" bIns="0" rtlCol="0">
            <a:spAutoFit/>
          </a:bodyPr>
          <a:lstStyle/>
          <a:p>
            <a:pPr marL="801688" marR="0" lvl="1" indent="-407988" algn="l" defTabSz="914363" rtl="0" eaLnBrk="1" fontAlgn="auto" latinLnBrk="0" hangingPunct="1">
              <a:lnSpc>
                <a:spcPct val="78000"/>
              </a:lnSpc>
              <a:spcBef>
                <a:spcPct val="20000"/>
              </a:spcBef>
              <a:spcAft>
                <a:spcPts val="0"/>
              </a:spcAft>
              <a:buClr>
                <a:srgbClr val="969696"/>
              </a:buClr>
              <a:buSzPct val="80000"/>
              <a:buFont typeface="Wingdings" pitchFamily="2" charset="2"/>
              <a:buChar char="l"/>
              <a:tabLst/>
              <a:defRPr/>
            </a:pP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a:p>
            <a:pPr marL="393700" marR="0" lvl="0" indent="-393700" algn="l" defTabSz="914363" rtl="0" eaLnBrk="1" fontAlgn="auto" latinLnBrk="0" hangingPunct="1">
              <a:lnSpc>
                <a:spcPct val="78000"/>
              </a:lnSpc>
              <a:spcBef>
                <a:spcPct val="20000"/>
              </a:spcBef>
              <a:spcAft>
                <a:spcPts val="800"/>
              </a:spcAft>
              <a:buClr>
                <a:schemeClr val="tx1"/>
              </a:buClr>
              <a:buSzPct val="80000"/>
              <a:buFont typeface="Wingdings" pitchFamily="2" charset="2"/>
              <a:buChar char="l"/>
              <a:tabLst/>
              <a:defRPr/>
            </a:pPr>
            <a:r>
              <a:rPr kumimoji="0" lang="en-US" sz="4000" b="0" i="0" u="none" strike="noStrike" kern="1200" cap="none" spc="0" normalizeH="0" baseline="0" noProof="0" dirty="0" smtClean="0">
                <a:ln>
                  <a:noFill/>
                </a:ln>
                <a:solidFill>
                  <a:schemeClr val="tx1"/>
                </a:solidFill>
                <a:effectLst/>
                <a:uLnTx/>
                <a:uFillTx/>
                <a:latin typeface="+mn-lt"/>
                <a:ea typeface="+mn-ea"/>
                <a:cs typeface="+mn-cs"/>
              </a:rPr>
              <a:t>For relying services: </a:t>
            </a:r>
          </a:p>
          <a:p>
            <a:pPr marL="801688" marR="0" lvl="1" indent="-407988" algn="l" defTabSz="914363" rtl="0" eaLnBrk="1" fontAlgn="auto" latinLnBrk="0" hangingPunct="1">
              <a:lnSpc>
                <a:spcPct val="78000"/>
              </a:lnSpc>
              <a:spcBef>
                <a:spcPct val="20000"/>
              </a:spcBef>
              <a:spcAft>
                <a:spcPts val="0"/>
              </a:spcAft>
              <a:buClr>
                <a:srgbClr val="969696"/>
              </a:buClr>
              <a:buSzPct val="80000"/>
              <a:buFont typeface="Wingdings" pitchFamily="2" charset="2"/>
              <a:buChar char="l"/>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Frameworks:  .NET, “Geneva”, Live</a:t>
            </a:r>
          </a:p>
          <a:p>
            <a:pPr marL="801688" marR="0" lvl="1" indent="-407988" algn="l" defTabSz="914363" rtl="0" eaLnBrk="1" fontAlgn="auto" latinLnBrk="0" hangingPunct="1">
              <a:lnSpc>
                <a:spcPct val="78000"/>
              </a:lnSpc>
              <a:spcBef>
                <a:spcPct val="20000"/>
              </a:spcBef>
              <a:spcAft>
                <a:spcPts val="0"/>
              </a:spcAft>
              <a:buClr>
                <a:srgbClr val="969696"/>
              </a:buClr>
              <a:buSzPct val="80000"/>
              <a:buFont typeface="Wingdings" pitchFamily="2" charset="2"/>
              <a:buChar char="l"/>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Messaging:  </a:t>
            </a: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WS-*, </a:t>
            </a:r>
            <a:r>
              <a:rPr kumimoji="0" lang="en-US" sz="3200" b="0" i="0" u="none" strike="noStrike" kern="1200" cap="none" spc="0" normalizeH="0" baseline="0" noProof="0" dirty="0" smtClean="0">
                <a:ln>
                  <a:noFill/>
                </a:ln>
                <a:solidFill>
                  <a:schemeClr val="accent4"/>
                </a:solidFill>
                <a:effectLst/>
                <a:uLnTx/>
                <a:uFillTx/>
                <a:latin typeface="+mn-lt"/>
                <a:ea typeface="+mn-ea"/>
                <a:cs typeface="+mn-cs"/>
              </a:rPr>
              <a:t>SAML </a:t>
            </a: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 </a:t>
            </a:r>
            <a:r>
              <a:rPr lang="en-US" sz="3200" dirty="0" smtClean="0">
                <a:gradFill>
                  <a:gsLst>
                    <a:gs pos="0">
                      <a:schemeClr val="tx1"/>
                    </a:gs>
                    <a:gs pos="86000">
                      <a:schemeClr val="tx1"/>
                    </a:gs>
                  </a:gsLst>
                  <a:lin ang="5400000" scaled="0"/>
                </a:gradFill>
              </a:rPr>
              <a:t>Live</a:t>
            </a:r>
            <a:endPar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endParaRPr>
          </a:p>
          <a:p>
            <a:pPr marL="801688" marR="0" lvl="1" indent="-407988" algn="l" defTabSz="914363" rtl="0" eaLnBrk="1" fontAlgn="auto" latinLnBrk="0" hangingPunct="1">
              <a:lnSpc>
                <a:spcPct val="78000"/>
              </a:lnSpc>
              <a:spcBef>
                <a:spcPct val="20000"/>
              </a:spcBef>
              <a:spcAft>
                <a:spcPts val="0"/>
              </a:spcAft>
              <a:buClr>
                <a:srgbClr val="969696"/>
              </a:buClr>
              <a:buSzPct val="80000"/>
              <a:buFont typeface="Wingdings" pitchFamily="2" charset="2"/>
              <a:buChar char="l"/>
              <a:tabLst/>
              <a:defRPr/>
            </a:pPr>
            <a:r>
              <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rPr>
              <a:t>Tokens: SAML, </a:t>
            </a:r>
            <a:r>
              <a:rPr lang="en-US" sz="3200" dirty="0" smtClean="0">
                <a:gradFill>
                  <a:gsLst>
                    <a:gs pos="0">
                      <a:schemeClr val="tx1"/>
                    </a:gs>
                    <a:gs pos="86000">
                      <a:schemeClr val="tx1"/>
                    </a:gs>
                  </a:gsLst>
                  <a:lin ang="5400000" scaled="0"/>
                </a:gradFill>
              </a:rPr>
              <a:t>Live</a:t>
            </a:r>
            <a:endParaRPr kumimoji="0" lang="en-US" sz="3200" b="0" i="0" u="none" strike="noStrike" kern="1200" cap="none" spc="0" normalizeH="0" baseline="0" noProof="0" dirty="0" smtClean="0">
              <a:ln>
                <a:noFill/>
              </a:ln>
              <a:gradFill>
                <a:gsLst>
                  <a:gs pos="0">
                    <a:schemeClr val="tx1"/>
                  </a:gs>
                  <a:gs pos="86000">
                    <a:schemeClr val="tx1"/>
                  </a:gs>
                </a:gsLst>
                <a:lin ang="5400000" scaled="0"/>
              </a:gradFill>
              <a:effectLst/>
              <a:uLnTx/>
              <a:uFillTx/>
              <a:latin typeface="+mn-lt"/>
              <a:ea typeface="+mn-ea"/>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dirty="0" smtClean="0">
                <a:solidFill>
                  <a:schemeClr val="tx1"/>
                </a:solidFill>
              </a:rPr>
              <a:t>Supports range of network infrastructures:</a:t>
            </a:r>
          </a:p>
          <a:p>
            <a:endParaRPr lang="en-US" dirty="0" smtClean="0">
              <a:solidFill>
                <a:schemeClr val="tx1"/>
              </a:solidFill>
            </a:endParaRPr>
          </a:p>
          <a:p>
            <a:pPr lvl="1"/>
            <a:r>
              <a:rPr lang="en-US" dirty="0" smtClean="0"/>
              <a:t>Single server, server farm, proxy server</a:t>
            </a:r>
          </a:p>
          <a:p>
            <a:pPr lvl="1"/>
            <a:endParaRPr lang="en-US" dirty="0" smtClean="0"/>
          </a:p>
          <a:p>
            <a:pPr lvl="1"/>
            <a:r>
              <a:rPr lang="en-US" dirty="0" smtClean="0"/>
              <a:t>Active Directory:  single domain, single forest, multiple forests</a:t>
            </a:r>
          </a:p>
          <a:p>
            <a:pPr lvl="1"/>
            <a:endParaRPr lang="en-US" sz="3200" dirty="0" smtClean="0">
              <a:solidFill>
                <a:schemeClr val="tx1"/>
              </a:solidFill>
            </a:endParaRPr>
          </a:p>
          <a:p>
            <a:pPr lvl="1"/>
            <a:endParaRPr lang="en-US" sz="3200" dirty="0" smtClean="0">
              <a:solidFill>
                <a:schemeClr val="tx1"/>
              </a:solidFill>
            </a:endParaRPr>
          </a:p>
          <a:p>
            <a:r>
              <a:rPr lang="en-US" dirty="0" smtClean="0"/>
              <a:t>Automates Complex Management Tasks</a:t>
            </a:r>
            <a:endParaRPr lang="en-US" sz="3600" dirty="0" smtClean="0"/>
          </a:p>
          <a:p>
            <a:endParaRPr lang="en-US" sz="3600" dirty="0" smtClean="0">
              <a:solidFill>
                <a:schemeClr val="tx1"/>
              </a:solidFill>
            </a:endParaRPr>
          </a:p>
          <a:p>
            <a:pPr marL="393700" lvl="1" indent="-393700">
              <a:spcAft>
                <a:spcPts val="800"/>
              </a:spcAft>
              <a:buClr>
                <a:schemeClr val="tx1"/>
              </a:buClr>
              <a:buNone/>
            </a:pPr>
            <a:endParaRPr lang="en-US" sz="2000" dirty="0" smtClean="0">
              <a:solidFill>
                <a:schemeClr val="tx1"/>
              </a:solidFill>
            </a:endParaRPr>
          </a:p>
          <a:p>
            <a:endParaRPr lang="en-US" sz="2000" dirty="0" smtClean="0">
              <a:solidFill>
                <a:schemeClr val="tx1"/>
              </a:solidFill>
            </a:endParaRPr>
          </a:p>
        </p:txBody>
      </p:sp>
      <p:sp>
        <p:nvSpPr>
          <p:cNvPr id="2" name="Title 1"/>
          <p:cNvSpPr>
            <a:spLocks noGrp="1"/>
          </p:cNvSpPr>
          <p:nvPr>
            <p:ph type="title"/>
          </p:nvPr>
        </p:nvSpPr>
        <p:spPr/>
        <p:txBody>
          <a:bodyPr/>
          <a:lstStyle/>
          <a:p>
            <a:r>
              <a:rPr sz="3600" smtClean="0"/>
              <a:t>Drill Down:  Microsoft Services Connector</a:t>
            </a:r>
            <a:endParaRPr lang="en-US" sz="3600" dirty="0"/>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3108800"/>
          </a:xfrm>
        </p:spPr>
        <p:txBody>
          <a:bodyPr/>
          <a:lstStyle/>
          <a:p>
            <a:r>
              <a:rPr lang="en-US" dirty="0" smtClean="0"/>
              <a:t>Flexible and customizable end  user experience</a:t>
            </a:r>
          </a:p>
          <a:p>
            <a:pPr>
              <a:buNone/>
            </a:pPr>
            <a:endParaRPr lang="en-US" dirty="0" smtClean="0"/>
          </a:p>
          <a:p>
            <a:r>
              <a:rPr lang="en-US" dirty="0" smtClean="0"/>
              <a:t>Architecture consistent with “Geneva” </a:t>
            </a:r>
          </a:p>
          <a:p>
            <a:endParaRPr lang="en-US" dirty="0" smtClean="0"/>
          </a:p>
          <a:p>
            <a:r>
              <a:rPr lang="en-US" dirty="0" smtClean="0"/>
              <a:t>Microsoft has an internal deployment</a:t>
            </a:r>
          </a:p>
        </p:txBody>
      </p:sp>
      <p:sp>
        <p:nvSpPr>
          <p:cNvPr id="2" name="Title 1"/>
          <p:cNvSpPr>
            <a:spLocks noGrp="1"/>
          </p:cNvSpPr>
          <p:nvPr>
            <p:ph type="title"/>
          </p:nvPr>
        </p:nvSpPr>
        <p:spPr>
          <a:xfrm>
            <a:off x="387054" y="152400"/>
            <a:ext cx="8375946" cy="498598"/>
          </a:xfrm>
        </p:spPr>
        <p:txBody>
          <a:bodyPr/>
          <a:lstStyle/>
          <a:p>
            <a:r>
              <a:rPr sz="3600" smtClean="0"/>
              <a:t>Drill Down:  Microsoft Services Connector</a:t>
            </a:r>
            <a:endParaRPr lang="en-US" dirty="0"/>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sz="3600" dirty="0" smtClean="0"/>
              <a:t>Businesses adding services to their existing IT infrastructure</a:t>
            </a:r>
          </a:p>
          <a:p>
            <a:endParaRPr lang="en-US" sz="3600" dirty="0" smtClean="0"/>
          </a:p>
          <a:p>
            <a:r>
              <a:rPr lang="en-US" sz="3600" dirty="0" smtClean="0"/>
              <a:t>Identity must be an enabler</a:t>
            </a:r>
          </a:p>
          <a:p>
            <a:endParaRPr lang="en-US" sz="3600" dirty="0" smtClean="0"/>
          </a:p>
          <a:p>
            <a:r>
              <a:rPr lang="en-US" sz="3600" dirty="0" smtClean="0"/>
              <a:t>Solution is available today </a:t>
            </a:r>
          </a:p>
          <a:p>
            <a:pPr lvl="1"/>
            <a:endParaRPr lang="en-US" sz="1600" dirty="0" smtClean="0">
              <a:solidFill>
                <a:schemeClr val="tx1"/>
              </a:solidFill>
            </a:endParaRPr>
          </a:p>
        </p:txBody>
      </p:sp>
      <p:sp>
        <p:nvSpPr>
          <p:cNvPr id="2" name="Title 1"/>
          <p:cNvSpPr>
            <a:spLocks noGrp="1"/>
          </p:cNvSpPr>
          <p:nvPr>
            <p:ph type="title"/>
          </p:nvPr>
        </p:nvSpPr>
        <p:spPr/>
        <p:txBody>
          <a:bodyPr/>
          <a:lstStyle/>
          <a:p>
            <a:r>
              <a:rPr lang="en-US" dirty="0" smtClean="0"/>
              <a:t>Why Are We Here?</a:t>
            </a:r>
            <a:endParaRPr lang="en-US" dirty="0"/>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730044" y="1411552"/>
            <a:ext cx="7672003" cy="4936864"/>
          </a:xfrm>
        </p:spPr>
        <p:txBody>
          <a:bodyPr/>
          <a:lstStyle/>
          <a:p>
            <a:r>
              <a:rPr lang="en-US" sz="3600" dirty="0" smtClean="0">
                <a:solidFill>
                  <a:schemeClr val="tx1"/>
                </a:solidFill>
              </a:rPr>
              <a:t>Microsoft Services Connector</a:t>
            </a:r>
          </a:p>
          <a:p>
            <a:pPr lvl="1"/>
            <a:r>
              <a:rPr lang="en-US" dirty="0" smtClean="0">
                <a:solidFill>
                  <a:schemeClr val="tx1"/>
                </a:solidFill>
              </a:rPr>
              <a:t>Preview available today:  </a:t>
            </a:r>
            <a:r>
              <a:rPr lang="en-US" dirty="0" smtClean="0">
                <a:solidFill>
                  <a:schemeClr val="accent3"/>
                </a:solidFill>
                <a:hlinkClick r:id="rId3"/>
              </a:rPr>
              <a:t>www.microsoft.com/servicesconnector</a:t>
            </a:r>
            <a:r>
              <a:rPr lang="en-US" dirty="0" smtClean="0">
                <a:solidFill>
                  <a:schemeClr val="tx1"/>
                </a:solidFill>
              </a:rPr>
              <a:t> </a:t>
            </a:r>
          </a:p>
          <a:p>
            <a:pPr lvl="1"/>
            <a:r>
              <a:rPr lang="en-US" dirty="0" smtClean="0">
                <a:solidFill>
                  <a:schemeClr val="tx1"/>
                </a:solidFill>
              </a:rPr>
              <a:t>Beta in early 2009</a:t>
            </a:r>
          </a:p>
          <a:p>
            <a:r>
              <a:rPr lang="en-US" sz="3600" dirty="0" smtClean="0">
                <a:solidFill>
                  <a:schemeClr val="tx1"/>
                </a:solidFill>
              </a:rPr>
              <a:t>Microsoft Federation Gateway</a:t>
            </a:r>
          </a:p>
          <a:p>
            <a:pPr lvl="1"/>
            <a:r>
              <a:rPr lang="en-US" dirty="0" smtClean="0">
                <a:solidFill>
                  <a:schemeClr val="tx1"/>
                </a:solidFill>
              </a:rPr>
              <a:t>Released, available today</a:t>
            </a:r>
          </a:p>
          <a:p>
            <a:pPr lvl="1"/>
            <a:r>
              <a:rPr lang="en-US" dirty="0" smtClean="0">
                <a:solidFill>
                  <a:schemeClr val="tx1"/>
                </a:solidFill>
                <a:hlinkClick r:id="rId4"/>
              </a:rPr>
              <a:t>Whitepaper</a:t>
            </a:r>
            <a:endParaRPr lang="en-US" dirty="0" smtClean="0">
              <a:solidFill>
                <a:schemeClr val="tx1"/>
              </a:solidFill>
            </a:endParaRPr>
          </a:p>
          <a:p>
            <a:pPr lvl="1"/>
            <a:r>
              <a:rPr lang="en-US" dirty="0" smtClean="0">
                <a:solidFill>
                  <a:schemeClr val="tx1"/>
                </a:solidFill>
                <a:hlinkClick r:id="rId5"/>
              </a:rPr>
              <a:t>On-boarding documentation</a:t>
            </a:r>
            <a:endParaRPr lang="en-US" dirty="0" smtClean="0">
              <a:solidFill>
                <a:srgbClr val="FF0000"/>
              </a:solidFill>
            </a:endParaRPr>
          </a:p>
          <a:p>
            <a:r>
              <a:rPr lang="en-US" sz="3600" dirty="0" smtClean="0">
                <a:solidFill>
                  <a:schemeClr val="tx1"/>
                </a:solidFill>
              </a:rPr>
              <a:t>We want your feedback! </a:t>
            </a:r>
          </a:p>
          <a:p>
            <a:pPr lvl="1"/>
            <a:r>
              <a:rPr lang="en-US" dirty="0" smtClean="0">
                <a:solidFill>
                  <a:schemeClr val="tx1"/>
                </a:solidFill>
                <a:hlinkClick r:id="rId6"/>
              </a:rPr>
              <a:t>Forum</a:t>
            </a:r>
            <a:endParaRPr lang="en-US" dirty="0" smtClean="0">
              <a:solidFill>
                <a:srgbClr val="FF0000"/>
              </a:solidFill>
            </a:endParaRPr>
          </a:p>
          <a:p>
            <a:pPr lvl="1"/>
            <a:endParaRPr lang="en-US" sz="1600" dirty="0" smtClean="0">
              <a:solidFill>
                <a:schemeClr val="tx1"/>
              </a:solidFill>
            </a:endParaRPr>
          </a:p>
        </p:txBody>
      </p:sp>
      <p:sp>
        <p:nvSpPr>
          <p:cNvPr id="2" name="Title 1"/>
          <p:cNvSpPr>
            <a:spLocks noGrp="1"/>
          </p:cNvSpPr>
          <p:nvPr>
            <p:ph type="title"/>
          </p:nvPr>
        </p:nvSpPr>
        <p:spPr/>
        <p:txBody>
          <a:bodyPr/>
          <a:lstStyle/>
          <a:p>
            <a:r>
              <a:rPr smtClean="0"/>
              <a:t>How You Get It</a:t>
            </a:r>
            <a:endParaRPr lang="en-US" dirty="0"/>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icrosoft logo and tagline"/>
          <p:cNvPicPr>
            <a:picLocks noChangeArrowheads="1"/>
          </p:cNvPicPr>
          <p:nvPr/>
        </p:nvPicPr>
        <p:blipFill>
          <a:blip r:embed="rId3"/>
          <a:stretch>
            <a:fillRect/>
          </a:stretch>
        </p:blipFill>
        <p:spPr bwMode="black">
          <a:xfrm>
            <a:off x="2628393" y="4343400"/>
            <a:ext cx="3848607" cy="830092"/>
          </a:xfrm>
          <a:prstGeom prst="rect">
            <a:avLst/>
          </a:prstGeom>
          <a:noFill/>
          <a:ln>
            <a:noFill/>
          </a:ln>
        </p:spPr>
      </p:pic>
      <p:sp>
        <p:nvSpPr>
          <p:cNvPr id="5" name="Text Box 3"/>
          <p:cNvSpPr txBox="1">
            <a:spLocks noChangeArrowheads="1"/>
          </p:cNvSpPr>
          <p:nvPr/>
        </p:nvSpPr>
        <p:spPr bwMode="blackWhite">
          <a:xfrm>
            <a:off x="741954" y="6083573"/>
            <a:ext cx="7660093" cy="523206"/>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cs typeface="Arial" charset="0"/>
              </a:rPr>
              <a:t>© </a:t>
            </a:r>
            <a:r>
              <a:rPr lang="en-US" sz="700" dirty="0" smtClean="0">
                <a:cs typeface="Arial" charset="0"/>
              </a:rPr>
              <a:t>2008 Microsoft </a:t>
            </a:r>
            <a:r>
              <a:rPr lang="en-US" sz="700" dirty="0">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cs typeface="Arial" charset="0"/>
              </a:rPr>
              <a:t> MICROSOFT </a:t>
            </a:r>
            <a:r>
              <a:rPr lang="en-US" sz="700" dirty="0">
                <a:cs typeface="Arial" charset="0"/>
              </a:rPr>
              <a:t>MAKES NO WARRANTIES, EXPRESS, IMPLIED OR STATUTORY, AS TO THE INFORMATION IN THIS PRESENTATION.</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PDC 2008 BREAKOUT template 4-3_GRAY_FINAL">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2.xml><?xml version="1.0" encoding="utf-8"?>
<a:theme xmlns:a="http://schemas.openxmlformats.org/drawingml/2006/main" name="White with Consolas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entury Schoolbook - Calibri">
      <a:majorFont>
        <a:latin typeface="Century Schoolbook"/>
        <a:ea typeface=""/>
        <a:cs typeface=""/>
      </a:majorFont>
      <a:minorFont>
        <a:latin typeface="Calibri"/>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PDC 2008 BREAKOUT template 4-3_GRAY_FINAL</Template>
  <TotalTime>0</TotalTime>
  <Words>1170</Words>
  <Application>Microsoft Office PowerPoint</Application>
  <PresentationFormat>On-screen Show (4:3)</PresentationFormat>
  <Paragraphs>313</Paragraphs>
  <Slides>23</Slides>
  <Notes>22</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PDC 2008 BREAKOUT template 4-3_GRAY_FINAL</vt:lpstr>
      <vt:lpstr>White with Consolas font for code slides</vt:lpstr>
      <vt:lpstr>Slide 1</vt:lpstr>
      <vt:lpstr>Connecting Active Directory To Microsoft Services</vt:lpstr>
      <vt:lpstr>Microsoft Identity Software + Services One identity model that puts users in control of their identities</vt:lpstr>
      <vt:lpstr>Microsoft Identity Software + Services  One identity model that puts users in control of their identities</vt:lpstr>
      <vt:lpstr>Why Are We Here?</vt:lpstr>
      <vt:lpstr>Identity Challenges</vt:lpstr>
      <vt:lpstr>Scenarios</vt:lpstr>
      <vt:lpstr>Enterprise Software And Service Topology</vt:lpstr>
      <vt:lpstr>Solution Must Satisfy:</vt:lpstr>
      <vt:lpstr>Federation Is Industry Endorsed Solution  </vt:lpstr>
      <vt:lpstr>Solution:  Microsoft Federation Gateway</vt:lpstr>
      <vt:lpstr>Solution:  Microsoft Services Connector</vt:lpstr>
      <vt:lpstr>Enterprise Software And Service Topology</vt:lpstr>
      <vt:lpstr>Microsoft Services Connector</vt:lpstr>
      <vt:lpstr>What Happened:  Setup</vt:lpstr>
      <vt:lpstr>What Happened:  Accessing Services</vt:lpstr>
      <vt:lpstr>Drill Down:  Microsoft Federation Gateway</vt:lpstr>
      <vt:lpstr>Drill Down:  Microsoft Federation Gateway </vt:lpstr>
      <vt:lpstr>Drill Down:  Microsoft Services Connector</vt:lpstr>
      <vt:lpstr>Drill Down:  Microsoft Services Connector</vt:lpstr>
      <vt:lpstr>Why Are We Here?</vt:lpstr>
      <vt:lpstr>How You Get It</vt:lpstr>
      <vt:lpstr>Slide 23</vt:lpstr>
    </vt:vector>
  </TitlesOfParts>
  <Manager>&lt;Content Manager Name Here&gt;</Manager>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Connecting Active Directory To Microsoft Cloud Services</dc:title>
  <dc:subject>PDC 2008</dc:subject>
  <dc:creator>Lynn Ayres, Tore Sundelin</dc:creator>
  <dc:description>Template: David Shadle
Formatting: Shane O'Sullivan, Silver Fox Productions
Event Date: October 27, 2008
Event Location: Los Angeles
Audience: developers, TDMs, IT pros, professionals, devs</dc:description>
  <cp:lastModifiedBy>Lynn Ayres</cp:lastModifiedBy>
  <cp:revision>42</cp:revision>
  <dcterms:created xsi:type="dcterms:W3CDTF">2008-10-05T19:48:50Z</dcterms:created>
  <dcterms:modified xsi:type="dcterms:W3CDTF">2008-10-26T22:00:38Z</dcterms:modified>
</cp:coreProperties>
</file>