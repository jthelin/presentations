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diagrams/quickStyle1.xml" ContentType="application/vnd.openxmlformats-officedocument.drawingml.diagramStyl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72" r:id="rId2"/>
  </p:sldMasterIdLst>
  <p:notesMasterIdLst>
    <p:notesMasterId r:id="rId47"/>
  </p:notesMasterIdLst>
  <p:sldIdLst>
    <p:sldId id="256" r:id="rId3"/>
    <p:sldId id="257" r:id="rId4"/>
    <p:sldId id="258" r:id="rId5"/>
    <p:sldId id="295" r:id="rId6"/>
    <p:sldId id="275" r:id="rId7"/>
    <p:sldId id="276" r:id="rId8"/>
    <p:sldId id="277" r:id="rId9"/>
    <p:sldId id="320" r:id="rId10"/>
    <p:sldId id="315" r:id="rId11"/>
    <p:sldId id="318" r:id="rId12"/>
    <p:sldId id="297" r:id="rId13"/>
    <p:sldId id="287" r:id="rId14"/>
    <p:sldId id="285" r:id="rId15"/>
    <p:sldId id="278" r:id="rId16"/>
    <p:sldId id="279" r:id="rId17"/>
    <p:sldId id="280" r:id="rId18"/>
    <p:sldId id="321" r:id="rId19"/>
    <p:sldId id="317" r:id="rId20"/>
    <p:sldId id="288" r:id="rId21"/>
    <p:sldId id="290" r:id="rId22"/>
    <p:sldId id="304" r:id="rId23"/>
    <p:sldId id="274" r:id="rId24"/>
    <p:sldId id="259" r:id="rId25"/>
    <p:sldId id="260" r:id="rId26"/>
    <p:sldId id="262" r:id="rId27"/>
    <p:sldId id="264" r:id="rId28"/>
    <p:sldId id="292" r:id="rId29"/>
    <p:sldId id="322" r:id="rId30"/>
    <p:sldId id="316" r:id="rId31"/>
    <p:sldId id="323" r:id="rId32"/>
    <p:sldId id="291" r:id="rId33"/>
    <p:sldId id="305" r:id="rId34"/>
    <p:sldId id="266" r:id="rId35"/>
    <p:sldId id="313" r:id="rId36"/>
    <p:sldId id="267" r:id="rId37"/>
    <p:sldId id="268" r:id="rId38"/>
    <p:sldId id="270" r:id="rId39"/>
    <p:sldId id="271" r:id="rId40"/>
    <p:sldId id="312" r:id="rId41"/>
    <p:sldId id="308" r:id="rId42"/>
    <p:sldId id="309" r:id="rId43"/>
    <p:sldId id="319" r:id="rId44"/>
    <p:sldId id="310" r:id="rId45"/>
    <p:sldId id="31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gus Logan" initials="AL" lastIdx="63" clrIdx="0"/>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05" autoAdjust="0"/>
    <p:restoredTop sz="81132" autoAdjust="0"/>
  </p:normalViewPr>
  <p:slideViewPr>
    <p:cSldViewPr snapToGrid="0">
      <p:cViewPr>
        <p:scale>
          <a:sx n="66" d="100"/>
          <a:sy n="66" d="100"/>
        </p:scale>
        <p:origin x="-1092" y="-420"/>
      </p:cViewPr>
      <p:guideLst>
        <p:guide orient="horz" pos="2160"/>
        <p:guide pos="2880"/>
      </p:guideLst>
    </p:cSldViewPr>
  </p:slideViewPr>
  <p:outlineViewPr>
    <p:cViewPr>
      <p:scale>
        <a:sx n="33" d="100"/>
        <a:sy n="33" d="100"/>
      </p:scale>
      <p:origin x="0" y="24816"/>
    </p:cViewPr>
  </p:outlineViewPr>
  <p:notesTextViewPr>
    <p:cViewPr>
      <p:scale>
        <a:sx n="100" d="100"/>
        <a:sy n="100" d="100"/>
      </p:scale>
      <p:origin x="0" y="0"/>
    </p:cViewPr>
  </p:notesTextViewPr>
  <p:sorterViewPr>
    <p:cViewPr>
      <p:scale>
        <a:sx n="66" d="100"/>
        <a:sy n="66" d="100"/>
      </p:scale>
      <p:origin x="0" y="210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D3BCEF-DBAE-4BF4-BF8A-F4B33056F970}" type="doc">
      <dgm:prSet loTypeId="urn:microsoft.com/office/officeart/2005/8/layout/hList1" loCatId="list" qsTypeId="urn:microsoft.com/office/officeart/2005/8/quickstyle/simple5" qsCatId="simple" csTypeId="urn:microsoft.com/office/officeart/2005/8/colors/colorful1" csCatId="colorful" phldr="1"/>
      <dgm:spPr/>
      <dgm:t>
        <a:bodyPr/>
        <a:lstStyle/>
        <a:p>
          <a:endParaRPr lang="en-US"/>
        </a:p>
      </dgm:t>
    </dgm:pt>
    <dgm:pt modelId="{6CD7227E-EECF-4524-8CBD-2BEB9C784A18}">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smtClean="0"/>
            <a:t>Principals</a:t>
          </a:r>
          <a:endParaRPr lang="en-US" dirty="0"/>
        </a:p>
      </dgm:t>
    </dgm:pt>
    <dgm:pt modelId="{81AE6C14-E1EF-4A4B-9540-462889AA25C3}" type="parTrans" cxnId="{9DEE945E-0BBE-4F0B-BA91-D7D8FF47DC07}">
      <dgm:prSet/>
      <dgm:spPr/>
      <dgm:t>
        <a:bodyPr/>
        <a:lstStyle/>
        <a:p>
          <a:endParaRPr lang="en-US"/>
        </a:p>
      </dgm:t>
    </dgm:pt>
    <dgm:pt modelId="{C38F879E-A1CB-457C-9D23-2951CBA1D2BB}" type="sibTrans" cxnId="{9DEE945E-0BBE-4F0B-BA91-D7D8FF47DC07}">
      <dgm:prSet/>
      <dgm:spPr/>
      <dgm:t>
        <a:bodyPr/>
        <a:lstStyle/>
        <a:p>
          <a:endParaRPr lang="en-US"/>
        </a:p>
      </dgm:t>
    </dgm:pt>
    <dgm:pt modelId="{1B984261-4803-45B0-AD29-7F1D41B9F6B2}">
      <dgm:prSet/>
      <dgm:spPr/>
      <dgm:t>
        <a:bodyPr/>
        <a:lstStyle/>
        <a:p>
          <a:pPr rtl="0"/>
          <a:r>
            <a:rPr lang="en-US" dirty="0" smtClean="0"/>
            <a:t>User (WLID)</a:t>
          </a:r>
          <a:endParaRPr lang="en-US" dirty="0"/>
        </a:p>
      </dgm:t>
    </dgm:pt>
    <dgm:pt modelId="{88CEB73B-E5BB-4468-B8C5-FB855CA859D5}" type="parTrans" cxnId="{686F50D1-1246-43E8-A404-3B852908FC60}">
      <dgm:prSet/>
      <dgm:spPr/>
      <dgm:t>
        <a:bodyPr/>
        <a:lstStyle/>
        <a:p>
          <a:endParaRPr lang="en-US"/>
        </a:p>
      </dgm:t>
    </dgm:pt>
    <dgm:pt modelId="{08F7C1DF-EB28-4F25-A8EF-9070F102A3CF}" type="sibTrans" cxnId="{686F50D1-1246-43E8-A404-3B852908FC60}">
      <dgm:prSet/>
      <dgm:spPr/>
      <dgm:t>
        <a:bodyPr/>
        <a:lstStyle/>
        <a:p>
          <a:endParaRPr lang="en-US"/>
        </a:p>
      </dgm:t>
    </dgm:pt>
    <dgm:pt modelId="{97EC38C5-77DC-4EEC-BB8D-664339008D73}">
      <dgm:prSet/>
      <dgm:spPr/>
      <dgm:t>
        <a:bodyPr/>
        <a:lstStyle/>
        <a:p>
          <a:pPr rtl="0"/>
          <a:r>
            <a:rPr lang="en-US" dirty="0" smtClean="0"/>
            <a:t>Machine (Device ID) </a:t>
          </a:r>
          <a:endParaRPr lang="en-US" dirty="0"/>
        </a:p>
      </dgm:t>
    </dgm:pt>
    <dgm:pt modelId="{C8238AB0-C1EC-409D-9970-EFE4E014E718}" type="parTrans" cxnId="{85E68940-57D6-405D-90AF-0F739FB6DF40}">
      <dgm:prSet/>
      <dgm:spPr/>
      <dgm:t>
        <a:bodyPr/>
        <a:lstStyle/>
        <a:p>
          <a:endParaRPr lang="en-US"/>
        </a:p>
      </dgm:t>
    </dgm:pt>
    <dgm:pt modelId="{EE8BA952-ED66-43E2-9ECC-30C64FBF431E}" type="sibTrans" cxnId="{85E68940-57D6-405D-90AF-0F739FB6DF40}">
      <dgm:prSet/>
      <dgm:spPr/>
      <dgm:t>
        <a:bodyPr/>
        <a:lstStyle/>
        <a:p>
          <a:endParaRPr lang="en-US"/>
        </a:p>
      </dgm:t>
    </dgm:pt>
    <dgm:pt modelId="{E536D573-A330-418F-B66C-638FBE3CA5C2}">
      <dgm:prSet/>
      <dgm:spPr/>
      <dgm:t>
        <a:bodyPr/>
        <a:lstStyle/>
        <a:p>
          <a:pPr rtl="0"/>
          <a:r>
            <a:rPr lang="en-US" dirty="0" smtClean="0"/>
            <a:t>Machine on behalf of User (linked device) </a:t>
          </a:r>
          <a:endParaRPr lang="en-US" dirty="0"/>
        </a:p>
      </dgm:t>
    </dgm:pt>
    <dgm:pt modelId="{57B5C01D-5448-416C-ACE7-0EEE90F9A972}" type="parTrans" cxnId="{5EF388F9-8DA6-4FD5-91A1-EA1685AE37AD}">
      <dgm:prSet/>
      <dgm:spPr/>
      <dgm:t>
        <a:bodyPr/>
        <a:lstStyle/>
        <a:p>
          <a:endParaRPr lang="en-US"/>
        </a:p>
      </dgm:t>
    </dgm:pt>
    <dgm:pt modelId="{0E90632A-4D32-413C-BF36-77C1E88A0B89}" type="sibTrans" cxnId="{5EF388F9-8DA6-4FD5-91A1-EA1685AE37AD}">
      <dgm:prSet/>
      <dgm:spPr/>
      <dgm:t>
        <a:bodyPr/>
        <a:lstStyle/>
        <a:p>
          <a:endParaRPr lang="en-US"/>
        </a:p>
      </dgm:t>
    </dgm:pt>
    <dgm:pt modelId="{04A068EF-2088-465C-8199-66CFA8C5C400}">
      <dgm:prSet/>
      <dgm:spPr/>
      <dgm:t>
        <a:bodyPr/>
        <a:lstStyle/>
        <a:p>
          <a:pPr rtl="0"/>
          <a:r>
            <a:rPr lang="en-US" dirty="0" smtClean="0"/>
            <a:t>App (App ID)</a:t>
          </a:r>
          <a:endParaRPr lang="en-US" dirty="0"/>
        </a:p>
      </dgm:t>
    </dgm:pt>
    <dgm:pt modelId="{CE68BD4E-5097-4BFB-9AB5-79CD92E1E073}" type="parTrans" cxnId="{37854DD6-3053-4B0A-A3D4-BFD53AA0CD28}">
      <dgm:prSet/>
      <dgm:spPr/>
      <dgm:t>
        <a:bodyPr/>
        <a:lstStyle/>
        <a:p>
          <a:endParaRPr lang="en-US"/>
        </a:p>
      </dgm:t>
    </dgm:pt>
    <dgm:pt modelId="{6EEC448F-0266-4AD0-9E22-0AFE8724DB86}" type="sibTrans" cxnId="{37854DD6-3053-4B0A-A3D4-BFD53AA0CD28}">
      <dgm:prSet/>
      <dgm:spPr/>
      <dgm:t>
        <a:bodyPr/>
        <a:lstStyle/>
        <a:p>
          <a:endParaRPr lang="en-US"/>
        </a:p>
      </dgm:t>
    </dgm:pt>
    <dgm:pt modelId="{952F30F3-EF83-426E-AC50-227D70D38535}">
      <dgm:prSet/>
      <dgm:spPr/>
      <dgm:t>
        <a:bodyPr/>
        <a:lstStyle/>
        <a:p>
          <a:pPr rtl="0"/>
          <a:r>
            <a:rPr lang="en-US" dirty="0" smtClean="0"/>
            <a:t>App on behalf of User (Delegation)</a:t>
          </a:r>
          <a:endParaRPr lang="en-US" dirty="0"/>
        </a:p>
      </dgm:t>
    </dgm:pt>
    <dgm:pt modelId="{AD958C67-CB63-48DF-801B-97C0B1558C44}" type="parTrans" cxnId="{C8EC3D96-73AC-49D6-AC76-9A79B0A44769}">
      <dgm:prSet/>
      <dgm:spPr/>
      <dgm:t>
        <a:bodyPr/>
        <a:lstStyle/>
        <a:p>
          <a:endParaRPr lang="en-US"/>
        </a:p>
      </dgm:t>
    </dgm:pt>
    <dgm:pt modelId="{2531A3F3-1625-4822-8E82-07E0D5A640F6}" type="sibTrans" cxnId="{C8EC3D96-73AC-49D6-AC76-9A79B0A44769}">
      <dgm:prSet/>
      <dgm:spPr/>
      <dgm:t>
        <a:bodyPr/>
        <a:lstStyle/>
        <a:p>
          <a:endParaRPr lang="en-US"/>
        </a:p>
      </dgm:t>
    </dgm:pt>
    <dgm:pt modelId="{5D8B883E-9331-4354-9511-E9528B9A4C3B}">
      <dgm:prSet>
        <dgm:style>
          <a:lnRef idx="1">
            <a:schemeClr val="accent4"/>
          </a:lnRef>
          <a:fillRef idx="3">
            <a:schemeClr val="accent4"/>
          </a:fillRef>
          <a:effectRef idx="2">
            <a:schemeClr val="accent4"/>
          </a:effectRef>
          <a:fontRef idx="minor">
            <a:schemeClr val="lt1"/>
          </a:fontRef>
        </dgm:style>
      </dgm:prSet>
      <dgm:spPr/>
      <dgm:t>
        <a:bodyPr/>
        <a:lstStyle/>
        <a:p>
          <a:pPr rtl="0"/>
          <a:r>
            <a:rPr lang="en-US" dirty="0" smtClean="0"/>
            <a:t>Types of WLIDs</a:t>
          </a:r>
          <a:endParaRPr lang="en-US" dirty="0"/>
        </a:p>
      </dgm:t>
    </dgm:pt>
    <dgm:pt modelId="{FD57C956-8AF3-40DD-80B0-5DD929C49CE6}" type="parTrans" cxnId="{EAEC1FAE-D8F7-4C24-BF8A-96940DD61C4A}">
      <dgm:prSet/>
      <dgm:spPr/>
      <dgm:t>
        <a:bodyPr/>
        <a:lstStyle/>
        <a:p>
          <a:endParaRPr lang="en-US"/>
        </a:p>
      </dgm:t>
    </dgm:pt>
    <dgm:pt modelId="{EFA0A2D5-23E3-40DF-93E8-8E3D75BC9A60}" type="sibTrans" cxnId="{EAEC1FAE-D8F7-4C24-BF8A-96940DD61C4A}">
      <dgm:prSet/>
      <dgm:spPr/>
      <dgm:t>
        <a:bodyPr/>
        <a:lstStyle/>
        <a:p>
          <a:endParaRPr lang="en-US"/>
        </a:p>
      </dgm:t>
    </dgm:pt>
    <dgm:pt modelId="{CEFC2079-1DDA-4221-AB5C-9A07569F1CCF}">
      <dgm:prSet/>
      <dgm:spPr>
        <a:solidFill>
          <a:schemeClr val="accent4">
            <a:lumMod val="20000"/>
            <a:lumOff val="80000"/>
            <a:alpha val="90000"/>
          </a:schemeClr>
        </a:solidFill>
      </dgm:spPr>
      <dgm:t>
        <a:bodyPr/>
        <a:lstStyle/>
        <a:p>
          <a:pPr rtl="0"/>
          <a:r>
            <a:rPr lang="en-US" noProof="0" smtClean="0"/>
            <a:t>Passport Account, Hotmail account</a:t>
          </a:r>
          <a:endParaRPr lang="en-US" dirty="0"/>
        </a:p>
      </dgm:t>
    </dgm:pt>
    <dgm:pt modelId="{B0C5C906-2B39-40D1-858C-AFEDFD44EE69}" type="parTrans" cxnId="{A04D4032-BC88-4E80-8DE3-C33FAB746F4C}">
      <dgm:prSet/>
      <dgm:spPr/>
      <dgm:t>
        <a:bodyPr/>
        <a:lstStyle/>
        <a:p>
          <a:endParaRPr lang="en-US"/>
        </a:p>
      </dgm:t>
    </dgm:pt>
    <dgm:pt modelId="{48B690AB-D948-491A-9243-EEADFE530E09}" type="sibTrans" cxnId="{A04D4032-BC88-4E80-8DE3-C33FAB746F4C}">
      <dgm:prSet/>
      <dgm:spPr/>
      <dgm:t>
        <a:bodyPr/>
        <a:lstStyle/>
        <a:p>
          <a:endParaRPr lang="en-US"/>
        </a:p>
      </dgm:t>
    </dgm:pt>
    <dgm:pt modelId="{9ADA7167-15E1-4AA9-8D8D-0DDBD944C920}">
      <dgm:prSet/>
      <dgm:spPr>
        <a:solidFill>
          <a:schemeClr val="accent4">
            <a:lumMod val="20000"/>
            <a:lumOff val="80000"/>
            <a:alpha val="90000"/>
          </a:schemeClr>
        </a:solidFill>
      </dgm:spPr>
      <dgm:t>
        <a:bodyPr/>
        <a:lstStyle/>
        <a:p>
          <a:pPr rtl="0"/>
          <a:r>
            <a:rPr lang="en-US" smtClean="0"/>
            <a:t>EASI (Email as Sign-In) account</a:t>
          </a:r>
          <a:endParaRPr lang="en-US" dirty="0" smtClean="0"/>
        </a:p>
      </dgm:t>
    </dgm:pt>
    <dgm:pt modelId="{045633C8-A374-4CFD-8194-FE1E491D4163}" type="parTrans" cxnId="{83C059B5-4A96-45E5-8DEF-2AB4B5C50024}">
      <dgm:prSet/>
      <dgm:spPr/>
      <dgm:t>
        <a:bodyPr/>
        <a:lstStyle/>
        <a:p>
          <a:endParaRPr lang="en-US"/>
        </a:p>
      </dgm:t>
    </dgm:pt>
    <dgm:pt modelId="{1C02F56C-BF4E-44E5-93B8-102BC5993675}" type="sibTrans" cxnId="{83C059B5-4A96-45E5-8DEF-2AB4B5C50024}">
      <dgm:prSet/>
      <dgm:spPr/>
      <dgm:t>
        <a:bodyPr/>
        <a:lstStyle/>
        <a:p>
          <a:endParaRPr lang="en-US"/>
        </a:p>
      </dgm:t>
    </dgm:pt>
    <dgm:pt modelId="{94E43C1B-EF04-44B9-A0BA-3C52497F78F7}">
      <dgm:prSet/>
      <dgm:spPr>
        <a:solidFill>
          <a:schemeClr val="accent4">
            <a:lumMod val="20000"/>
            <a:lumOff val="80000"/>
            <a:alpha val="90000"/>
          </a:schemeClr>
        </a:solidFill>
      </dgm:spPr>
      <dgm:t>
        <a:bodyPr/>
        <a:lstStyle/>
        <a:p>
          <a:pPr rtl="0"/>
          <a:r>
            <a:rPr lang="en-US" noProof="0" dirty="0" smtClean="0"/>
            <a:t>Managed namespaces</a:t>
          </a:r>
        </a:p>
      </dgm:t>
    </dgm:pt>
    <dgm:pt modelId="{DBA0D3C5-5E70-4E99-A6E3-DEB4DBE904AE}" type="parTrans" cxnId="{D60DB5C9-71F8-4A5D-B037-533507272FD8}">
      <dgm:prSet/>
      <dgm:spPr/>
      <dgm:t>
        <a:bodyPr/>
        <a:lstStyle/>
        <a:p>
          <a:endParaRPr lang="en-US"/>
        </a:p>
      </dgm:t>
    </dgm:pt>
    <dgm:pt modelId="{4E198EBD-ECD5-4305-8DCC-DF60EA74E811}" type="sibTrans" cxnId="{D60DB5C9-71F8-4A5D-B037-533507272FD8}">
      <dgm:prSet/>
      <dgm:spPr/>
      <dgm:t>
        <a:bodyPr/>
        <a:lstStyle/>
        <a:p>
          <a:endParaRPr lang="en-US"/>
        </a:p>
      </dgm:t>
    </dgm:pt>
    <dgm:pt modelId="{1ED21A0B-2740-4E30-B4AB-53F485D3DE1A}">
      <dgm:prSet/>
      <dgm:spPr>
        <a:solidFill>
          <a:schemeClr val="accent4">
            <a:lumMod val="20000"/>
            <a:lumOff val="80000"/>
            <a:alpha val="90000"/>
          </a:schemeClr>
        </a:solidFill>
      </dgm:spPr>
      <dgm:t>
        <a:bodyPr/>
        <a:lstStyle/>
        <a:p>
          <a:pPr rtl="0"/>
          <a:r>
            <a:rPr lang="en-US" smtClean="0"/>
            <a:t>Federated Accounts</a:t>
          </a:r>
          <a:endParaRPr lang="en-US" noProof="0" dirty="0" smtClean="0"/>
        </a:p>
      </dgm:t>
    </dgm:pt>
    <dgm:pt modelId="{F0CCE0DF-6BCF-4C54-8C9C-F31150F48A09}" type="parTrans" cxnId="{61077D33-7263-47FD-A4FC-7575DE299E60}">
      <dgm:prSet/>
      <dgm:spPr/>
      <dgm:t>
        <a:bodyPr/>
        <a:lstStyle/>
        <a:p>
          <a:endParaRPr lang="en-US"/>
        </a:p>
      </dgm:t>
    </dgm:pt>
    <dgm:pt modelId="{E4321571-ADC6-4021-A2CF-48577112E2F5}" type="sibTrans" cxnId="{61077D33-7263-47FD-A4FC-7575DE299E60}">
      <dgm:prSet/>
      <dgm:spPr/>
      <dgm:t>
        <a:bodyPr/>
        <a:lstStyle/>
        <a:p>
          <a:endParaRPr lang="en-US"/>
        </a:p>
      </dgm:t>
    </dgm:pt>
    <dgm:pt modelId="{DC29C74A-AE70-4985-9166-3CAA28A83CA6}" type="pres">
      <dgm:prSet presAssocID="{2DD3BCEF-DBAE-4BF4-BF8A-F4B33056F970}" presName="Name0" presStyleCnt="0">
        <dgm:presLayoutVars>
          <dgm:dir/>
          <dgm:animLvl val="lvl"/>
          <dgm:resizeHandles val="exact"/>
        </dgm:presLayoutVars>
      </dgm:prSet>
      <dgm:spPr/>
      <dgm:t>
        <a:bodyPr/>
        <a:lstStyle/>
        <a:p>
          <a:endParaRPr lang="en-US"/>
        </a:p>
      </dgm:t>
    </dgm:pt>
    <dgm:pt modelId="{75527B57-BEC4-4801-8D6D-515F40F0EEA9}" type="pres">
      <dgm:prSet presAssocID="{6CD7227E-EECF-4524-8CBD-2BEB9C784A18}" presName="composite" presStyleCnt="0"/>
      <dgm:spPr/>
    </dgm:pt>
    <dgm:pt modelId="{E172193A-809D-4719-B2D9-9F98E727B233}" type="pres">
      <dgm:prSet presAssocID="{6CD7227E-EECF-4524-8CBD-2BEB9C784A18}" presName="parTx" presStyleLbl="alignNode1" presStyleIdx="0" presStyleCnt="2">
        <dgm:presLayoutVars>
          <dgm:chMax val="0"/>
          <dgm:chPref val="0"/>
          <dgm:bulletEnabled val="1"/>
        </dgm:presLayoutVars>
      </dgm:prSet>
      <dgm:spPr>
        <a:prstGeom prst="roundRect">
          <a:avLst/>
        </a:prstGeom>
      </dgm:spPr>
      <dgm:t>
        <a:bodyPr/>
        <a:lstStyle/>
        <a:p>
          <a:endParaRPr lang="en-US"/>
        </a:p>
      </dgm:t>
    </dgm:pt>
    <dgm:pt modelId="{F171D62A-1B1A-4798-9E1C-28D6BDB83B82}" type="pres">
      <dgm:prSet presAssocID="{6CD7227E-EECF-4524-8CBD-2BEB9C784A18}" presName="desTx" presStyleLbl="alignAccFollowNode1" presStyleIdx="0" presStyleCnt="2">
        <dgm:presLayoutVars>
          <dgm:bulletEnabled val="1"/>
        </dgm:presLayoutVars>
      </dgm:prSet>
      <dgm:spPr/>
      <dgm:t>
        <a:bodyPr/>
        <a:lstStyle/>
        <a:p>
          <a:endParaRPr lang="en-US"/>
        </a:p>
      </dgm:t>
    </dgm:pt>
    <dgm:pt modelId="{CC3BC8D7-5DAB-411D-9C7E-0BB8BA281B21}" type="pres">
      <dgm:prSet presAssocID="{C38F879E-A1CB-457C-9D23-2951CBA1D2BB}" presName="space" presStyleCnt="0"/>
      <dgm:spPr/>
    </dgm:pt>
    <dgm:pt modelId="{7357466E-4C4D-4993-A1D9-0E57BE9FD73B}" type="pres">
      <dgm:prSet presAssocID="{5D8B883E-9331-4354-9511-E9528B9A4C3B}" presName="composite" presStyleCnt="0"/>
      <dgm:spPr/>
    </dgm:pt>
    <dgm:pt modelId="{37E6E9DB-0DD7-4857-BD84-999AC719F5EB}" type="pres">
      <dgm:prSet presAssocID="{5D8B883E-9331-4354-9511-E9528B9A4C3B}" presName="parTx" presStyleLbl="alignNode1" presStyleIdx="1" presStyleCnt="2">
        <dgm:presLayoutVars>
          <dgm:chMax val="0"/>
          <dgm:chPref val="0"/>
          <dgm:bulletEnabled val="1"/>
        </dgm:presLayoutVars>
      </dgm:prSet>
      <dgm:spPr>
        <a:prstGeom prst="roundRect">
          <a:avLst/>
        </a:prstGeom>
      </dgm:spPr>
      <dgm:t>
        <a:bodyPr/>
        <a:lstStyle/>
        <a:p>
          <a:endParaRPr lang="en-US"/>
        </a:p>
      </dgm:t>
    </dgm:pt>
    <dgm:pt modelId="{15366C41-A72A-47E0-BEBF-5ADFDF0B5427}" type="pres">
      <dgm:prSet presAssocID="{5D8B883E-9331-4354-9511-E9528B9A4C3B}" presName="desTx" presStyleLbl="alignAccFollowNode1" presStyleIdx="1" presStyleCnt="2">
        <dgm:presLayoutVars>
          <dgm:bulletEnabled val="1"/>
        </dgm:presLayoutVars>
      </dgm:prSet>
      <dgm:spPr/>
      <dgm:t>
        <a:bodyPr/>
        <a:lstStyle/>
        <a:p>
          <a:endParaRPr lang="en-US"/>
        </a:p>
      </dgm:t>
    </dgm:pt>
  </dgm:ptLst>
  <dgm:cxnLst>
    <dgm:cxn modelId="{480FC6F8-B4DB-4AE5-975F-175EBCADF5E2}" type="presOf" srcId="{04A068EF-2088-465C-8199-66CFA8C5C400}" destId="{F171D62A-1B1A-4798-9E1C-28D6BDB83B82}" srcOrd="0" destOrd="3" presId="urn:microsoft.com/office/officeart/2005/8/layout/hList1"/>
    <dgm:cxn modelId="{7CFEFA59-A886-41CD-807A-8A28FB8E079A}" type="presOf" srcId="{1ED21A0B-2740-4E30-B4AB-53F485D3DE1A}" destId="{15366C41-A72A-47E0-BEBF-5ADFDF0B5427}" srcOrd="0" destOrd="3" presId="urn:microsoft.com/office/officeart/2005/8/layout/hList1"/>
    <dgm:cxn modelId="{A04D4032-BC88-4E80-8DE3-C33FAB746F4C}" srcId="{5D8B883E-9331-4354-9511-E9528B9A4C3B}" destId="{CEFC2079-1DDA-4221-AB5C-9A07569F1CCF}" srcOrd="0" destOrd="0" parTransId="{B0C5C906-2B39-40D1-858C-AFEDFD44EE69}" sibTransId="{48B690AB-D948-491A-9243-EEADFE530E09}"/>
    <dgm:cxn modelId="{9DEE945E-0BBE-4F0B-BA91-D7D8FF47DC07}" srcId="{2DD3BCEF-DBAE-4BF4-BF8A-F4B33056F970}" destId="{6CD7227E-EECF-4524-8CBD-2BEB9C784A18}" srcOrd="0" destOrd="0" parTransId="{81AE6C14-E1EF-4A4B-9540-462889AA25C3}" sibTransId="{C38F879E-A1CB-457C-9D23-2951CBA1D2BB}"/>
    <dgm:cxn modelId="{C8EC3D96-73AC-49D6-AC76-9A79B0A44769}" srcId="{6CD7227E-EECF-4524-8CBD-2BEB9C784A18}" destId="{952F30F3-EF83-426E-AC50-227D70D38535}" srcOrd="4" destOrd="0" parTransId="{AD958C67-CB63-48DF-801B-97C0B1558C44}" sibTransId="{2531A3F3-1625-4822-8E82-07E0D5A640F6}"/>
    <dgm:cxn modelId="{D60DB5C9-71F8-4A5D-B037-533507272FD8}" srcId="{5D8B883E-9331-4354-9511-E9528B9A4C3B}" destId="{94E43C1B-EF04-44B9-A0BA-3C52497F78F7}" srcOrd="2" destOrd="0" parTransId="{DBA0D3C5-5E70-4E99-A6E3-DEB4DBE904AE}" sibTransId="{4E198EBD-ECD5-4305-8DCC-DF60EA74E811}"/>
    <dgm:cxn modelId="{9BE8C38B-F7F2-461B-B615-5602C135F80C}" type="presOf" srcId="{9ADA7167-15E1-4AA9-8D8D-0DDBD944C920}" destId="{15366C41-A72A-47E0-BEBF-5ADFDF0B5427}" srcOrd="0" destOrd="1" presId="urn:microsoft.com/office/officeart/2005/8/layout/hList1"/>
    <dgm:cxn modelId="{13F485B1-566F-488F-BA1E-D8610EACCEF4}" type="presOf" srcId="{952F30F3-EF83-426E-AC50-227D70D38535}" destId="{F171D62A-1B1A-4798-9E1C-28D6BDB83B82}" srcOrd="0" destOrd="4" presId="urn:microsoft.com/office/officeart/2005/8/layout/hList1"/>
    <dgm:cxn modelId="{EC9662B7-7299-4930-979F-6FCD4BE6EE99}" type="presOf" srcId="{2DD3BCEF-DBAE-4BF4-BF8A-F4B33056F970}" destId="{DC29C74A-AE70-4985-9166-3CAA28A83CA6}" srcOrd="0" destOrd="0" presId="urn:microsoft.com/office/officeart/2005/8/layout/hList1"/>
    <dgm:cxn modelId="{1975BE25-F6E5-49CF-9DB8-A6B7E44095DC}" type="presOf" srcId="{6CD7227E-EECF-4524-8CBD-2BEB9C784A18}" destId="{E172193A-809D-4719-B2D9-9F98E727B233}" srcOrd="0" destOrd="0" presId="urn:microsoft.com/office/officeart/2005/8/layout/hList1"/>
    <dgm:cxn modelId="{83C059B5-4A96-45E5-8DEF-2AB4B5C50024}" srcId="{5D8B883E-9331-4354-9511-E9528B9A4C3B}" destId="{9ADA7167-15E1-4AA9-8D8D-0DDBD944C920}" srcOrd="1" destOrd="0" parTransId="{045633C8-A374-4CFD-8194-FE1E491D4163}" sibTransId="{1C02F56C-BF4E-44E5-93B8-102BC5993675}"/>
    <dgm:cxn modelId="{5EF388F9-8DA6-4FD5-91A1-EA1685AE37AD}" srcId="{6CD7227E-EECF-4524-8CBD-2BEB9C784A18}" destId="{E536D573-A330-418F-B66C-638FBE3CA5C2}" srcOrd="2" destOrd="0" parTransId="{57B5C01D-5448-416C-ACE7-0EEE90F9A972}" sibTransId="{0E90632A-4D32-413C-BF36-77C1E88A0B89}"/>
    <dgm:cxn modelId="{61077D33-7263-47FD-A4FC-7575DE299E60}" srcId="{5D8B883E-9331-4354-9511-E9528B9A4C3B}" destId="{1ED21A0B-2740-4E30-B4AB-53F485D3DE1A}" srcOrd="3" destOrd="0" parTransId="{F0CCE0DF-6BCF-4C54-8C9C-F31150F48A09}" sibTransId="{E4321571-ADC6-4021-A2CF-48577112E2F5}"/>
    <dgm:cxn modelId="{EAEC1FAE-D8F7-4C24-BF8A-96940DD61C4A}" srcId="{2DD3BCEF-DBAE-4BF4-BF8A-F4B33056F970}" destId="{5D8B883E-9331-4354-9511-E9528B9A4C3B}" srcOrd="1" destOrd="0" parTransId="{FD57C956-8AF3-40DD-80B0-5DD929C49CE6}" sibTransId="{EFA0A2D5-23E3-40DF-93E8-8E3D75BC9A60}"/>
    <dgm:cxn modelId="{55CBB842-CC43-4FEE-B300-8D1103C09938}" type="presOf" srcId="{97EC38C5-77DC-4EEC-BB8D-664339008D73}" destId="{F171D62A-1B1A-4798-9E1C-28D6BDB83B82}" srcOrd="0" destOrd="1" presId="urn:microsoft.com/office/officeart/2005/8/layout/hList1"/>
    <dgm:cxn modelId="{ECE9286C-78EA-4845-A7E2-206CE5A4760C}" type="presOf" srcId="{1B984261-4803-45B0-AD29-7F1D41B9F6B2}" destId="{F171D62A-1B1A-4798-9E1C-28D6BDB83B82}" srcOrd="0" destOrd="0" presId="urn:microsoft.com/office/officeart/2005/8/layout/hList1"/>
    <dgm:cxn modelId="{85E68940-57D6-405D-90AF-0F739FB6DF40}" srcId="{6CD7227E-EECF-4524-8CBD-2BEB9C784A18}" destId="{97EC38C5-77DC-4EEC-BB8D-664339008D73}" srcOrd="1" destOrd="0" parTransId="{C8238AB0-C1EC-409D-9970-EFE4E014E718}" sibTransId="{EE8BA952-ED66-43E2-9ECC-30C64FBF431E}"/>
    <dgm:cxn modelId="{37854DD6-3053-4B0A-A3D4-BFD53AA0CD28}" srcId="{6CD7227E-EECF-4524-8CBD-2BEB9C784A18}" destId="{04A068EF-2088-465C-8199-66CFA8C5C400}" srcOrd="3" destOrd="0" parTransId="{CE68BD4E-5097-4BFB-9AB5-79CD92E1E073}" sibTransId="{6EEC448F-0266-4AD0-9E22-0AFE8724DB86}"/>
    <dgm:cxn modelId="{95763A48-E092-4D3B-9865-A5FB2081D612}" type="presOf" srcId="{E536D573-A330-418F-B66C-638FBE3CA5C2}" destId="{F171D62A-1B1A-4798-9E1C-28D6BDB83B82}" srcOrd="0" destOrd="2" presId="urn:microsoft.com/office/officeart/2005/8/layout/hList1"/>
    <dgm:cxn modelId="{6EC5E37F-2A87-4F82-B2FC-5B00618C4B3E}" type="presOf" srcId="{94E43C1B-EF04-44B9-A0BA-3C52497F78F7}" destId="{15366C41-A72A-47E0-BEBF-5ADFDF0B5427}" srcOrd="0" destOrd="2" presId="urn:microsoft.com/office/officeart/2005/8/layout/hList1"/>
    <dgm:cxn modelId="{B8842B6C-372C-41DC-8290-744FE2A8CEFE}" type="presOf" srcId="{CEFC2079-1DDA-4221-AB5C-9A07569F1CCF}" destId="{15366C41-A72A-47E0-BEBF-5ADFDF0B5427}" srcOrd="0" destOrd="0" presId="urn:microsoft.com/office/officeart/2005/8/layout/hList1"/>
    <dgm:cxn modelId="{410A19CE-937C-4F32-9F29-5F633FAB300C}" type="presOf" srcId="{5D8B883E-9331-4354-9511-E9528B9A4C3B}" destId="{37E6E9DB-0DD7-4857-BD84-999AC719F5EB}" srcOrd="0" destOrd="0" presId="urn:microsoft.com/office/officeart/2005/8/layout/hList1"/>
    <dgm:cxn modelId="{686F50D1-1246-43E8-A404-3B852908FC60}" srcId="{6CD7227E-EECF-4524-8CBD-2BEB9C784A18}" destId="{1B984261-4803-45B0-AD29-7F1D41B9F6B2}" srcOrd="0" destOrd="0" parTransId="{88CEB73B-E5BB-4468-B8C5-FB855CA859D5}" sibTransId="{08F7C1DF-EB28-4F25-A8EF-9070F102A3CF}"/>
    <dgm:cxn modelId="{2805C7C9-C9E7-42F1-A135-6831152D549C}" type="presParOf" srcId="{DC29C74A-AE70-4985-9166-3CAA28A83CA6}" destId="{75527B57-BEC4-4801-8D6D-515F40F0EEA9}" srcOrd="0" destOrd="0" presId="urn:microsoft.com/office/officeart/2005/8/layout/hList1"/>
    <dgm:cxn modelId="{6DD04746-332E-40E2-A268-535B7E3A986C}" type="presParOf" srcId="{75527B57-BEC4-4801-8D6D-515F40F0EEA9}" destId="{E172193A-809D-4719-B2D9-9F98E727B233}" srcOrd="0" destOrd="0" presId="urn:microsoft.com/office/officeart/2005/8/layout/hList1"/>
    <dgm:cxn modelId="{72BBA718-B8BE-4BC8-A8F1-191878E2DE35}" type="presParOf" srcId="{75527B57-BEC4-4801-8D6D-515F40F0EEA9}" destId="{F171D62A-1B1A-4798-9E1C-28D6BDB83B82}" srcOrd="1" destOrd="0" presId="urn:microsoft.com/office/officeart/2005/8/layout/hList1"/>
    <dgm:cxn modelId="{CB2B52F1-A2C7-4342-915A-F0D5513E5FDF}" type="presParOf" srcId="{DC29C74A-AE70-4985-9166-3CAA28A83CA6}" destId="{CC3BC8D7-5DAB-411D-9C7E-0BB8BA281B21}" srcOrd="1" destOrd="0" presId="urn:microsoft.com/office/officeart/2005/8/layout/hList1"/>
    <dgm:cxn modelId="{F307757B-9DA0-4832-A43A-76961AC1C61B}" type="presParOf" srcId="{DC29C74A-AE70-4985-9166-3CAA28A83CA6}" destId="{7357466E-4C4D-4993-A1D9-0E57BE9FD73B}" srcOrd="2" destOrd="0" presId="urn:microsoft.com/office/officeart/2005/8/layout/hList1"/>
    <dgm:cxn modelId="{C75277A8-F655-48A0-9556-6CEBD2974EC8}" type="presParOf" srcId="{7357466E-4C4D-4993-A1D9-0E57BE9FD73B}" destId="{37E6E9DB-0DD7-4857-BD84-999AC719F5EB}" srcOrd="0" destOrd="0" presId="urn:microsoft.com/office/officeart/2005/8/layout/hList1"/>
    <dgm:cxn modelId="{8A2F2887-1BE6-4FC5-997F-CF9F11B3A965}" type="presParOf" srcId="{7357466E-4C4D-4993-A1D9-0E57BE9FD73B}" destId="{15366C41-A72A-47E0-BEBF-5ADFDF0B5427}"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gm:drawing xmlns:dgm="http://schemas.openxmlformats.org/drawingml/2006/diagram" xmlns:a="http://schemas.openxmlformats.org/drawingml/2006/main">
  <dsp:spTree xmlns:dsp="http://schemas.microsoft.com/office/drawing/2008/diagram">
    <dsp:nvGrpSpPr>
      <dsp:cNvPr id="0" name=""/>
      <dsp:cNvGrpSpPr/>
    </dsp:nvGrpSpPr>
    <dsp:grpSpPr/>
    <dsp:sp modelId="{E172193A-809D-4719-B2D9-9F98E727B233}" macro="" textlink="">
      <dsp:nvSpPr>
        <dsp:cNvPr id="0" name=""/>
        <dsp:cNvSpPr/>
      </dsp:nvSpPr>
      <dsp:spPr>
        <a:xfrm>
          <a:off x="40" y="80307"/>
          <a:ext cx="3869018" cy="806400"/>
        </a:xfrm>
        <a:prstGeom prst="roundRect">
          <a:avLst/>
        </a:prstGeom>
        <a:gradFill rotWithShape="1">
          <a:gsLst>
            <a:gs pos="0">
              <a:schemeClr val="accent2">
                <a:shade val="15000"/>
                <a:satMod val="180000"/>
              </a:schemeClr>
            </a:gs>
            <a:gs pos="50000">
              <a:schemeClr val="accent2">
                <a:shade val="45000"/>
                <a:satMod val="170000"/>
              </a:schemeClr>
            </a:gs>
            <a:gs pos="70000">
              <a:schemeClr val="accent2">
                <a:tint val="99000"/>
                <a:shade val="65000"/>
                <a:satMod val="155000"/>
              </a:schemeClr>
            </a:gs>
            <a:gs pos="100000">
              <a:schemeClr val="accent2">
                <a:tint val="95500"/>
                <a:shade val="100000"/>
                <a:satMod val="155000"/>
              </a:schemeClr>
            </a:gs>
          </a:gsLst>
          <a:lin ang="16200000" scaled="0"/>
        </a:gradFill>
        <a:ln w="9525" cap="flat" cmpd="sng" algn="ctr">
          <a:solidFill>
            <a:schemeClr val="accent2"/>
          </a:solidFill>
          <a:prstDash val="solid"/>
        </a:ln>
        <a:effectLst>
          <a:outerShdw blurRad="50800" dist="38100" dir="5400000" rotWithShape="0">
            <a:srgbClr val="000000">
              <a:alpha val="35000"/>
            </a:srgbClr>
          </a:outerShdw>
        </a:effectLst>
      </dsp:spPr>
      <dsp:style>
        <a:lnRef idx="1">
          <a:schemeClr val="accent2"/>
        </a:lnRef>
        <a:fillRef idx="3">
          <a:schemeClr val="accent2"/>
        </a:fillRef>
        <a:effectRef idx="2">
          <a:schemeClr val="accent2"/>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kern="1200" dirty="0" smtClean="0"/>
            <a:t>Principals</a:t>
          </a:r>
          <a:endParaRPr lang="en-US" sz="2800" kern="1200" dirty="0"/>
        </a:p>
      </dsp:txBody>
      <dsp:txXfrm>
        <a:off x="40" y="80307"/>
        <a:ext cx="3869018" cy="806400"/>
      </dsp:txXfrm>
    </dsp:sp>
    <dsp:sp modelId="{F171D62A-1B1A-4798-9E1C-28D6BDB83B82}" macro="" textlink="">
      <dsp:nvSpPr>
        <dsp:cNvPr id="0" name=""/>
        <dsp:cNvSpPr/>
      </dsp:nvSpPr>
      <dsp:spPr>
        <a:xfrm>
          <a:off x="40" y="886707"/>
          <a:ext cx="3869018" cy="361242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smtClean="0"/>
            <a:t>User (WLID)</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Machine (Device ID) </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Machine on behalf of User (linked device) </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App (App ID)</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App on behalf of User (Delegation)</a:t>
          </a:r>
          <a:endParaRPr lang="en-US" sz="2800" kern="1200" dirty="0"/>
        </a:p>
      </dsp:txBody>
      <dsp:txXfrm>
        <a:off x="40" y="886707"/>
        <a:ext cx="3869018" cy="3612420"/>
      </dsp:txXfrm>
    </dsp:sp>
    <dsp:sp modelId="{37E6E9DB-0DD7-4857-BD84-999AC719F5EB}" macro="" textlink="">
      <dsp:nvSpPr>
        <dsp:cNvPr id="0" name=""/>
        <dsp:cNvSpPr/>
      </dsp:nvSpPr>
      <dsp:spPr>
        <a:xfrm>
          <a:off x="4410721" y="80307"/>
          <a:ext cx="3869018" cy="806400"/>
        </a:xfrm>
        <a:prstGeom prst="roundRect">
          <a:avLst/>
        </a:prstGeom>
        <a:gradFill rotWithShape="1">
          <a:gsLst>
            <a:gs pos="0">
              <a:schemeClr val="accent4">
                <a:shade val="15000"/>
                <a:satMod val="180000"/>
              </a:schemeClr>
            </a:gs>
            <a:gs pos="50000">
              <a:schemeClr val="accent4">
                <a:shade val="45000"/>
                <a:satMod val="170000"/>
              </a:schemeClr>
            </a:gs>
            <a:gs pos="70000">
              <a:schemeClr val="accent4">
                <a:tint val="99000"/>
                <a:shade val="65000"/>
                <a:satMod val="155000"/>
              </a:schemeClr>
            </a:gs>
            <a:gs pos="100000">
              <a:schemeClr val="accent4">
                <a:tint val="95500"/>
                <a:shade val="100000"/>
                <a:satMod val="155000"/>
              </a:schemeClr>
            </a:gs>
          </a:gsLst>
          <a:lin ang="16200000" scaled="0"/>
        </a:gradFill>
        <a:ln w="9525" cap="flat" cmpd="sng" algn="ctr">
          <a:solidFill>
            <a:schemeClr val="accent4"/>
          </a:solidFill>
          <a:prstDash val="solid"/>
        </a:ln>
        <a:effectLst>
          <a:outerShdw blurRad="50800" dist="38100" dir="5400000" rotWithShape="0">
            <a:srgbClr val="000000">
              <a:alpha val="35000"/>
            </a:srgbClr>
          </a:outerShdw>
        </a:effectLst>
      </dsp:spPr>
      <dsp:style>
        <a:lnRef idx="1">
          <a:schemeClr val="accent4"/>
        </a:lnRef>
        <a:fillRef idx="3">
          <a:schemeClr val="accent4"/>
        </a:fillRef>
        <a:effectRef idx="2">
          <a:schemeClr val="accent4"/>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kern="1200" dirty="0" smtClean="0"/>
            <a:t>Types of WLIDs</a:t>
          </a:r>
          <a:endParaRPr lang="en-US" sz="2800" kern="1200" dirty="0"/>
        </a:p>
      </dsp:txBody>
      <dsp:txXfrm>
        <a:off x="4410721" y="80307"/>
        <a:ext cx="3869018" cy="806400"/>
      </dsp:txXfrm>
    </dsp:sp>
    <dsp:sp modelId="{15366C41-A72A-47E0-BEBF-5ADFDF0B5427}" macro="" textlink="">
      <dsp:nvSpPr>
        <dsp:cNvPr id="0" name=""/>
        <dsp:cNvSpPr/>
      </dsp:nvSpPr>
      <dsp:spPr>
        <a:xfrm>
          <a:off x="4410721" y="886707"/>
          <a:ext cx="3869018" cy="3612420"/>
        </a:xfrm>
        <a:prstGeom prst="rect">
          <a:avLst/>
        </a:prstGeom>
        <a:solidFill>
          <a:schemeClr val="accent4">
            <a:lumMod val="20000"/>
            <a:lumOff val="80000"/>
            <a:alpha val="90000"/>
          </a:schemeClr>
        </a:solidFill>
        <a:ln w="9525" cap="flat" cmpd="sng" algn="ctr">
          <a:solidFill>
            <a:schemeClr val="accent3">
              <a:tint val="40000"/>
              <a:alpha val="90000"/>
              <a:hueOff val="0"/>
              <a:satOff val="0"/>
              <a:lumOff val="0"/>
              <a:alphaOff val="0"/>
            </a:schemeClr>
          </a:solidFill>
          <a:prstDash val="solid"/>
        </a:ln>
        <a:effectLst>
          <a:outerShdw blurRad="50800" dist="381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noProof="0" smtClean="0"/>
            <a:t>Passport Account, Hotmail account</a:t>
          </a:r>
          <a:endParaRPr lang="en-US" sz="2800" kern="1200" dirty="0"/>
        </a:p>
        <a:p>
          <a:pPr marL="285750" lvl="1" indent="-285750" algn="l" defTabSz="1244600" rtl="0">
            <a:lnSpc>
              <a:spcPct val="90000"/>
            </a:lnSpc>
            <a:spcBef>
              <a:spcPct val="0"/>
            </a:spcBef>
            <a:spcAft>
              <a:spcPct val="15000"/>
            </a:spcAft>
            <a:buChar char="••"/>
          </a:pPr>
          <a:r>
            <a:rPr lang="en-US" sz="2800" kern="1200" smtClean="0"/>
            <a:t>EASI (Email as Sign-In) account</a:t>
          </a:r>
          <a:endParaRPr lang="en-US" sz="2800" kern="1200" dirty="0" smtClean="0"/>
        </a:p>
        <a:p>
          <a:pPr marL="285750" lvl="1" indent="-285750" algn="l" defTabSz="1244600" rtl="0">
            <a:lnSpc>
              <a:spcPct val="90000"/>
            </a:lnSpc>
            <a:spcBef>
              <a:spcPct val="0"/>
            </a:spcBef>
            <a:spcAft>
              <a:spcPct val="15000"/>
            </a:spcAft>
            <a:buChar char="••"/>
          </a:pPr>
          <a:r>
            <a:rPr lang="en-US" sz="2800" kern="1200" noProof="0" dirty="0" smtClean="0"/>
            <a:t>Managed namespaces</a:t>
          </a:r>
        </a:p>
        <a:p>
          <a:pPr marL="285750" lvl="1" indent="-285750" algn="l" defTabSz="1244600" rtl="0">
            <a:lnSpc>
              <a:spcPct val="90000"/>
            </a:lnSpc>
            <a:spcBef>
              <a:spcPct val="0"/>
            </a:spcBef>
            <a:spcAft>
              <a:spcPct val="15000"/>
            </a:spcAft>
            <a:buChar char="••"/>
          </a:pPr>
          <a:r>
            <a:rPr lang="en-US" sz="2800" kern="1200" smtClean="0"/>
            <a:t>Federated Accounts</a:t>
          </a:r>
          <a:endParaRPr lang="en-US" sz="2800" kern="1200" noProof="0" dirty="0" smtClean="0"/>
        </a:p>
      </dsp:txBody>
      <dsp:txXfrm>
        <a:off x="4410721" y="886707"/>
        <a:ext cx="3869018" cy="3612420"/>
      </dsp:txXfrm>
    </dsp:sp>
  </dsp:spTree>
</dgm: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BA39ED-68CE-4D84-8F3E-3A24FE6A78C1}" type="datetimeFigureOut">
              <a:rPr lang="en-US" smtClean="0"/>
              <a:pPr/>
              <a:t>11/17/2008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8FA278-A2EE-4DC5-87FE-992C8F03979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mailto:person@myISP.net" TargetMode="External"/><Relationship Id="rId4" Type="http://schemas.openxmlformats.org/officeDocument/2006/relationships/hyperlink" Target="mailto:person@yahoo.com"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Learn</a:t>
            </a:r>
            <a:r>
              <a:rPr lang="en-US" baseline="0" dirty="0" smtClean="0"/>
              <a:t> a ton of information about online identity</a:t>
            </a:r>
          </a:p>
          <a:p>
            <a:r>
              <a:rPr lang="en-US" baseline="0" dirty="0" smtClean="0"/>
              <a:t>Learn about Open ID &amp; OAuth</a:t>
            </a:r>
          </a:p>
          <a:p>
            <a:r>
              <a:rPr lang="en-US" baseline="0" dirty="0" smtClean="0"/>
              <a:t>Learn about Live ID</a:t>
            </a:r>
          </a:p>
          <a:p>
            <a:endParaRPr lang="en-US" dirty="0" smtClean="0"/>
          </a:p>
          <a:p>
            <a:r>
              <a:rPr lang="en-US" dirty="0" smtClean="0"/>
              <a:t>Talking points:</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1. </a:t>
            </a:r>
            <a:r>
              <a:rPr lang="en-US" sz="2400" dirty="0" smtClean="0">
                <a:solidFill>
                  <a:srgbClr val="FFC000"/>
                </a:solidFill>
              </a:rPr>
              <a:t>Good authentication is secure but unobtrusive</a:t>
            </a:r>
          </a:p>
          <a:p>
            <a:r>
              <a:rPr lang="en-US" dirty="0" smtClean="0"/>
              <a:t>2. Identity without borders</a:t>
            </a:r>
          </a:p>
          <a:p>
            <a:r>
              <a:rPr lang="en-US" dirty="0" smtClean="0"/>
              <a:t>3. Specs are “easy”, secure identity at scale is hard</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Why do people care about Online Identity?</a:t>
            </a:r>
          </a:p>
          <a:p>
            <a:endParaRPr lang="en-US" dirty="0" smtClean="0"/>
          </a:p>
          <a:p>
            <a:pPr lvl="1"/>
            <a:r>
              <a:rPr lang="en-US" dirty="0" smtClean="0"/>
              <a:t>Too many accounts – not always the same username</a:t>
            </a:r>
          </a:p>
          <a:p>
            <a:pPr lvl="1"/>
            <a:r>
              <a:rPr lang="en-US" dirty="0" smtClean="0"/>
              <a:t>Too many credentials – SSO !=</a:t>
            </a:r>
            <a:r>
              <a:rPr lang="en-US" baseline="0" dirty="0" smtClean="0"/>
              <a:t> same password on each account!</a:t>
            </a:r>
            <a:endParaRPr lang="en-US" dirty="0" smtClean="0"/>
          </a:p>
          <a:p>
            <a:pPr lvl="1"/>
            <a:r>
              <a:rPr lang="en-US" dirty="0" smtClean="0"/>
              <a:t>Re-authenticate to access new resources – work interruption</a:t>
            </a:r>
          </a:p>
          <a:p>
            <a:pPr lvl="1"/>
            <a:r>
              <a:rPr lang="en-US" dirty="0" smtClean="0"/>
              <a:t>Barriers to collaboration</a:t>
            </a:r>
            <a:r>
              <a:rPr lang="en-US" baseline="0" dirty="0" smtClean="0"/>
              <a:t> – how many times have you said “I’m not on CORPNET, could you e-mail me a copy of that Sharepoint doc?”</a:t>
            </a:r>
            <a:endParaRPr lang="en-US" dirty="0" smtClean="0"/>
          </a:p>
          <a:p>
            <a:pPr lvl="1"/>
            <a:r>
              <a:rPr lang="en-US" dirty="0" smtClean="0"/>
              <a:t>Good authentication is secure by unobtrusive</a:t>
            </a:r>
          </a:p>
          <a:p>
            <a:pPr lvl="2"/>
            <a:r>
              <a:rPr lang="en-US" dirty="0" smtClean="0"/>
              <a:t>But too many bad authentication experiences in current applications and services</a:t>
            </a:r>
          </a:p>
          <a:p>
            <a:pPr lvl="2"/>
            <a:r>
              <a:rPr lang="en-US" dirty="0" smtClean="0"/>
              <a:t>The more you notice authentication mechanisms, the worse they are!</a:t>
            </a:r>
          </a:p>
          <a:p>
            <a:pPr lvl="2"/>
            <a:endParaRPr lang="en-US" dirty="0" smtClean="0"/>
          </a:p>
          <a:p>
            <a:pPr lvl="1"/>
            <a:r>
              <a:rPr lang="en-US" dirty="0" smtClean="0"/>
              <a:t>61%</a:t>
            </a:r>
            <a:r>
              <a:rPr lang="en-US" baseline="0" dirty="0" smtClean="0"/>
              <a:t> use the same password everywhere! - http://www.readwriteweb.com/archives/majority_use_same_password.php</a:t>
            </a:r>
          </a:p>
          <a:p>
            <a:pPr lvl="1"/>
            <a:endParaRPr lang="en-US" dirty="0" smtClean="0"/>
          </a:p>
          <a:p>
            <a:pPr lvl="1"/>
            <a:endParaRPr lang="en-US" sz="1800" dirty="0" smtClean="0"/>
          </a:p>
          <a:p>
            <a:r>
              <a:rPr lang="en-US" dirty="0" smtClean="0"/>
              <a:t>What is “Federated Identity”</a:t>
            </a:r>
          </a:p>
          <a:p>
            <a:pPr lvl="1"/>
            <a:r>
              <a:rPr lang="en-US" sz="3200" dirty="0" smtClean="0">
                <a:solidFill>
                  <a:srgbClr val="FFC000"/>
                </a:solidFill>
              </a:rPr>
              <a:t>“Identity without borders”</a:t>
            </a:r>
          </a:p>
          <a:p>
            <a:pPr lvl="1"/>
            <a:r>
              <a:rPr lang="en-US" dirty="0" smtClean="0"/>
              <a:t>User’s sign in once with their Identity Provider then can seamlessly work with trusted partners</a:t>
            </a:r>
          </a:p>
          <a:p>
            <a:pPr lvl="1"/>
            <a:r>
              <a:rPr lang="en-US" dirty="0" smtClean="0"/>
              <a:t>Seamless flow to shared resources provided by partners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Federation is a trust-based agreement between two organizations with some common purpose, such that both want authentication assertions from one organization to be recognized by the other.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trust relationship can be unidirectional or bidirectional. Windows Live ID is capable of playing either role. </a:t>
            </a:r>
          </a:p>
          <a:p>
            <a:endParaRPr 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A </a:t>
            </a:r>
            <a:r>
              <a:rPr lang="en-US" i="1" dirty="0" smtClean="0"/>
              <a:t>federated identity relationship</a:t>
            </a:r>
            <a:r>
              <a:rPr lang="en-US" dirty="0" smtClean="0"/>
              <a:t> is a standards-based arrangement between organizations in which user claims from one organization are passed to and recognized by another. Users can therefore sign in to (and be authenticated by) their </a:t>
            </a:r>
            <a:r>
              <a:rPr lang="en-US" i="1" dirty="0" smtClean="0"/>
              <a:t>identity provider</a:t>
            </a:r>
            <a:r>
              <a:rPr lang="en-US" dirty="0" smtClean="0"/>
              <a:t>—the organization that manages their identity account—and then have their authentication information passed to a </a:t>
            </a:r>
            <a:r>
              <a:rPr lang="en-US" i="1" dirty="0" smtClean="0"/>
              <a:t>federated partner</a:t>
            </a:r>
            <a:r>
              <a:rPr lang="en-US" dirty="0" smtClean="0"/>
              <a:t> as needed without being required to sign in again.</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ID is a </a:t>
            </a:r>
            <a:r>
              <a:rPr lang="en-US" i="1" dirty="0" smtClean="0"/>
              <a:t>decentralized </a:t>
            </a:r>
            <a:r>
              <a:rPr lang="en-US" dirty="0" smtClean="0"/>
              <a:t>mechanism for single-sign-on</a:t>
            </a:r>
          </a:p>
          <a:p>
            <a:endParaRPr lang="en-US" dirty="0" smtClean="0"/>
          </a:p>
          <a:p>
            <a:r>
              <a:rPr lang="en-US" dirty="0" smtClean="0"/>
              <a:t>What problems does it solve?</a:t>
            </a:r>
          </a:p>
          <a:p>
            <a:pPr>
              <a:buFont typeface="Arial" pitchFamily="34" charset="0"/>
              <a:buChar char="•"/>
            </a:pPr>
            <a:r>
              <a:rPr lang="en-US" dirty="0" smtClean="0"/>
              <a:t>Too many passwords</a:t>
            </a:r>
          </a:p>
          <a:p>
            <a:pPr>
              <a:buFont typeface="Arial" pitchFamily="34" charset="0"/>
              <a:buChar char="•"/>
            </a:pPr>
            <a:r>
              <a:rPr lang="en-US" dirty="0" smtClean="0"/>
              <a:t>Someone else already grabbed my username</a:t>
            </a:r>
          </a:p>
          <a:p>
            <a:pPr>
              <a:buFont typeface="Arial" pitchFamily="34" charset="0"/>
              <a:buChar char="•"/>
            </a:pPr>
            <a:r>
              <a:rPr lang="en-US" dirty="0" smtClean="0"/>
              <a:t>My online profile is scattered across dozens of sites</a:t>
            </a:r>
          </a:p>
          <a:p>
            <a:pPr>
              <a:buFont typeface="Arial" pitchFamily="34" charset="0"/>
              <a:buChar char="•"/>
            </a:pPr>
            <a:endParaRPr lang="en-US" dirty="0" smtClean="0"/>
          </a:p>
          <a:p>
            <a:pPr>
              <a:buFont typeface="Arial" pitchFamily="34" charset="0"/>
              <a:buNone/>
            </a:pPr>
            <a:r>
              <a:rPr lang="en-US" dirty="0" smtClean="0"/>
              <a:t>An OpenID is a URI </a:t>
            </a:r>
          </a:p>
          <a:p>
            <a:pPr>
              <a:buFont typeface="Arial" pitchFamily="34" charset="0"/>
              <a:buNone/>
            </a:pPr>
            <a:endParaRPr lang="en-US" dirty="0" smtClean="0"/>
          </a:p>
          <a:p>
            <a:pPr>
              <a:buFont typeface="Arial" pitchFamily="34" charset="0"/>
              <a:buNone/>
            </a:pPr>
            <a:r>
              <a:rPr lang="en-US" dirty="0" smtClean="0"/>
              <a:t>What can you do with an</a:t>
            </a:r>
            <a:r>
              <a:rPr lang="en-US" baseline="0" dirty="0" smtClean="0"/>
              <a:t> OpenID URI?</a:t>
            </a:r>
          </a:p>
          <a:p>
            <a:pPr>
              <a:buFont typeface="Arial" pitchFamily="34" charset="0"/>
              <a:buChar char="•"/>
            </a:pPr>
            <a:r>
              <a:rPr lang="en-US" baseline="0" dirty="0" smtClean="0"/>
              <a:t>You can claim that you own it</a:t>
            </a:r>
          </a:p>
          <a:p>
            <a:pPr>
              <a:buFont typeface="Arial" pitchFamily="34" charset="0"/>
              <a:buChar char="•"/>
            </a:pPr>
            <a:r>
              <a:rPr lang="en-US" dirty="0" smtClean="0"/>
              <a:t>You can prove that claim</a:t>
            </a:r>
          </a:p>
          <a:p>
            <a:pPr>
              <a:buFont typeface="Arial" pitchFamily="34" charset="0"/>
              <a:buChar char="•"/>
            </a:pPr>
            <a:r>
              <a:rPr lang="en-US" dirty="0" smtClean="0"/>
              <a:t>Which means that you can</a:t>
            </a:r>
            <a:r>
              <a:rPr lang="en-US" baseline="0" dirty="0" smtClean="0"/>
              <a:t> use that URI for authentication</a:t>
            </a:r>
            <a:endParaRPr lang="en-US" dirty="0" smtClean="0"/>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solidFill>
                  <a:schemeClr val="accent1">
                    <a:lumMod val="60000"/>
                    <a:lumOff val="40000"/>
                  </a:schemeClr>
                </a:solidFill>
              </a:rPr>
              <a:t>A Web single-sign-on solution</a:t>
            </a:r>
          </a:p>
          <a:p>
            <a:r>
              <a:rPr lang="en-US" dirty="0" smtClean="0"/>
              <a:t>An authentication protocol</a:t>
            </a:r>
          </a:p>
          <a:p>
            <a:pPr lvl="1"/>
            <a:r>
              <a:rPr lang="en-US" dirty="0" smtClean="0"/>
              <a:t>Cross-platform, technology neutral, extensible</a:t>
            </a:r>
          </a:p>
          <a:p>
            <a:pPr lvl="1"/>
            <a:r>
              <a:rPr lang="en-US" dirty="0" smtClean="0"/>
              <a:t>Includes mechanism for profile data exchange</a:t>
            </a:r>
          </a:p>
          <a:p>
            <a:r>
              <a:rPr lang="en-US" dirty="0" smtClean="0"/>
              <a:t>A standards organization</a:t>
            </a:r>
          </a:p>
          <a:p>
            <a:pPr lvl="1"/>
            <a:r>
              <a:rPr lang="en-US" dirty="0" smtClean="0"/>
              <a:t>OpenID was originally developed by an informal community group with unclear IPR policies</a:t>
            </a:r>
          </a:p>
          <a:p>
            <a:pPr lvl="1"/>
            <a:r>
              <a:rPr lang="en-US" dirty="0" smtClean="0"/>
              <a:t>OpenID Foundation now owns the OpenID spec</a:t>
            </a:r>
          </a:p>
          <a:p>
            <a:r>
              <a:rPr lang="en-US" dirty="0" smtClean="0"/>
              <a:t>A personal identifier</a:t>
            </a:r>
          </a:p>
          <a:p>
            <a:pPr lvl="1"/>
            <a:r>
              <a:rPr lang="en-US" dirty="0" smtClean="0"/>
              <a:t>Your OpenID URI is globally unique</a:t>
            </a:r>
          </a:p>
          <a:p>
            <a:r>
              <a:rPr lang="en-US" dirty="0" smtClean="0"/>
              <a:t>A business model</a:t>
            </a:r>
          </a:p>
          <a:p>
            <a:pPr lvl="1"/>
            <a:r>
              <a:rPr lang="en-US" dirty="0" smtClean="0"/>
              <a:t>Outsourcing user authentication and management can be a big money saver for a website!</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6</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ID tells you very little about a user</a:t>
            </a:r>
          </a:p>
          <a:p>
            <a:pPr>
              <a:buFont typeface="Arial" pitchFamily="34" charset="0"/>
              <a:buChar char="•"/>
            </a:pPr>
            <a:r>
              <a:rPr lang="en-US" dirty="0" smtClean="0"/>
              <a:t>You don’t know their name</a:t>
            </a:r>
          </a:p>
          <a:p>
            <a:pPr>
              <a:buFont typeface="Arial" pitchFamily="34" charset="0"/>
              <a:buChar char="•"/>
            </a:pPr>
            <a:r>
              <a:rPr lang="en-US" dirty="0" smtClean="0"/>
              <a:t>You don’t know their e-mail address</a:t>
            </a:r>
          </a:p>
          <a:p>
            <a:pPr>
              <a:buFont typeface="Arial" pitchFamily="34" charset="0"/>
              <a:buChar char="•"/>
            </a:pPr>
            <a:r>
              <a:rPr lang="en-US" dirty="0" smtClean="0"/>
              <a:t>You don’t know if they are a person or a spam-bot (or a dog)</a:t>
            </a:r>
          </a:p>
          <a:p>
            <a:pPr>
              <a:buFont typeface="Arial" pitchFamily="34" charset="0"/>
              <a:buNone/>
            </a:pPr>
            <a:endParaRPr lang="en-US" dirty="0" smtClean="0"/>
          </a:p>
          <a:p>
            <a:pPr>
              <a:buFont typeface="Arial" pitchFamily="34" charset="0"/>
              <a:buNone/>
            </a:pPr>
            <a:r>
              <a:rPr lang="en-US" dirty="0" smtClean="0"/>
              <a:t>Still need to ask users for their information</a:t>
            </a:r>
            <a:r>
              <a:rPr lang="en-US" baseline="0" dirty="0" smtClean="0"/>
              <a:t> as part of registration process</a:t>
            </a:r>
          </a:p>
          <a:p>
            <a:pPr>
              <a:buFont typeface="Arial" pitchFamily="34" charset="0"/>
              <a:buChar char="•"/>
            </a:pPr>
            <a:r>
              <a:rPr lang="en-US" baseline="0" dirty="0" smtClean="0"/>
              <a:t>Open ID augments the regular sign-up process, it doesn’t completely replace it</a:t>
            </a:r>
          </a:p>
          <a:p>
            <a:pPr>
              <a:buFont typeface="Arial" pitchFamily="34" charset="0"/>
              <a:buChar char="•"/>
            </a:pPr>
            <a:r>
              <a:rPr lang="en-US" baseline="0" dirty="0" smtClean="0"/>
              <a:t>Still use CAPTCHA to help block spam-bots</a:t>
            </a:r>
          </a:p>
          <a:p>
            <a:pPr>
              <a:buFont typeface="Arial" pitchFamily="34" charset="0"/>
              <a:buChar char="•"/>
            </a:pPr>
            <a:r>
              <a:rPr lang="en-US" baseline="0" dirty="0" smtClean="0"/>
              <a:t>Open ID Simple Registration Extension can help user’s fill out the registration form by getting user consent to transfer profile info from the identity provider</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OpenID demo</a:t>
            </a:r>
            <a:r>
              <a:rPr lang="en-US" baseline="0" dirty="0" smtClean="0"/>
              <a:t> – Sign in to </a:t>
            </a:r>
            <a:r>
              <a:rPr lang="en-US" baseline="0" dirty="0" err="1" smtClean="0"/>
              <a:t>WikiTravel</a:t>
            </a:r>
            <a:r>
              <a:rPr lang="en-US" baseline="0" dirty="0" smtClean="0"/>
              <a:t> using </a:t>
            </a:r>
            <a:r>
              <a:rPr lang="en-US" baseline="0" dirty="0" err="1" smtClean="0"/>
              <a:t>Verisign</a:t>
            </a:r>
            <a:r>
              <a:rPr lang="en-US" baseline="0" dirty="0" smtClean="0"/>
              <a:t> PIP - </a:t>
            </a:r>
            <a:r>
              <a:rPr lang="en-US" dirty="0" smtClean="0"/>
              <a:t>http://wikitravel.org/en/Main_Page</a:t>
            </a:r>
          </a:p>
          <a:p>
            <a:endParaRPr lang="en-US" dirty="0" smtClean="0"/>
          </a:p>
          <a:p>
            <a:r>
              <a:rPr lang="en-US" dirty="0" smtClean="0"/>
              <a:t>1. User enters Open ID URI</a:t>
            </a:r>
          </a:p>
          <a:p>
            <a:r>
              <a:rPr lang="en-US" dirty="0" smtClean="0"/>
              <a:t>2. RP</a:t>
            </a:r>
            <a:r>
              <a:rPr lang="en-US" baseline="0" dirty="0" smtClean="0"/>
              <a:t> establishes shared secret with IP using </a:t>
            </a:r>
            <a:r>
              <a:rPr lang="en-US" baseline="0" dirty="0" err="1" smtClean="0"/>
              <a:t>Diffie</a:t>
            </a:r>
            <a:r>
              <a:rPr lang="en-US" baseline="0" dirty="0" smtClean="0"/>
              <a:t>-Hellman key exchange</a:t>
            </a:r>
          </a:p>
          <a:p>
            <a:r>
              <a:rPr lang="en-US" dirty="0" smtClean="0"/>
              <a:t>3. Redirect to</a:t>
            </a:r>
            <a:r>
              <a:rPr lang="en-US" baseline="0" dirty="0" smtClean="0"/>
              <a:t> Identity Provider via user agent (browser)</a:t>
            </a:r>
          </a:p>
          <a:p>
            <a:r>
              <a:rPr lang="en-US" baseline="0" dirty="0" smtClean="0"/>
              <a:t>4. User signs-in to IP</a:t>
            </a:r>
          </a:p>
          <a:p>
            <a:r>
              <a:rPr lang="en-US" baseline="0" dirty="0" smtClean="0"/>
              <a:t>5. Redirected back to RP via user agent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Open ID does not specify how user authenticated to IP – IP can use a mechanism that suits their users: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Username/password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X.509 client certs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err="1" smtClean="0"/>
              <a:t>SecureID</a:t>
            </a: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err="1" smtClean="0"/>
              <a:t>InfoCard</a:t>
            </a: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smartcard, etc</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A provider could also just say “yes” to every request! – Proof-of-concept demo: http://www.jkg.in/openid/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Microsoft HealthVault is the first real “high-value” site we’ve noticed using OpenID</a:t>
            </a:r>
          </a:p>
          <a:p>
            <a:endParaRPr lang="en-US" dirty="0" smtClean="0"/>
          </a:p>
          <a:p>
            <a:r>
              <a:rPr lang="en-US" dirty="0" smtClean="0"/>
              <a:t>Identity Providers: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Some big boys: </a:t>
            </a:r>
            <a:r>
              <a:rPr lang="en-US" sz="1200" kern="1200" dirty="0" smtClean="0">
                <a:solidFill>
                  <a:schemeClr val="tx1"/>
                </a:solidFill>
                <a:latin typeface="+mn-lt"/>
                <a:ea typeface="+mn-ea"/>
                <a:cs typeface="+mn-cs"/>
              </a:rPr>
              <a:t>VeriSign Personal Identity Provider (PIP), TrustBearer, AOL, Yahoo</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Various Identity start-ups: </a:t>
            </a:r>
            <a:r>
              <a:rPr lang="en-US" sz="1200" kern="1200" dirty="0" err="1" smtClean="0">
                <a:solidFill>
                  <a:schemeClr val="tx1"/>
                </a:solidFill>
                <a:latin typeface="+mn-lt"/>
                <a:ea typeface="+mn-ea"/>
                <a:cs typeface="+mn-cs"/>
              </a:rPr>
              <a:t>MyOpenId</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ClickPass</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ClaimID</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Vidoop</a:t>
            </a:r>
            <a:r>
              <a:rPr lang="en-US" sz="1200" kern="1200" dirty="0" smtClean="0">
                <a:solidFill>
                  <a:schemeClr val="tx1"/>
                </a:solidFill>
                <a:latin typeface="+mn-lt"/>
                <a:ea typeface="+mn-ea"/>
                <a:cs typeface="+mn-cs"/>
              </a:rPr>
              <a:t>, etc</a:t>
            </a:r>
          </a:p>
          <a:p>
            <a:endParaRPr lang="en-US" dirty="0" smtClean="0"/>
          </a:p>
          <a:p>
            <a:r>
              <a:rPr lang="en-US" dirty="0" smtClean="0"/>
              <a:t>Relying Parties:</a:t>
            </a:r>
          </a:p>
          <a:p>
            <a:pPr>
              <a:buFont typeface="Arial" pitchFamily="34" charset="0"/>
              <a:buChar char="•"/>
            </a:pPr>
            <a:r>
              <a:rPr lang="en-US" sz="1200" kern="1200" dirty="0" smtClean="0">
                <a:solidFill>
                  <a:schemeClr val="tx1"/>
                </a:solidFill>
                <a:latin typeface="+mn-lt"/>
                <a:ea typeface="+mn-ea"/>
                <a:cs typeface="+mn-cs"/>
              </a:rPr>
              <a:t>Big Boys: Microsoft HealthVault </a:t>
            </a:r>
          </a:p>
          <a:p>
            <a:pPr>
              <a:buFont typeface="Arial" pitchFamily="34" charset="0"/>
              <a:buChar char="•"/>
            </a:pPr>
            <a:r>
              <a:rPr lang="en-US" sz="1200" kern="1200" dirty="0" smtClean="0">
                <a:solidFill>
                  <a:schemeClr val="tx1"/>
                </a:solidFill>
                <a:latin typeface="+mn-lt"/>
                <a:ea typeface="+mn-ea"/>
                <a:cs typeface="+mn-cs"/>
              </a:rPr>
              <a:t>Lots of start-up websites</a:t>
            </a:r>
          </a:p>
          <a:p>
            <a:pPr>
              <a:buFont typeface="Arial" pitchFamily="34" charset="0"/>
              <a:buChar char="•"/>
            </a:pPr>
            <a:r>
              <a:rPr lang="en-US" sz="1200" kern="1200" dirty="0" smtClean="0">
                <a:solidFill>
                  <a:schemeClr val="tx1"/>
                </a:solidFill>
                <a:latin typeface="+mn-lt"/>
                <a:ea typeface="+mn-ea"/>
                <a:cs typeface="+mn-cs"/>
              </a:rPr>
              <a:t>Many Blog systems: Blogger, </a:t>
            </a:r>
            <a:r>
              <a:rPr lang="en-US" sz="1200" kern="1200" dirty="0" err="1" smtClean="0">
                <a:solidFill>
                  <a:schemeClr val="tx1"/>
                </a:solidFill>
                <a:latin typeface="+mn-lt"/>
                <a:ea typeface="+mn-ea"/>
                <a:cs typeface="+mn-cs"/>
              </a:rPr>
              <a:t>WordPress</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Ma.gnolia</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Technorati</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MovableType</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LiveJournal</a:t>
            </a:r>
            <a:endParaRPr lang="en-US"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Social Networks: </a:t>
            </a:r>
            <a:r>
              <a:rPr lang="en-US" sz="1200" kern="1200" dirty="0" err="1" smtClean="0">
                <a:solidFill>
                  <a:schemeClr val="tx1"/>
                </a:solidFill>
                <a:latin typeface="+mn-lt"/>
                <a:ea typeface="+mn-ea"/>
                <a:cs typeface="+mn-cs"/>
              </a:rPr>
              <a:t>Plaxo</a:t>
            </a:r>
            <a:endParaRPr lang="en-US" sz="120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2800" dirty="0" smtClean="0"/>
              <a:t>Relying parties are placing trust in the Open ID providers they accept – can be the weak link and/or a new attack vector</a:t>
            </a:r>
          </a:p>
          <a:p>
            <a:r>
              <a:rPr lang="en-US" sz="2800" dirty="0" smtClean="0"/>
              <a:t>White-listing of providers is becoming the norm</a:t>
            </a:r>
          </a:p>
          <a:p>
            <a:pPr lvl="1"/>
            <a:r>
              <a:rPr lang="en-US" sz="2400" dirty="0" smtClean="0"/>
              <a:t>Open ID providers don’t all have the same security and privacy policies. </a:t>
            </a:r>
          </a:p>
          <a:p>
            <a:pPr lvl="1"/>
            <a:r>
              <a:rPr lang="en-US" sz="2400" dirty="0" smtClean="0"/>
              <a:t>Open ID is a spammers dream come true! – they can create an unlimited number of identities at ~zero cost</a:t>
            </a:r>
          </a:p>
          <a:p>
            <a:pPr lvl="1"/>
            <a:r>
              <a:rPr lang="en-US" sz="2400" dirty="0" smtClean="0"/>
              <a:t>Low value web properties are generally happy to accept any Open ID providers</a:t>
            </a:r>
          </a:p>
          <a:p>
            <a:pPr lvl="1"/>
            <a:r>
              <a:rPr lang="en-US" sz="2400" dirty="0" smtClean="0"/>
              <a:t>High-value web properties are rightly much more selective on which Open ID providers they trust</a:t>
            </a:r>
          </a:p>
          <a:p>
            <a:pPr lvl="2"/>
            <a:r>
              <a:rPr lang="en-US" sz="2000" dirty="0" smtClean="0"/>
              <a:t>For example, </a:t>
            </a:r>
            <a:r>
              <a:rPr lang="en-US" sz="2000" b="1" dirty="0" smtClean="0">
                <a:solidFill>
                  <a:schemeClr val="accent1">
                    <a:lumMod val="60000"/>
                    <a:lumOff val="40000"/>
                  </a:schemeClr>
                </a:solidFill>
              </a:rPr>
              <a:t>HealthVault</a:t>
            </a:r>
            <a:r>
              <a:rPr lang="en-US" sz="2000" dirty="0" smtClean="0"/>
              <a:t> only accepts VeriSign or TrustBearer</a:t>
            </a:r>
          </a:p>
          <a:p>
            <a:pPr lvl="2"/>
            <a:r>
              <a:rPr lang="en-US" sz="2000" dirty="0" smtClean="0"/>
              <a:t>AOL has white-listed 15 providers</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11</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sz="2800" dirty="0" smtClean="0"/>
              <a:t>User experience is generally holding back widespread adoption</a:t>
            </a:r>
          </a:p>
          <a:p>
            <a:pPr lvl="1"/>
            <a:r>
              <a:rPr lang="en-US" sz="2600" dirty="0" smtClean="0"/>
              <a:t>Open ID URIs are confusing to non-geeks</a:t>
            </a:r>
          </a:p>
          <a:p>
            <a:pPr lvl="2"/>
            <a:r>
              <a:rPr lang="en-US" sz="2300" dirty="0" smtClean="0"/>
              <a:t>Many users already have difficulty remembering their e-mail address</a:t>
            </a:r>
          </a:p>
          <a:p>
            <a:pPr lvl="2"/>
            <a:r>
              <a:rPr lang="en-US" sz="2300" dirty="0" smtClean="0"/>
              <a:t>Lots of work going into improved sign-in UX through identity selector components, but still not mainstream</a:t>
            </a:r>
          </a:p>
          <a:p>
            <a:pPr lvl="1"/>
            <a:r>
              <a:rPr lang="en-US" sz="2600" dirty="0" smtClean="0"/>
              <a:t>Privacy concerns exist about correlation of information across sites through single shared ID (eg Open ID URI)</a:t>
            </a:r>
          </a:p>
          <a:p>
            <a:pPr lvl="1"/>
            <a:r>
              <a:rPr lang="en-US" sz="2600" dirty="0" smtClean="0"/>
              <a:t>Little progress on creating a mobile friendly Open ID experience</a:t>
            </a:r>
          </a:p>
          <a:p>
            <a:pPr lvl="1"/>
            <a:r>
              <a:rPr lang="en-US" sz="2600" dirty="0" smtClean="0"/>
              <a:t>Open ID protocol can be prone to hacking</a:t>
            </a:r>
            <a:endParaRPr lang="en-US" sz="2200" dirty="0" smtClean="0"/>
          </a:p>
          <a:p>
            <a:pPr lvl="2"/>
            <a:r>
              <a:rPr lang="en-US" sz="2900" dirty="0" smtClean="0"/>
              <a:t>Social engineering - </a:t>
            </a:r>
            <a:r>
              <a:rPr lang="en-US" sz="2600" dirty="0" smtClean="0"/>
              <a:t>Users consider it normal to enter username and passport together, but in Open ID they need to be taught to use separate steps</a:t>
            </a:r>
          </a:p>
          <a:p>
            <a:pPr lvl="2"/>
            <a:r>
              <a:rPr lang="en-US" sz="2600" dirty="0" smtClean="0"/>
              <a:t>An un-trusted site can redirect you to</a:t>
            </a:r>
            <a:r>
              <a:rPr lang="en-US" sz="2600" baseline="0" dirty="0" smtClean="0"/>
              <a:t> a fake version of your trusted identity provider – common problem for most web authentication protocols</a:t>
            </a:r>
            <a:endParaRPr lang="en-US" sz="2600" dirty="0" smtClean="0"/>
          </a:p>
          <a:p>
            <a:pPr lvl="2"/>
            <a:r>
              <a:rPr lang="en-US" sz="2600" dirty="0" smtClean="0"/>
              <a:t>Anti-hacking defenses by providers are not uniformly good – provides a new attack vector</a:t>
            </a:r>
          </a:p>
          <a:p>
            <a:pPr lvl="1"/>
            <a:r>
              <a:rPr lang="en-US" sz="2600" dirty="0" smtClean="0"/>
              <a:t>Users may be locked out of their accounts if their Open ID provider disappears or suffers a service interruption – providing 99.999% availability is REALLY hard work!</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12</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ID is doing some work around profile data sharing (attribute exchange / simple registration extensions) but experimental</a:t>
            </a:r>
            <a:r>
              <a:rPr lang="en-US" baseline="0" dirty="0" smtClean="0"/>
              <a:t> and not feature rich</a:t>
            </a:r>
            <a:endParaRPr lang="en-US" dirty="0" smtClean="0"/>
          </a:p>
          <a:p>
            <a:pPr algn="ctr"/>
            <a:endParaRPr lang="en-US" sz="1200" b="0" dirty="0" smtClean="0">
              <a:solidFill>
                <a:schemeClr val="tx1"/>
              </a:solidFill>
              <a:effectLst/>
            </a:endParaRPr>
          </a:p>
          <a:p>
            <a:pPr algn="l"/>
            <a:r>
              <a:rPr lang="en-US" sz="1200" b="1" dirty="0" smtClean="0">
                <a:solidFill>
                  <a:schemeClr val="tx2"/>
                </a:solidFill>
                <a:effectLst>
                  <a:outerShdw blurRad="38100" dist="38100" dir="2700000" algn="tl">
                    <a:srgbClr val="000000">
                      <a:alpha val="43137"/>
                    </a:srgbClr>
                  </a:outerShdw>
                </a:effectLst>
              </a:rPr>
              <a:t>Prediction</a:t>
            </a:r>
          </a:p>
          <a:p>
            <a:pPr algn="l"/>
            <a:endParaRPr lang="en-US" sz="1200" b="1" dirty="0" smtClean="0">
              <a:solidFill>
                <a:schemeClr val="tx2"/>
              </a:solidFill>
              <a:effectLst>
                <a:outerShdw blurRad="38100" dist="38100" dir="2700000" algn="tl">
                  <a:srgbClr val="000000">
                    <a:alpha val="43137"/>
                  </a:srgbClr>
                </a:outerShdw>
              </a:effectLst>
            </a:endParaRPr>
          </a:p>
          <a:p>
            <a:pPr marL="401638" indent="-396875" defTabSz="912813" fontAlgn="base">
              <a:lnSpc>
                <a:spcPct val="70000"/>
              </a:lnSpc>
              <a:spcBef>
                <a:spcPct val="20000"/>
              </a:spcBef>
              <a:spcAft>
                <a:spcPct val="0"/>
              </a:spcAft>
              <a:buBlip>
                <a:blip r:embed="rId3"/>
              </a:buBlip>
            </a:pPr>
            <a:r>
              <a:rPr lang="en-US" sz="1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OAuth will overtake OpenID as the de-facto open identity protocol.</a:t>
            </a:r>
          </a:p>
          <a:p>
            <a:pPr marL="401638" indent="-396875" defTabSz="912813" fontAlgn="base">
              <a:lnSpc>
                <a:spcPct val="70000"/>
              </a:lnSpc>
              <a:spcBef>
                <a:spcPct val="20000"/>
              </a:spcBef>
              <a:spcAft>
                <a:spcPct val="0"/>
              </a:spcAft>
              <a:buBlip>
                <a:blip r:embed="rId3"/>
              </a:buBlip>
            </a:pPr>
            <a:r>
              <a:rPr lang="en-US" sz="1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OAuth provides both identity functionality and data access permission – “It’s all about the data”</a:t>
            </a:r>
          </a:p>
          <a:p>
            <a:endParaRPr lang="en-US" dirty="0" smtClean="0"/>
          </a:p>
          <a:p>
            <a:r>
              <a:rPr lang="en-US" dirty="0" smtClean="0"/>
              <a:t>Next: The other “O” - OAuth</a:t>
            </a:r>
          </a:p>
        </p:txBody>
      </p:sp>
      <p:sp>
        <p:nvSpPr>
          <p:cNvPr id="4" name="Slide Number Placeholder 3"/>
          <p:cNvSpPr>
            <a:spLocks noGrp="1"/>
          </p:cNvSpPr>
          <p:nvPr>
            <p:ph type="sldNum" sz="quarter" idx="10"/>
          </p:nvPr>
        </p:nvSpPr>
        <p:spPr/>
        <p:txBody>
          <a:bodyPr/>
          <a:lstStyle/>
          <a:p>
            <a:fld id="{FD8FA278-A2EE-4DC5-87FE-992C8F039793}"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Previously talking about authentication – now talking about authorization</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14</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 application authentication protocol</a:t>
            </a:r>
          </a:p>
          <a:p>
            <a:r>
              <a:rPr lang="en-US" dirty="0" smtClean="0">
                <a:solidFill>
                  <a:schemeClr val="accent1">
                    <a:lumMod val="60000"/>
                    <a:lumOff val="40000"/>
                  </a:schemeClr>
                </a:solidFill>
              </a:rPr>
              <a:t>An application authorization protocol for user consent to data sharing</a:t>
            </a:r>
          </a:p>
          <a:p>
            <a:r>
              <a:rPr lang="en-US" dirty="0" smtClean="0"/>
              <a:t>An attempt to converge on a single application authentication / authorization protocol for all major use cases:</a:t>
            </a:r>
          </a:p>
          <a:p>
            <a:pPr lvl="1"/>
            <a:r>
              <a:rPr lang="en-US" dirty="0" smtClean="0"/>
              <a:t>Web applications</a:t>
            </a:r>
          </a:p>
          <a:p>
            <a:pPr lvl="1"/>
            <a:r>
              <a:rPr lang="en-US" dirty="0" smtClean="0"/>
              <a:t>Smart-client applications</a:t>
            </a:r>
          </a:p>
          <a:p>
            <a:pPr lvl="1"/>
            <a:r>
              <a:rPr lang="en-US" dirty="0" smtClean="0"/>
              <a:t>Mobile application</a:t>
            </a:r>
          </a:p>
          <a:p>
            <a:r>
              <a:rPr lang="en-US" dirty="0" smtClean="0"/>
              <a:t>Developed by an informal community group – including Google, Yahoo, AOL, MySpace, Plaxo, and may others</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15</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 related to OpenID – except for a shared ‘O’</a:t>
            </a:r>
          </a:p>
          <a:p>
            <a:r>
              <a:rPr lang="en-US" dirty="0" smtClean="0"/>
              <a:t>Not a specific UI – different providers have different consent screens</a:t>
            </a:r>
          </a:p>
          <a:p>
            <a:r>
              <a:rPr lang="en-US" dirty="0" smtClean="0"/>
              <a:t>Not tied to a specific authentication mechanism</a:t>
            </a:r>
          </a:p>
          <a:p>
            <a:r>
              <a:rPr lang="en-US" dirty="0" smtClean="0"/>
              <a:t>Currently not very scalable or suited to mobile apps</a:t>
            </a:r>
          </a:p>
          <a:p>
            <a:pPr lvl="1"/>
            <a:r>
              <a:rPr lang="en-US" dirty="0" smtClean="0"/>
              <a:t>Verbose protocol – long parameter names</a:t>
            </a:r>
          </a:p>
          <a:p>
            <a:pPr lvl="1"/>
            <a:r>
              <a:rPr lang="en-US" dirty="0" smtClean="0"/>
              <a:t>Multiple round trips to get an access token</a:t>
            </a:r>
          </a:p>
          <a:p>
            <a:pPr lvl="1"/>
            <a:r>
              <a:rPr lang="en-US" dirty="0" smtClean="0"/>
              <a:t>Lacking token lifetime control and refresh features</a:t>
            </a:r>
          </a:p>
          <a:p>
            <a:r>
              <a:rPr lang="en-US" dirty="0" smtClean="0"/>
              <a:t>Not really a new concept:</a:t>
            </a:r>
          </a:p>
          <a:p>
            <a:pPr lvl="1"/>
            <a:r>
              <a:rPr lang="en-US" dirty="0" smtClean="0"/>
              <a:t>Google has AuthSub</a:t>
            </a:r>
          </a:p>
          <a:p>
            <a:pPr lvl="1"/>
            <a:r>
              <a:rPr lang="en-US" dirty="0" smtClean="0"/>
              <a:t>Yahoo has BBAuth</a:t>
            </a:r>
          </a:p>
          <a:p>
            <a:pPr lvl="1"/>
            <a:r>
              <a:rPr lang="en-US" dirty="0" smtClean="0"/>
              <a:t>AOL has OpenAuth</a:t>
            </a:r>
          </a:p>
          <a:p>
            <a:pPr lvl="1"/>
            <a:r>
              <a:rPr lang="en-US" dirty="0" smtClean="0"/>
              <a:t>Microsoft has Live ID Delegated Auth (DelAuth)</a:t>
            </a:r>
          </a:p>
          <a:p>
            <a:r>
              <a:rPr lang="en-US" dirty="0" smtClean="0"/>
              <a:t>Not yet a very clear IPR policy – in progress</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16</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OAuth demo – </a:t>
            </a:r>
            <a:r>
              <a:rPr lang="en-US" dirty="0" err="1" smtClean="0"/>
              <a:t>TechCrunch</a:t>
            </a:r>
            <a:r>
              <a:rPr lang="en-US" dirty="0" smtClean="0"/>
              <a:t> accessing MySpace data - http://www.techcrunch.com/myspace/app.php</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18</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Google – GData APIs and </a:t>
            </a:r>
            <a:r>
              <a:rPr lang="en-US" dirty="0" err="1" smtClean="0"/>
              <a:t>OpenSocial</a:t>
            </a:r>
            <a:endParaRPr lang="en-US" dirty="0" smtClean="0"/>
          </a:p>
          <a:p>
            <a:r>
              <a:rPr lang="en-US" dirty="0" smtClean="0"/>
              <a:t>MySpace – </a:t>
            </a:r>
            <a:r>
              <a:rPr lang="en-US" dirty="0" err="1" smtClean="0"/>
              <a:t>OpenSocial</a:t>
            </a:r>
            <a:r>
              <a:rPr lang="en-US" dirty="0" smtClean="0"/>
              <a:t>, Data Availability </a:t>
            </a:r>
          </a:p>
          <a:p>
            <a:r>
              <a:rPr lang="en-US" dirty="0" smtClean="0"/>
              <a:t>Yahoo – </a:t>
            </a:r>
            <a:r>
              <a:rPr lang="en-US" dirty="0" err="1" smtClean="0"/>
              <a:t>Flickr</a:t>
            </a:r>
            <a:r>
              <a:rPr lang="en-US" dirty="0" smtClean="0"/>
              <a:t> &amp; </a:t>
            </a:r>
            <a:r>
              <a:rPr lang="en-US" dirty="0" err="1" smtClean="0"/>
              <a:t>FireEagle</a:t>
            </a:r>
            <a:r>
              <a:rPr lang="en-US" dirty="0" smtClean="0"/>
              <a:t> support now, full YOS support in Sept 2008</a:t>
            </a:r>
          </a:p>
          <a:p>
            <a:r>
              <a:rPr lang="en-US" dirty="0" smtClean="0"/>
              <a:t>Various photo sharing sites: </a:t>
            </a:r>
            <a:r>
              <a:rPr lang="en-US" dirty="0" err="1" smtClean="0"/>
              <a:t>SmugMug</a:t>
            </a:r>
            <a:r>
              <a:rPr lang="en-US" dirty="0" smtClean="0"/>
              <a:t>, </a:t>
            </a:r>
            <a:r>
              <a:rPr lang="en-US" dirty="0" err="1" smtClean="0"/>
              <a:t>PhotoBucket</a:t>
            </a:r>
            <a:r>
              <a:rPr lang="en-US" dirty="0" smtClean="0"/>
              <a:t>, </a:t>
            </a:r>
            <a:r>
              <a:rPr lang="en-US" dirty="0" err="1" smtClean="0"/>
              <a:t>Flickr</a:t>
            </a:r>
            <a:endParaRPr lang="en-US" dirty="0" smtClean="0"/>
          </a:p>
          <a:p>
            <a:r>
              <a:rPr lang="en-US" dirty="0" smtClean="0"/>
              <a:t>Various tagging / rating sites: </a:t>
            </a:r>
            <a:r>
              <a:rPr lang="en-US" dirty="0" err="1" smtClean="0"/>
              <a:t>Ma.gnolia</a:t>
            </a:r>
            <a:r>
              <a:rPr lang="en-US" dirty="0" smtClean="0"/>
              <a:t>, </a:t>
            </a:r>
            <a:r>
              <a:rPr lang="en-US" dirty="0" err="1" smtClean="0"/>
              <a:t>GetSatisfaction</a:t>
            </a:r>
            <a:r>
              <a:rPr lang="en-US" dirty="0" smtClean="0"/>
              <a:t>, </a:t>
            </a:r>
            <a:r>
              <a:rPr lang="en-US" dirty="0" err="1" smtClean="0"/>
              <a:t>Pownce</a:t>
            </a:r>
            <a:endParaRPr lang="en-US" dirty="0" smtClean="0"/>
          </a:p>
          <a:p>
            <a:r>
              <a:rPr lang="en-US" dirty="0" smtClean="0"/>
              <a:t>Various open source client libraries</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OAuth provides data portability through a standard authorization protocol</a:t>
            </a:r>
          </a:p>
          <a:p>
            <a:endParaRPr lang="en-US" dirty="0" smtClean="0"/>
          </a:p>
          <a:p>
            <a:r>
              <a:rPr lang="en-US" dirty="0" smtClean="0"/>
              <a:t>OAuth is gaining rapid adoption among service providers (big and small) – which will drive even more usage</a:t>
            </a:r>
          </a:p>
          <a:p>
            <a:endParaRPr lang="en-US" dirty="0" smtClean="0"/>
          </a:p>
          <a:p>
            <a:r>
              <a:rPr lang="en-US" dirty="0" smtClean="0"/>
              <a:t>Main challenge remains protocol scalability and IPR / governance ambiguity</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Originally: “Windows Live ID is the identity and authentication system provided by Windows Live.”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Refined version (from Neel/Lynn) - “Windows Live ID is the identity and authentication system for Microsoft services and its partners”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Windows Live ID Mission Statement:</a:t>
            </a:r>
          </a:p>
          <a:p>
            <a:endParaRPr lang="en-US" dirty="0" smtClean="0"/>
          </a:p>
          <a:p>
            <a:r>
              <a:rPr lang="en-US" dirty="0" smtClean="0"/>
              <a:t>Windows Live ID is the industry-leading identity platform for all Microsoft online services and its partners, delivering a secure, trusted, and personalized experience to users on all applications and devices.  </a:t>
            </a:r>
          </a:p>
          <a:p>
            <a:endParaRPr lang="en-US" dirty="0" smtClean="0"/>
          </a:p>
          <a:p>
            <a:r>
              <a:rPr lang="en-US" dirty="0" smtClean="0"/>
              <a:t>Windows Live ID will enable user and developer communities through rich, easy-to-use identity, with ever higher security and lower integration cost.</a:t>
            </a:r>
          </a:p>
          <a:p>
            <a:endParaRPr lang="en-US" dirty="0" smtClean="0"/>
          </a:p>
        </p:txBody>
      </p:sp>
      <p:sp>
        <p:nvSpPr>
          <p:cNvPr id="4" name="Slide Number Placeholder 3"/>
          <p:cNvSpPr>
            <a:spLocks noGrp="1"/>
          </p:cNvSpPr>
          <p:nvPr>
            <p:ph type="sldNum" sz="quarter" idx="10"/>
          </p:nvPr>
        </p:nvSpPr>
        <p:spPr/>
        <p:txBody>
          <a:bodyPr/>
          <a:lstStyle/>
          <a:p>
            <a:fld id="{FD8FA278-A2EE-4DC5-87FE-992C8F039793}" type="slidenum">
              <a:rPr lang="en-US" smtClean="0"/>
              <a:pPr/>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Windows Live ID Mission Statement:</a:t>
            </a:r>
          </a:p>
          <a:p>
            <a:endParaRPr lang="en-US" dirty="0" smtClean="0"/>
          </a:p>
          <a:p>
            <a:r>
              <a:rPr lang="en-US" dirty="0" smtClean="0"/>
              <a:t>Windows Live ID is the industry-leading identity platform for all Microsoft online services and its partners, delivering a secure, trusted, and personalized experience to users on all applications and devices.  </a:t>
            </a:r>
          </a:p>
          <a:p>
            <a:endParaRPr lang="en-US" dirty="0" smtClean="0"/>
          </a:p>
          <a:p>
            <a:r>
              <a:rPr lang="en-US" dirty="0" smtClean="0"/>
              <a:t>Windows Live ID will enable user and developer communities through rich, easy-to-use identity, with ever higher security and lower integration cost.</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25</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96875" lvl="0" indent="-396875" algn="ctr">
              <a:lnSpc>
                <a:spcPct val="120000"/>
              </a:lnSpc>
              <a:spcBef>
                <a:spcPct val="20000"/>
              </a:spcBef>
            </a:pPr>
            <a:r>
              <a:rPr lang="en-US" sz="2400" b="1" dirty="0" smtClean="0"/>
              <a:t>Types of User WLID’s</a:t>
            </a:r>
          </a:p>
          <a:p>
            <a:pPr marL="854057" lvl="1" indent="-396875">
              <a:lnSpc>
                <a:spcPct val="120000"/>
              </a:lnSpc>
              <a:spcBef>
                <a:spcPct val="20000"/>
              </a:spcBef>
              <a:buBlip>
                <a:blip r:embed="rId3"/>
              </a:buBlip>
            </a:pPr>
            <a:r>
              <a:rPr lang="en-US" sz="2000" dirty="0" smtClean="0"/>
              <a:t>Passport Account, Hotmail account</a:t>
            </a:r>
          </a:p>
          <a:p>
            <a:pPr marL="1311238" lvl="2" indent="-396875">
              <a:lnSpc>
                <a:spcPct val="120000"/>
              </a:lnSpc>
              <a:spcBef>
                <a:spcPct val="20000"/>
              </a:spcBef>
              <a:buBlip>
                <a:blip r:embed="rId3"/>
              </a:buBlip>
            </a:pPr>
            <a:r>
              <a:rPr lang="en-US" sz="1600" dirty="0" smtClean="0"/>
              <a:t>person @ hotmail.* / live.* / msn.*</a:t>
            </a:r>
          </a:p>
          <a:p>
            <a:pPr marL="854057" lvl="1" indent="-396875">
              <a:lnSpc>
                <a:spcPct val="120000"/>
              </a:lnSpc>
              <a:spcBef>
                <a:spcPct val="20000"/>
              </a:spcBef>
              <a:buBlip>
                <a:blip r:embed="rId3"/>
              </a:buBlip>
            </a:pPr>
            <a:r>
              <a:rPr lang="en-US" sz="2000" dirty="0" smtClean="0"/>
              <a:t>EASI (“Email as sign-in") account</a:t>
            </a:r>
          </a:p>
          <a:p>
            <a:pPr marL="1311238" lvl="2" indent="-396875">
              <a:lnSpc>
                <a:spcPct val="120000"/>
              </a:lnSpc>
              <a:spcBef>
                <a:spcPct val="20000"/>
              </a:spcBef>
              <a:buBlip>
                <a:blip r:embed="rId3"/>
              </a:buBlip>
            </a:pPr>
            <a:r>
              <a:rPr lang="en-US" sz="1600" dirty="0" smtClean="0"/>
              <a:t>Any valid email account </a:t>
            </a:r>
          </a:p>
          <a:p>
            <a:pPr marL="1768420" lvl="3" indent="-396875">
              <a:lnSpc>
                <a:spcPct val="120000"/>
              </a:lnSpc>
              <a:spcBef>
                <a:spcPct val="20000"/>
              </a:spcBef>
              <a:buBlip>
                <a:blip r:embed="rId3"/>
              </a:buBlip>
            </a:pPr>
            <a:r>
              <a:rPr lang="en-US" sz="1600" dirty="0" smtClean="0">
                <a:hlinkClick r:id="rId4"/>
              </a:rPr>
              <a:t>person@yahoo.com</a:t>
            </a:r>
            <a:endParaRPr lang="en-US" sz="1600" dirty="0" smtClean="0"/>
          </a:p>
          <a:p>
            <a:pPr marL="1768420" lvl="3" indent="-396875">
              <a:lnSpc>
                <a:spcPct val="120000"/>
              </a:lnSpc>
              <a:spcBef>
                <a:spcPct val="20000"/>
              </a:spcBef>
              <a:buBlip>
                <a:blip r:embed="rId3"/>
              </a:buBlip>
            </a:pPr>
            <a:r>
              <a:rPr lang="en-US" sz="1600" dirty="0" smtClean="0">
                <a:hlinkClick r:id="rId5"/>
              </a:rPr>
              <a:t>person@myISP.net</a:t>
            </a:r>
            <a:endParaRPr lang="en-US" sz="1400" dirty="0" smtClean="0"/>
          </a:p>
          <a:p>
            <a:pPr marL="854057" lvl="1" indent="-396875">
              <a:lnSpc>
                <a:spcPct val="120000"/>
              </a:lnSpc>
              <a:spcBef>
                <a:spcPct val="20000"/>
              </a:spcBef>
              <a:buBlip>
                <a:blip r:embed="rId3"/>
              </a:buBlip>
            </a:pPr>
            <a:r>
              <a:rPr lang="en-US" sz="2000" dirty="0" smtClean="0"/>
              <a:t>Managed namespaces</a:t>
            </a:r>
          </a:p>
          <a:p>
            <a:pPr marL="1311238" lvl="2" indent="-396875">
              <a:lnSpc>
                <a:spcPct val="120000"/>
              </a:lnSpc>
              <a:spcBef>
                <a:spcPct val="20000"/>
              </a:spcBef>
              <a:buBlip>
                <a:blip r:embed="rId3"/>
              </a:buBlip>
            </a:pPr>
            <a:r>
              <a:rPr lang="en-US" sz="1600" dirty="0" smtClean="0"/>
              <a:t>Custom Domains</a:t>
            </a:r>
          </a:p>
          <a:p>
            <a:pPr marL="1311238" lvl="2" indent="-396875">
              <a:lnSpc>
                <a:spcPct val="120000"/>
              </a:lnSpc>
              <a:spcBef>
                <a:spcPct val="20000"/>
              </a:spcBef>
              <a:buBlip>
                <a:blip r:embed="rId3"/>
              </a:buBlip>
            </a:pPr>
            <a:r>
              <a:rPr lang="en-US" sz="1600" dirty="0" smtClean="0"/>
              <a:t>Hotmail-hosted email account (@</a:t>
            </a:r>
            <a:r>
              <a:rPr lang="en-US" sz="1600" dirty="0" err="1" smtClean="0"/>
              <a:t>MyDomain.com</a:t>
            </a:r>
            <a:r>
              <a:rPr lang="en-US" sz="1600" dirty="0" smtClean="0"/>
              <a:t>)</a:t>
            </a:r>
            <a:endParaRPr lang="en-US" sz="1400" dirty="0" smtClean="0"/>
          </a:p>
          <a:p>
            <a:pPr marL="854057" lvl="1" indent="-396875">
              <a:lnSpc>
                <a:spcPct val="120000"/>
              </a:lnSpc>
              <a:spcBef>
                <a:spcPct val="20000"/>
              </a:spcBef>
              <a:buBlip>
                <a:blip r:embed="rId3"/>
              </a:buBlip>
            </a:pPr>
            <a:r>
              <a:rPr lang="en-US" sz="2000" dirty="0" smtClean="0"/>
              <a:t>Federated Accounts</a:t>
            </a:r>
          </a:p>
          <a:p>
            <a:pPr marL="1311238" lvl="2" indent="-396875">
              <a:lnSpc>
                <a:spcPct val="120000"/>
              </a:lnSpc>
              <a:spcBef>
                <a:spcPct val="20000"/>
              </a:spcBef>
              <a:buBlip>
                <a:blip r:embed="rId3"/>
              </a:buBlip>
            </a:pPr>
            <a:r>
              <a:rPr lang="en-US" sz="2000" dirty="0" smtClean="0"/>
              <a:t>@EDU Program</a:t>
            </a:r>
          </a:p>
          <a:p>
            <a:pPr marL="1311238" lvl="2" indent="-396875">
              <a:lnSpc>
                <a:spcPct val="120000"/>
              </a:lnSpc>
              <a:spcBef>
                <a:spcPct val="20000"/>
              </a:spcBef>
              <a:buBlip>
                <a:blip r:embed="rId3"/>
              </a:buBlip>
            </a:pPr>
            <a:r>
              <a:rPr lang="en-US" sz="2000" dirty="0" smtClean="0"/>
              <a:t>Net-ops Partners</a:t>
            </a:r>
          </a:p>
          <a:p>
            <a:pPr marL="1311238" lvl="2" indent="-396875">
              <a:lnSpc>
                <a:spcPct val="120000"/>
              </a:lnSpc>
              <a:spcBef>
                <a:spcPct val="20000"/>
              </a:spcBef>
              <a:buBlip>
                <a:blip r:embed="rId3"/>
              </a:buBlip>
            </a:pPr>
            <a:r>
              <a:rPr lang="en-US" sz="2000" dirty="0" smtClean="0"/>
              <a:t>Enterprises</a:t>
            </a:r>
          </a:p>
          <a:p>
            <a:pPr>
              <a:lnSpc>
                <a:spcPct val="120000"/>
              </a:lnSpc>
            </a:pPr>
            <a:endParaRPr lang="en-US" sz="2000" dirty="0"/>
          </a:p>
        </p:txBody>
      </p:sp>
      <p:sp>
        <p:nvSpPr>
          <p:cNvPr id="4" name="Slide Number Placeholder 3"/>
          <p:cNvSpPr>
            <a:spLocks noGrp="1"/>
          </p:cNvSpPr>
          <p:nvPr>
            <p:ph type="sldNum" sz="quarter" idx="10"/>
          </p:nvPr>
        </p:nvSpPr>
        <p:spPr/>
        <p:txBody>
          <a:bodyPr/>
          <a:lstStyle/>
          <a:p>
            <a:fld id="{EACF1B02-839F-4093-B872-A2447763456A}" type="slidenum">
              <a:rPr lang="en-US" smtClean="0"/>
              <a:pPr/>
              <a:t>26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WebAuth demo – WebAuth SDK sample - http://localhost/webauth/sample/default.aspx</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DelAuth demo – DelAuth SDL sample 2 – http://localhost/delauth/sample2/default.aspx</a:t>
            </a:r>
          </a:p>
          <a:p>
            <a:endParaRPr lang="en-US" dirty="0" smtClean="0"/>
          </a:p>
          <a:p>
            <a:r>
              <a:rPr lang="en-US" dirty="0" smtClean="0"/>
              <a:t>Windows Live Data Interactive SDK - http://dev.live.com/livedata/sdk/</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29</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DelAuth demo – Import live contacts to Bebo – http://bebo.com/</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DelAuth demo – DelAuth SDL sample 2 – http://localhost/delauth/sample2/default.aspx</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31</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nSpc>
                <a:spcPct val="170000"/>
              </a:lnSpc>
              <a:spcBef>
                <a:spcPts val="0"/>
              </a:spcBef>
            </a:pPr>
            <a:r>
              <a:rPr lang="en-US" sz="2000" dirty="0" smtClean="0"/>
              <a:t>Live ID Client SDK</a:t>
            </a:r>
          </a:p>
          <a:p>
            <a:pPr lvl="1">
              <a:lnSpc>
                <a:spcPct val="170000"/>
              </a:lnSpc>
              <a:spcBef>
                <a:spcPts val="0"/>
              </a:spcBef>
            </a:pPr>
            <a:r>
              <a:rPr lang="en-US" sz="1600" dirty="0" smtClean="0"/>
              <a:t>Smart client applications</a:t>
            </a:r>
          </a:p>
          <a:p>
            <a:pPr>
              <a:lnSpc>
                <a:spcPct val="170000"/>
              </a:lnSpc>
              <a:spcBef>
                <a:spcPts val="0"/>
              </a:spcBef>
            </a:pPr>
            <a:r>
              <a:rPr lang="en-US" sz="2000" dirty="0" smtClean="0"/>
              <a:t>Live ID Relying Party Suite (RPS – aka Live ID Server SDK)</a:t>
            </a:r>
          </a:p>
          <a:p>
            <a:pPr lvl="1">
              <a:lnSpc>
                <a:spcPct val="170000"/>
              </a:lnSpc>
              <a:spcBef>
                <a:spcPts val="0"/>
              </a:spcBef>
            </a:pPr>
            <a:r>
              <a:rPr lang="en-US" sz="1600" dirty="0" smtClean="0"/>
              <a:t>Depth partners web site integration</a:t>
            </a:r>
          </a:p>
          <a:p>
            <a:pPr lvl="1">
              <a:lnSpc>
                <a:spcPct val="170000"/>
              </a:lnSpc>
              <a:spcBef>
                <a:spcPts val="0"/>
              </a:spcBef>
            </a:pPr>
            <a:r>
              <a:rPr lang="en-US" sz="1600" dirty="0" smtClean="0"/>
              <a:t>Runs on Windows Server OS</a:t>
            </a:r>
          </a:p>
          <a:p>
            <a:pPr>
              <a:lnSpc>
                <a:spcPct val="170000"/>
              </a:lnSpc>
              <a:spcBef>
                <a:spcPts val="0"/>
              </a:spcBef>
            </a:pPr>
            <a:r>
              <a:rPr lang="en-US" sz="2000" dirty="0" smtClean="0"/>
              <a:t>Live ID Web Authentication SDK (WebAuth)</a:t>
            </a:r>
          </a:p>
          <a:p>
            <a:pPr lvl="1">
              <a:lnSpc>
                <a:spcPct val="170000"/>
              </a:lnSpc>
              <a:spcBef>
                <a:spcPts val="0"/>
              </a:spcBef>
            </a:pPr>
            <a:r>
              <a:rPr lang="en-US" sz="1600" dirty="0" smtClean="0"/>
              <a:t>Breadth partners web site integration</a:t>
            </a:r>
          </a:p>
          <a:p>
            <a:pPr lvl="1">
              <a:lnSpc>
                <a:spcPct val="170000"/>
              </a:lnSpc>
              <a:spcBef>
                <a:spcPts val="0"/>
              </a:spcBef>
            </a:pPr>
            <a:r>
              <a:rPr lang="en-US" sz="1600" dirty="0" smtClean="0"/>
              <a:t>Open source samples in 6 languages – ASP.NET (C# and VB), Java, Perl, PHP, Ruby, Python</a:t>
            </a:r>
          </a:p>
          <a:p>
            <a:pPr>
              <a:lnSpc>
                <a:spcPct val="170000"/>
              </a:lnSpc>
              <a:spcBef>
                <a:spcPts val="0"/>
              </a:spcBef>
            </a:pPr>
            <a:r>
              <a:rPr lang="en-US" sz="2000" dirty="0" smtClean="0"/>
              <a:t>Live ID Delegated Authentication SDK (DelAuth)</a:t>
            </a:r>
          </a:p>
          <a:p>
            <a:pPr lvl="1">
              <a:lnSpc>
                <a:spcPct val="170000"/>
              </a:lnSpc>
              <a:spcBef>
                <a:spcPts val="0"/>
              </a:spcBef>
            </a:pPr>
            <a:r>
              <a:rPr lang="en-US" sz="1600" dirty="0" smtClean="0"/>
              <a:t>Third-party application providers access to Windows Live user’s data</a:t>
            </a:r>
          </a:p>
          <a:p>
            <a:pPr lvl="1">
              <a:lnSpc>
                <a:spcPct val="170000"/>
              </a:lnSpc>
              <a:spcBef>
                <a:spcPts val="0"/>
              </a:spcBef>
            </a:pPr>
            <a:r>
              <a:rPr lang="en-US" sz="1600" dirty="0" smtClean="0"/>
              <a:t>Open source samples in 6 languages – ASP.NET (C# and VB), Java, Perl, PHP, Ruby, Python</a:t>
            </a:r>
          </a:p>
          <a:p>
            <a:pPr>
              <a:lnSpc>
                <a:spcPct val="170000"/>
              </a:lnSpc>
              <a:spcBef>
                <a:spcPts val="0"/>
              </a:spcBef>
            </a:pPr>
            <a:r>
              <a:rPr lang="en-US" sz="2000" dirty="0" smtClean="0"/>
              <a:t>Windows Live Tools for Visual Studio</a:t>
            </a:r>
          </a:p>
          <a:p>
            <a:pPr lvl="1">
              <a:lnSpc>
                <a:spcPct val="170000"/>
              </a:lnSpc>
              <a:spcBef>
                <a:spcPts val="0"/>
              </a:spcBef>
            </a:pPr>
            <a:r>
              <a:rPr lang="en-US" sz="1600" dirty="0" smtClean="0"/>
              <a:t>Includes ASP.NET controls to simplify integration with Live ID / Windows Live:</a:t>
            </a:r>
            <a:br>
              <a:rPr lang="en-US" sz="1600" dirty="0" smtClean="0"/>
            </a:br>
            <a:r>
              <a:rPr lang="en-US" sz="1200" dirty="0" smtClean="0"/>
              <a:t>Contacts, </a:t>
            </a:r>
            <a:r>
              <a:rPr lang="en-US" sz="1200" dirty="0" err="1" smtClean="0"/>
              <a:t>IDLogin</a:t>
            </a:r>
            <a:r>
              <a:rPr lang="en-US" sz="1200" dirty="0" smtClean="0"/>
              <a:t>, </a:t>
            </a:r>
            <a:r>
              <a:rPr lang="en-US" sz="1200" dirty="0" err="1" smtClean="0"/>
              <a:t>IDLoginView</a:t>
            </a:r>
            <a:r>
              <a:rPr lang="en-US" sz="1200" dirty="0" smtClean="0"/>
              <a:t>, </a:t>
            </a:r>
            <a:r>
              <a:rPr lang="en-US" sz="1200" dirty="0" err="1" smtClean="0"/>
              <a:t>SilverlightStreamingMedia</a:t>
            </a:r>
            <a:endParaRPr lang="en-US" sz="1200" dirty="0" smtClean="0"/>
          </a:p>
          <a:p>
            <a:pPr lvl="1">
              <a:lnSpc>
                <a:spcPct val="170000"/>
              </a:lnSpc>
              <a:spcBef>
                <a:spcPts val="0"/>
              </a:spcBef>
            </a:pPr>
            <a:endParaRPr lang="en-US" sz="1200" dirty="0" smtClean="0"/>
          </a:p>
        </p:txBody>
      </p:sp>
      <p:sp>
        <p:nvSpPr>
          <p:cNvPr id="4" name="Slide Number Placeholder 3"/>
          <p:cNvSpPr>
            <a:spLocks noGrp="1"/>
          </p:cNvSpPr>
          <p:nvPr>
            <p:ph type="sldNum" sz="quarter" idx="10"/>
          </p:nvPr>
        </p:nvSpPr>
        <p:spPr/>
        <p:txBody>
          <a:bodyPr/>
          <a:lstStyle/>
          <a:p>
            <a:fld id="{FD8FA278-A2EE-4DC5-87FE-992C8F039793}" type="slidenum">
              <a:rPr lang="en-US" smtClean="0"/>
              <a:pPr/>
              <a:t>32</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kern="0" dirty="0" smtClean="0">
                <a:latin typeface="Calibri" pitchFamily="34" charset="0"/>
              </a:rPr>
              <a:t>Partner can include Live Services in their offerings to customer – for example hosted e-mail</a:t>
            </a:r>
          </a:p>
          <a:p>
            <a:endParaRPr lang="en-US" dirty="0" smtClean="0"/>
          </a:p>
          <a:p>
            <a:r>
              <a:rPr lang="en-US" dirty="0" smtClean="0"/>
              <a:t>Users benefit - single sign-on (SSO) experience because they enter credentials only once to access resources offered both by their identity provider’s network (for example, account-management services) and by the Windows Live network—sites and services where Windows Live ID provides user authentication.</a:t>
            </a:r>
          </a:p>
          <a:p>
            <a:endParaRPr lang="en-US" dirty="0" smtClean="0"/>
          </a:p>
          <a:p>
            <a:r>
              <a:rPr lang="en-US" dirty="0" smtClean="0"/>
              <a:t>Organizations benefit by offering services of value to their users, without having to build or manage those services themselves.</a:t>
            </a:r>
          </a:p>
          <a:p>
            <a:endParaRPr lang="en-US" dirty="0" smtClean="0"/>
          </a:p>
          <a:p>
            <a:r>
              <a:rPr lang="en-US" dirty="0" smtClean="0"/>
              <a:t>A major benefit of federation is the ease with which identities can be created and maintained. Federated Windows Live ID identities are created and updated automatically by means of industry-standard tokens sent from the identity provider to the Windows Live ID service. Thanks to the design of the trust relationship, the identity provider does not need to do any work to set up, maintain, or delete Windows Live ID identities for its users. Windows Live ID automatically creates a mapping between the federated identity and a new Windows Live ID identity when the user first accesses a protected Windows Live service. </a:t>
            </a:r>
          </a:p>
          <a:p>
            <a:endParaRPr lang="en-US" dirty="0" smtClean="0"/>
          </a:p>
          <a:p>
            <a:r>
              <a:rPr lang="en-US" dirty="0" smtClean="0"/>
              <a:t>Users who discontinue their account with the federated identity provider can no longer sign in with that provider, and so also can no longer access Windows Live services by using their federated identity because no authentication token will be sent to Windows Live ID.</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34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CF1B02-839F-4093-B872-A2447763456A}" type="slidenum">
              <a:rPr lang="en-US" smtClean="0"/>
              <a:pPr/>
              <a:t>35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Federation is a trust-based agreement between two organizations with some common purpose, such that both want authentication assertions from one organization to be recognized by the other. </a:t>
            </a:r>
          </a:p>
          <a:p>
            <a:pPr lvl="1"/>
            <a:endParaRPr lang="en-US" dirty="0" smtClean="0"/>
          </a:p>
          <a:p>
            <a:r>
              <a:rPr lang="en-US" dirty="0" smtClean="0"/>
              <a:t>Federation involves two parties: </a:t>
            </a:r>
          </a:p>
          <a:p>
            <a:pPr lvl="1"/>
            <a:r>
              <a:rPr lang="en-US" dirty="0" smtClean="0"/>
              <a:t>The identity provider authenticates users’ identity accounts so that those users can access resources in third-party networks.</a:t>
            </a:r>
            <a:br>
              <a:rPr lang="en-US" dirty="0" smtClean="0"/>
            </a:br>
            <a:endParaRPr lang="en-US" dirty="0" smtClean="0"/>
          </a:p>
          <a:p>
            <a:pPr lvl="1"/>
            <a:r>
              <a:rPr lang="en-US" dirty="0" smtClean="0"/>
              <a:t>The resource provider permits identities authenticated by an identity provider to access resources in its network.</a:t>
            </a:r>
            <a:br>
              <a:rPr lang="en-US" dirty="0" smtClean="0"/>
            </a:br>
            <a:endParaRPr lang="en-US" dirty="0" smtClean="0"/>
          </a:p>
          <a:p>
            <a:r>
              <a:rPr lang="en-US" dirty="0" smtClean="0"/>
              <a:t>This trust relationship can be unidirectional or bidirectional. Windows Live ID is capable of playing either role. </a:t>
            </a:r>
          </a:p>
          <a:p>
            <a:endParaRPr lang="en-US" dirty="0" smtClean="0"/>
          </a:p>
          <a:p>
            <a:pPr marL="52388" lvl="0" indent="-52388">
              <a:buClr>
                <a:schemeClr val="accent3"/>
              </a:buClr>
              <a:buSzPct val="95000"/>
            </a:pPr>
            <a:r>
              <a:rPr lang="en-US" sz="1800" b="1" kern="0" dirty="0" smtClean="0">
                <a:latin typeface="Calibri" pitchFamily="34" charset="0"/>
              </a:rPr>
              <a:t>Federation allows partners to give their users access to Live Services</a:t>
            </a:r>
          </a:p>
          <a:p>
            <a:pPr marL="569913" lvl="1" indent="-52388">
              <a:buClr>
                <a:schemeClr val="accent3"/>
              </a:buClr>
              <a:buSzPct val="95000"/>
            </a:pPr>
            <a:r>
              <a:rPr lang="en-US" sz="1400" kern="0" dirty="0" smtClean="0">
                <a:latin typeface="Calibri" pitchFamily="34" charset="0"/>
              </a:rPr>
              <a:t>Partner is identity provider – for example your ISP</a:t>
            </a:r>
          </a:p>
          <a:p>
            <a:pPr marL="569913" lvl="1" indent="-52388">
              <a:buClr>
                <a:schemeClr val="accent3"/>
              </a:buClr>
              <a:buSzPct val="95000"/>
            </a:pPr>
            <a:r>
              <a:rPr lang="en-US" sz="1400" kern="0" dirty="0" smtClean="0">
                <a:latin typeface="Calibri" pitchFamily="34" charset="0"/>
              </a:rPr>
              <a:t>Partner can include Live Services in their offerings to customer – for example hosted e-mail</a:t>
            </a:r>
          </a:p>
          <a:p>
            <a:pPr marL="52388" indent="-52388">
              <a:buClr>
                <a:schemeClr val="accent3"/>
              </a:buClr>
              <a:buSzPct val="95000"/>
            </a:pPr>
            <a:r>
              <a:rPr lang="en-US" sz="2000" kern="0" dirty="0" smtClean="0">
                <a:latin typeface="Calibri" pitchFamily="34" charset="0"/>
              </a:rPr>
              <a:t>Based on WS-* standards and extended to Service Scenarios:  </a:t>
            </a:r>
          </a:p>
          <a:p>
            <a:pPr marL="569913" lvl="1" indent="-52388">
              <a:buClr>
                <a:schemeClr val="accent3"/>
              </a:buClr>
              <a:buSzPct val="95000"/>
            </a:pPr>
            <a:r>
              <a:rPr lang="en-US" sz="1400" kern="0" dirty="0" smtClean="0">
                <a:latin typeface="Calibri" pitchFamily="34" charset="0"/>
              </a:rPr>
              <a:t>Automated trust provisioning – WS-Fed extension</a:t>
            </a:r>
          </a:p>
          <a:p>
            <a:pPr marL="569913" lvl="1" indent="-52388">
              <a:buClr>
                <a:schemeClr val="accent3"/>
              </a:buClr>
              <a:buSzPct val="95000"/>
            </a:pPr>
            <a:r>
              <a:rPr lang="en-US" sz="1400" kern="0" dirty="0" smtClean="0">
                <a:latin typeface="Calibri" pitchFamily="34" charset="0"/>
              </a:rPr>
              <a:t>Batch request optimization to reduce roundtrip – WS-Trust extension</a:t>
            </a:r>
          </a:p>
          <a:p>
            <a:pPr marL="569913" lvl="1" indent="-52388">
              <a:buClr>
                <a:schemeClr val="accent3"/>
              </a:buClr>
              <a:buSzPct val="95000"/>
            </a:pPr>
            <a:r>
              <a:rPr lang="en-US" sz="1400" kern="0" dirty="0" smtClean="0">
                <a:latin typeface="Calibri" pitchFamily="34" charset="0"/>
              </a:rPr>
              <a:t>Forced sign in, sign-in security level  (strong password, pin) – SAML extension</a:t>
            </a:r>
          </a:p>
          <a:p>
            <a:pPr marL="52388" indent="-52388">
              <a:buClr>
                <a:schemeClr val="accent3"/>
              </a:buClr>
              <a:buSzPct val="95000"/>
            </a:pPr>
            <a:r>
              <a:rPr lang="en-US" sz="2000" kern="0" dirty="0" smtClean="0">
                <a:latin typeface="Calibri" pitchFamily="34" charset="0"/>
              </a:rPr>
              <a:t>Easy partner on-boarding is more than just standard protocols</a:t>
            </a:r>
          </a:p>
          <a:p>
            <a:pPr marL="569913" lvl="1" indent="-52388">
              <a:buClr>
                <a:schemeClr val="accent3"/>
              </a:buClr>
              <a:buSzPct val="95000"/>
            </a:pPr>
            <a:r>
              <a:rPr lang="en-US" sz="1400" kern="0" dirty="0" smtClean="0">
                <a:latin typeface="Calibri" pitchFamily="34" charset="0"/>
              </a:rPr>
              <a:t>Realm discovery to route authentication to the right provider &amp; cache for subsequent visits </a:t>
            </a:r>
          </a:p>
          <a:p>
            <a:pPr marL="569913" lvl="1" indent="-52388">
              <a:buClr>
                <a:schemeClr val="accent3"/>
              </a:buClr>
              <a:buSzPct val="95000"/>
            </a:pPr>
            <a:r>
              <a:rPr lang="en-US" sz="1400" kern="0" dirty="0" smtClean="0">
                <a:latin typeface="Calibri" pitchFamily="34" charset="0"/>
              </a:rPr>
              <a:t>Cleanup namespace - Evict squatters</a:t>
            </a:r>
          </a:p>
          <a:p>
            <a:pPr marL="569913" lvl="1" indent="-52388">
              <a:buClr>
                <a:schemeClr val="accent3"/>
              </a:buClr>
              <a:buSzPct val="95000"/>
            </a:pPr>
            <a:r>
              <a:rPr lang="en-US" sz="1400" kern="0" dirty="0" smtClean="0">
                <a:latin typeface="Calibri" pitchFamily="34" charset="0"/>
              </a:rPr>
              <a:t>Support certificate rollover: store two versions of certs</a:t>
            </a:r>
          </a:p>
          <a:p>
            <a:pPr marL="52388" indent="-52388">
              <a:buClr>
                <a:schemeClr val="accent3"/>
              </a:buClr>
              <a:buSzPct val="95000"/>
            </a:pPr>
            <a:r>
              <a:rPr lang="en-US" sz="2000" kern="0" dirty="0" smtClean="0">
                <a:latin typeface="Calibri" pitchFamily="34" charset="0"/>
              </a:rPr>
              <a:t>Shadow account creation makes federation invisible to Microsoft services: </a:t>
            </a:r>
          </a:p>
          <a:p>
            <a:pPr marL="569913" lvl="1" indent="-52388">
              <a:buClr>
                <a:schemeClr val="accent3"/>
              </a:buClr>
              <a:buSzPct val="95000"/>
            </a:pPr>
            <a:r>
              <a:rPr lang="en-US" sz="1400" kern="0" dirty="0" smtClean="0">
                <a:latin typeface="Calibri" pitchFamily="34" charset="0"/>
              </a:rPr>
              <a:t>Create PUID / shadow account on the fly </a:t>
            </a:r>
          </a:p>
          <a:p>
            <a:pPr marL="569913" lvl="1" indent="-52388">
              <a:buClr>
                <a:schemeClr val="accent3"/>
              </a:buClr>
              <a:buSzPct val="95000"/>
            </a:pPr>
            <a:r>
              <a:rPr lang="en-US" sz="1400" kern="0" dirty="0" smtClean="0">
                <a:latin typeface="Calibri" pitchFamily="34" charset="0"/>
              </a:rPr>
              <a:t>UPN in foreign token as the account name and store email name</a:t>
            </a:r>
          </a:p>
          <a:p>
            <a:pPr marL="569913" lvl="1" indent="-52388">
              <a:buClr>
                <a:schemeClr val="accent3"/>
              </a:buClr>
              <a:buSzPct val="95000"/>
            </a:pPr>
            <a:r>
              <a:rPr lang="en-US" sz="1400" kern="0" dirty="0" smtClean="0">
                <a:latin typeface="Calibri" pitchFamily="34" charset="0"/>
              </a:rPr>
              <a:t>E-mail name is member name to Live service, rename on the fly if e-mail name changes</a:t>
            </a:r>
          </a:p>
          <a:p>
            <a:pPr marL="569913" lvl="1" indent="-52388">
              <a:buClr>
                <a:schemeClr val="accent3"/>
              </a:buClr>
              <a:buSzPct val="95000"/>
            </a:pPr>
            <a:r>
              <a:rPr lang="en-US" sz="1400" kern="0" dirty="0" smtClean="0">
                <a:latin typeface="Calibri" pitchFamily="34" charset="0"/>
              </a:rPr>
              <a:t>Backwards compatible with existing services: auth tokens look the same for fed and WLID users</a:t>
            </a:r>
          </a:p>
          <a:p>
            <a:pPr marL="52388" indent="-52388">
              <a:buClr>
                <a:schemeClr val="accent3"/>
              </a:buClr>
              <a:buSzPct val="95000"/>
            </a:pPr>
            <a:r>
              <a:rPr lang="en-US" sz="2000" kern="0" dirty="0" smtClean="0">
                <a:latin typeface="Calibri" pitchFamily="34" charset="0"/>
              </a:rPr>
              <a:t>Linking with WLID leverages user’s existing investment in Live for best UX</a:t>
            </a:r>
          </a:p>
          <a:p>
            <a:pPr marL="569913" lvl="1" indent="-52388">
              <a:buClr>
                <a:schemeClr val="accent3"/>
              </a:buClr>
              <a:buSzPct val="95000"/>
            </a:pPr>
            <a:r>
              <a:rPr lang="en-US" sz="1400" kern="0" dirty="0" smtClean="0">
                <a:latin typeface="Calibri" pitchFamily="34" charset="0"/>
              </a:rPr>
              <a:t>Account merge: if account has the same name (EASI) merge and keep the PUID for data access </a:t>
            </a:r>
          </a:p>
          <a:p>
            <a:pPr marL="569913" lvl="1" indent="-52388">
              <a:buClr>
                <a:schemeClr val="accent3"/>
              </a:buClr>
              <a:buSzPct val="95000"/>
            </a:pPr>
            <a:r>
              <a:rPr lang="en-US" sz="1400" kern="0" dirty="0" smtClean="0">
                <a:latin typeface="Calibri" pitchFamily="34" charset="0"/>
              </a:rPr>
              <a:t>Link to a different Live ID</a:t>
            </a:r>
          </a:p>
          <a:p>
            <a:pPr marL="569913" lvl="1" indent="-52388">
              <a:buClr>
                <a:schemeClr val="accent3"/>
              </a:buClr>
              <a:buSzPct val="95000"/>
            </a:pPr>
            <a:r>
              <a:rPr lang="en-US" sz="1400" kern="0" dirty="0" smtClean="0">
                <a:latin typeface="Calibri" pitchFamily="34" charset="0"/>
              </a:rPr>
              <a:t>Divorce: Accruing data for password reset allows Microsoft to keep users when they leave the federated partner</a:t>
            </a:r>
          </a:p>
          <a:p>
            <a:pPr>
              <a:buFont typeface="Wingdings" pitchFamily="2" charset="2"/>
              <a:buNone/>
            </a:pPr>
            <a:endParaRPr lang="en-US" sz="4700" dirty="0"/>
          </a:p>
        </p:txBody>
      </p:sp>
      <p:sp>
        <p:nvSpPr>
          <p:cNvPr id="4" name="Slide Number Placeholder 3"/>
          <p:cNvSpPr>
            <a:spLocks noGrp="1"/>
          </p:cNvSpPr>
          <p:nvPr>
            <p:ph type="sldNum" sz="quarter" idx="10"/>
          </p:nvPr>
        </p:nvSpPr>
        <p:spPr/>
        <p:txBody>
          <a:bodyPr/>
          <a:lstStyle/>
          <a:p>
            <a:fld id="{A8671791-9B95-4C59-974F-BE2DCDC344BB}" type="slidenum">
              <a:rPr lang="en-US" smtClean="0"/>
              <a:pPr/>
              <a:t>36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Scenario/Requirement</a:t>
            </a:r>
          </a:p>
          <a:p>
            <a:pPr lvl="1"/>
            <a:r>
              <a:rPr lang="en-US" dirty="0" err="1" smtClean="0"/>
              <a:t>CreatePassport</a:t>
            </a:r>
            <a:r>
              <a:rPr lang="en-US" dirty="0" smtClean="0"/>
              <a:t>() API can also provision services that the user has signup for.  (e.g., pre-create inbox so that an welcome email can be sent)</a:t>
            </a:r>
          </a:p>
          <a:p>
            <a:pPr lvl="1"/>
            <a:r>
              <a:rPr lang="en-US" dirty="0" smtClean="0"/>
              <a:t>Service offering changes over time: </a:t>
            </a:r>
          </a:p>
          <a:p>
            <a:pPr lvl="2"/>
            <a:r>
              <a:rPr lang="en-US" dirty="0" smtClean="0"/>
              <a:t>new services can be added; </a:t>
            </a:r>
          </a:p>
          <a:p>
            <a:pPr lvl="2"/>
            <a:r>
              <a:rPr lang="en-US" dirty="0" smtClean="0"/>
              <a:t>an offer can be time bound (eg. free trial for 2 month); </a:t>
            </a:r>
          </a:p>
          <a:p>
            <a:pPr lvl="2"/>
            <a:r>
              <a:rPr lang="en-US" dirty="0" smtClean="0"/>
              <a:t>existing users need to retroactively add new services;  </a:t>
            </a:r>
          </a:p>
          <a:p>
            <a:pPr lvl="2"/>
            <a:r>
              <a:rPr lang="en-US" dirty="0" smtClean="0"/>
              <a:t>a user might convert from one offer to another. </a:t>
            </a:r>
          </a:p>
          <a:p>
            <a:pPr lvl="1"/>
            <a:r>
              <a:rPr lang="en-US" dirty="0" smtClean="0"/>
              <a:t>When a user leaves an service offering, the system must de-provision</a:t>
            </a:r>
          </a:p>
          <a:p>
            <a:r>
              <a:rPr lang="en-US" dirty="0" smtClean="0"/>
              <a:t>Solution</a:t>
            </a:r>
          </a:p>
          <a:p>
            <a:pPr lvl="1"/>
            <a:r>
              <a:rPr lang="en-US" dirty="0" smtClean="0"/>
              <a:t>Scalable system to 100s of millions of users</a:t>
            </a:r>
          </a:p>
          <a:p>
            <a:pPr lvl="1"/>
            <a:r>
              <a:rPr lang="en-US" dirty="0" smtClean="0"/>
              <a:t>Fully data driven to reconfigure offer and business rules</a:t>
            </a:r>
          </a:p>
          <a:p>
            <a:pPr lvl="1"/>
            <a:r>
              <a:rPr lang="en-US" dirty="0" smtClean="0"/>
              <a:t>Simple on-boarding for net-ops through Windows Live Syndication Central</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37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A good talking point –OpenID (and to some extent OAuth) are driven by communities of enthusiasts.  While the enthusiasts drive a lot of noise, they don’t necessarily have a huge stake in the game, nor are they bound to deliver solutions that work at scale in the real world. Most have experiences of supporting a few million users at most.</a:t>
            </a:r>
          </a:p>
          <a:p>
            <a:r>
              <a:rPr lang="en-US" sz="1200" kern="1200" dirty="0" smtClean="0">
                <a:solidFill>
                  <a:schemeClr val="tx1"/>
                </a:solidFill>
                <a:latin typeface="+mn-lt"/>
                <a:ea typeface="+mn-ea"/>
                <a:cs typeface="+mn-cs"/>
              </a:rPr>
              <a:t>In contrast, Live ID  is driving huge scale solutions in the real world.  </a:t>
            </a:r>
          </a:p>
          <a:p>
            <a:r>
              <a:rPr lang="en-US" sz="1200" kern="1200" dirty="0" smtClean="0">
                <a:solidFill>
                  <a:schemeClr val="tx1"/>
                </a:solidFill>
                <a:latin typeface="+mn-lt"/>
                <a:ea typeface="+mn-ea"/>
                <a:cs typeface="+mn-cs"/>
              </a:rPr>
              <a:t>It is expected that OpenID and OAuth will need to adapt to the real world considerations before broad adoption (of sites that actually matter) can occur.</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40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41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Good authentication is secure but unobtrusive</a:t>
            </a:r>
          </a:p>
          <a:p>
            <a:r>
              <a:rPr lang="en-US" dirty="0" smtClean="0"/>
              <a:t>	The less you notice security</a:t>
            </a:r>
            <a:r>
              <a:rPr lang="en-US" baseline="0" dirty="0" smtClean="0"/>
              <a:t> steps the better provided they still keep you secure</a:t>
            </a:r>
            <a:endParaRPr lang="en-US" dirty="0" smtClean="0"/>
          </a:p>
          <a:p>
            <a:r>
              <a:rPr lang="en-US" dirty="0" smtClean="0"/>
              <a:t>Ease-of-use is the goal and the challenge – Geeks </a:t>
            </a:r>
            <a:r>
              <a:rPr lang="en-US" dirty="0" err="1" smtClean="0"/>
              <a:t>vs</a:t>
            </a:r>
            <a:r>
              <a:rPr lang="en-US" dirty="0" smtClean="0"/>
              <a:t> Grandma’s</a:t>
            </a:r>
          </a:p>
          <a:p>
            <a:pPr lvl="1"/>
            <a:r>
              <a:rPr lang="en-US" dirty="0" smtClean="0"/>
              <a:t>URI’s are good for Geeks but bad for Grandmas</a:t>
            </a:r>
          </a:p>
          <a:p>
            <a:r>
              <a:rPr lang="en-US" dirty="0" smtClean="0"/>
              <a:t>Specs are “easy”, scale is hard</a:t>
            </a:r>
          </a:p>
          <a:p>
            <a:r>
              <a:rPr lang="en-US" dirty="0" smtClean="0"/>
              <a:t>Live ID Vision is “Identity without borders”</a:t>
            </a:r>
          </a:p>
          <a:p>
            <a:r>
              <a:rPr lang="en-US" dirty="0" smtClean="0"/>
              <a:t>In the end, it’s all about the data!</a:t>
            </a:r>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42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4" name="Picture 5" descr="techready7_finallogo_reversecolor.png"/>
          <p:cNvPicPr>
            <a:picLocks noChangeAspect="1"/>
          </p:cNvPicPr>
          <p:nvPr/>
        </p:nvPicPr>
        <p:blipFill>
          <a:blip r:embed="rId3" cstate="print"/>
          <a:srcRect/>
          <a:stretch>
            <a:fillRect/>
          </a:stretch>
        </p:blipFill>
        <p:spPr bwMode="auto">
          <a:xfrm>
            <a:off x="7510463" y="6348413"/>
            <a:ext cx="1557337" cy="433387"/>
          </a:xfrm>
          <a:prstGeom prst="rect">
            <a:avLst/>
          </a:prstGeom>
          <a:noFill/>
          <a:ln w="9525">
            <a:noFill/>
            <a:miter lim="800000"/>
            <a:headEnd/>
            <a:tailEnd/>
          </a:ln>
        </p:spPr>
      </p:pic>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gradFill>
                  <a:gsLst>
                    <a:gs pos="50000">
                      <a:schemeClr val="tx1"/>
                    </a:gs>
                    <a:gs pos="100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mo, Video etc. &quot;special&quot; slides">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5" name="Picture 7" descr="white-curve-bar.png"/>
          <p:cNvPicPr>
            <a:picLocks noChangeAspect="1"/>
          </p:cNvPicPr>
          <p:nvPr/>
        </p:nvPicPr>
        <p:blipFill>
          <a:blip r:embed="rId3" cstate="print"/>
          <a:srcRect/>
          <a:stretch>
            <a:fillRect/>
          </a:stretch>
        </p:blipFill>
        <p:spPr bwMode="auto">
          <a:xfrm>
            <a:off x="0" y="3433763"/>
            <a:ext cx="9144000" cy="1900237"/>
          </a:xfrm>
          <a:prstGeom prst="rect">
            <a:avLst/>
          </a:prstGeom>
          <a:noFill/>
          <a:ln w="9525">
            <a:noFill/>
            <a:miter lim="800000"/>
            <a:headEnd/>
            <a:tailEnd/>
          </a:ln>
        </p:spPr>
      </p:pic>
      <p:pic>
        <p:nvPicPr>
          <p:cNvPr id="6" name="Picture 7" descr="techready7_finallogo_reversecolor.png"/>
          <p:cNvPicPr>
            <a:picLocks noChangeAspect="1"/>
          </p:cNvPicPr>
          <p:nvPr/>
        </p:nvPicPr>
        <p:blipFill>
          <a:blip r:embed="rId4" cstate="print"/>
          <a:srcRect/>
          <a:stretch>
            <a:fillRect/>
          </a:stretch>
        </p:blipFill>
        <p:spPr bwMode="auto">
          <a:xfrm>
            <a:off x="7510463" y="6348413"/>
            <a:ext cx="1557337" cy="433387"/>
          </a:xfrm>
          <a:prstGeom prst="rect">
            <a:avLst/>
          </a:prstGeom>
          <a:noFill/>
          <a:ln w="9525">
            <a:noFill/>
            <a:miter lim="800000"/>
            <a:headEnd/>
            <a:tailEnd/>
          </a:ln>
        </p:spPr>
      </p:pic>
      <p:sp>
        <p:nvSpPr>
          <p:cNvPr id="2" name="Title 1"/>
          <p:cNvSpPr>
            <a:spLocks noGrp="1"/>
          </p:cNvSpPr>
          <p:nvPr>
            <p:ph type="ctrTitle"/>
          </p:nvPr>
        </p:nvSpPr>
        <p:spPr>
          <a:xfrm>
            <a:off x="381000" y="644778"/>
            <a:ext cx="8382000"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381000" y="4343400"/>
            <a:ext cx="7043208" cy="461665"/>
          </a:xfrm>
        </p:spPr>
        <p:txBody>
          <a:bodyPr>
            <a:noAutofit/>
          </a:bodyPr>
          <a:lstStyle>
            <a:lvl1pPr marL="0" indent="0" algn="l">
              <a:lnSpc>
                <a:spcPct val="90000"/>
              </a:lnSpc>
              <a:spcBef>
                <a:spcPts val="0"/>
              </a:spcBef>
              <a:buNone/>
              <a:defRPr>
                <a:gradFill>
                  <a:gsLst>
                    <a:gs pos="50000">
                      <a:schemeClr val="tx1"/>
                    </a:gs>
                    <a:gs pos="100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p:nvPr>
        </p:nvSpPr>
        <p:spPr>
          <a:xfrm>
            <a:off x="722049" y="2355850"/>
            <a:ext cx="7690114" cy="1384994"/>
          </a:xfrm>
        </p:spPr>
        <p:txBody>
          <a:bodyPr rtlCol="0">
            <a:noAutofit/>
            <a:scene3d>
              <a:camera prst="orthographicFront"/>
              <a:lightRig rig="flat" dir="t"/>
            </a:scene3d>
            <a:sp3d extrusionH="88900" contourW="2540">
              <a:bevelT w="38100" h="31750"/>
              <a:contourClr>
                <a:srgbClr val="F4A234"/>
              </a:contourClr>
            </a:sp3d>
          </a:bodyPr>
          <a:lstStyle>
            <a:lvl1pPr marL="0" indent="0" algn="r">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Segoe" pitchFamily="34" charset="0"/>
                <a:ea typeface="+mn-ea"/>
                <a:cs typeface="+mn-cs"/>
              </a:defRPr>
            </a:lvl1pPr>
          </a:lstStyle>
          <a:p>
            <a:pPr lvl="0"/>
            <a:r>
              <a:rPr lang="en-US" smtClean="0"/>
              <a:t>Click to edit Master text styles</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lIns="152394" tIns="76197" rIns="152394" bIns="76197" anchor="b">
            <a:noAutofit/>
          </a:bodyPr>
          <a:lstStyle>
            <a:lvl1pPr algn="r">
              <a:buFont typeface="Arial" pitchFamily="34" charset="0"/>
              <a:buNone/>
              <a:defRPr>
                <a:solidFill>
                  <a:srgbClr val="000000"/>
                </a:solidFill>
                <a:effectLst/>
                <a:latin typeface="Segoe Semibold"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a:prstGeom prst="rect">
            <a:avLst/>
          </a:prstGeom>
        </p:spPr>
        <p:txBody>
          <a:bodyPr/>
          <a:lstStyle>
            <a:lvl1pPr>
              <a:defRPr/>
            </a:lvl1pPr>
          </a:lstStyle>
          <a:p>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5162"/>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1027" name="Text Placeholder 2"/>
          <p:cNvSpPr>
            <a:spLocks noGrp="1"/>
          </p:cNvSpPr>
          <p:nvPr>
            <p:ph type="body" idx="1"/>
          </p:nvPr>
        </p:nvSpPr>
        <p:spPr bwMode="auto">
          <a:xfrm>
            <a:off x="381000" y="1412875"/>
            <a:ext cx="8382000" cy="21351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Box 4"/>
          <p:cNvSpPr txBox="1"/>
          <p:nvPr/>
        </p:nvSpPr>
        <p:spPr>
          <a:xfrm>
            <a:off x="3733694" y="6603672"/>
            <a:ext cx="1676613" cy="276999"/>
          </a:xfrm>
          <a:prstGeom prst="rect">
            <a:avLst/>
          </a:prstGeom>
          <a:noFill/>
        </p:spPr>
        <p:txBody>
          <a:bodyPr wrap="none">
            <a:spAutoFit/>
          </a:bodyPr>
          <a:lstStyle/>
          <a:p>
            <a:pPr>
              <a:defRPr/>
            </a:pPr>
            <a:r>
              <a:rPr lang="en-US" sz="1200" dirty="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Microsoft Confidential</a:t>
            </a: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75" r:id="rId13"/>
  </p:sldLayoutIdLst>
  <p:transition>
    <p:fade/>
  </p:transition>
  <p:hf hdr="0"/>
  <p:txStyles>
    <p:titleStyle>
      <a:lvl1pPr algn="l" defTabSz="912813" rtl="0" eaLnBrk="1" fontAlgn="base" hangingPunct="1">
        <a:lnSpc>
          <a:spcPct val="90000"/>
        </a:lnSpc>
        <a:spcBef>
          <a:spcPct val="0"/>
        </a:spcBef>
        <a:spcAft>
          <a:spcPct val="0"/>
        </a:spcAft>
        <a:defRPr lang="en-US" sz="4800" kern="1200"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ea typeface="+mn-ea"/>
          <a:cs typeface="Arial" charset="0"/>
        </a:defRPr>
      </a:lvl1pPr>
      <a:lvl2pPr algn="l" defTabSz="912813" rtl="0" eaLnBrk="1" fontAlgn="base" hangingPunct="1">
        <a:lnSpc>
          <a:spcPct val="90000"/>
        </a:lnSpc>
        <a:spcBef>
          <a:spcPct val="0"/>
        </a:spcBef>
        <a:spcAft>
          <a:spcPct val="0"/>
        </a:spcAft>
        <a:defRPr sz="4800">
          <a:solidFill>
            <a:schemeClr val="tx1"/>
          </a:solidFill>
          <a:latin typeface="Segoe"/>
          <a:cs typeface="Arial" charset="0"/>
        </a:defRPr>
      </a:lvl2pPr>
      <a:lvl3pPr algn="l" defTabSz="912813" rtl="0" eaLnBrk="1" fontAlgn="base" hangingPunct="1">
        <a:lnSpc>
          <a:spcPct val="90000"/>
        </a:lnSpc>
        <a:spcBef>
          <a:spcPct val="0"/>
        </a:spcBef>
        <a:spcAft>
          <a:spcPct val="0"/>
        </a:spcAft>
        <a:defRPr sz="4800">
          <a:solidFill>
            <a:schemeClr val="tx1"/>
          </a:solidFill>
          <a:latin typeface="Segoe"/>
          <a:cs typeface="Arial" charset="0"/>
        </a:defRPr>
      </a:lvl3pPr>
      <a:lvl4pPr algn="l" defTabSz="912813" rtl="0" eaLnBrk="1" fontAlgn="base" hangingPunct="1">
        <a:lnSpc>
          <a:spcPct val="90000"/>
        </a:lnSpc>
        <a:spcBef>
          <a:spcPct val="0"/>
        </a:spcBef>
        <a:spcAft>
          <a:spcPct val="0"/>
        </a:spcAft>
        <a:defRPr sz="4800">
          <a:solidFill>
            <a:schemeClr val="tx1"/>
          </a:solidFill>
          <a:latin typeface="Segoe"/>
          <a:cs typeface="Arial" charset="0"/>
        </a:defRPr>
      </a:lvl4pPr>
      <a:lvl5pPr algn="l" defTabSz="912813" rtl="0" eaLnBrk="1" fontAlgn="base" hangingPunct="1">
        <a:lnSpc>
          <a:spcPct val="90000"/>
        </a:lnSpc>
        <a:spcBef>
          <a:spcPct val="0"/>
        </a:spcBef>
        <a:spcAft>
          <a:spcPct val="0"/>
        </a:spcAft>
        <a:defRPr sz="4800">
          <a:solidFill>
            <a:schemeClr val="tx1"/>
          </a:solidFill>
          <a:latin typeface="Segoe"/>
          <a:cs typeface="Arial" charset="0"/>
        </a:defRPr>
      </a:lvl5pPr>
      <a:lvl6pPr marL="457200" algn="l" defTabSz="912813" rtl="0" eaLnBrk="1" fontAlgn="base" hangingPunct="1">
        <a:lnSpc>
          <a:spcPct val="90000"/>
        </a:lnSpc>
        <a:spcBef>
          <a:spcPct val="0"/>
        </a:spcBef>
        <a:spcAft>
          <a:spcPct val="0"/>
        </a:spcAft>
        <a:defRPr sz="4800">
          <a:solidFill>
            <a:schemeClr val="tx1"/>
          </a:solidFill>
          <a:latin typeface="Segoe"/>
          <a:cs typeface="Arial" charset="0"/>
        </a:defRPr>
      </a:lvl6pPr>
      <a:lvl7pPr marL="914400" algn="l" defTabSz="912813" rtl="0" eaLnBrk="1" fontAlgn="base" hangingPunct="1">
        <a:lnSpc>
          <a:spcPct val="90000"/>
        </a:lnSpc>
        <a:spcBef>
          <a:spcPct val="0"/>
        </a:spcBef>
        <a:spcAft>
          <a:spcPct val="0"/>
        </a:spcAft>
        <a:defRPr sz="4800">
          <a:solidFill>
            <a:schemeClr val="tx1"/>
          </a:solidFill>
          <a:latin typeface="Segoe"/>
          <a:cs typeface="Arial" charset="0"/>
        </a:defRPr>
      </a:lvl7pPr>
      <a:lvl8pPr marL="1371600" algn="l" defTabSz="912813" rtl="0" eaLnBrk="1" fontAlgn="base" hangingPunct="1">
        <a:lnSpc>
          <a:spcPct val="90000"/>
        </a:lnSpc>
        <a:spcBef>
          <a:spcPct val="0"/>
        </a:spcBef>
        <a:spcAft>
          <a:spcPct val="0"/>
        </a:spcAft>
        <a:defRPr sz="4800">
          <a:solidFill>
            <a:schemeClr val="tx1"/>
          </a:solidFill>
          <a:latin typeface="Segoe"/>
          <a:cs typeface="Arial" charset="0"/>
        </a:defRPr>
      </a:lvl8pPr>
      <a:lvl9pPr marL="1828800" algn="l" defTabSz="912813" rtl="0" eaLnBrk="1" fontAlgn="base" hangingPunct="1">
        <a:lnSpc>
          <a:spcPct val="90000"/>
        </a:lnSpc>
        <a:spcBef>
          <a:spcPct val="0"/>
        </a:spcBef>
        <a:spcAft>
          <a:spcPct val="0"/>
        </a:spcAft>
        <a:defRPr sz="4800">
          <a:solidFill>
            <a:schemeClr val="tx1"/>
          </a:solidFill>
          <a:latin typeface="Segoe"/>
          <a:cs typeface="Arial" charset="0"/>
        </a:defRPr>
      </a:lvl9pPr>
    </p:titleStyle>
    <p:bodyStyle>
      <a:lvl1pPr marL="461963" indent="-461963" algn="l" defTabSz="912813" rtl="0" eaLnBrk="1" fontAlgn="base" hangingPunct="1">
        <a:lnSpc>
          <a:spcPct val="90000"/>
        </a:lnSpc>
        <a:spcBef>
          <a:spcPct val="20000"/>
        </a:spcBef>
        <a:spcAft>
          <a:spcPct val="0"/>
        </a:spcAft>
        <a:buBlip>
          <a:blip r:embed="rId16"/>
        </a:buBlip>
        <a:defRPr sz="3200" kern="1200">
          <a:gradFill>
            <a:gsLst>
              <a:gs pos="50000">
                <a:schemeClr val="tx1"/>
              </a:gs>
              <a:gs pos="100000">
                <a:schemeClr val="tx1"/>
              </a:gs>
            </a:gsLst>
            <a:lin ang="5400000" scaled="0"/>
          </a:gradFill>
          <a:effectLst>
            <a:outerShdw blurRad="38100" dist="38100" dir="2700000" algn="tl">
              <a:srgbClr val="000000">
                <a:alpha val="43137"/>
              </a:srgbClr>
            </a:outerShdw>
          </a:effectLst>
          <a:latin typeface="+mn-lt"/>
          <a:ea typeface="+mn-ea"/>
          <a:cs typeface="+mn-cs"/>
        </a:defRPr>
      </a:lvl1pPr>
      <a:lvl2pPr marL="858838" indent="-396875" algn="l" defTabSz="912813" rtl="0" eaLnBrk="1" fontAlgn="base" hangingPunct="1">
        <a:lnSpc>
          <a:spcPct val="90000"/>
        </a:lnSpc>
        <a:spcBef>
          <a:spcPct val="20000"/>
        </a:spcBef>
        <a:spcAft>
          <a:spcPct val="0"/>
        </a:spcAft>
        <a:buBlip>
          <a:blip r:embed="rId16"/>
        </a:buBlip>
        <a:defRPr sz="2800" kern="1200">
          <a:gradFill>
            <a:gsLst>
              <a:gs pos="50000">
                <a:schemeClr val="tx1"/>
              </a:gs>
              <a:gs pos="100000">
                <a:schemeClr val="tx1"/>
              </a:gs>
            </a:gsLst>
            <a:lin ang="5400000" scaled="0"/>
          </a:gradFill>
          <a:effectLst>
            <a:outerShdw blurRad="38100" dist="38100" dir="2700000" algn="tl">
              <a:srgbClr val="000000">
                <a:alpha val="43137"/>
              </a:srgbClr>
            </a:outerShdw>
          </a:effectLst>
          <a:latin typeface="+mn-lt"/>
          <a:ea typeface="+mn-ea"/>
          <a:cs typeface="+mn-cs"/>
        </a:defRPr>
      </a:lvl2pPr>
      <a:lvl3pPr marL="1258888" indent="-400050" algn="l" defTabSz="912813" rtl="0" eaLnBrk="1" fontAlgn="base" hangingPunct="1">
        <a:lnSpc>
          <a:spcPct val="90000"/>
        </a:lnSpc>
        <a:spcBef>
          <a:spcPct val="20000"/>
        </a:spcBef>
        <a:spcAft>
          <a:spcPct val="0"/>
        </a:spcAft>
        <a:buBlip>
          <a:blip r:embed="rId16"/>
        </a:buBlip>
        <a:defRPr sz="2400" kern="1200">
          <a:gradFill>
            <a:gsLst>
              <a:gs pos="50000">
                <a:schemeClr val="tx1"/>
              </a:gs>
              <a:gs pos="100000">
                <a:schemeClr val="tx1"/>
              </a:gs>
            </a:gsLst>
            <a:lin ang="5400000" scaled="0"/>
          </a:gradFill>
          <a:effectLst>
            <a:outerShdw blurRad="38100" dist="38100" dir="2700000" algn="tl">
              <a:srgbClr val="000000">
                <a:alpha val="43137"/>
              </a:srgbClr>
            </a:outerShdw>
          </a:effectLst>
          <a:latin typeface="+mn-lt"/>
          <a:ea typeface="+mn-ea"/>
          <a:cs typeface="+mn-cs"/>
        </a:defRPr>
      </a:lvl3pPr>
      <a:lvl4pPr marL="1652588" indent="-393700" algn="l" defTabSz="912813" rtl="0" eaLnBrk="1" fontAlgn="base" hangingPunct="1">
        <a:lnSpc>
          <a:spcPct val="90000"/>
        </a:lnSpc>
        <a:spcBef>
          <a:spcPct val="20000"/>
        </a:spcBef>
        <a:spcAft>
          <a:spcPct val="0"/>
        </a:spcAft>
        <a:buBlip>
          <a:blip r:embed="rId16"/>
        </a:buBlip>
        <a:defRPr sz="2400" kern="1200">
          <a:gradFill>
            <a:gsLst>
              <a:gs pos="50000">
                <a:schemeClr val="tx1"/>
              </a:gs>
              <a:gs pos="100000">
                <a:schemeClr val="tx1"/>
              </a:gs>
            </a:gsLst>
            <a:lin ang="5400000" scaled="0"/>
          </a:gradFill>
          <a:effectLst>
            <a:outerShdw blurRad="38100" dist="38100" dir="2700000" algn="tl">
              <a:srgbClr val="000000">
                <a:alpha val="43137"/>
              </a:srgbClr>
            </a:outerShdw>
          </a:effectLst>
          <a:latin typeface="+mn-lt"/>
          <a:ea typeface="+mn-ea"/>
          <a:cs typeface="+mn-cs"/>
        </a:defRPr>
      </a:lvl4pPr>
      <a:lvl5pPr marL="2058988" indent="-406400" algn="l" defTabSz="912813" rtl="0" eaLnBrk="1" fontAlgn="base" hangingPunct="1">
        <a:lnSpc>
          <a:spcPct val="90000"/>
        </a:lnSpc>
        <a:spcBef>
          <a:spcPct val="20000"/>
        </a:spcBef>
        <a:spcAft>
          <a:spcPct val="0"/>
        </a:spcAft>
        <a:buBlip>
          <a:blip r:embed="rId16"/>
        </a:buBlip>
        <a:defRPr sz="2400" kern="1200">
          <a:gradFill>
            <a:gsLst>
              <a:gs pos="50000">
                <a:schemeClr val="tx1"/>
              </a:gs>
              <a:gs pos="100000">
                <a:schemeClr val="tx1"/>
              </a:gs>
            </a:gsLst>
            <a:lin ang="5400000" scaled="0"/>
          </a:gradFill>
          <a:effectLst>
            <a:outerShdw blurRad="38100" dist="38100" dir="2700000" algn="tl">
              <a:srgbClr val="000000">
                <a:alpha val="43137"/>
              </a:srgbClr>
            </a:outerShdw>
          </a:effectLst>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pic>
        <p:nvPicPr>
          <p:cNvPr id="13314" name="Picture 3" descr="white rectangle.png"/>
          <p:cNvPicPr>
            <a:picLocks noChangeAspect="1"/>
          </p:cNvPicPr>
          <p:nvPr/>
        </p:nvPicPr>
        <p:blipFill>
          <a:blip r:embed="rId4" cstate="print"/>
          <a:srcRect b="10452"/>
          <a:stretch>
            <a:fillRect/>
          </a:stretch>
        </p:blipFill>
        <p:spPr bwMode="auto">
          <a:xfrm>
            <a:off x="0" y="1300163"/>
            <a:ext cx="9144000" cy="5557837"/>
          </a:xfrm>
          <a:prstGeom prst="rect">
            <a:avLst/>
          </a:prstGeom>
          <a:noFill/>
          <a:ln w="9525">
            <a:noFill/>
            <a:miter lim="800000"/>
            <a:headEnd/>
            <a:tailEnd/>
          </a:ln>
        </p:spPr>
      </p:pic>
      <p:sp>
        <p:nvSpPr>
          <p:cNvPr id="2" name="Title Placeholder 1"/>
          <p:cNvSpPr>
            <a:spLocks noGrp="1"/>
          </p:cNvSpPr>
          <p:nvPr>
            <p:ph type="title"/>
          </p:nvPr>
        </p:nvSpPr>
        <p:spPr>
          <a:xfrm>
            <a:off x="381000" y="230188"/>
            <a:ext cx="8382000" cy="665162"/>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13316" name="Text Placeholder 2"/>
          <p:cNvSpPr>
            <a:spLocks noGrp="1"/>
          </p:cNvSpPr>
          <p:nvPr>
            <p:ph type="body" idx="1"/>
          </p:nvPr>
        </p:nvSpPr>
        <p:spPr bwMode="auto">
          <a:xfrm>
            <a:off x="722313" y="1905000"/>
            <a:ext cx="8040687" cy="210820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3" r:id="rId1"/>
  </p:sldLayoutIdLst>
  <p:transition>
    <p:fade/>
  </p:transition>
  <p:hf hdr="0"/>
  <p:txStyles>
    <p:titleStyle>
      <a:lvl1pPr algn="l" defTabSz="912813" rtl="0" eaLnBrk="1" fontAlgn="base" hangingPunct="1">
        <a:lnSpc>
          <a:spcPct val="90000"/>
        </a:lnSpc>
        <a:spcBef>
          <a:spcPct val="0"/>
        </a:spcBef>
        <a:spcAft>
          <a:spcPct val="0"/>
        </a:spcAft>
        <a:defRPr lang="en-US" sz="4800" kern="1200" spc="-125"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ea typeface="+mn-ea"/>
          <a:cs typeface="Arial" charset="0"/>
        </a:defRPr>
      </a:lvl1pPr>
      <a:lvl2pPr algn="l" defTabSz="912813" rtl="0" eaLnBrk="1" fontAlgn="base" hangingPunct="1">
        <a:lnSpc>
          <a:spcPct val="90000"/>
        </a:lnSpc>
        <a:spcBef>
          <a:spcPct val="0"/>
        </a:spcBef>
        <a:spcAft>
          <a:spcPct val="0"/>
        </a:spcAft>
        <a:defRPr sz="4800">
          <a:solidFill>
            <a:schemeClr val="tx1"/>
          </a:solidFill>
          <a:latin typeface="Segoe"/>
          <a:cs typeface="Arial" charset="0"/>
        </a:defRPr>
      </a:lvl2pPr>
      <a:lvl3pPr algn="l" defTabSz="912813" rtl="0" eaLnBrk="1" fontAlgn="base" hangingPunct="1">
        <a:lnSpc>
          <a:spcPct val="90000"/>
        </a:lnSpc>
        <a:spcBef>
          <a:spcPct val="0"/>
        </a:spcBef>
        <a:spcAft>
          <a:spcPct val="0"/>
        </a:spcAft>
        <a:defRPr sz="4800">
          <a:solidFill>
            <a:schemeClr val="tx1"/>
          </a:solidFill>
          <a:latin typeface="Segoe"/>
          <a:cs typeface="Arial" charset="0"/>
        </a:defRPr>
      </a:lvl3pPr>
      <a:lvl4pPr algn="l" defTabSz="912813" rtl="0" eaLnBrk="1" fontAlgn="base" hangingPunct="1">
        <a:lnSpc>
          <a:spcPct val="90000"/>
        </a:lnSpc>
        <a:spcBef>
          <a:spcPct val="0"/>
        </a:spcBef>
        <a:spcAft>
          <a:spcPct val="0"/>
        </a:spcAft>
        <a:defRPr sz="4800">
          <a:solidFill>
            <a:schemeClr val="tx1"/>
          </a:solidFill>
          <a:latin typeface="Segoe"/>
          <a:cs typeface="Arial" charset="0"/>
        </a:defRPr>
      </a:lvl4pPr>
      <a:lvl5pPr algn="l" defTabSz="912813" rtl="0" eaLnBrk="1" fontAlgn="base" hangingPunct="1">
        <a:lnSpc>
          <a:spcPct val="90000"/>
        </a:lnSpc>
        <a:spcBef>
          <a:spcPct val="0"/>
        </a:spcBef>
        <a:spcAft>
          <a:spcPct val="0"/>
        </a:spcAft>
        <a:defRPr sz="4800">
          <a:solidFill>
            <a:schemeClr val="tx1"/>
          </a:solidFill>
          <a:latin typeface="Segoe"/>
          <a:cs typeface="Arial" charset="0"/>
        </a:defRPr>
      </a:lvl5pPr>
      <a:lvl6pPr marL="457200" algn="l" defTabSz="912813" rtl="0" eaLnBrk="1" fontAlgn="base" hangingPunct="1">
        <a:lnSpc>
          <a:spcPct val="90000"/>
        </a:lnSpc>
        <a:spcBef>
          <a:spcPct val="0"/>
        </a:spcBef>
        <a:spcAft>
          <a:spcPct val="0"/>
        </a:spcAft>
        <a:defRPr sz="4800">
          <a:solidFill>
            <a:schemeClr val="tx1"/>
          </a:solidFill>
          <a:latin typeface="Segoe"/>
          <a:cs typeface="Arial" charset="0"/>
        </a:defRPr>
      </a:lvl6pPr>
      <a:lvl7pPr marL="914400" algn="l" defTabSz="912813" rtl="0" eaLnBrk="1" fontAlgn="base" hangingPunct="1">
        <a:lnSpc>
          <a:spcPct val="90000"/>
        </a:lnSpc>
        <a:spcBef>
          <a:spcPct val="0"/>
        </a:spcBef>
        <a:spcAft>
          <a:spcPct val="0"/>
        </a:spcAft>
        <a:defRPr sz="4800">
          <a:solidFill>
            <a:schemeClr val="tx1"/>
          </a:solidFill>
          <a:latin typeface="Segoe"/>
          <a:cs typeface="Arial" charset="0"/>
        </a:defRPr>
      </a:lvl7pPr>
      <a:lvl8pPr marL="1371600" algn="l" defTabSz="912813" rtl="0" eaLnBrk="1" fontAlgn="base" hangingPunct="1">
        <a:lnSpc>
          <a:spcPct val="90000"/>
        </a:lnSpc>
        <a:spcBef>
          <a:spcPct val="0"/>
        </a:spcBef>
        <a:spcAft>
          <a:spcPct val="0"/>
        </a:spcAft>
        <a:defRPr sz="4800">
          <a:solidFill>
            <a:schemeClr val="tx1"/>
          </a:solidFill>
          <a:latin typeface="Segoe"/>
          <a:cs typeface="Arial" charset="0"/>
        </a:defRPr>
      </a:lvl8pPr>
      <a:lvl9pPr marL="1828800" algn="l" defTabSz="912813" rtl="0" eaLnBrk="1" fontAlgn="base" hangingPunct="1">
        <a:lnSpc>
          <a:spcPct val="90000"/>
        </a:lnSpc>
        <a:spcBef>
          <a:spcPct val="0"/>
        </a:spcBef>
        <a:spcAft>
          <a:spcPct val="0"/>
        </a:spcAft>
        <a:defRPr sz="4800">
          <a:solidFill>
            <a:schemeClr val="tx1"/>
          </a:solidFill>
          <a:latin typeface="Segoe"/>
          <a:cs typeface="Arial" charset="0"/>
        </a:defRPr>
      </a:lvl9pPr>
    </p:titleStyle>
    <p:bodyStyle>
      <a:lvl1pPr marL="342900" indent="-342900" algn="l" defTabSz="912813" rtl="0" eaLnBrk="1" fontAlgn="base" hangingPunct="1">
        <a:lnSpc>
          <a:spcPct val="90000"/>
        </a:lnSpc>
        <a:spcBef>
          <a:spcPct val="20000"/>
        </a:spcBef>
        <a:spcAft>
          <a:spcPct val="0"/>
        </a:spcAft>
        <a:buFont typeface="Arial" charset="0"/>
        <a:defRPr sz="3000" b="1" kern="1200">
          <a:solidFill>
            <a:schemeClr val="tx1"/>
          </a:solidFill>
          <a:latin typeface="Courier New" pitchFamily="49" charset="0"/>
          <a:ea typeface="+mn-ea"/>
          <a:cs typeface="Courier New" pitchFamily="49" charset="0"/>
        </a:defRPr>
      </a:lvl1pPr>
      <a:lvl2pPr marL="384175" indent="-6350" algn="l" defTabSz="912813" rtl="0" eaLnBrk="1" fontAlgn="base" hangingPunct="1">
        <a:lnSpc>
          <a:spcPct val="90000"/>
        </a:lnSpc>
        <a:spcBef>
          <a:spcPct val="20000"/>
        </a:spcBef>
        <a:spcAft>
          <a:spcPct val="0"/>
        </a:spcAft>
        <a:buFont typeface="Arial" charset="0"/>
        <a:defRPr sz="2800" b="1" kern="1200">
          <a:solidFill>
            <a:schemeClr val="tx1"/>
          </a:solidFill>
          <a:latin typeface="Courier New" pitchFamily="49" charset="0"/>
          <a:ea typeface="+mn-ea"/>
          <a:cs typeface="Courier New" pitchFamily="49" charset="0"/>
        </a:defRPr>
      </a:lvl2pPr>
      <a:lvl3pPr marL="760413" indent="-6350" algn="l" defTabSz="912813" rtl="0" eaLnBrk="1" fontAlgn="base" hangingPunct="1">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3pPr>
      <a:lvl4pPr marL="1093788" indent="6350" algn="l" defTabSz="912813" rtl="0" eaLnBrk="1" fontAlgn="base" hangingPunct="1">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4pPr>
      <a:lvl5pPr marL="1425575" indent="403225" algn="l" defTabSz="912813" rtl="0" eaLnBrk="1" fontAlgn="base" hangingPunct="1">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openid.ne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hyperlink" Target="http://www.plaxo.com/" TargetMode="External"/><Relationship Id="rId18" Type="http://schemas.openxmlformats.org/officeDocument/2006/relationships/hyperlink" Target="http://movabletype.com/" TargetMode="External"/><Relationship Id="rId26" Type="http://schemas.openxmlformats.org/officeDocument/2006/relationships/image" Target="../media/image23.jpeg"/><Relationship Id="rId3" Type="http://schemas.openxmlformats.org/officeDocument/2006/relationships/hyperlink" Target="http://openid.net/where/" TargetMode="External"/><Relationship Id="rId21" Type="http://schemas.openxmlformats.org/officeDocument/2006/relationships/image" Target="../media/image19.png"/><Relationship Id="rId7" Type="http://schemas.openxmlformats.org/officeDocument/2006/relationships/image" Target="../media/image8.png"/><Relationship Id="rId12" Type="http://schemas.openxmlformats.org/officeDocument/2006/relationships/image" Target="../media/image14.gif"/><Relationship Id="rId17" Type="http://schemas.openxmlformats.org/officeDocument/2006/relationships/image" Target="../media/image17.png"/><Relationship Id="rId25" Type="http://schemas.openxmlformats.org/officeDocument/2006/relationships/image" Target="../media/image22.png"/><Relationship Id="rId2" Type="http://schemas.openxmlformats.org/officeDocument/2006/relationships/notesSlide" Target="../notesSlides/notesSlide7.xml"/><Relationship Id="rId16" Type="http://schemas.openxmlformats.org/officeDocument/2006/relationships/image" Target="../media/image16.png"/><Relationship Id="rId20" Type="http://schemas.openxmlformats.org/officeDocument/2006/relationships/hyperlink" Target="http://www.crunchbase.com/product/wordpress" TargetMode="External"/><Relationship Id="rId1" Type="http://schemas.openxmlformats.org/officeDocument/2006/relationships/slideLayout" Target="../slideLayouts/slideLayout6.xml"/><Relationship Id="rId6" Type="http://schemas.openxmlformats.org/officeDocument/2006/relationships/hyperlink" Target="http://www.clickpass.com/docs/where-you-can-use-clickpass" TargetMode="External"/><Relationship Id="rId11" Type="http://schemas.openxmlformats.org/officeDocument/2006/relationships/image" Target="../media/image13.gif"/><Relationship Id="rId24" Type="http://schemas.openxmlformats.org/officeDocument/2006/relationships/image" Target="../media/image21.png"/><Relationship Id="rId5" Type="http://schemas.openxmlformats.org/officeDocument/2006/relationships/hyperlink" Target="http://openiddirectory.com/" TargetMode="External"/><Relationship Id="rId15" Type="http://schemas.openxmlformats.org/officeDocument/2006/relationships/hyperlink" Target="http://www.livejournal.com/" TargetMode="External"/><Relationship Id="rId23" Type="http://schemas.openxmlformats.org/officeDocument/2006/relationships/image" Target="../media/image2.png"/><Relationship Id="rId28" Type="http://schemas.openxmlformats.org/officeDocument/2006/relationships/image" Target="../media/image25.png"/><Relationship Id="rId10" Type="http://schemas.openxmlformats.org/officeDocument/2006/relationships/hyperlink" Target="http://news.aol.com/the-rewind" TargetMode="External"/><Relationship Id="rId19" Type="http://schemas.openxmlformats.org/officeDocument/2006/relationships/image" Target="../media/image18.gif"/><Relationship Id="rId4" Type="http://schemas.openxmlformats.org/officeDocument/2006/relationships/hyperlink" Target="https://www.myopenid.com/directory" TargetMode="External"/><Relationship Id="rId9" Type="http://schemas.openxmlformats.org/officeDocument/2006/relationships/image" Target="../media/image12.png"/><Relationship Id="rId14" Type="http://schemas.openxmlformats.org/officeDocument/2006/relationships/image" Target="../media/image15.gif"/><Relationship Id="rId22" Type="http://schemas.openxmlformats.org/officeDocument/2006/relationships/image" Target="../media/image20.png"/><Relationship Id="rId27"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openid.spammer.com/"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oauth.ne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15.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26.emf"/><Relationship Id="rId7" Type="http://schemas.openxmlformats.org/officeDocument/2006/relationships/hyperlink" Target="http://www.plaxo.com/"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gif"/><Relationship Id="rId5" Type="http://schemas.openxmlformats.org/officeDocument/2006/relationships/image" Target="../media/image13.gif"/><Relationship Id="rId10" Type="http://schemas.openxmlformats.org/officeDocument/2006/relationships/image" Target="../media/image28.jpeg"/><Relationship Id="rId4" Type="http://schemas.openxmlformats.org/officeDocument/2006/relationships/hyperlink" Target="http://news.aol.com/the-rewind" TargetMode="External"/><Relationship Id="rId9" Type="http://schemas.openxmlformats.org/officeDocument/2006/relationships/image" Target="../media/image27.gif"/></Relationships>
</file>

<file path=ppt/slides/_rels/slide1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5.gif"/><Relationship Id="rId13" Type="http://schemas.openxmlformats.org/officeDocument/2006/relationships/image" Target="../media/image31.gif"/><Relationship Id="rId18" Type="http://schemas.openxmlformats.org/officeDocument/2006/relationships/image" Target="../media/image35.png"/><Relationship Id="rId3" Type="http://schemas.openxmlformats.org/officeDocument/2006/relationships/image" Target="../media/image26.emf"/><Relationship Id="rId7" Type="http://schemas.openxmlformats.org/officeDocument/2006/relationships/hyperlink" Target="http://www.plaxo.com/" TargetMode="External"/><Relationship Id="rId12" Type="http://schemas.openxmlformats.org/officeDocument/2006/relationships/image" Target="../media/image30.png"/><Relationship Id="rId17" Type="http://schemas.openxmlformats.org/officeDocument/2006/relationships/image" Target="../media/image34.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4.gif"/><Relationship Id="rId11" Type="http://schemas.openxmlformats.org/officeDocument/2006/relationships/image" Target="../media/image20.png"/><Relationship Id="rId5" Type="http://schemas.openxmlformats.org/officeDocument/2006/relationships/image" Target="../media/image13.gif"/><Relationship Id="rId15" Type="http://schemas.openxmlformats.org/officeDocument/2006/relationships/image" Target="../media/image32.gif"/><Relationship Id="rId10" Type="http://schemas.openxmlformats.org/officeDocument/2006/relationships/image" Target="../media/image28.jpeg"/><Relationship Id="rId4" Type="http://schemas.openxmlformats.org/officeDocument/2006/relationships/hyperlink" Target="http://news.aol.com/the-rewind" TargetMode="External"/><Relationship Id="rId9" Type="http://schemas.openxmlformats.org/officeDocument/2006/relationships/image" Target="../media/image27.gif"/><Relationship Id="rId14" Type="http://schemas.openxmlformats.org/officeDocument/2006/relationships/hyperlink" Target="http://www.smugmug.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dev.live.com/liveid/"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 Id="rId4" Type="http://schemas.openxmlformats.org/officeDocument/2006/relationships/image" Target="../media/image36.jpeg"/></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36.jpe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6.jpeg"/><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43.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hyperlink" Target="http://liveid/" TargetMode="External"/><Relationship Id="rId2" Type="http://schemas.openxmlformats.org/officeDocument/2006/relationships/hyperlink" Target="http://dev.live.com/LiveId" TargetMode="External"/><Relationship Id="rId1" Type="http://schemas.openxmlformats.org/officeDocument/2006/relationships/slideLayout" Target="../slideLayouts/slideLayout3.xml"/><Relationship Id="rId4" Type="http://schemas.openxmlformats.org/officeDocument/2006/relationships/image" Target="../media/image4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905000"/>
            <a:ext cx="8229600" cy="1523495"/>
          </a:xfrm>
        </p:spPr>
        <p:txBody>
          <a:bodyPr>
            <a:normAutofit/>
          </a:bodyPr>
          <a:lstStyle/>
          <a:p>
            <a:r>
              <a:rPr smtClean="0"/>
              <a:t>IDA314 </a:t>
            </a:r>
            <a:r>
              <a:rPr lang="en-US" dirty="0" smtClean="0"/>
              <a:t>–</a:t>
            </a:r>
            <a:r>
              <a:rPr smtClean="0"/>
              <a:t> Live ID, Open ID &amp; OAuth</a:t>
            </a:r>
            <a:endParaRPr lang="en-US" dirty="0"/>
          </a:p>
        </p:txBody>
      </p:sp>
      <p:sp>
        <p:nvSpPr>
          <p:cNvPr id="3" name="Subtitle 2"/>
          <p:cNvSpPr>
            <a:spLocks noGrp="1"/>
          </p:cNvSpPr>
          <p:nvPr>
            <p:ph type="subTitle" idx="1"/>
          </p:nvPr>
        </p:nvSpPr>
        <p:spPr>
          <a:xfrm>
            <a:off x="730249" y="3653135"/>
            <a:ext cx="7681913" cy="461665"/>
          </a:xfrm>
        </p:spPr>
        <p:txBody>
          <a:bodyPr/>
          <a:lstStyle/>
          <a:p>
            <a:r>
              <a:rPr lang="en-US" dirty="0" smtClean="0"/>
              <a:t>What is the difference between them?</a:t>
            </a:r>
            <a:endParaRPr lang="en-US" dirty="0"/>
          </a:p>
        </p:txBody>
      </p:sp>
      <p:sp>
        <p:nvSpPr>
          <p:cNvPr id="4" name="TextBox 3"/>
          <p:cNvSpPr txBox="1"/>
          <p:nvPr/>
        </p:nvSpPr>
        <p:spPr>
          <a:xfrm>
            <a:off x="1229963" y="5105400"/>
            <a:ext cx="6684074" cy="461665"/>
          </a:xfrm>
          <a:prstGeom prst="rect">
            <a:avLst/>
          </a:prstGeom>
          <a:noFill/>
        </p:spPr>
        <p:txBody>
          <a:bodyPr wrap="none" rtlCol="0">
            <a:spAutoFit/>
          </a:bodyPr>
          <a:lstStyle/>
          <a:p>
            <a:r>
              <a:rPr lang="en-US" sz="24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Jorgen Thelin, Windows Live Identity Services</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9"/>
            <a:ext cx="8382000" cy="1141411"/>
          </a:xfrm>
        </p:spPr>
        <p:txBody>
          <a:bodyPr>
            <a:normAutofit/>
          </a:bodyPr>
          <a:lstStyle/>
          <a:p>
            <a:r>
              <a:rPr sz="4000" smtClean="0"/>
              <a:t>IDA314 – Live ID, Open ID &amp; OAuth </a:t>
            </a:r>
            <a:br>
              <a:rPr sz="4000" smtClean="0"/>
            </a:br>
            <a:r>
              <a:rPr sz="4000" smtClean="0"/>
              <a:t>What is the difference?</a:t>
            </a:r>
            <a:endParaRPr lang="en-US" sz="4000" dirty="0"/>
          </a:p>
        </p:txBody>
      </p:sp>
      <p:sp>
        <p:nvSpPr>
          <p:cNvPr id="3" name="Text Placeholder 2"/>
          <p:cNvSpPr>
            <a:spLocks noGrp="1"/>
          </p:cNvSpPr>
          <p:nvPr>
            <p:ph type="body" sz="quarter" idx="10"/>
          </p:nvPr>
        </p:nvSpPr>
        <p:spPr>
          <a:xfrm>
            <a:off x="381000" y="1411553"/>
            <a:ext cx="8382000" cy="5217848"/>
          </a:xfrm>
        </p:spPr>
        <p:txBody>
          <a:bodyPr>
            <a:normAutofit fontScale="77500" lnSpcReduction="20000"/>
          </a:bodyPr>
          <a:lstStyle/>
          <a:p>
            <a:endParaRPr lang="en-US" b="1" i="1" dirty="0" smtClean="0"/>
          </a:p>
          <a:p>
            <a:r>
              <a:rPr lang="en-US" b="1" i="1" dirty="0" smtClean="0"/>
              <a:t>Session Abstract</a:t>
            </a:r>
          </a:p>
          <a:p>
            <a:pPr lvl="1"/>
            <a:r>
              <a:rPr lang="en-US" dirty="0" smtClean="0"/>
              <a:t>If you are working in the web identity space you will definitely come across Open ID... but how does it compare &amp; contrast to Windows Live ID?</a:t>
            </a:r>
          </a:p>
          <a:p>
            <a:pPr lvl="1"/>
            <a:r>
              <a:rPr lang="en-US" dirty="0" smtClean="0"/>
              <a:t>Come to this session to see the ultimate compare and contrast between Windows Live ID and Open ID (and OAuth). </a:t>
            </a:r>
          </a:p>
          <a:p>
            <a:pPr lvl="1"/>
            <a:r>
              <a:rPr lang="en-US" dirty="0" smtClean="0"/>
              <a:t>Windows Live ID is Microsoft's identity service for our online services; Open ID and OAuth are standards - where do these overlap?</a:t>
            </a:r>
          </a:p>
          <a:p>
            <a:endParaRPr lang="en-US" b="1" dirty="0" smtClean="0"/>
          </a:p>
          <a:p>
            <a:r>
              <a:rPr lang="en-US" b="1" dirty="0" smtClean="0"/>
              <a:t>Session Objectives</a:t>
            </a:r>
          </a:p>
          <a:p>
            <a:pPr lvl="1"/>
            <a:r>
              <a:rPr lang="en-US" dirty="0" smtClean="0"/>
              <a:t>Understanding of Live ID capabilities</a:t>
            </a:r>
          </a:p>
          <a:p>
            <a:pPr lvl="1"/>
            <a:r>
              <a:rPr lang="en-US" dirty="0" smtClean="0"/>
              <a:t>Understanding of Open ID capabilities</a:t>
            </a:r>
          </a:p>
          <a:p>
            <a:pPr lvl="1"/>
            <a:r>
              <a:rPr lang="en-US" dirty="0" smtClean="0"/>
              <a:t>Understanding of OAuth capabilities</a:t>
            </a:r>
          </a:p>
          <a:p>
            <a:pPr lvl="1"/>
            <a:r>
              <a:rPr lang="en-US" dirty="0" smtClean="0"/>
              <a:t>When to use which where and why</a:t>
            </a:r>
          </a:p>
          <a:p>
            <a:pPr>
              <a:buNone/>
            </a:pPr>
            <a:endParaRPr lang="en-US"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Agenda</a:t>
            </a:r>
            <a:endParaRPr lang="en-US" dirty="0"/>
          </a:p>
        </p:txBody>
      </p:sp>
      <p:sp>
        <p:nvSpPr>
          <p:cNvPr id="3" name="Text Placeholder 2"/>
          <p:cNvSpPr>
            <a:spLocks noGrp="1"/>
          </p:cNvSpPr>
          <p:nvPr>
            <p:ph type="body" sz="quarter" idx="10"/>
          </p:nvPr>
        </p:nvSpPr>
        <p:spPr>
          <a:xfrm>
            <a:off x="381000" y="1411552"/>
            <a:ext cx="8382000" cy="3828740"/>
          </a:xfrm>
        </p:spPr>
        <p:txBody>
          <a:bodyPr/>
          <a:lstStyle/>
          <a:p>
            <a:r>
              <a:rPr lang="en-US" dirty="0" smtClean="0"/>
              <a:t>Online Identity 101</a:t>
            </a:r>
          </a:p>
          <a:p>
            <a:endParaRPr lang="en-US" sz="1800" dirty="0" smtClean="0"/>
          </a:p>
          <a:p>
            <a:r>
              <a:rPr lang="en-US" dirty="0" smtClean="0"/>
              <a:t>What is Open ID?</a:t>
            </a:r>
          </a:p>
          <a:p>
            <a:endParaRPr lang="en-US" sz="1800" dirty="0" smtClean="0"/>
          </a:p>
          <a:p>
            <a:r>
              <a:rPr lang="en-US" dirty="0" smtClean="0"/>
              <a:t>What is OAuth?</a:t>
            </a:r>
          </a:p>
          <a:p>
            <a:endParaRPr lang="en-US" sz="1800" dirty="0" smtClean="0"/>
          </a:p>
          <a:p>
            <a:r>
              <a:rPr lang="en-US" dirty="0" smtClean="0"/>
              <a:t>What is Live ID?</a:t>
            </a:r>
          </a:p>
          <a:p>
            <a:endParaRPr lang="en-US" sz="1800" dirty="0" smtClean="0"/>
          </a:p>
          <a:p>
            <a:r>
              <a:rPr lang="en-US" dirty="0" smtClean="0"/>
              <a:t>Compare and contrast</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Online Identity 101</a:t>
            </a:r>
            <a:endParaRPr lang="en-US" dirty="0"/>
          </a:p>
        </p:txBody>
      </p:sp>
      <p:sp>
        <p:nvSpPr>
          <p:cNvPr id="3" name="Text Placeholder 2"/>
          <p:cNvSpPr>
            <a:spLocks noGrp="1"/>
          </p:cNvSpPr>
          <p:nvPr>
            <p:ph type="body" sz="quarter" idx="10"/>
          </p:nvPr>
        </p:nvSpPr>
        <p:spPr>
          <a:xfrm>
            <a:off x="381000" y="1411552"/>
            <a:ext cx="8610600" cy="5141648"/>
          </a:xfrm>
        </p:spPr>
        <p:txBody>
          <a:bodyPr>
            <a:normAutofit fontScale="92500" lnSpcReduction="10000"/>
          </a:bodyPr>
          <a:lstStyle/>
          <a:p>
            <a:r>
              <a:rPr lang="en-US" sz="2400" dirty="0" smtClean="0"/>
              <a:t>Digital identity is </a:t>
            </a:r>
            <a:r>
              <a:rPr lang="en-US" sz="2400" dirty="0" smtClean="0">
                <a:solidFill>
                  <a:srgbClr val="FFC000"/>
                </a:solidFill>
              </a:rPr>
              <a:t>“a set of claims made by one digital subject about itself or another digital subject”  </a:t>
            </a:r>
            <a:r>
              <a:rPr lang="en-US" sz="2000" dirty="0" smtClean="0"/>
              <a:t>-- Kim Cameron</a:t>
            </a:r>
            <a:endParaRPr lang="en-US" sz="1600" dirty="0" smtClean="0"/>
          </a:p>
          <a:p>
            <a:pPr lvl="1"/>
            <a:r>
              <a:rPr lang="en-US" sz="2000" dirty="0" smtClean="0"/>
              <a:t>User view: Who you are, how you prove it, &amp; what that permits you to do</a:t>
            </a:r>
          </a:p>
          <a:p>
            <a:pPr lvl="1"/>
            <a:endParaRPr lang="en-US" sz="2000" dirty="0" smtClean="0"/>
          </a:p>
          <a:p>
            <a:r>
              <a:rPr lang="en-US" sz="2400" dirty="0" smtClean="0"/>
              <a:t>Why do people care about online identity ?</a:t>
            </a:r>
          </a:p>
          <a:p>
            <a:pPr lvl="1"/>
            <a:r>
              <a:rPr lang="en-US" sz="2000" dirty="0" smtClean="0"/>
              <a:t>Too many accounts</a:t>
            </a:r>
          </a:p>
          <a:p>
            <a:pPr lvl="1"/>
            <a:r>
              <a:rPr lang="en-US" sz="2000" dirty="0" smtClean="0"/>
              <a:t>Too many credentials</a:t>
            </a:r>
          </a:p>
          <a:p>
            <a:pPr lvl="1"/>
            <a:r>
              <a:rPr lang="en-US" sz="2000" dirty="0" smtClean="0"/>
              <a:t>Barriers to collaboration - Re-authenticate to access new resources</a:t>
            </a:r>
          </a:p>
          <a:p>
            <a:pPr lvl="2"/>
            <a:endParaRPr lang="en-US" sz="1600" dirty="0" smtClean="0"/>
          </a:p>
          <a:p>
            <a:pPr lvl="1"/>
            <a:r>
              <a:rPr lang="en-US" sz="2400" dirty="0" smtClean="0">
                <a:solidFill>
                  <a:srgbClr val="FFC000"/>
                </a:solidFill>
              </a:rPr>
              <a:t>Good authentication is secure but unobtrusive</a:t>
            </a:r>
          </a:p>
          <a:p>
            <a:pPr lvl="2"/>
            <a:r>
              <a:rPr lang="en-US" sz="1800" dirty="0" smtClean="0"/>
              <a:t>But there too many bad authentication experiences in current applications and services</a:t>
            </a:r>
          </a:p>
          <a:p>
            <a:pPr lvl="2"/>
            <a:r>
              <a:rPr lang="en-US" sz="1800" dirty="0" smtClean="0">
                <a:solidFill>
                  <a:srgbClr val="FFC000"/>
                </a:solidFill>
              </a:rPr>
              <a:t>Bad UX leads to weak security </a:t>
            </a:r>
            <a:r>
              <a:rPr lang="en-US" sz="1800" dirty="0" smtClean="0"/>
              <a:t>- password fatigue, “Post-it passwords”, etc</a:t>
            </a:r>
          </a:p>
          <a:p>
            <a:pPr lvl="1"/>
            <a:endParaRPr lang="en-US" sz="1200" dirty="0" smtClean="0"/>
          </a:p>
          <a:p>
            <a:r>
              <a:rPr lang="en-US" sz="2400" dirty="0" smtClean="0"/>
              <a:t>What is “federated identity” ?</a:t>
            </a:r>
          </a:p>
          <a:p>
            <a:pPr lvl="1"/>
            <a:r>
              <a:rPr lang="en-US" sz="2400" dirty="0" smtClean="0">
                <a:solidFill>
                  <a:srgbClr val="FFC000"/>
                </a:solidFill>
              </a:rPr>
              <a:t>“Identity without borders”</a:t>
            </a:r>
          </a:p>
          <a:p>
            <a:pPr lvl="1"/>
            <a:r>
              <a:rPr lang="en-US" sz="2000" dirty="0" smtClean="0"/>
              <a:t>User’s sign in once with their Identity Provider then can seamlessly work with trusted partners</a:t>
            </a:r>
            <a:endParaRPr lang="en-US" sz="2000"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What is Open ID?</a:t>
            </a:r>
            <a:endParaRPr lang="en-US" dirty="0"/>
          </a:p>
        </p:txBody>
      </p:sp>
      <p:sp>
        <p:nvSpPr>
          <p:cNvPr id="5" name="Subtitle 4"/>
          <p:cNvSpPr>
            <a:spLocks noGrp="1"/>
          </p:cNvSpPr>
          <p:nvPr>
            <p:ph type="subTitle" idx="1"/>
          </p:nvPr>
        </p:nvSpPr>
        <p:spPr>
          <a:xfrm>
            <a:off x="730249" y="3505200"/>
            <a:ext cx="7681913" cy="2209800"/>
          </a:xfrm>
        </p:spPr>
        <p:txBody>
          <a:bodyPr/>
          <a:lstStyle/>
          <a:p>
            <a:pPr algn="ctr"/>
            <a:r>
              <a:rPr lang="en-US" dirty="0" smtClean="0"/>
              <a:t>In their own words ( </a:t>
            </a:r>
            <a:r>
              <a:rPr lang="en-US" dirty="0" smtClean="0">
                <a:hlinkClick r:id="rId3"/>
              </a:rPr>
              <a:t>http://openid.net/</a:t>
            </a:r>
            <a:r>
              <a:rPr lang="en-US" dirty="0" smtClean="0"/>
              <a:t> )</a:t>
            </a:r>
            <a:br>
              <a:rPr lang="en-US" dirty="0" smtClean="0"/>
            </a:br>
            <a:r>
              <a:rPr lang="en-US" dirty="0" smtClean="0"/>
              <a:t/>
            </a:r>
            <a:br>
              <a:rPr lang="en-US" dirty="0" smtClean="0"/>
            </a:br>
            <a:r>
              <a:rPr lang="en-US" dirty="0" smtClean="0"/>
              <a:t>“Open ID is a free and easy way to use a single digital identity across the Internet.”</a:t>
            </a:r>
            <a:endParaRPr lang="en-US" dirty="0"/>
          </a:p>
        </p:txBody>
      </p:sp>
      <p:pic>
        <p:nvPicPr>
          <p:cNvPr id="7" name="Picture 6" descr="openid-logo.png"/>
          <p:cNvPicPr>
            <a:picLocks noChangeAspect="1"/>
          </p:cNvPicPr>
          <p:nvPr/>
        </p:nvPicPr>
        <p:blipFill>
          <a:blip r:embed="rId4"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is Open ID?</a:t>
            </a:r>
            <a:endParaRPr lang="en-US" dirty="0"/>
          </a:p>
        </p:txBody>
      </p:sp>
      <p:sp>
        <p:nvSpPr>
          <p:cNvPr id="3" name="Text Placeholder 2"/>
          <p:cNvSpPr>
            <a:spLocks noGrp="1"/>
          </p:cNvSpPr>
          <p:nvPr>
            <p:ph type="body" sz="quarter" idx="10"/>
          </p:nvPr>
        </p:nvSpPr>
        <p:spPr>
          <a:xfrm>
            <a:off x="381000" y="1411553"/>
            <a:ext cx="8382000" cy="5141647"/>
          </a:xfrm>
        </p:spPr>
        <p:txBody>
          <a:bodyPr>
            <a:normAutofit/>
          </a:bodyPr>
          <a:lstStyle/>
          <a:p>
            <a:pPr>
              <a:lnSpc>
                <a:spcPct val="150000"/>
              </a:lnSpc>
            </a:pPr>
            <a:r>
              <a:rPr lang="en-US" sz="3600" dirty="0" smtClean="0">
                <a:solidFill>
                  <a:schemeClr val="accent1">
                    <a:lumMod val="60000"/>
                    <a:lumOff val="40000"/>
                  </a:schemeClr>
                </a:solidFill>
              </a:rPr>
              <a:t>A Web single-sign-on solution</a:t>
            </a:r>
          </a:p>
          <a:p>
            <a:pPr>
              <a:lnSpc>
                <a:spcPct val="150000"/>
              </a:lnSpc>
            </a:pPr>
            <a:r>
              <a:rPr lang="en-US" sz="3600" dirty="0" smtClean="0"/>
              <a:t>A personal identifier (OpenID URI)</a:t>
            </a:r>
          </a:p>
          <a:p>
            <a:pPr>
              <a:lnSpc>
                <a:spcPct val="150000"/>
              </a:lnSpc>
            </a:pPr>
            <a:r>
              <a:rPr lang="en-US" sz="3600" dirty="0" smtClean="0"/>
              <a:t>An authentication protocol</a:t>
            </a:r>
          </a:p>
          <a:p>
            <a:pPr>
              <a:lnSpc>
                <a:spcPct val="150000"/>
              </a:lnSpc>
            </a:pPr>
            <a:r>
              <a:rPr lang="en-US" sz="3600" dirty="0" smtClean="0"/>
              <a:t>A standards organization</a:t>
            </a:r>
          </a:p>
          <a:p>
            <a:pPr>
              <a:lnSpc>
                <a:spcPct val="150000"/>
              </a:lnSpc>
            </a:pPr>
            <a:r>
              <a:rPr lang="en-US" sz="3600" dirty="0" smtClean="0"/>
              <a:t>A business model</a:t>
            </a:r>
          </a:p>
        </p:txBody>
      </p:sp>
      <p:pic>
        <p:nvPicPr>
          <p:cNvPr id="5" name="Picture 4" descr="openid-logo.png"/>
          <p:cNvPicPr>
            <a:picLocks noChangeAspect="1"/>
          </p:cNvPicPr>
          <p:nvPr/>
        </p:nvPicPr>
        <p:blipFill>
          <a:blip r:embed="rId3"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Open ID Isn't</a:t>
            </a:r>
            <a:endParaRPr lang="en-US" dirty="0"/>
          </a:p>
        </p:txBody>
      </p:sp>
      <p:sp>
        <p:nvSpPr>
          <p:cNvPr id="3" name="Text Placeholder 2"/>
          <p:cNvSpPr>
            <a:spLocks noGrp="1"/>
          </p:cNvSpPr>
          <p:nvPr>
            <p:ph type="body" sz="quarter" idx="10"/>
          </p:nvPr>
        </p:nvSpPr>
        <p:spPr>
          <a:xfrm>
            <a:off x="381000" y="1069908"/>
            <a:ext cx="8382000" cy="4382738"/>
          </a:xfrm>
        </p:spPr>
        <p:txBody>
          <a:bodyPr/>
          <a:lstStyle/>
          <a:p>
            <a:pPr>
              <a:lnSpc>
                <a:spcPct val="150000"/>
              </a:lnSpc>
            </a:pPr>
            <a:r>
              <a:rPr lang="en-US" dirty="0" smtClean="0"/>
              <a:t>Not an Identity Provider – there are many</a:t>
            </a:r>
          </a:p>
          <a:p>
            <a:pPr>
              <a:lnSpc>
                <a:spcPct val="150000"/>
              </a:lnSpc>
            </a:pPr>
            <a:r>
              <a:rPr lang="en-US" dirty="0" smtClean="0"/>
              <a:t>Not an account, just an identity</a:t>
            </a:r>
          </a:p>
          <a:p>
            <a:pPr lvl="1">
              <a:lnSpc>
                <a:spcPct val="100000"/>
              </a:lnSpc>
            </a:pPr>
            <a:r>
              <a:rPr lang="en-US" dirty="0" smtClean="0"/>
              <a:t>User still need to register with each new site</a:t>
            </a:r>
          </a:p>
          <a:p>
            <a:pPr>
              <a:lnSpc>
                <a:spcPct val="100000"/>
              </a:lnSpc>
            </a:pPr>
            <a:endParaRPr lang="en-US" sz="1100" dirty="0" smtClean="0"/>
          </a:p>
          <a:p>
            <a:pPr>
              <a:lnSpc>
                <a:spcPct val="100000"/>
              </a:lnSpc>
            </a:pPr>
            <a:r>
              <a:rPr lang="en-US" dirty="0" smtClean="0"/>
              <a:t>Not a guarantee of anything except the user’s URI</a:t>
            </a:r>
          </a:p>
          <a:p>
            <a:pPr>
              <a:lnSpc>
                <a:spcPct val="150000"/>
              </a:lnSpc>
            </a:pPr>
            <a:r>
              <a:rPr lang="en-US" dirty="0" smtClean="0"/>
              <a:t>Not a trust broker – “</a:t>
            </a:r>
            <a:r>
              <a:rPr lang="en-US" i="1" dirty="0" smtClean="0">
                <a:solidFill>
                  <a:schemeClr val="accent1">
                    <a:lumMod val="60000"/>
                    <a:lumOff val="40000"/>
                  </a:schemeClr>
                </a:solidFill>
              </a:rPr>
              <a:t>Identity is not Trust!</a:t>
            </a:r>
            <a:r>
              <a:rPr lang="en-US" dirty="0" smtClean="0"/>
              <a:t>”</a:t>
            </a:r>
          </a:p>
        </p:txBody>
      </p:sp>
      <p:pic>
        <p:nvPicPr>
          <p:cNvPr id="5" name="Picture 4" descr="openid-logo.png"/>
          <p:cNvPicPr>
            <a:picLocks noChangeAspect="1"/>
          </p:cNvPicPr>
          <p:nvPr/>
        </p:nvPicPr>
        <p:blipFill>
          <a:blip r:embed="rId3"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Demo </a:t>
            </a:r>
            <a:r>
              <a:rPr lang="en-US" dirty="0" smtClean="0"/>
              <a:t>–</a:t>
            </a:r>
            <a:r>
              <a:rPr smtClean="0"/>
              <a:t> Open ID Authentication</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smtClean="0"/>
              <a:t>OpenID Protocol Mechanics</a:t>
            </a:r>
            <a:endParaRPr lang="en-US" dirty="0"/>
          </a:p>
        </p:txBody>
      </p:sp>
      <p:sp>
        <p:nvSpPr>
          <p:cNvPr id="10" name="TextBox 9"/>
          <p:cNvSpPr txBox="1"/>
          <p:nvPr/>
        </p:nvSpPr>
        <p:spPr>
          <a:xfrm>
            <a:off x="76200" y="6324600"/>
            <a:ext cx="8763000" cy="338554"/>
          </a:xfrm>
          <a:prstGeom prst="rect">
            <a:avLst/>
          </a:prstGeom>
          <a:noFill/>
        </p:spPr>
        <p:txBody>
          <a:bodyPr wrap="square" rtlCol="0">
            <a:spAutoFit/>
          </a:bodyPr>
          <a:lstStyle/>
          <a:p>
            <a:pPr algn="ctr"/>
            <a: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 IP-Delegation + Discovery Functionality in Open ID 2.0</a:t>
            </a:r>
          </a:p>
        </p:txBody>
      </p:sp>
      <p:pic>
        <p:nvPicPr>
          <p:cNvPr id="6" name="Picture 5" descr="openid-logo.png"/>
          <p:cNvPicPr>
            <a:picLocks noChangeAspect="1"/>
          </p:cNvPicPr>
          <p:nvPr/>
        </p:nvPicPr>
        <p:blipFill>
          <a:blip r:embed="rId3"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pic>
        <p:nvPicPr>
          <p:cNvPr id="1026" name="Picture 2" descr="C:\Users\alogan\Desktop\Presentation Artwork\Latest DVD\Artwork_Imagery\Icons - Illustrations\_XML ICONS\pc computer desktop.png"/>
          <p:cNvPicPr>
            <a:picLocks noChangeAspect="1" noChangeArrowheads="1"/>
          </p:cNvPicPr>
          <p:nvPr/>
        </p:nvPicPr>
        <p:blipFill>
          <a:blip r:embed="rId4" cstate="print"/>
          <a:srcRect/>
          <a:stretch>
            <a:fillRect/>
          </a:stretch>
        </p:blipFill>
        <p:spPr bwMode="auto">
          <a:xfrm>
            <a:off x="227059" y="2790111"/>
            <a:ext cx="1374682" cy="1371600"/>
          </a:xfrm>
          <a:prstGeom prst="rect">
            <a:avLst/>
          </a:prstGeom>
          <a:noFill/>
        </p:spPr>
      </p:pic>
      <p:pic>
        <p:nvPicPr>
          <p:cNvPr id="1028" name="Picture 4" descr="C:\Users\alogan\Desktop\Presentation Artwork\Latest DVD\Artwork_Imagery\Hardware Photos\OEM HW\SERVERS\HP ProLiant DL365 G5.png"/>
          <p:cNvPicPr>
            <a:picLocks noChangeAspect="1" noChangeArrowheads="1"/>
          </p:cNvPicPr>
          <p:nvPr/>
        </p:nvPicPr>
        <p:blipFill>
          <a:blip r:embed="rId5" cstate="print"/>
          <a:srcRect/>
          <a:stretch>
            <a:fillRect/>
          </a:stretch>
        </p:blipFill>
        <p:spPr bwMode="auto">
          <a:xfrm>
            <a:off x="3428998" y="4999911"/>
            <a:ext cx="2438405" cy="350521"/>
          </a:xfrm>
          <a:prstGeom prst="rect">
            <a:avLst/>
          </a:prstGeom>
          <a:noFill/>
        </p:spPr>
      </p:pic>
      <p:pic>
        <p:nvPicPr>
          <p:cNvPr id="11" name="Picture 4" descr="C:\Users\alogan\Desktop\Presentation Artwork\Latest DVD\Artwork_Imagery\Hardware Photos\OEM HW\SERVERS\HP ProLiant DL365 G5.png"/>
          <p:cNvPicPr>
            <a:picLocks noChangeAspect="1" noChangeArrowheads="1"/>
          </p:cNvPicPr>
          <p:nvPr/>
        </p:nvPicPr>
        <p:blipFill>
          <a:blip r:embed="rId5" cstate="print"/>
          <a:srcRect/>
          <a:stretch>
            <a:fillRect/>
          </a:stretch>
        </p:blipFill>
        <p:spPr bwMode="auto">
          <a:xfrm>
            <a:off x="3428998" y="1723311"/>
            <a:ext cx="2438405" cy="350521"/>
          </a:xfrm>
          <a:prstGeom prst="rect">
            <a:avLst/>
          </a:prstGeom>
          <a:noFill/>
        </p:spPr>
      </p:pic>
      <p:cxnSp>
        <p:nvCxnSpPr>
          <p:cNvPr id="13" name="Straight Arrow Connector 12"/>
          <p:cNvCxnSpPr/>
          <p:nvPr/>
        </p:nvCxnSpPr>
        <p:spPr>
          <a:xfrm flipV="1">
            <a:off x="1600200" y="2028111"/>
            <a:ext cx="1600200" cy="1143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1600200" y="3704511"/>
            <a:ext cx="1600200" cy="1371600"/>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flipH="1" flipV="1">
            <a:off x="3550920" y="3552111"/>
            <a:ext cx="27432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4236720" y="3552111"/>
            <a:ext cx="2743200" cy="1588"/>
          </a:xfrm>
          <a:prstGeom prst="straightConnector1">
            <a:avLst/>
          </a:prstGeom>
          <a:ln w="38100">
            <a:prstDash val="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788920" y="3552111"/>
            <a:ext cx="27432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2179320" y="3550068"/>
            <a:ext cx="2743200" cy="4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52400" y="4208622"/>
            <a:ext cx="15240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end user w/ user agent</a:t>
            </a:r>
          </a:p>
        </p:txBody>
      </p:sp>
      <p:sp>
        <p:nvSpPr>
          <p:cNvPr id="26" name="TextBox 25"/>
          <p:cNvSpPr txBox="1"/>
          <p:nvPr/>
        </p:nvSpPr>
        <p:spPr>
          <a:xfrm>
            <a:off x="3200400" y="5533311"/>
            <a:ext cx="28956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Identity provider </a:t>
            </a:r>
          </a:p>
          <a:p>
            <a:pPr algn="ctr"/>
            <a:r>
              <a:rPr lang="en-US" b="1" dirty="0" smtClean="0">
                <a:solidFill>
                  <a:schemeClr val="tx1"/>
                </a:solidFill>
                <a:effectLst>
                  <a:outerShdw blurRad="38100" dist="38100" dir="2700000" algn="tl">
                    <a:srgbClr val="000000">
                      <a:alpha val="43137"/>
                    </a:srgbClr>
                  </a:outerShdw>
                </a:effectLst>
                <a:latin typeface="+mj-lt"/>
              </a:rPr>
              <a:t>e.g. myopenid.com</a:t>
            </a:r>
          </a:p>
        </p:txBody>
      </p:sp>
      <p:sp>
        <p:nvSpPr>
          <p:cNvPr id="27" name="TextBox 26"/>
          <p:cNvSpPr txBox="1"/>
          <p:nvPr/>
        </p:nvSpPr>
        <p:spPr>
          <a:xfrm>
            <a:off x="5410200" y="3247311"/>
            <a:ext cx="365760" cy="434935"/>
          </a:xfrm>
          <a:prstGeom prst="roundRect">
            <a:avLst/>
          </a:prstGeom>
        </p:spPr>
        <p:style>
          <a:lnRef idx="1">
            <a:schemeClr val="accent1"/>
          </a:lnRef>
          <a:fillRef idx="3">
            <a:schemeClr val="accent1"/>
          </a:fillRef>
          <a:effectRef idx="2">
            <a:schemeClr val="accent1"/>
          </a:effectRef>
          <a:fontRef idx="minor">
            <a:schemeClr val="lt1"/>
          </a:fontRef>
        </p:style>
        <p:txBody>
          <a:bodyPr wrap="square" lIns="45720" rIns="45720" rtlCol="0" anchor="ctr">
            <a:spAutoFit/>
          </a:bodyPr>
          <a:lstStyle/>
          <a:p>
            <a:pPr algn="ctr"/>
            <a:r>
              <a:rPr lang="en-US" sz="2000" dirty="0" smtClean="0">
                <a:solidFill>
                  <a:schemeClr val="bg1"/>
                </a:solidFill>
                <a:latin typeface="+mj-lt"/>
              </a:rPr>
              <a:t>6</a:t>
            </a:r>
          </a:p>
        </p:txBody>
      </p:sp>
      <p:sp>
        <p:nvSpPr>
          <p:cNvPr id="28" name="TextBox 27"/>
          <p:cNvSpPr txBox="1"/>
          <p:nvPr/>
        </p:nvSpPr>
        <p:spPr>
          <a:xfrm>
            <a:off x="4739640" y="3247311"/>
            <a:ext cx="365760" cy="434935"/>
          </a:xfrm>
          <a:prstGeom prst="roundRect">
            <a:avLst/>
          </a:prstGeom>
        </p:spPr>
        <p:style>
          <a:lnRef idx="1">
            <a:schemeClr val="accent3"/>
          </a:lnRef>
          <a:fillRef idx="3">
            <a:schemeClr val="accent3"/>
          </a:fillRef>
          <a:effectRef idx="2">
            <a:schemeClr val="accent3"/>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2</a:t>
            </a:r>
          </a:p>
        </p:txBody>
      </p:sp>
      <p:sp>
        <p:nvSpPr>
          <p:cNvPr id="30" name="TextBox 29"/>
          <p:cNvSpPr txBox="1"/>
          <p:nvPr/>
        </p:nvSpPr>
        <p:spPr>
          <a:xfrm>
            <a:off x="3977640" y="3247311"/>
            <a:ext cx="365760" cy="434935"/>
          </a:xfrm>
          <a:prstGeom prst="roundRect">
            <a:avLst/>
          </a:prstGeom>
        </p:spPr>
        <p:style>
          <a:lnRef idx="1">
            <a:schemeClr val="accent6"/>
          </a:lnRef>
          <a:fillRef idx="3">
            <a:schemeClr val="accent6"/>
          </a:fillRef>
          <a:effectRef idx="2">
            <a:schemeClr val="accent6"/>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5</a:t>
            </a:r>
          </a:p>
        </p:txBody>
      </p:sp>
      <p:sp>
        <p:nvSpPr>
          <p:cNvPr id="31" name="TextBox 30"/>
          <p:cNvSpPr txBox="1"/>
          <p:nvPr/>
        </p:nvSpPr>
        <p:spPr>
          <a:xfrm>
            <a:off x="3368040" y="3225008"/>
            <a:ext cx="365760" cy="434935"/>
          </a:xfrm>
          <a:prstGeom prst="roundRect">
            <a:avLst/>
          </a:prstGeom>
        </p:spPr>
        <p:style>
          <a:lnRef idx="1">
            <a:schemeClr val="accent4"/>
          </a:lnRef>
          <a:fillRef idx="3">
            <a:schemeClr val="accent4"/>
          </a:fillRef>
          <a:effectRef idx="2">
            <a:schemeClr val="accent4"/>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3</a:t>
            </a:r>
          </a:p>
        </p:txBody>
      </p:sp>
      <p:sp>
        <p:nvSpPr>
          <p:cNvPr id="32" name="TextBox 31"/>
          <p:cNvSpPr txBox="1"/>
          <p:nvPr/>
        </p:nvSpPr>
        <p:spPr>
          <a:xfrm>
            <a:off x="2209800" y="2409111"/>
            <a:ext cx="365760" cy="438912"/>
          </a:xfrm>
          <a:prstGeom prst="roundRect">
            <a:avLst/>
          </a:prstGeom>
        </p:spPr>
        <p:style>
          <a:lnRef idx="1">
            <a:schemeClr val="accent2"/>
          </a:lnRef>
          <a:fillRef idx="3">
            <a:schemeClr val="accent2"/>
          </a:fillRef>
          <a:effectRef idx="2">
            <a:schemeClr val="accent2"/>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1</a:t>
            </a:r>
          </a:p>
        </p:txBody>
      </p:sp>
      <p:sp>
        <p:nvSpPr>
          <p:cNvPr id="33" name="TextBox 32"/>
          <p:cNvSpPr txBox="1"/>
          <p:nvPr/>
        </p:nvSpPr>
        <p:spPr>
          <a:xfrm>
            <a:off x="2209800" y="4161711"/>
            <a:ext cx="365760" cy="438912"/>
          </a:xfrm>
          <a:prstGeom prst="roundRect">
            <a:avLst/>
          </a:prstGeom>
        </p:spPr>
        <p:style>
          <a:lnRef idx="1">
            <a:schemeClr val="accent5"/>
          </a:lnRef>
          <a:fillRef idx="3">
            <a:schemeClr val="accent5"/>
          </a:fillRef>
          <a:effectRef idx="2">
            <a:schemeClr val="accent5"/>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4</a:t>
            </a:r>
          </a:p>
        </p:txBody>
      </p:sp>
      <p:sp>
        <p:nvSpPr>
          <p:cNvPr id="35" name="TextBox 34"/>
          <p:cNvSpPr txBox="1"/>
          <p:nvPr/>
        </p:nvSpPr>
        <p:spPr>
          <a:xfrm>
            <a:off x="6324600" y="1828800"/>
            <a:ext cx="2667000" cy="408623"/>
          </a:xfrm>
          <a:prstGeom prst="round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dirty="0" smtClean="0">
                <a:solidFill>
                  <a:schemeClr val="tx1"/>
                </a:solidFill>
                <a:effectLst>
                  <a:outerShdw blurRad="38100" dist="38100" dir="2700000" algn="tl">
                    <a:srgbClr val="000000">
                      <a:alpha val="43137"/>
                    </a:srgbClr>
                  </a:outerShdw>
                </a:effectLst>
                <a:latin typeface="+mj-lt"/>
              </a:rPr>
              <a:t>1. Send identifier</a:t>
            </a:r>
          </a:p>
        </p:txBody>
      </p:sp>
      <p:sp>
        <p:nvSpPr>
          <p:cNvPr id="36" name="TextBox 35"/>
          <p:cNvSpPr txBox="1"/>
          <p:nvPr/>
        </p:nvSpPr>
        <p:spPr>
          <a:xfrm>
            <a:off x="6324600" y="2438400"/>
            <a:ext cx="2667000" cy="408623"/>
          </a:xfrm>
          <a:prstGeom prst="round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r>
              <a:rPr lang="en-US" dirty="0" smtClean="0">
                <a:solidFill>
                  <a:schemeClr val="tx1"/>
                </a:solidFill>
                <a:effectLst>
                  <a:outerShdw blurRad="38100" dist="38100" dir="2700000" algn="tl">
                    <a:srgbClr val="000000">
                      <a:alpha val="43137"/>
                    </a:srgbClr>
                  </a:outerShdw>
                </a:effectLst>
                <a:latin typeface="+mj-lt"/>
              </a:rPr>
              <a:t>2. Associate handle</a:t>
            </a:r>
          </a:p>
        </p:txBody>
      </p:sp>
      <p:sp>
        <p:nvSpPr>
          <p:cNvPr id="37" name="TextBox 36"/>
          <p:cNvSpPr txBox="1"/>
          <p:nvPr/>
        </p:nvSpPr>
        <p:spPr>
          <a:xfrm>
            <a:off x="6324600" y="3025697"/>
            <a:ext cx="2667000" cy="408623"/>
          </a:xfrm>
          <a:prstGeom prst="round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dirty="0" smtClean="0">
                <a:solidFill>
                  <a:schemeClr val="tx1"/>
                </a:solidFill>
                <a:effectLst>
                  <a:outerShdw blurRad="38100" dist="38100" dir="2700000" algn="tl">
                    <a:srgbClr val="000000">
                      <a:alpha val="43137"/>
                    </a:srgbClr>
                  </a:outerShdw>
                </a:effectLst>
                <a:latin typeface="+mj-lt"/>
              </a:rPr>
              <a:t>3. Redirect over UA</a:t>
            </a:r>
          </a:p>
        </p:txBody>
      </p:sp>
      <p:sp>
        <p:nvSpPr>
          <p:cNvPr id="38" name="TextBox 37"/>
          <p:cNvSpPr txBox="1"/>
          <p:nvPr/>
        </p:nvSpPr>
        <p:spPr>
          <a:xfrm>
            <a:off x="6324600" y="3657600"/>
            <a:ext cx="2667000" cy="408623"/>
          </a:xfrm>
          <a:prstGeom prst="round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US" dirty="0" smtClean="0">
                <a:solidFill>
                  <a:schemeClr val="tx1"/>
                </a:solidFill>
                <a:effectLst>
                  <a:outerShdw blurRad="38100" dist="38100" dir="2700000" algn="tl">
                    <a:srgbClr val="000000">
                      <a:alpha val="43137"/>
                    </a:srgbClr>
                  </a:outerShdw>
                </a:effectLst>
                <a:latin typeface="+mj-lt"/>
              </a:rPr>
              <a:t>4. Login</a:t>
            </a:r>
          </a:p>
        </p:txBody>
      </p:sp>
      <p:sp>
        <p:nvSpPr>
          <p:cNvPr id="39" name="TextBox 38"/>
          <p:cNvSpPr txBox="1"/>
          <p:nvPr/>
        </p:nvSpPr>
        <p:spPr>
          <a:xfrm>
            <a:off x="6324600" y="4267200"/>
            <a:ext cx="2667000" cy="408623"/>
          </a:xfrm>
          <a:prstGeom prst="round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US" dirty="0" smtClean="0">
                <a:solidFill>
                  <a:schemeClr val="tx1"/>
                </a:solidFill>
                <a:effectLst>
                  <a:outerShdw blurRad="38100" dist="38100" dir="2700000" algn="tl">
                    <a:srgbClr val="000000">
                      <a:alpha val="43137"/>
                    </a:srgbClr>
                  </a:outerShdw>
                </a:effectLst>
                <a:latin typeface="+mj-lt"/>
              </a:rPr>
              <a:t>5. Redirect over UA</a:t>
            </a:r>
          </a:p>
        </p:txBody>
      </p:sp>
      <p:sp>
        <p:nvSpPr>
          <p:cNvPr id="40" name="TextBox 39"/>
          <p:cNvSpPr txBox="1"/>
          <p:nvPr/>
        </p:nvSpPr>
        <p:spPr>
          <a:xfrm>
            <a:off x="6324600" y="4876798"/>
            <a:ext cx="2667000" cy="715089"/>
          </a:xfrm>
          <a:prstGeom prst="roundRect">
            <a:avLst/>
          </a:prstGeom>
        </p:spPr>
        <p:style>
          <a:lnRef idx="1">
            <a:schemeClr val="accent1"/>
          </a:lnRef>
          <a:fillRef idx="3">
            <a:schemeClr val="accent1"/>
          </a:fillRef>
          <a:effectRef idx="2">
            <a:schemeClr val="accent1"/>
          </a:effectRef>
          <a:fontRef idx="minor">
            <a:schemeClr val="lt1"/>
          </a:fontRef>
        </p:style>
        <p:txBody>
          <a:bodyPr wrap="square" lIns="45720" rIns="45720" rtlCol="0">
            <a:spAutoFit/>
          </a:bodyPr>
          <a:lstStyle/>
          <a:p>
            <a:r>
              <a:rPr lang="en-US" dirty="0" smtClean="0">
                <a:solidFill>
                  <a:schemeClr val="bg1"/>
                </a:solidFill>
                <a:latin typeface="+mj-lt"/>
              </a:rPr>
              <a:t>6. Check authentication    </a:t>
            </a:r>
          </a:p>
          <a:p>
            <a:r>
              <a:rPr lang="en-US" dirty="0" smtClean="0">
                <a:solidFill>
                  <a:schemeClr val="bg1"/>
                </a:solidFill>
                <a:latin typeface="+mj-lt"/>
              </a:rPr>
              <a:t>    (optional)</a:t>
            </a:r>
          </a:p>
        </p:txBody>
      </p:sp>
      <p:sp>
        <p:nvSpPr>
          <p:cNvPr id="41" name="TextBox 40"/>
          <p:cNvSpPr txBox="1"/>
          <p:nvPr/>
        </p:nvSpPr>
        <p:spPr>
          <a:xfrm>
            <a:off x="3200400" y="885111"/>
            <a:ext cx="28956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Relying party</a:t>
            </a:r>
          </a:p>
          <a:p>
            <a:pPr algn="ctr"/>
            <a:r>
              <a:rPr lang="en-US" b="1" dirty="0" smtClean="0">
                <a:solidFill>
                  <a:schemeClr val="tx1"/>
                </a:solidFill>
                <a:effectLst>
                  <a:outerShdw blurRad="38100" dist="38100" dir="2700000" algn="tl">
                    <a:srgbClr val="000000">
                      <a:alpha val="43137"/>
                    </a:srgbClr>
                  </a:outerShdw>
                </a:effectLst>
                <a:latin typeface="+mj-lt"/>
              </a:rPr>
              <a:t>e.g. yoursite.com</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left)">
                                      <p:cBhvr>
                                        <p:cTn id="10" dur="500"/>
                                        <p:tgtEl>
                                          <p:spTgt spid="32"/>
                                        </p:tgtEl>
                                      </p:cBhvr>
                                    </p:animEffect>
                                  </p:childTnLst>
                                </p:cTn>
                              </p:par>
                              <p:par>
                                <p:cTn id="11" presetID="53"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p:cTn id="13" dur="500" fill="hold"/>
                                        <p:tgtEl>
                                          <p:spTgt spid="35"/>
                                        </p:tgtEl>
                                        <p:attrNameLst>
                                          <p:attrName>ppt_w</p:attrName>
                                        </p:attrNameLst>
                                      </p:cBhvr>
                                      <p:tavLst>
                                        <p:tav tm="0">
                                          <p:val>
                                            <p:fltVal val="0"/>
                                          </p:val>
                                        </p:tav>
                                        <p:tav tm="100000">
                                          <p:val>
                                            <p:strVal val="#ppt_w"/>
                                          </p:val>
                                        </p:tav>
                                      </p:tavLst>
                                    </p:anim>
                                    <p:anim calcmode="lin" valueType="num">
                                      <p:cBhvr>
                                        <p:cTn id="14" dur="500" fill="hold"/>
                                        <p:tgtEl>
                                          <p:spTgt spid="35"/>
                                        </p:tgtEl>
                                        <p:attrNameLst>
                                          <p:attrName>ppt_h</p:attrName>
                                        </p:attrNameLst>
                                      </p:cBhvr>
                                      <p:tavLst>
                                        <p:tav tm="0">
                                          <p:val>
                                            <p:fltVal val="0"/>
                                          </p:val>
                                        </p:tav>
                                        <p:tav tm="100000">
                                          <p:val>
                                            <p:strVal val="#ppt_h"/>
                                          </p:val>
                                        </p:tav>
                                      </p:tavLst>
                                    </p:anim>
                                    <p:animEffect transition="in" filter="fade">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ppt_x</p:attrName>
                                        </p:attrNameLst>
                                      </p:cBhvr>
                                      <p:tavLst>
                                        <p:tav tm="0">
                                          <p:val>
                                            <p:strVal val="#ppt_x-#ppt_w/2"/>
                                          </p:val>
                                        </p:tav>
                                        <p:tav tm="100000">
                                          <p:val>
                                            <p:strVal val="#ppt_x"/>
                                          </p:val>
                                        </p:tav>
                                      </p:tavLst>
                                    </p:anim>
                                    <p:anim calcmode="lin" valueType="num">
                                      <p:cBhvr>
                                        <p:cTn id="21" dur="500" fill="hold"/>
                                        <p:tgtEl>
                                          <p:spTgt spid="17"/>
                                        </p:tgtEl>
                                        <p:attrNameLst>
                                          <p:attrName>ppt_y</p:attrName>
                                        </p:attrNameLst>
                                      </p:cBhvr>
                                      <p:tavLst>
                                        <p:tav tm="0">
                                          <p:val>
                                            <p:strVal val="#ppt_y"/>
                                          </p:val>
                                        </p:tav>
                                        <p:tav tm="100000">
                                          <p:val>
                                            <p:strVal val="#ppt_y"/>
                                          </p:val>
                                        </p:tav>
                                      </p:tavLst>
                                    </p:anim>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strVal val="#ppt_h"/>
                                          </p:val>
                                        </p:tav>
                                        <p:tav tm="100000">
                                          <p:val>
                                            <p:strVal val="#ppt_h"/>
                                          </p:val>
                                        </p:tav>
                                      </p:tavLst>
                                    </p:anim>
                                  </p:childTnLst>
                                </p:cTn>
                              </p:par>
                              <p:par>
                                <p:cTn id="24" presetID="17" presetClass="entr" presetSubtype="8"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p:cTn id="26" dur="500" fill="hold"/>
                                        <p:tgtEl>
                                          <p:spTgt spid="28"/>
                                        </p:tgtEl>
                                        <p:attrNameLst>
                                          <p:attrName>ppt_x</p:attrName>
                                        </p:attrNameLst>
                                      </p:cBhvr>
                                      <p:tavLst>
                                        <p:tav tm="0">
                                          <p:val>
                                            <p:strVal val="#ppt_x-#ppt_w/2"/>
                                          </p:val>
                                        </p:tav>
                                        <p:tav tm="100000">
                                          <p:val>
                                            <p:strVal val="#ppt_x"/>
                                          </p:val>
                                        </p:tav>
                                      </p:tavLst>
                                    </p:anim>
                                    <p:anim calcmode="lin" valueType="num">
                                      <p:cBhvr>
                                        <p:cTn id="27" dur="500" fill="hold"/>
                                        <p:tgtEl>
                                          <p:spTgt spid="28"/>
                                        </p:tgtEl>
                                        <p:attrNameLst>
                                          <p:attrName>ppt_y</p:attrName>
                                        </p:attrNameLst>
                                      </p:cBhvr>
                                      <p:tavLst>
                                        <p:tav tm="0">
                                          <p:val>
                                            <p:strVal val="#ppt_y"/>
                                          </p:val>
                                        </p:tav>
                                        <p:tav tm="100000">
                                          <p:val>
                                            <p:strVal val="#ppt_y"/>
                                          </p:val>
                                        </p:tav>
                                      </p:tavLst>
                                    </p:anim>
                                    <p:anim calcmode="lin" valueType="num">
                                      <p:cBhvr>
                                        <p:cTn id="28" dur="500" fill="hold"/>
                                        <p:tgtEl>
                                          <p:spTgt spid="28"/>
                                        </p:tgtEl>
                                        <p:attrNameLst>
                                          <p:attrName>ppt_w</p:attrName>
                                        </p:attrNameLst>
                                      </p:cBhvr>
                                      <p:tavLst>
                                        <p:tav tm="0">
                                          <p:val>
                                            <p:fltVal val="0"/>
                                          </p:val>
                                        </p:tav>
                                        <p:tav tm="100000">
                                          <p:val>
                                            <p:strVal val="#ppt_w"/>
                                          </p:val>
                                        </p:tav>
                                      </p:tavLst>
                                    </p:anim>
                                    <p:anim calcmode="lin" valueType="num">
                                      <p:cBhvr>
                                        <p:cTn id="29" dur="500" fill="hold"/>
                                        <p:tgtEl>
                                          <p:spTgt spid="28"/>
                                        </p:tgtEl>
                                        <p:attrNameLst>
                                          <p:attrName>ppt_h</p:attrName>
                                        </p:attrNameLst>
                                      </p:cBhvr>
                                      <p:tavLst>
                                        <p:tav tm="0">
                                          <p:val>
                                            <p:strVal val="#ppt_h"/>
                                          </p:val>
                                        </p:tav>
                                        <p:tav tm="100000">
                                          <p:val>
                                            <p:strVal val="#ppt_h"/>
                                          </p:val>
                                        </p:tav>
                                      </p:tavLst>
                                    </p:anim>
                                  </p:childTnLst>
                                </p:cTn>
                              </p:par>
                              <p:par>
                                <p:cTn id="30" presetID="53" presetClass="entr" presetSubtype="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up)">
                                      <p:cBhvr>
                                        <p:cTn id="39" dur="500"/>
                                        <p:tgtEl>
                                          <p:spTgt spid="31"/>
                                        </p:tgtEl>
                                      </p:cBhvr>
                                    </p:animEffect>
                                  </p:childTnLst>
                                </p:cTn>
                              </p:par>
                              <p:par>
                                <p:cTn id="40" presetID="22" presetClass="entr" presetSubtype="1"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par>
                                <p:cTn id="43" presetID="53"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ppt_w</p:attrName>
                                        </p:attrNameLst>
                                      </p:cBhvr>
                                      <p:tavLst>
                                        <p:tav tm="0">
                                          <p:val>
                                            <p:fltVal val="0"/>
                                          </p:val>
                                        </p:tav>
                                        <p:tav tm="100000">
                                          <p:val>
                                            <p:strVal val="#ppt_w"/>
                                          </p:val>
                                        </p:tav>
                                      </p:tavLst>
                                    </p:anim>
                                    <p:anim calcmode="lin" valueType="num">
                                      <p:cBhvr>
                                        <p:cTn id="46" dur="500" fill="hold"/>
                                        <p:tgtEl>
                                          <p:spTgt spid="37"/>
                                        </p:tgtEl>
                                        <p:attrNameLst>
                                          <p:attrName>ppt_h</p:attrName>
                                        </p:attrNameLst>
                                      </p:cBhvr>
                                      <p:tavLst>
                                        <p:tav tm="0">
                                          <p:val>
                                            <p:fltVal val="0"/>
                                          </p:val>
                                        </p:tav>
                                        <p:tav tm="100000">
                                          <p:val>
                                            <p:strVal val="#ppt_h"/>
                                          </p:val>
                                        </p:tav>
                                      </p:tavLst>
                                    </p:anim>
                                    <p:animEffect transition="in" filter="fade">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1000" fill="hold"/>
                                        <p:tgtEl>
                                          <p:spTgt spid="15"/>
                                        </p:tgtEl>
                                        <p:attrNameLst>
                                          <p:attrName>ppt_w</p:attrName>
                                        </p:attrNameLst>
                                      </p:cBhvr>
                                      <p:tavLst>
                                        <p:tav tm="0">
                                          <p:val>
                                            <p:strVal val="#ppt_w*0.70"/>
                                          </p:val>
                                        </p:tav>
                                        <p:tav tm="100000">
                                          <p:val>
                                            <p:strVal val="#ppt_w"/>
                                          </p:val>
                                        </p:tav>
                                      </p:tavLst>
                                    </p:anim>
                                    <p:anim calcmode="lin" valueType="num">
                                      <p:cBhvr>
                                        <p:cTn id="53" dur="1000" fill="hold"/>
                                        <p:tgtEl>
                                          <p:spTgt spid="15"/>
                                        </p:tgtEl>
                                        <p:attrNameLst>
                                          <p:attrName>ppt_h</p:attrName>
                                        </p:attrNameLst>
                                      </p:cBhvr>
                                      <p:tavLst>
                                        <p:tav tm="0">
                                          <p:val>
                                            <p:strVal val="#ppt_h"/>
                                          </p:val>
                                        </p:tav>
                                        <p:tav tm="100000">
                                          <p:val>
                                            <p:strVal val="#ppt_h"/>
                                          </p:val>
                                        </p:tav>
                                      </p:tavLst>
                                    </p:anim>
                                    <p:animEffect transition="in" filter="fade">
                                      <p:cBhvr>
                                        <p:cTn id="54" dur="1000"/>
                                        <p:tgtEl>
                                          <p:spTgt spid="15"/>
                                        </p:tgtEl>
                                      </p:cBhvr>
                                    </p:animEffect>
                                  </p:childTnLst>
                                </p:cTn>
                              </p:par>
                              <p:par>
                                <p:cTn id="55" presetID="55"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 calcmode="lin" valueType="num">
                                      <p:cBhvr>
                                        <p:cTn id="57" dur="1000" fill="hold"/>
                                        <p:tgtEl>
                                          <p:spTgt spid="33"/>
                                        </p:tgtEl>
                                        <p:attrNameLst>
                                          <p:attrName>ppt_w</p:attrName>
                                        </p:attrNameLst>
                                      </p:cBhvr>
                                      <p:tavLst>
                                        <p:tav tm="0">
                                          <p:val>
                                            <p:strVal val="#ppt_w*0.70"/>
                                          </p:val>
                                        </p:tav>
                                        <p:tav tm="100000">
                                          <p:val>
                                            <p:strVal val="#ppt_w"/>
                                          </p:val>
                                        </p:tav>
                                      </p:tavLst>
                                    </p:anim>
                                    <p:anim calcmode="lin" valueType="num">
                                      <p:cBhvr>
                                        <p:cTn id="58" dur="1000" fill="hold"/>
                                        <p:tgtEl>
                                          <p:spTgt spid="33"/>
                                        </p:tgtEl>
                                        <p:attrNameLst>
                                          <p:attrName>ppt_h</p:attrName>
                                        </p:attrNameLst>
                                      </p:cBhvr>
                                      <p:tavLst>
                                        <p:tav tm="0">
                                          <p:val>
                                            <p:strVal val="#ppt_h"/>
                                          </p:val>
                                        </p:tav>
                                        <p:tav tm="100000">
                                          <p:val>
                                            <p:strVal val="#ppt_h"/>
                                          </p:val>
                                        </p:tav>
                                      </p:tavLst>
                                    </p:anim>
                                    <p:animEffect transition="in" filter="fade">
                                      <p:cBhvr>
                                        <p:cTn id="59" dur="1000"/>
                                        <p:tgtEl>
                                          <p:spTgt spid="33"/>
                                        </p:tgtEl>
                                      </p:cBhvr>
                                    </p:animEffect>
                                  </p:childTnLst>
                                </p:cTn>
                              </p:par>
                              <p:par>
                                <p:cTn id="60" presetID="53" presetClass="entr" presetSubtype="0"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p:cTn id="62" dur="500" fill="hold"/>
                                        <p:tgtEl>
                                          <p:spTgt spid="38"/>
                                        </p:tgtEl>
                                        <p:attrNameLst>
                                          <p:attrName>ppt_w</p:attrName>
                                        </p:attrNameLst>
                                      </p:cBhvr>
                                      <p:tavLst>
                                        <p:tav tm="0">
                                          <p:val>
                                            <p:fltVal val="0"/>
                                          </p:val>
                                        </p:tav>
                                        <p:tav tm="100000">
                                          <p:val>
                                            <p:strVal val="#ppt_w"/>
                                          </p:val>
                                        </p:tav>
                                      </p:tavLst>
                                    </p:anim>
                                    <p:anim calcmode="lin" valueType="num">
                                      <p:cBhvr>
                                        <p:cTn id="63" dur="500" fill="hold"/>
                                        <p:tgtEl>
                                          <p:spTgt spid="38"/>
                                        </p:tgtEl>
                                        <p:attrNameLst>
                                          <p:attrName>ppt_h</p:attrName>
                                        </p:attrNameLst>
                                      </p:cBhvr>
                                      <p:tavLst>
                                        <p:tav tm="0">
                                          <p:val>
                                            <p:fltVal val="0"/>
                                          </p:val>
                                        </p:tav>
                                        <p:tav tm="100000">
                                          <p:val>
                                            <p:strVal val="#ppt_h"/>
                                          </p:val>
                                        </p:tav>
                                      </p:tavLst>
                                    </p:anim>
                                    <p:animEffect transition="in" filter="fade">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down)">
                                      <p:cBhvr>
                                        <p:cTn id="69" dur="500"/>
                                        <p:tgtEl>
                                          <p:spTgt spid="21"/>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down)">
                                      <p:cBhvr>
                                        <p:cTn id="72" dur="500"/>
                                        <p:tgtEl>
                                          <p:spTgt spid="30"/>
                                        </p:tgtEl>
                                      </p:cBhvr>
                                    </p:animEffect>
                                  </p:childTnLst>
                                </p:cTn>
                              </p:par>
                              <p:par>
                                <p:cTn id="73" presetID="53"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 calcmode="lin" valueType="num">
                                      <p:cBhvr>
                                        <p:cTn id="75" dur="500" fill="hold"/>
                                        <p:tgtEl>
                                          <p:spTgt spid="39"/>
                                        </p:tgtEl>
                                        <p:attrNameLst>
                                          <p:attrName>ppt_w</p:attrName>
                                        </p:attrNameLst>
                                      </p:cBhvr>
                                      <p:tavLst>
                                        <p:tav tm="0">
                                          <p:val>
                                            <p:fltVal val="0"/>
                                          </p:val>
                                        </p:tav>
                                        <p:tav tm="100000">
                                          <p:val>
                                            <p:strVal val="#ppt_w"/>
                                          </p:val>
                                        </p:tav>
                                      </p:tavLst>
                                    </p:anim>
                                    <p:anim calcmode="lin" valueType="num">
                                      <p:cBhvr>
                                        <p:cTn id="76" dur="500" fill="hold"/>
                                        <p:tgtEl>
                                          <p:spTgt spid="39"/>
                                        </p:tgtEl>
                                        <p:attrNameLst>
                                          <p:attrName>ppt_h</p:attrName>
                                        </p:attrNameLst>
                                      </p:cBhvr>
                                      <p:tavLst>
                                        <p:tav tm="0">
                                          <p:val>
                                            <p:fltVal val="0"/>
                                          </p:val>
                                        </p:tav>
                                        <p:tav tm="100000">
                                          <p:val>
                                            <p:strVal val="#ppt_h"/>
                                          </p:val>
                                        </p:tav>
                                      </p:tavLst>
                                    </p:anim>
                                    <p:animEffect transition="in" filter="fade">
                                      <p:cBhvr>
                                        <p:cTn id="77" dur="500"/>
                                        <p:tgtEl>
                                          <p:spTgt spid="39"/>
                                        </p:tgtEl>
                                      </p:cBhvr>
                                    </p:animEffect>
                                  </p:childTnLst>
                                </p:cTn>
                              </p:par>
                            </p:childTnLst>
                          </p:cTn>
                        </p:par>
                      </p:childTnLst>
                    </p:cTn>
                  </p:par>
                  <p:par>
                    <p:cTn id="78" fill="hold">
                      <p:stCondLst>
                        <p:cond delay="indefinite"/>
                      </p:stCondLst>
                      <p:childTnLst>
                        <p:par>
                          <p:cTn id="79" fill="hold">
                            <p:stCondLst>
                              <p:cond delay="0"/>
                            </p:stCondLst>
                            <p:childTnLst>
                              <p:par>
                                <p:cTn id="80" presetID="55" presetClass="entr" presetSubtype="0"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p:cTn id="82" dur="1000" fill="hold"/>
                                        <p:tgtEl>
                                          <p:spTgt spid="19"/>
                                        </p:tgtEl>
                                        <p:attrNameLst>
                                          <p:attrName>ppt_w</p:attrName>
                                        </p:attrNameLst>
                                      </p:cBhvr>
                                      <p:tavLst>
                                        <p:tav tm="0">
                                          <p:val>
                                            <p:strVal val="#ppt_w*0.70"/>
                                          </p:val>
                                        </p:tav>
                                        <p:tav tm="100000">
                                          <p:val>
                                            <p:strVal val="#ppt_w"/>
                                          </p:val>
                                        </p:tav>
                                      </p:tavLst>
                                    </p:anim>
                                    <p:anim calcmode="lin" valueType="num">
                                      <p:cBhvr>
                                        <p:cTn id="83" dur="1000" fill="hold"/>
                                        <p:tgtEl>
                                          <p:spTgt spid="19"/>
                                        </p:tgtEl>
                                        <p:attrNameLst>
                                          <p:attrName>ppt_h</p:attrName>
                                        </p:attrNameLst>
                                      </p:cBhvr>
                                      <p:tavLst>
                                        <p:tav tm="0">
                                          <p:val>
                                            <p:strVal val="#ppt_h"/>
                                          </p:val>
                                        </p:tav>
                                        <p:tav tm="100000">
                                          <p:val>
                                            <p:strVal val="#ppt_h"/>
                                          </p:val>
                                        </p:tav>
                                      </p:tavLst>
                                    </p:anim>
                                    <p:animEffect transition="in" filter="fade">
                                      <p:cBhvr>
                                        <p:cTn id="84" dur="1000"/>
                                        <p:tgtEl>
                                          <p:spTgt spid="19"/>
                                        </p:tgtEl>
                                      </p:cBhvr>
                                    </p:animEffect>
                                  </p:childTnLst>
                                </p:cTn>
                              </p:par>
                              <p:par>
                                <p:cTn id="85" presetID="55"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p:cTn id="87" dur="1000" fill="hold"/>
                                        <p:tgtEl>
                                          <p:spTgt spid="27"/>
                                        </p:tgtEl>
                                        <p:attrNameLst>
                                          <p:attrName>ppt_w</p:attrName>
                                        </p:attrNameLst>
                                      </p:cBhvr>
                                      <p:tavLst>
                                        <p:tav tm="0">
                                          <p:val>
                                            <p:strVal val="#ppt_w*0.70"/>
                                          </p:val>
                                        </p:tav>
                                        <p:tav tm="100000">
                                          <p:val>
                                            <p:strVal val="#ppt_w"/>
                                          </p:val>
                                        </p:tav>
                                      </p:tavLst>
                                    </p:anim>
                                    <p:anim calcmode="lin" valueType="num">
                                      <p:cBhvr>
                                        <p:cTn id="88" dur="1000" fill="hold"/>
                                        <p:tgtEl>
                                          <p:spTgt spid="27"/>
                                        </p:tgtEl>
                                        <p:attrNameLst>
                                          <p:attrName>ppt_h</p:attrName>
                                        </p:attrNameLst>
                                      </p:cBhvr>
                                      <p:tavLst>
                                        <p:tav tm="0">
                                          <p:val>
                                            <p:strVal val="#ppt_h"/>
                                          </p:val>
                                        </p:tav>
                                        <p:tav tm="100000">
                                          <p:val>
                                            <p:strVal val="#ppt_h"/>
                                          </p:val>
                                        </p:tav>
                                      </p:tavLst>
                                    </p:anim>
                                    <p:animEffect transition="in" filter="fade">
                                      <p:cBhvr>
                                        <p:cTn id="89" dur="1000"/>
                                        <p:tgtEl>
                                          <p:spTgt spid="27"/>
                                        </p:tgtEl>
                                      </p:cBhvr>
                                    </p:animEffect>
                                  </p:childTnLst>
                                </p:cTn>
                              </p:par>
                              <p:par>
                                <p:cTn id="90" presetID="53"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anim calcmode="lin" valueType="num">
                                      <p:cBhvr>
                                        <p:cTn id="92" dur="500" fill="hold"/>
                                        <p:tgtEl>
                                          <p:spTgt spid="40"/>
                                        </p:tgtEl>
                                        <p:attrNameLst>
                                          <p:attrName>ppt_w</p:attrName>
                                        </p:attrNameLst>
                                      </p:cBhvr>
                                      <p:tavLst>
                                        <p:tav tm="0">
                                          <p:val>
                                            <p:fltVal val="0"/>
                                          </p:val>
                                        </p:tav>
                                        <p:tav tm="100000">
                                          <p:val>
                                            <p:strVal val="#ppt_w"/>
                                          </p:val>
                                        </p:tav>
                                      </p:tavLst>
                                    </p:anim>
                                    <p:anim calcmode="lin" valueType="num">
                                      <p:cBhvr>
                                        <p:cTn id="93" dur="500" fill="hold"/>
                                        <p:tgtEl>
                                          <p:spTgt spid="40"/>
                                        </p:tgtEl>
                                        <p:attrNameLst>
                                          <p:attrName>ppt_h</p:attrName>
                                        </p:attrNameLst>
                                      </p:cBhvr>
                                      <p:tavLst>
                                        <p:tav tm="0">
                                          <p:val>
                                            <p:fltVal val="0"/>
                                          </p:val>
                                        </p:tav>
                                        <p:tav tm="100000">
                                          <p:val>
                                            <p:strVal val="#ppt_h"/>
                                          </p:val>
                                        </p:tav>
                                      </p:tavLst>
                                    </p:anim>
                                    <p:animEffect transition="in" filter="fade">
                                      <p:cBhvr>
                                        <p:cTn id="9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ounded Rectangle 53"/>
          <p:cNvSpPr/>
          <p:nvPr/>
        </p:nvSpPr>
        <p:spPr bwMode="auto">
          <a:xfrm>
            <a:off x="304800" y="3970756"/>
            <a:ext cx="4038600" cy="1255449"/>
          </a:xfrm>
          <a:prstGeom prst="roundRect">
            <a:avLst>
              <a:gd name="adj" fmla="val 6423"/>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55" name="Rounded Rectangle 54"/>
          <p:cNvSpPr/>
          <p:nvPr/>
        </p:nvSpPr>
        <p:spPr bwMode="auto">
          <a:xfrm>
            <a:off x="4676078" y="3970756"/>
            <a:ext cx="4038600" cy="1255449"/>
          </a:xfrm>
          <a:prstGeom prst="roundRect">
            <a:avLst>
              <a:gd name="adj" fmla="val 6423"/>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31" name="Rounded Rectangle 30"/>
          <p:cNvSpPr/>
          <p:nvPr/>
        </p:nvSpPr>
        <p:spPr bwMode="auto">
          <a:xfrm>
            <a:off x="304800" y="1814854"/>
            <a:ext cx="4038600" cy="1788847"/>
          </a:xfrm>
          <a:prstGeom prst="roundRect">
            <a:avLst>
              <a:gd name="adj" fmla="val 6423"/>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8" name="Content Placeholder 7"/>
          <p:cNvSpPr>
            <a:spLocks noGrp="1"/>
          </p:cNvSpPr>
          <p:nvPr>
            <p:ph sz="quarter" idx="4"/>
          </p:nvPr>
        </p:nvSpPr>
        <p:spPr>
          <a:xfrm>
            <a:off x="4645026" y="5426005"/>
            <a:ext cx="4270374" cy="989664"/>
          </a:xfrm>
        </p:spPr>
        <p:txBody>
          <a:bodyPr>
            <a:normAutofit/>
          </a:bodyPr>
          <a:lstStyle/>
          <a:p>
            <a:r>
              <a:rPr lang="en-US" sz="2200" dirty="0" smtClean="0"/>
              <a:t>Adopter lists:</a:t>
            </a:r>
          </a:p>
          <a:p>
            <a:pPr lvl="1"/>
            <a:r>
              <a:rPr lang="en-US" sz="1900" dirty="0" smtClean="0">
                <a:hlinkClick r:id="rId3"/>
              </a:rPr>
              <a:t>OpenID.net</a:t>
            </a:r>
            <a:r>
              <a:rPr lang="en-US" sz="1900" dirty="0" smtClean="0"/>
              <a:t>, </a:t>
            </a:r>
            <a:r>
              <a:rPr lang="en-US" sz="1900" dirty="0" smtClean="0">
                <a:hlinkClick r:id="rId4"/>
              </a:rPr>
              <a:t>MyOpenID</a:t>
            </a:r>
            <a:r>
              <a:rPr lang="en-US" sz="1900" dirty="0" smtClean="0"/>
              <a:t>, </a:t>
            </a:r>
            <a:r>
              <a:rPr lang="en-US" sz="1900" dirty="0" smtClean="0">
                <a:hlinkClick r:id="rId5"/>
              </a:rPr>
              <a:t>OpenID Directory</a:t>
            </a:r>
            <a:r>
              <a:rPr lang="en-US" sz="1900" dirty="0" smtClean="0"/>
              <a:t>,  </a:t>
            </a:r>
            <a:r>
              <a:rPr lang="en-US" dirty="0" smtClean="0">
                <a:hlinkClick r:id="rId6"/>
              </a:rPr>
              <a:t>ClickPass</a:t>
            </a:r>
            <a:endParaRPr lang="en-US" sz="1900" dirty="0" smtClean="0"/>
          </a:p>
        </p:txBody>
      </p:sp>
      <p:sp>
        <p:nvSpPr>
          <p:cNvPr id="4" name="Title 3"/>
          <p:cNvSpPr>
            <a:spLocks noGrp="1"/>
          </p:cNvSpPr>
          <p:nvPr>
            <p:ph type="title"/>
          </p:nvPr>
        </p:nvSpPr>
        <p:spPr/>
        <p:txBody>
          <a:bodyPr/>
          <a:lstStyle/>
          <a:p>
            <a:r>
              <a:rPr smtClean="0"/>
              <a:t>Who's Using OpenID?</a:t>
            </a:r>
            <a:endParaRPr lang="en-US" dirty="0"/>
          </a:p>
        </p:txBody>
      </p:sp>
      <p:sp>
        <p:nvSpPr>
          <p:cNvPr id="5" name="Text Placeholder 4"/>
          <p:cNvSpPr>
            <a:spLocks noGrp="1"/>
          </p:cNvSpPr>
          <p:nvPr>
            <p:ph type="body" idx="1"/>
          </p:nvPr>
        </p:nvSpPr>
        <p:spPr>
          <a:xfrm>
            <a:off x="381000" y="1089102"/>
            <a:ext cx="4114800" cy="346249"/>
          </a:xfrm>
        </p:spPr>
        <p:txBody>
          <a:bodyPr/>
          <a:lstStyle/>
          <a:p>
            <a:r>
              <a:rPr lang="en-US" dirty="0" smtClean="0">
                <a:solidFill>
                  <a:schemeClr val="accent1">
                    <a:lumMod val="60000"/>
                    <a:lumOff val="40000"/>
                  </a:schemeClr>
                </a:solidFill>
              </a:rPr>
              <a:t>Identity Providers</a:t>
            </a:r>
            <a:endParaRPr lang="en-US" dirty="0">
              <a:solidFill>
                <a:schemeClr val="accent1">
                  <a:lumMod val="60000"/>
                  <a:lumOff val="40000"/>
                </a:schemeClr>
              </a:solidFill>
            </a:endParaRPr>
          </a:p>
        </p:txBody>
      </p:sp>
      <p:sp>
        <p:nvSpPr>
          <p:cNvPr id="7" name="Text Placeholder 6"/>
          <p:cNvSpPr>
            <a:spLocks noGrp="1"/>
          </p:cNvSpPr>
          <p:nvPr>
            <p:ph type="body" sz="quarter" idx="3"/>
          </p:nvPr>
        </p:nvSpPr>
        <p:spPr>
          <a:xfrm>
            <a:off x="4757493" y="1089102"/>
            <a:ext cx="4117019" cy="346249"/>
          </a:xfrm>
        </p:spPr>
        <p:txBody>
          <a:bodyPr/>
          <a:lstStyle/>
          <a:p>
            <a:r>
              <a:rPr lang="en-US" dirty="0" smtClean="0">
                <a:solidFill>
                  <a:schemeClr val="accent1">
                    <a:lumMod val="60000"/>
                    <a:lumOff val="40000"/>
                  </a:schemeClr>
                </a:solidFill>
              </a:rPr>
              <a:t>Relying Parties</a:t>
            </a:r>
            <a:endParaRPr lang="en-US" dirty="0">
              <a:solidFill>
                <a:schemeClr val="accent1">
                  <a:lumMod val="60000"/>
                  <a:lumOff val="40000"/>
                </a:schemeClr>
              </a:solidFill>
            </a:endParaRPr>
          </a:p>
        </p:txBody>
      </p:sp>
      <p:pic>
        <p:nvPicPr>
          <p:cNvPr id="10" name="Picture 9" descr="openid-logo.png"/>
          <p:cNvPicPr>
            <a:picLocks noChangeAspect="1"/>
          </p:cNvPicPr>
          <p:nvPr/>
        </p:nvPicPr>
        <p:blipFill>
          <a:blip r:embed="rId7"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
        <p:nvSpPr>
          <p:cNvPr id="33" name="Rounded Rectangle 32"/>
          <p:cNvSpPr/>
          <p:nvPr/>
        </p:nvSpPr>
        <p:spPr bwMode="auto">
          <a:xfrm>
            <a:off x="4676078" y="1814854"/>
            <a:ext cx="4038600" cy="1788847"/>
          </a:xfrm>
          <a:prstGeom prst="roundRect">
            <a:avLst>
              <a:gd name="adj" fmla="val 6423"/>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35" name="Picture 1" descr="VeriSign Labs"/>
          <p:cNvPicPr>
            <a:picLocks noChangeAspect="1" noChangeArrowheads="1"/>
          </p:cNvPicPr>
          <p:nvPr/>
        </p:nvPicPr>
        <p:blipFill>
          <a:blip r:embed="rId8" cstate="print"/>
          <a:srcRect l="11650" b="20000"/>
          <a:stretch>
            <a:fillRect/>
          </a:stretch>
        </p:blipFill>
        <p:spPr bwMode="auto">
          <a:xfrm>
            <a:off x="453483" y="2036956"/>
            <a:ext cx="1733550" cy="457200"/>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37" name="Picture 4" descr="http://openid.trustbearer.com/assets/images/openid/logo.png"/>
          <p:cNvPicPr>
            <a:picLocks noChangeAspect="1" noChangeArrowheads="1"/>
          </p:cNvPicPr>
          <p:nvPr/>
        </p:nvPicPr>
        <p:blipFill>
          <a:blip r:embed="rId9" cstate="print"/>
          <a:srcRect/>
          <a:stretch>
            <a:fillRect/>
          </a:stretch>
        </p:blipFill>
        <p:spPr bwMode="auto">
          <a:xfrm>
            <a:off x="2510883" y="2036957"/>
            <a:ext cx="1447800" cy="482600"/>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38" name="Picture 6" descr="AOL.com">
            <a:hlinkClick r:id="rId10"/>
          </p:cNvPr>
          <p:cNvPicPr>
            <a:picLocks noChangeAspect="1" noChangeArrowheads="1"/>
          </p:cNvPicPr>
          <p:nvPr/>
        </p:nvPicPr>
        <p:blipFill>
          <a:blip r:embed="rId11" cstate="print"/>
          <a:srcRect l="7921" t="23077" r="4950" b="15385"/>
          <a:stretch>
            <a:fillRect/>
          </a:stretch>
        </p:blipFill>
        <p:spPr bwMode="auto">
          <a:xfrm>
            <a:off x="2815683" y="2646556"/>
            <a:ext cx="1143000" cy="415636"/>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39" name="Picture 8" descr="Yahoo!"/>
          <p:cNvPicPr>
            <a:picLocks noChangeAspect="1" noChangeArrowheads="1"/>
          </p:cNvPicPr>
          <p:nvPr/>
        </p:nvPicPr>
        <p:blipFill>
          <a:blip r:embed="rId12" cstate="print"/>
          <a:srcRect/>
          <a:stretch>
            <a:fillRect/>
          </a:stretch>
        </p:blipFill>
        <p:spPr bwMode="auto">
          <a:xfrm>
            <a:off x="453483" y="2646556"/>
            <a:ext cx="2209800" cy="419101"/>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40" name="Picture 17" descr="Plaxo">
            <a:hlinkClick r:id="rId13"/>
          </p:cNvPr>
          <p:cNvPicPr>
            <a:picLocks noChangeAspect="1" noChangeArrowheads="1"/>
          </p:cNvPicPr>
          <p:nvPr/>
        </p:nvPicPr>
        <p:blipFill>
          <a:blip r:embed="rId14" cstate="print"/>
          <a:srcRect/>
          <a:stretch>
            <a:fillRect/>
          </a:stretch>
        </p:blipFill>
        <p:spPr bwMode="auto">
          <a:xfrm>
            <a:off x="7139914" y="2507166"/>
            <a:ext cx="1515291" cy="5303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41" name="Group 40"/>
          <p:cNvGrpSpPr/>
          <p:nvPr/>
        </p:nvGrpSpPr>
        <p:grpSpPr>
          <a:xfrm>
            <a:off x="4787590" y="2440259"/>
            <a:ext cx="2133601" cy="533400"/>
            <a:chOff x="9448800" y="2133600"/>
            <a:chExt cx="1981200" cy="454742"/>
          </a:xfrm>
        </p:grpSpPr>
        <p:sp>
          <p:nvSpPr>
            <p:cNvPr id="42" name="Rounded Rectangle 41"/>
            <p:cNvSpPr/>
            <p:nvPr/>
          </p:nvSpPr>
          <p:spPr bwMode="auto">
            <a:xfrm>
              <a:off x="9448800" y="2133600"/>
              <a:ext cx="1981200" cy="454742"/>
            </a:xfrm>
            <a:prstGeom prst="roundRect">
              <a:avLst/>
            </a:prstGeom>
            <a:solidFill>
              <a:schemeClr val="tx1"/>
            </a:solidFill>
            <a:ln>
              <a:solidFill>
                <a:schemeClr val="tx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43" name="Picture 19" descr="http://p-stat.livejournal.com/horizon/livejournal.png">
              <a:hlinkClick r:id="rId15"/>
            </p:cNvPr>
            <p:cNvPicPr>
              <a:picLocks noChangeAspect="1" noChangeArrowheads="1"/>
            </p:cNvPicPr>
            <p:nvPr/>
          </p:nvPicPr>
          <p:blipFill>
            <a:blip r:embed="rId16" cstate="print"/>
            <a:stretch>
              <a:fillRect/>
            </a:stretch>
          </p:blipFill>
          <p:spPr bwMode="auto">
            <a:xfrm>
              <a:off x="9525001" y="2257426"/>
              <a:ext cx="1801452" cy="236277"/>
            </a:xfrm>
            <a:prstGeom prst="rect">
              <a:avLst/>
            </a:prstGeom>
            <a:noFill/>
            <a:ln>
              <a:noFill/>
            </a:ln>
          </p:spPr>
        </p:pic>
      </p:grpSp>
      <p:grpSp>
        <p:nvGrpSpPr>
          <p:cNvPr id="44" name="Group 43"/>
          <p:cNvGrpSpPr/>
          <p:nvPr/>
        </p:nvGrpSpPr>
        <p:grpSpPr>
          <a:xfrm>
            <a:off x="6926766" y="1895707"/>
            <a:ext cx="1676400" cy="530942"/>
            <a:chOff x="7162800" y="2440858"/>
            <a:chExt cx="1676400" cy="530942"/>
          </a:xfrm>
        </p:grpSpPr>
        <p:sp>
          <p:nvSpPr>
            <p:cNvPr id="45" name="Rounded Rectangle 44"/>
            <p:cNvSpPr/>
            <p:nvPr/>
          </p:nvSpPr>
          <p:spPr bwMode="auto">
            <a:xfrm>
              <a:off x="7162800" y="2440858"/>
              <a:ext cx="1676400" cy="530942"/>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46" name="Picture 21" descr="Blogger"/>
            <p:cNvPicPr>
              <a:picLocks noChangeAspect="1" noChangeArrowheads="1"/>
            </p:cNvPicPr>
            <p:nvPr/>
          </p:nvPicPr>
          <p:blipFill>
            <a:blip r:embed="rId17" cstate="print"/>
            <a:srcRect/>
            <a:stretch>
              <a:fillRect/>
            </a:stretch>
          </p:blipFill>
          <p:spPr bwMode="auto">
            <a:xfrm>
              <a:off x="7239000" y="2455138"/>
              <a:ext cx="1524000" cy="440462"/>
            </a:xfrm>
            <a:prstGeom prst="rect">
              <a:avLst/>
            </a:prstGeom>
            <a:noFill/>
          </p:spPr>
        </p:pic>
      </p:grpSp>
      <p:grpSp>
        <p:nvGrpSpPr>
          <p:cNvPr id="47" name="Group 46"/>
          <p:cNvGrpSpPr/>
          <p:nvPr/>
        </p:nvGrpSpPr>
        <p:grpSpPr>
          <a:xfrm>
            <a:off x="4787590" y="3066585"/>
            <a:ext cx="2155903" cy="457313"/>
            <a:chOff x="9372600" y="3505200"/>
            <a:chExt cx="2514600" cy="533400"/>
          </a:xfrm>
        </p:grpSpPr>
        <p:sp>
          <p:nvSpPr>
            <p:cNvPr id="48" name="Rounded Rectangle 47"/>
            <p:cNvSpPr/>
            <p:nvPr/>
          </p:nvSpPr>
          <p:spPr bwMode="auto">
            <a:xfrm>
              <a:off x="9372600" y="3505200"/>
              <a:ext cx="2514600" cy="533400"/>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49" name="Picture 23" descr="Movable Type 4">
              <a:hlinkClick r:id="rId18"/>
            </p:cNvPr>
            <p:cNvPicPr>
              <a:picLocks noChangeAspect="1" noChangeArrowheads="1"/>
            </p:cNvPicPr>
            <p:nvPr/>
          </p:nvPicPr>
          <p:blipFill>
            <a:blip r:embed="rId19" cstate="print"/>
            <a:stretch>
              <a:fillRect/>
            </a:stretch>
          </p:blipFill>
          <p:spPr bwMode="auto">
            <a:xfrm>
              <a:off x="9525000" y="3581400"/>
              <a:ext cx="2209800" cy="409575"/>
            </a:xfrm>
            <a:prstGeom prst="rect">
              <a:avLst/>
            </a:prstGeom>
            <a:noFill/>
            <a:ln>
              <a:noFill/>
            </a:ln>
          </p:spPr>
        </p:pic>
      </p:grpSp>
      <p:pic>
        <p:nvPicPr>
          <p:cNvPr id="50" name="Picture 27" descr="WordPress Picture">
            <a:hlinkClick r:id="rId20"/>
          </p:cNvPr>
          <p:cNvPicPr>
            <a:picLocks noChangeAspect="1" noChangeArrowheads="1"/>
          </p:cNvPicPr>
          <p:nvPr/>
        </p:nvPicPr>
        <p:blipFill>
          <a:blip r:embed="rId21" cstate="print"/>
          <a:srcRect/>
          <a:stretch>
            <a:fillRect/>
          </a:stretch>
        </p:blipFill>
        <p:spPr bwMode="auto">
          <a:xfrm>
            <a:off x="4787590" y="1895707"/>
            <a:ext cx="1828800" cy="475489"/>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51" name="Picture 28"/>
          <p:cNvPicPr>
            <a:picLocks noChangeAspect="1" noChangeArrowheads="1"/>
          </p:cNvPicPr>
          <p:nvPr/>
        </p:nvPicPr>
        <p:blipFill>
          <a:blip r:embed="rId22" cstate="print"/>
          <a:srcRect/>
          <a:stretch>
            <a:fillRect/>
          </a:stretch>
        </p:blipFill>
        <p:spPr bwMode="auto">
          <a:xfrm>
            <a:off x="7477518" y="3066585"/>
            <a:ext cx="930501" cy="4384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2" name="Content Placeholder 5"/>
          <p:cNvSpPr txBox="1">
            <a:spLocks/>
          </p:cNvSpPr>
          <p:nvPr/>
        </p:nvSpPr>
        <p:spPr bwMode="auto">
          <a:xfrm>
            <a:off x="380999" y="5426005"/>
            <a:ext cx="4114800" cy="7109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281770" marR="0" lvl="0" indent="-281770" algn="l" defTabSz="912813" rtl="0" eaLnBrk="1" fontAlgn="base" latinLnBrk="0" hangingPunct="1">
              <a:lnSpc>
                <a:spcPct val="90000"/>
              </a:lnSpc>
              <a:spcBef>
                <a:spcPct val="20000"/>
              </a:spcBef>
              <a:spcAft>
                <a:spcPct val="0"/>
              </a:spcAft>
              <a:buClrTx/>
              <a:buSzTx/>
              <a:buFontTx/>
              <a:buBlip>
                <a:blip r:embed="rId23"/>
              </a:buBlip>
              <a:tabLst/>
              <a:defRPr/>
            </a:pPr>
            <a:r>
              <a:rPr lang="en-US" sz="2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Provider lists:</a:t>
            </a:r>
          </a:p>
          <a:p>
            <a:pPr marL="738970" lvl="1" indent="-281770" defTabSz="912813" fontAlgn="base">
              <a:lnSpc>
                <a:spcPct val="90000"/>
              </a:lnSpc>
              <a:spcBef>
                <a:spcPct val="20000"/>
              </a:spcBef>
              <a:spcAft>
                <a:spcPct val="0"/>
              </a:spcAft>
              <a:buFontTx/>
              <a:buBlip>
                <a:blip r:embed="rId23"/>
              </a:buBlip>
              <a:defRPr/>
            </a:pPr>
            <a:r>
              <a:rPr lang="en-US" sz="2400" dirty="0" smtClean="0">
                <a:hlinkClick r:id="rId5"/>
              </a:rPr>
              <a:t>OpenID Directory</a:t>
            </a:r>
            <a:endParaRPr lang="en-US" sz="2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56" name="Picture 11"/>
          <p:cNvPicPr>
            <a:picLocks noChangeAspect="1" noChangeArrowheads="1"/>
          </p:cNvPicPr>
          <p:nvPr/>
        </p:nvPicPr>
        <p:blipFill>
          <a:blip r:embed="rId24" cstate="print"/>
          <a:srcRect/>
          <a:stretch>
            <a:fillRect/>
          </a:stretch>
        </p:blipFill>
        <p:spPr bwMode="auto">
          <a:xfrm>
            <a:off x="450440" y="4664928"/>
            <a:ext cx="1920240" cy="457200"/>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57" name="Picture 12"/>
          <p:cNvPicPr>
            <a:picLocks noChangeAspect="1" noChangeArrowheads="1"/>
          </p:cNvPicPr>
          <p:nvPr/>
        </p:nvPicPr>
        <p:blipFill>
          <a:blip r:embed="rId25" cstate="print"/>
          <a:srcRect/>
          <a:stretch>
            <a:fillRect/>
          </a:stretch>
        </p:blipFill>
        <p:spPr bwMode="auto">
          <a:xfrm>
            <a:off x="2043205" y="4077630"/>
            <a:ext cx="1939638" cy="457200"/>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58" name="Picture 14" descr="claimID"/>
          <p:cNvPicPr>
            <a:picLocks noChangeAspect="1" noChangeArrowheads="1"/>
          </p:cNvPicPr>
          <p:nvPr/>
        </p:nvPicPr>
        <p:blipFill>
          <a:blip r:embed="rId26" cstate="print"/>
          <a:srcRect/>
          <a:stretch>
            <a:fillRect/>
          </a:stretch>
        </p:blipFill>
        <p:spPr bwMode="auto">
          <a:xfrm>
            <a:off x="405835" y="4077630"/>
            <a:ext cx="1219200" cy="462798"/>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pic>
        <p:nvPicPr>
          <p:cNvPr id="59" name="Picture 15"/>
          <p:cNvPicPr>
            <a:picLocks noChangeAspect="1" noChangeArrowheads="1"/>
          </p:cNvPicPr>
          <p:nvPr/>
        </p:nvPicPr>
        <p:blipFill>
          <a:blip r:embed="rId27" cstate="print"/>
          <a:srcRect/>
          <a:stretch>
            <a:fillRect/>
          </a:stretch>
        </p:blipFill>
        <p:spPr bwMode="auto">
          <a:xfrm>
            <a:off x="3100712" y="4650059"/>
            <a:ext cx="918840" cy="457200"/>
          </a:xfrm>
          <a:prstGeom prst="roundRect">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p:spPr>
      </p:pic>
      <p:grpSp>
        <p:nvGrpSpPr>
          <p:cNvPr id="60" name="Group 59"/>
          <p:cNvGrpSpPr/>
          <p:nvPr/>
        </p:nvGrpSpPr>
        <p:grpSpPr>
          <a:xfrm>
            <a:off x="6040245" y="4051610"/>
            <a:ext cx="1447799" cy="1066800"/>
            <a:chOff x="7467600" y="4572000"/>
            <a:chExt cx="1447799" cy="1066800"/>
          </a:xfrm>
        </p:grpSpPr>
        <p:sp>
          <p:nvSpPr>
            <p:cNvPr id="61" name="Rounded Rectangle 60"/>
            <p:cNvSpPr/>
            <p:nvPr/>
          </p:nvSpPr>
          <p:spPr bwMode="auto">
            <a:xfrm>
              <a:off x="7467600" y="4572000"/>
              <a:ext cx="1447799" cy="1066800"/>
            </a:xfrm>
            <a:prstGeom prst="roundRect">
              <a:avLst>
                <a:gd name="adj" fmla="val 8305"/>
              </a:avLst>
            </a:prstGeom>
            <a:solidFill>
              <a:schemeClr val="tx1"/>
            </a:solidFill>
            <a:ln>
              <a:solidFill>
                <a:schemeClr val="tx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62" name="Picture 29" descr="C:\Users\alogan\Desktop\Presentation Artwork\Latest DVD\Logos\HealthVault beta\HealthVault Beta logo v.png"/>
            <p:cNvPicPr>
              <a:picLocks noChangeAspect="1" noChangeArrowheads="1"/>
            </p:cNvPicPr>
            <p:nvPr/>
          </p:nvPicPr>
          <p:blipFill>
            <a:blip r:embed="rId28" cstate="print"/>
            <a:stretch>
              <a:fillRect/>
            </a:stretch>
          </p:blipFill>
          <p:spPr bwMode="auto">
            <a:xfrm>
              <a:off x="7543799" y="4572000"/>
              <a:ext cx="1315285" cy="964794"/>
            </a:xfrm>
            <a:prstGeom prst="rect">
              <a:avLst/>
            </a:prstGeom>
            <a:noFill/>
            <a:ln>
              <a:noFill/>
            </a:ln>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p:cTn id="13" dur="500" fill="hold"/>
                                        <p:tgtEl>
                                          <p:spTgt spid="39"/>
                                        </p:tgtEl>
                                        <p:attrNameLst>
                                          <p:attrName>ppt_w</p:attrName>
                                        </p:attrNameLst>
                                      </p:cBhvr>
                                      <p:tavLst>
                                        <p:tav tm="0">
                                          <p:val>
                                            <p:fltVal val="0"/>
                                          </p:val>
                                        </p:tav>
                                        <p:tav tm="100000">
                                          <p:val>
                                            <p:strVal val="#ppt_w"/>
                                          </p:val>
                                        </p:tav>
                                      </p:tavLst>
                                    </p:anim>
                                    <p:anim calcmode="lin" valueType="num">
                                      <p:cBhvr>
                                        <p:cTn id="14" dur="500" fill="hold"/>
                                        <p:tgtEl>
                                          <p:spTgt spid="39"/>
                                        </p:tgtEl>
                                        <p:attrNameLst>
                                          <p:attrName>ppt_h</p:attrName>
                                        </p:attrNameLst>
                                      </p:cBhvr>
                                      <p:tavLst>
                                        <p:tav tm="0">
                                          <p:val>
                                            <p:fltVal val="0"/>
                                          </p:val>
                                        </p:tav>
                                        <p:tav tm="100000">
                                          <p:val>
                                            <p:strVal val="#ppt_h"/>
                                          </p:val>
                                        </p:tav>
                                      </p:tavLst>
                                    </p:anim>
                                    <p:animEffect transition="in" filter="fade">
                                      <p:cBhvr>
                                        <p:cTn id="15" dur="500"/>
                                        <p:tgtEl>
                                          <p:spTgt spid="39"/>
                                        </p:tgtEl>
                                      </p:cBhvr>
                                    </p:animEffect>
                                  </p:childTnLst>
                                </p:cTn>
                              </p:par>
                            </p:childTnLst>
                          </p:cTn>
                        </p:par>
                        <p:par>
                          <p:cTn id="16" fill="hold">
                            <p:stCondLst>
                              <p:cond delay="1000"/>
                            </p:stCondLst>
                            <p:childTnLst>
                              <p:par>
                                <p:cTn id="17" presetID="53"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p:cTn id="19" dur="500" fill="hold"/>
                                        <p:tgtEl>
                                          <p:spTgt spid="38"/>
                                        </p:tgtEl>
                                        <p:attrNameLst>
                                          <p:attrName>ppt_w</p:attrName>
                                        </p:attrNameLst>
                                      </p:cBhvr>
                                      <p:tavLst>
                                        <p:tav tm="0">
                                          <p:val>
                                            <p:fltVal val="0"/>
                                          </p:val>
                                        </p:tav>
                                        <p:tav tm="100000">
                                          <p:val>
                                            <p:strVal val="#ppt_w"/>
                                          </p:val>
                                        </p:tav>
                                      </p:tavLst>
                                    </p:anim>
                                    <p:anim calcmode="lin" valueType="num">
                                      <p:cBhvr>
                                        <p:cTn id="20" dur="500" fill="hold"/>
                                        <p:tgtEl>
                                          <p:spTgt spid="38"/>
                                        </p:tgtEl>
                                        <p:attrNameLst>
                                          <p:attrName>ppt_h</p:attrName>
                                        </p:attrNameLst>
                                      </p:cBhvr>
                                      <p:tavLst>
                                        <p:tav tm="0">
                                          <p:val>
                                            <p:fltVal val="0"/>
                                          </p:val>
                                        </p:tav>
                                        <p:tav tm="100000">
                                          <p:val>
                                            <p:strVal val="#ppt_h"/>
                                          </p:val>
                                        </p:tav>
                                      </p:tavLst>
                                    </p:anim>
                                    <p:animEffect transition="in" filter="fade">
                                      <p:cBhvr>
                                        <p:cTn id="21" dur="500"/>
                                        <p:tgtEl>
                                          <p:spTgt spid="38"/>
                                        </p:tgtEl>
                                      </p:cBhvr>
                                    </p:animEffect>
                                  </p:childTnLst>
                                </p:cTn>
                              </p:par>
                            </p:childTnLst>
                          </p:cTn>
                        </p:par>
                        <p:par>
                          <p:cTn id="22" fill="hold">
                            <p:stCondLst>
                              <p:cond delay="1500"/>
                            </p:stCondLst>
                            <p:childTnLst>
                              <p:par>
                                <p:cTn id="23" presetID="53"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childTnLst>
                          </p:cTn>
                        </p:par>
                        <p:par>
                          <p:cTn id="28" fill="hold">
                            <p:stCondLst>
                              <p:cond delay="2000"/>
                            </p:stCondLst>
                            <p:childTnLst>
                              <p:par>
                                <p:cTn id="29" presetID="53" presetClass="entr" presetSubtype="0"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p:cTn id="31" dur="500" fill="hold"/>
                                        <p:tgtEl>
                                          <p:spTgt spid="40"/>
                                        </p:tgtEl>
                                        <p:attrNameLst>
                                          <p:attrName>ppt_w</p:attrName>
                                        </p:attrNameLst>
                                      </p:cBhvr>
                                      <p:tavLst>
                                        <p:tav tm="0">
                                          <p:val>
                                            <p:fltVal val="0"/>
                                          </p:val>
                                        </p:tav>
                                        <p:tav tm="100000">
                                          <p:val>
                                            <p:strVal val="#ppt_w"/>
                                          </p:val>
                                        </p:tav>
                                      </p:tavLst>
                                    </p:anim>
                                    <p:anim calcmode="lin" valueType="num">
                                      <p:cBhvr>
                                        <p:cTn id="32" dur="500" fill="hold"/>
                                        <p:tgtEl>
                                          <p:spTgt spid="40"/>
                                        </p:tgtEl>
                                        <p:attrNameLst>
                                          <p:attrName>ppt_h</p:attrName>
                                        </p:attrNameLst>
                                      </p:cBhvr>
                                      <p:tavLst>
                                        <p:tav tm="0">
                                          <p:val>
                                            <p:fltVal val="0"/>
                                          </p:val>
                                        </p:tav>
                                        <p:tav tm="100000">
                                          <p:val>
                                            <p:strVal val="#ppt_h"/>
                                          </p:val>
                                        </p:tav>
                                      </p:tavLst>
                                    </p:anim>
                                    <p:animEffect transition="in" filter="fade">
                                      <p:cBhvr>
                                        <p:cTn id="33" dur="500"/>
                                        <p:tgtEl>
                                          <p:spTgt spid="40"/>
                                        </p:tgtEl>
                                      </p:cBhvr>
                                    </p:animEffect>
                                  </p:childTnLst>
                                </p:cTn>
                              </p:par>
                            </p:childTnLst>
                          </p:cTn>
                        </p:par>
                        <p:par>
                          <p:cTn id="34" fill="hold">
                            <p:stCondLst>
                              <p:cond delay="2500"/>
                            </p:stCondLst>
                            <p:childTnLst>
                              <p:par>
                                <p:cTn id="35" presetID="53" presetClass="entr" presetSubtype="0" fill="hold" nodeType="after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p:cTn id="37" dur="500" fill="hold"/>
                                        <p:tgtEl>
                                          <p:spTgt spid="41"/>
                                        </p:tgtEl>
                                        <p:attrNameLst>
                                          <p:attrName>ppt_w</p:attrName>
                                        </p:attrNameLst>
                                      </p:cBhvr>
                                      <p:tavLst>
                                        <p:tav tm="0">
                                          <p:val>
                                            <p:fltVal val="0"/>
                                          </p:val>
                                        </p:tav>
                                        <p:tav tm="100000">
                                          <p:val>
                                            <p:strVal val="#ppt_w"/>
                                          </p:val>
                                        </p:tav>
                                      </p:tavLst>
                                    </p:anim>
                                    <p:anim calcmode="lin" valueType="num">
                                      <p:cBhvr>
                                        <p:cTn id="38" dur="500" fill="hold"/>
                                        <p:tgtEl>
                                          <p:spTgt spid="41"/>
                                        </p:tgtEl>
                                        <p:attrNameLst>
                                          <p:attrName>ppt_h</p:attrName>
                                        </p:attrNameLst>
                                      </p:cBhvr>
                                      <p:tavLst>
                                        <p:tav tm="0">
                                          <p:val>
                                            <p:fltVal val="0"/>
                                          </p:val>
                                        </p:tav>
                                        <p:tav tm="100000">
                                          <p:val>
                                            <p:strVal val="#ppt_h"/>
                                          </p:val>
                                        </p:tav>
                                      </p:tavLst>
                                    </p:anim>
                                    <p:animEffect transition="in" filter="fade">
                                      <p:cBhvr>
                                        <p:cTn id="39" dur="500"/>
                                        <p:tgtEl>
                                          <p:spTgt spid="41"/>
                                        </p:tgtEl>
                                      </p:cBhvr>
                                    </p:animEffect>
                                  </p:childTnLst>
                                </p:cTn>
                              </p:par>
                            </p:childTnLst>
                          </p:cTn>
                        </p:par>
                        <p:par>
                          <p:cTn id="40" fill="hold">
                            <p:stCondLst>
                              <p:cond delay="3000"/>
                            </p:stCondLst>
                            <p:childTnLst>
                              <p:par>
                                <p:cTn id="41" presetID="53" presetClass="entr" presetSubtype="0" fill="hold" nodeType="after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animEffect transition="in" filter="fade">
                                      <p:cBhvr>
                                        <p:cTn id="45" dur="500"/>
                                        <p:tgtEl>
                                          <p:spTgt spid="44"/>
                                        </p:tgtEl>
                                      </p:cBhvr>
                                    </p:animEffect>
                                  </p:childTnLst>
                                </p:cTn>
                              </p:par>
                            </p:childTnLst>
                          </p:cTn>
                        </p:par>
                        <p:par>
                          <p:cTn id="46" fill="hold">
                            <p:stCondLst>
                              <p:cond delay="3500"/>
                            </p:stCondLst>
                            <p:childTnLst>
                              <p:par>
                                <p:cTn id="47" presetID="53" presetClass="entr" presetSubtype="0" fill="hold" nodeType="after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p:cTn id="49" dur="500" fill="hold"/>
                                        <p:tgtEl>
                                          <p:spTgt spid="47"/>
                                        </p:tgtEl>
                                        <p:attrNameLst>
                                          <p:attrName>ppt_w</p:attrName>
                                        </p:attrNameLst>
                                      </p:cBhvr>
                                      <p:tavLst>
                                        <p:tav tm="0">
                                          <p:val>
                                            <p:fltVal val="0"/>
                                          </p:val>
                                        </p:tav>
                                        <p:tav tm="100000">
                                          <p:val>
                                            <p:strVal val="#ppt_w"/>
                                          </p:val>
                                        </p:tav>
                                      </p:tavLst>
                                    </p:anim>
                                    <p:anim calcmode="lin" valueType="num">
                                      <p:cBhvr>
                                        <p:cTn id="50" dur="500" fill="hold"/>
                                        <p:tgtEl>
                                          <p:spTgt spid="47"/>
                                        </p:tgtEl>
                                        <p:attrNameLst>
                                          <p:attrName>ppt_h</p:attrName>
                                        </p:attrNameLst>
                                      </p:cBhvr>
                                      <p:tavLst>
                                        <p:tav tm="0">
                                          <p:val>
                                            <p:fltVal val="0"/>
                                          </p:val>
                                        </p:tav>
                                        <p:tav tm="100000">
                                          <p:val>
                                            <p:strVal val="#ppt_h"/>
                                          </p:val>
                                        </p:tav>
                                      </p:tavLst>
                                    </p:anim>
                                    <p:animEffect transition="in" filter="fade">
                                      <p:cBhvr>
                                        <p:cTn id="51" dur="500"/>
                                        <p:tgtEl>
                                          <p:spTgt spid="47"/>
                                        </p:tgtEl>
                                      </p:cBhvr>
                                    </p:animEffect>
                                  </p:childTnLst>
                                </p:cTn>
                              </p:par>
                            </p:childTnLst>
                          </p:cTn>
                        </p:par>
                        <p:par>
                          <p:cTn id="52" fill="hold">
                            <p:stCondLst>
                              <p:cond delay="4000"/>
                            </p:stCondLst>
                            <p:childTnLst>
                              <p:par>
                                <p:cTn id="53" presetID="53" presetClass="entr" presetSubtype="0" fill="hold" nodeType="after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p:cTn id="55" dur="500" fill="hold"/>
                                        <p:tgtEl>
                                          <p:spTgt spid="50"/>
                                        </p:tgtEl>
                                        <p:attrNameLst>
                                          <p:attrName>ppt_w</p:attrName>
                                        </p:attrNameLst>
                                      </p:cBhvr>
                                      <p:tavLst>
                                        <p:tav tm="0">
                                          <p:val>
                                            <p:fltVal val="0"/>
                                          </p:val>
                                        </p:tav>
                                        <p:tav tm="100000">
                                          <p:val>
                                            <p:strVal val="#ppt_w"/>
                                          </p:val>
                                        </p:tav>
                                      </p:tavLst>
                                    </p:anim>
                                    <p:anim calcmode="lin" valueType="num">
                                      <p:cBhvr>
                                        <p:cTn id="56" dur="500" fill="hold"/>
                                        <p:tgtEl>
                                          <p:spTgt spid="50"/>
                                        </p:tgtEl>
                                        <p:attrNameLst>
                                          <p:attrName>ppt_h</p:attrName>
                                        </p:attrNameLst>
                                      </p:cBhvr>
                                      <p:tavLst>
                                        <p:tav tm="0">
                                          <p:val>
                                            <p:fltVal val="0"/>
                                          </p:val>
                                        </p:tav>
                                        <p:tav tm="100000">
                                          <p:val>
                                            <p:strVal val="#ppt_h"/>
                                          </p:val>
                                        </p:tav>
                                      </p:tavLst>
                                    </p:anim>
                                    <p:animEffect transition="in" filter="fade">
                                      <p:cBhvr>
                                        <p:cTn id="57" dur="500"/>
                                        <p:tgtEl>
                                          <p:spTgt spid="50"/>
                                        </p:tgtEl>
                                      </p:cBhvr>
                                    </p:animEffect>
                                  </p:childTnLst>
                                </p:cTn>
                              </p:par>
                            </p:childTnLst>
                          </p:cTn>
                        </p:par>
                        <p:par>
                          <p:cTn id="58" fill="hold">
                            <p:stCondLst>
                              <p:cond delay="4500"/>
                            </p:stCondLst>
                            <p:childTnLst>
                              <p:par>
                                <p:cTn id="59" presetID="53" presetClass="entr" presetSubtype="0" fill="hold" nodeType="afterEffect">
                                  <p:stCondLst>
                                    <p:cond delay="0"/>
                                  </p:stCondLst>
                                  <p:childTnLst>
                                    <p:set>
                                      <p:cBhvr>
                                        <p:cTn id="60" dur="1" fill="hold">
                                          <p:stCondLst>
                                            <p:cond delay="0"/>
                                          </p:stCondLst>
                                        </p:cTn>
                                        <p:tgtEl>
                                          <p:spTgt spid="51"/>
                                        </p:tgtEl>
                                        <p:attrNameLst>
                                          <p:attrName>style.visibility</p:attrName>
                                        </p:attrNameLst>
                                      </p:cBhvr>
                                      <p:to>
                                        <p:strVal val="visible"/>
                                      </p:to>
                                    </p:set>
                                    <p:anim calcmode="lin" valueType="num">
                                      <p:cBhvr>
                                        <p:cTn id="61" dur="500" fill="hold"/>
                                        <p:tgtEl>
                                          <p:spTgt spid="51"/>
                                        </p:tgtEl>
                                        <p:attrNameLst>
                                          <p:attrName>ppt_w</p:attrName>
                                        </p:attrNameLst>
                                      </p:cBhvr>
                                      <p:tavLst>
                                        <p:tav tm="0">
                                          <p:val>
                                            <p:fltVal val="0"/>
                                          </p:val>
                                        </p:tav>
                                        <p:tav tm="100000">
                                          <p:val>
                                            <p:strVal val="#ppt_w"/>
                                          </p:val>
                                        </p:tav>
                                      </p:tavLst>
                                    </p:anim>
                                    <p:anim calcmode="lin" valueType="num">
                                      <p:cBhvr>
                                        <p:cTn id="62" dur="500" fill="hold"/>
                                        <p:tgtEl>
                                          <p:spTgt spid="51"/>
                                        </p:tgtEl>
                                        <p:attrNameLst>
                                          <p:attrName>ppt_h</p:attrName>
                                        </p:attrNameLst>
                                      </p:cBhvr>
                                      <p:tavLst>
                                        <p:tav tm="0">
                                          <p:val>
                                            <p:fltVal val="0"/>
                                          </p:val>
                                        </p:tav>
                                        <p:tav tm="100000">
                                          <p:val>
                                            <p:strVal val="#ppt_h"/>
                                          </p:val>
                                        </p:tav>
                                      </p:tavLst>
                                    </p:anim>
                                    <p:animEffect transition="in" filter="fade">
                                      <p:cBhvr>
                                        <p:cTn id="63" dur="500"/>
                                        <p:tgtEl>
                                          <p:spTgt spid="51"/>
                                        </p:tgtEl>
                                      </p:cBhvr>
                                    </p:animEffect>
                                  </p:childTnLst>
                                </p:cTn>
                              </p:par>
                            </p:childTnLst>
                          </p:cTn>
                        </p:par>
                        <p:par>
                          <p:cTn id="64" fill="hold">
                            <p:stCondLst>
                              <p:cond delay="5000"/>
                            </p:stCondLst>
                            <p:childTnLst>
                              <p:par>
                                <p:cTn id="65" presetID="53" presetClass="entr" presetSubtype="0" fill="hold" nodeType="afterEffect">
                                  <p:stCondLst>
                                    <p:cond delay="0"/>
                                  </p:stCondLst>
                                  <p:childTnLst>
                                    <p:set>
                                      <p:cBhvr>
                                        <p:cTn id="66" dur="1" fill="hold">
                                          <p:stCondLst>
                                            <p:cond delay="0"/>
                                          </p:stCondLst>
                                        </p:cTn>
                                        <p:tgtEl>
                                          <p:spTgt spid="59"/>
                                        </p:tgtEl>
                                        <p:attrNameLst>
                                          <p:attrName>style.visibility</p:attrName>
                                        </p:attrNameLst>
                                      </p:cBhvr>
                                      <p:to>
                                        <p:strVal val="visible"/>
                                      </p:to>
                                    </p:set>
                                    <p:anim calcmode="lin" valueType="num">
                                      <p:cBhvr>
                                        <p:cTn id="67" dur="500" fill="hold"/>
                                        <p:tgtEl>
                                          <p:spTgt spid="59"/>
                                        </p:tgtEl>
                                        <p:attrNameLst>
                                          <p:attrName>ppt_w</p:attrName>
                                        </p:attrNameLst>
                                      </p:cBhvr>
                                      <p:tavLst>
                                        <p:tav tm="0">
                                          <p:val>
                                            <p:fltVal val="0"/>
                                          </p:val>
                                        </p:tav>
                                        <p:tav tm="100000">
                                          <p:val>
                                            <p:strVal val="#ppt_w"/>
                                          </p:val>
                                        </p:tav>
                                      </p:tavLst>
                                    </p:anim>
                                    <p:anim calcmode="lin" valueType="num">
                                      <p:cBhvr>
                                        <p:cTn id="68" dur="500" fill="hold"/>
                                        <p:tgtEl>
                                          <p:spTgt spid="59"/>
                                        </p:tgtEl>
                                        <p:attrNameLst>
                                          <p:attrName>ppt_h</p:attrName>
                                        </p:attrNameLst>
                                      </p:cBhvr>
                                      <p:tavLst>
                                        <p:tav tm="0">
                                          <p:val>
                                            <p:fltVal val="0"/>
                                          </p:val>
                                        </p:tav>
                                        <p:tav tm="100000">
                                          <p:val>
                                            <p:strVal val="#ppt_h"/>
                                          </p:val>
                                        </p:tav>
                                      </p:tavLst>
                                    </p:anim>
                                    <p:animEffect transition="in" filter="fade">
                                      <p:cBhvr>
                                        <p:cTn id="69" dur="500"/>
                                        <p:tgtEl>
                                          <p:spTgt spid="59"/>
                                        </p:tgtEl>
                                      </p:cBhvr>
                                    </p:animEffect>
                                  </p:childTnLst>
                                </p:cTn>
                              </p:par>
                            </p:childTnLst>
                          </p:cTn>
                        </p:par>
                        <p:par>
                          <p:cTn id="70" fill="hold">
                            <p:stCondLst>
                              <p:cond delay="5500"/>
                            </p:stCondLst>
                            <p:childTnLst>
                              <p:par>
                                <p:cTn id="71" presetID="53" presetClass="entr" presetSubtype="0" fill="hold" nodeType="afterEffect">
                                  <p:stCondLst>
                                    <p:cond delay="0"/>
                                  </p:stCondLst>
                                  <p:childTnLst>
                                    <p:set>
                                      <p:cBhvr>
                                        <p:cTn id="72" dur="1" fill="hold">
                                          <p:stCondLst>
                                            <p:cond delay="0"/>
                                          </p:stCondLst>
                                        </p:cTn>
                                        <p:tgtEl>
                                          <p:spTgt spid="56"/>
                                        </p:tgtEl>
                                        <p:attrNameLst>
                                          <p:attrName>style.visibility</p:attrName>
                                        </p:attrNameLst>
                                      </p:cBhvr>
                                      <p:to>
                                        <p:strVal val="visible"/>
                                      </p:to>
                                    </p:set>
                                    <p:anim calcmode="lin" valueType="num">
                                      <p:cBhvr>
                                        <p:cTn id="73" dur="500" fill="hold"/>
                                        <p:tgtEl>
                                          <p:spTgt spid="56"/>
                                        </p:tgtEl>
                                        <p:attrNameLst>
                                          <p:attrName>ppt_w</p:attrName>
                                        </p:attrNameLst>
                                      </p:cBhvr>
                                      <p:tavLst>
                                        <p:tav tm="0">
                                          <p:val>
                                            <p:fltVal val="0"/>
                                          </p:val>
                                        </p:tav>
                                        <p:tav tm="100000">
                                          <p:val>
                                            <p:strVal val="#ppt_w"/>
                                          </p:val>
                                        </p:tav>
                                      </p:tavLst>
                                    </p:anim>
                                    <p:anim calcmode="lin" valueType="num">
                                      <p:cBhvr>
                                        <p:cTn id="74" dur="500" fill="hold"/>
                                        <p:tgtEl>
                                          <p:spTgt spid="56"/>
                                        </p:tgtEl>
                                        <p:attrNameLst>
                                          <p:attrName>ppt_h</p:attrName>
                                        </p:attrNameLst>
                                      </p:cBhvr>
                                      <p:tavLst>
                                        <p:tav tm="0">
                                          <p:val>
                                            <p:fltVal val="0"/>
                                          </p:val>
                                        </p:tav>
                                        <p:tav tm="100000">
                                          <p:val>
                                            <p:strVal val="#ppt_h"/>
                                          </p:val>
                                        </p:tav>
                                      </p:tavLst>
                                    </p:anim>
                                    <p:animEffect transition="in" filter="fade">
                                      <p:cBhvr>
                                        <p:cTn id="75" dur="500"/>
                                        <p:tgtEl>
                                          <p:spTgt spid="56"/>
                                        </p:tgtEl>
                                      </p:cBhvr>
                                    </p:animEffect>
                                  </p:childTnLst>
                                </p:cTn>
                              </p:par>
                            </p:childTnLst>
                          </p:cTn>
                        </p:par>
                        <p:par>
                          <p:cTn id="76" fill="hold">
                            <p:stCondLst>
                              <p:cond delay="6000"/>
                            </p:stCondLst>
                            <p:childTnLst>
                              <p:par>
                                <p:cTn id="77" presetID="53" presetClass="entr" presetSubtype="0" fill="hold" nodeType="afterEffect">
                                  <p:stCondLst>
                                    <p:cond delay="0"/>
                                  </p:stCondLst>
                                  <p:childTnLst>
                                    <p:set>
                                      <p:cBhvr>
                                        <p:cTn id="78" dur="1" fill="hold">
                                          <p:stCondLst>
                                            <p:cond delay="0"/>
                                          </p:stCondLst>
                                        </p:cTn>
                                        <p:tgtEl>
                                          <p:spTgt spid="57"/>
                                        </p:tgtEl>
                                        <p:attrNameLst>
                                          <p:attrName>style.visibility</p:attrName>
                                        </p:attrNameLst>
                                      </p:cBhvr>
                                      <p:to>
                                        <p:strVal val="visible"/>
                                      </p:to>
                                    </p:set>
                                    <p:anim calcmode="lin" valueType="num">
                                      <p:cBhvr>
                                        <p:cTn id="79" dur="500" fill="hold"/>
                                        <p:tgtEl>
                                          <p:spTgt spid="57"/>
                                        </p:tgtEl>
                                        <p:attrNameLst>
                                          <p:attrName>ppt_w</p:attrName>
                                        </p:attrNameLst>
                                      </p:cBhvr>
                                      <p:tavLst>
                                        <p:tav tm="0">
                                          <p:val>
                                            <p:fltVal val="0"/>
                                          </p:val>
                                        </p:tav>
                                        <p:tav tm="100000">
                                          <p:val>
                                            <p:strVal val="#ppt_w"/>
                                          </p:val>
                                        </p:tav>
                                      </p:tavLst>
                                    </p:anim>
                                    <p:anim calcmode="lin" valueType="num">
                                      <p:cBhvr>
                                        <p:cTn id="80" dur="500" fill="hold"/>
                                        <p:tgtEl>
                                          <p:spTgt spid="57"/>
                                        </p:tgtEl>
                                        <p:attrNameLst>
                                          <p:attrName>ppt_h</p:attrName>
                                        </p:attrNameLst>
                                      </p:cBhvr>
                                      <p:tavLst>
                                        <p:tav tm="0">
                                          <p:val>
                                            <p:fltVal val="0"/>
                                          </p:val>
                                        </p:tav>
                                        <p:tav tm="100000">
                                          <p:val>
                                            <p:strVal val="#ppt_h"/>
                                          </p:val>
                                        </p:tav>
                                      </p:tavLst>
                                    </p:anim>
                                    <p:animEffect transition="in" filter="fade">
                                      <p:cBhvr>
                                        <p:cTn id="81" dur="500"/>
                                        <p:tgtEl>
                                          <p:spTgt spid="57"/>
                                        </p:tgtEl>
                                      </p:cBhvr>
                                    </p:animEffect>
                                  </p:childTnLst>
                                </p:cTn>
                              </p:par>
                            </p:childTnLst>
                          </p:cTn>
                        </p:par>
                        <p:par>
                          <p:cTn id="82" fill="hold">
                            <p:stCondLst>
                              <p:cond delay="6500"/>
                            </p:stCondLst>
                            <p:childTnLst>
                              <p:par>
                                <p:cTn id="83" presetID="53" presetClass="entr" presetSubtype="0" fill="hold" nodeType="afterEffect">
                                  <p:stCondLst>
                                    <p:cond delay="0"/>
                                  </p:stCondLst>
                                  <p:childTnLst>
                                    <p:set>
                                      <p:cBhvr>
                                        <p:cTn id="84" dur="1" fill="hold">
                                          <p:stCondLst>
                                            <p:cond delay="0"/>
                                          </p:stCondLst>
                                        </p:cTn>
                                        <p:tgtEl>
                                          <p:spTgt spid="58"/>
                                        </p:tgtEl>
                                        <p:attrNameLst>
                                          <p:attrName>style.visibility</p:attrName>
                                        </p:attrNameLst>
                                      </p:cBhvr>
                                      <p:to>
                                        <p:strVal val="visible"/>
                                      </p:to>
                                    </p:set>
                                    <p:anim calcmode="lin" valueType="num">
                                      <p:cBhvr>
                                        <p:cTn id="85" dur="500" fill="hold"/>
                                        <p:tgtEl>
                                          <p:spTgt spid="58"/>
                                        </p:tgtEl>
                                        <p:attrNameLst>
                                          <p:attrName>ppt_w</p:attrName>
                                        </p:attrNameLst>
                                      </p:cBhvr>
                                      <p:tavLst>
                                        <p:tav tm="0">
                                          <p:val>
                                            <p:fltVal val="0"/>
                                          </p:val>
                                        </p:tav>
                                        <p:tav tm="100000">
                                          <p:val>
                                            <p:strVal val="#ppt_w"/>
                                          </p:val>
                                        </p:tav>
                                      </p:tavLst>
                                    </p:anim>
                                    <p:anim calcmode="lin" valueType="num">
                                      <p:cBhvr>
                                        <p:cTn id="86" dur="500" fill="hold"/>
                                        <p:tgtEl>
                                          <p:spTgt spid="58"/>
                                        </p:tgtEl>
                                        <p:attrNameLst>
                                          <p:attrName>ppt_h</p:attrName>
                                        </p:attrNameLst>
                                      </p:cBhvr>
                                      <p:tavLst>
                                        <p:tav tm="0">
                                          <p:val>
                                            <p:fltVal val="0"/>
                                          </p:val>
                                        </p:tav>
                                        <p:tav tm="100000">
                                          <p:val>
                                            <p:strVal val="#ppt_h"/>
                                          </p:val>
                                        </p:tav>
                                      </p:tavLst>
                                    </p:anim>
                                    <p:animEffect transition="in" filter="fade">
                                      <p:cBhvr>
                                        <p:cTn id="87" dur="500"/>
                                        <p:tgtEl>
                                          <p:spTgt spid="58"/>
                                        </p:tgtEl>
                                      </p:cBhvr>
                                    </p:animEffect>
                                  </p:childTnLst>
                                </p:cTn>
                              </p:par>
                            </p:childTnLst>
                          </p:cTn>
                        </p:par>
                        <p:par>
                          <p:cTn id="88" fill="hold">
                            <p:stCondLst>
                              <p:cond delay="7000"/>
                            </p:stCondLst>
                            <p:childTnLst>
                              <p:par>
                                <p:cTn id="89" presetID="53" presetClass="entr" presetSubtype="0" fill="hold" nodeType="afterEffect">
                                  <p:stCondLst>
                                    <p:cond delay="0"/>
                                  </p:stCondLst>
                                  <p:childTnLst>
                                    <p:set>
                                      <p:cBhvr>
                                        <p:cTn id="90" dur="1" fill="hold">
                                          <p:stCondLst>
                                            <p:cond delay="0"/>
                                          </p:stCondLst>
                                        </p:cTn>
                                        <p:tgtEl>
                                          <p:spTgt spid="60"/>
                                        </p:tgtEl>
                                        <p:attrNameLst>
                                          <p:attrName>style.visibility</p:attrName>
                                        </p:attrNameLst>
                                      </p:cBhvr>
                                      <p:to>
                                        <p:strVal val="visible"/>
                                      </p:to>
                                    </p:set>
                                    <p:anim calcmode="lin" valueType="num">
                                      <p:cBhvr>
                                        <p:cTn id="91" dur="500" fill="hold"/>
                                        <p:tgtEl>
                                          <p:spTgt spid="60"/>
                                        </p:tgtEl>
                                        <p:attrNameLst>
                                          <p:attrName>ppt_w</p:attrName>
                                        </p:attrNameLst>
                                      </p:cBhvr>
                                      <p:tavLst>
                                        <p:tav tm="0">
                                          <p:val>
                                            <p:fltVal val="0"/>
                                          </p:val>
                                        </p:tav>
                                        <p:tav tm="100000">
                                          <p:val>
                                            <p:strVal val="#ppt_w"/>
                                          </p:val>
                                        </p:tav>
                                      </p:tavLst>
                                    </p:anim>
                                    <p:anim calcmode="lin" valueType="num">
                                      <p:cBhvr>
                                        <p:cTn id="92" dur="500" fill="hold"/>
                                        <p:tgtEl>
                                          <p:spTgt spid="60"/>
                                        </p:tgtEl>
                                        <p:attrNameLst>
                                          <p:attrName>ppt_h</p:attrName>
                                        </p:attrNameLst>
                                      </p:cBhvr>
                                      <p:tavLst>
                                        <p:tav tm="0">
                                          <p:val>
                                            <p:fltVal val="0"/>
                                          </p:val>
                                        </p:tav>
                                        <p:tav tm="100000">
                                          <p:val>
                                            <p:strVal val="#ppt_h"/>
                                          </p:val>
                                        </p:tav>
                                      </p:tavLst>
                                    </p:anim>
                                    <p:animEffect transition="in" filter="fade">
                                      <p:cBhvr>
                                        <p:cTn id="9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81000" y="230188"/>
            <a:ext cx="8382000" cy="553998"/>
          </a:xfrm>
        </p:spPr>
        <p:txBody>
          <a:bodyPr/>
          <a:lstStyle/>
          <a:p>
            <a:r>
              <a:rPr sz="4000" smtClean="0"/>
              <a:t>Considerations for Relying Parties</a:t>
            </a:r>
            <a:endParaRPr lang="en-US" sz="4000" dirty="0"/>
          </a:p>
        </p:txBody>
      </p:sp>
      <p:sp>
        <p:nvSpPr>
          <p:cNvPr id="8" name="Text Placeholder 7"/>
          <p:cNvSpPr>
            <a:spLocks noGrp="1"/>
          </p:cNvSpPr>
          <p:nvPr>
            <p:ph type="body" sz="quarter" idx="10"/>
          </p:nvPr>
        </p:nvSpPr>
        <p:spPr>
          <a:xfrm>
            <a:off x="228600" y="1191126"/>
            <a:ext cx="8763000" cy="5426242"/>
          </a:xfrm>
        </p:spPr>
        <p:txBody>
          <a:bodyPr>
            <a:normAutofit/>
          </a:bodyPr>
          <a:lstStyle/>
          <a:p>
            <a:r>
              <a:rPr lang="en-US" sz="2400" dirty="0" smtClean="0"/>
              <a:t>RPs are placing trust in the Open ID providers they accept (providers can be the weak link)</a:t>
            </a:r>
          </a:p>
          <a:p>
            <a:endParaRPr lang="en-US" sz="1400" dirty="0" smtClean="0"/>
          </a:p>
          <a:p>
            <a:pPr lvl="1"/>
            <a:r>
              <a:rPr lang="en-US" sz="2000" dirty="0" smtClean="0"/>
              <a:t>Provider security levels are paramount and not standardized</a:t>
            </a:r>
          </a:p>
          <a:p>
            <a:endParaRPr lang="en-US" sz="1400" dirty="0" smtClean="0"/>
          </a:p>
          <a:p>
            <a:r>
              <a:rPr lang="en-US" sz="2400" dirty="0" smtClean="0"/>
              <a:t>Low-value web sites happy to accept any OpenID provider</a:t>
            </a:r>
          </a:p>
          <a:p>
            <a:endParaRPr lang="en-US" sz="1400" dirty="0" smtClean="0"/>
          </a:p>
          <a:p>
            <a:r>
              <a:rPr lang="en-US" sz="2400" dirty="0" smtClean="0"/>
              <a:t>High-value web properties are rightly much more selective on which Open ID providers they trust</a:t>
            </a:r>
          </a:p>
          <a:p>
            <a:pPr lvl="1"/>
            <a:r>
              <a:rPr lang="en-US" sz="2400" b="1" dirty="0" smtClean="0"/>
              <a:t>HealthVault</a:t>
            </a:r>
            <a:r>
              <a:rPr lang="en-US" sz="2400" dirty="0" smtClean="0"/>
              <a:t> only accepts VeriSign or TrustBearer</a:t>
            </a:r>
          </a:p>
          <a:p>
            <a:pPr lvl="1"/>
            <a:r>
              <a:rPr lang="en-US" sz="2400" dirty="0" smtClean="0"/>
              <a:t>AOL has white-listed 15 providers</a:t>
            </a:r>
          </a:p>
          <a:p>
            <a:pPr lvl="1"/>
            <a:endParaRPr lang="en-US" sz="2400" dirty="0" smtClean="0"/>
          </a:p>
          <a:p>
            <a:r>
              <a:rPr lang="en-US" sz="2400" dirty="0" smtClean="0"/>
              <a:t>White-listing of providers is becoming the norm, but without standards</a:t>
            </a:r>
          </a:p>
          <a:p>
            <a:pPr>
              <a:buNone/>
            </a:pPr>
            <a:endParaRPr lang="en-US" sz="1400" dirty="0" smtClean="0"/>
          </a:p>
          <a:p>
            <a:r>
              <a:rPr lang="en-US" sz="2400" dirty="0" smtClean="0"/>
              <a:t>Open ID can be a spammers dream (lots of IDs)</a:t>
            </a:r>
          </a:p>
        </p:txBody>
      </p:sp>
      <p:pic>
        <p:nvPicPr>
          <p:cNvPr id="4" name="Picture 3" descr="openid-logo.png"/>
          <p:cNvPicPr>
            <a:picLocks noChangeAspect="1"/>
          </p:cNvPicPr>
          <p:nvPr/>
        </p:nvPicPr>
        <p:blipFill>
          <a:blip r:embed="rId3"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81000" y="230188"/>
            <a:ext cx="8382000" cy="665162"/>
          </a:xfrm>
        </p:spPr>
        <p:txBody>
          <a:bodyPr/>
          <a:lstStyle/>
          <a:p>
            <a:r>
              <a:rPr smtClean="0"/>
              <a:t>Open ID - User Experience</a:t>
            </a:r>
            <a:endParaRPr lang="en-US" dirty="0"/>
          </a:p>
        </p:txBody>
      </p:sp>
      <p:sp>
        <p:nvSpPr>
          <p:cNvPr id="8" name="Text Placeholder 7"/>
          <p:cNvSpPr>
            <a:spLocks noGrp="1"/>
          </p:cNvSpPr>
          <p:nvPr>
            <p:ph type="body" sz="quarter" idx="10"/>
          </p:nvPr>
        </p:nvSpPr>
        <p:spPr>
          <a:xfrm>
            <a:off x="304800" y="1640152"/>
            <a:ext cx="8458200" cy="5011169"/>
          </a:xfrm>
        </p:spPr>
        <p:txBody>
          <a:bodyPr>
            <a:normAutofit/>
          </a:bodyPr>
          <a:lstStyle/>
          <a:p>
            <a:r>
              <a:rPr lang="en-US" sz="2800" dirty="0" smtClean="0"/>
              <a:t>Open ID identity is a URI</a:t>
            </a:r>
          </a:p>
          <a:p>
            <a:pPr lvl="1"/>
            <a:r>
              <a:rPr lang="en-US" sz="2400" dirty="0" smtClean="0"/>
              <a:t>Good for Geeks; Bad for Grandmas</a:t>
            </a:r>
          </a:p>
          <a:p>
            <a:pPr lvl="1"/>
            <a:endParaRPr lang="en-US" sz="1400" dirty="0" smtClean="0"/>
          </a:p>
          <a:p>
            <a:r>
              <a:rPr lang="en-US" sz="2800" dirty="0" smtClean="0"/>
              <a:t>Open ID URL raises some privacy concerns because of cross-site account correlation</a:t>
            </a:r>
          </a:p>
          <a:p>
            <a:endParaRPr lang="en-US" sz="1800" dirty="0" smtClean="0"/>
          </a:p>
          <a:p>
            <a:r>
              <a:rPr lang="en-US" sz="2800" dirty="0" smtClean="0"/>
              <a:t>Little progress on mobile friendly Open ID experience</a:t>
            </a:r>
          </a:p>
          <a:p>
            <a:endParaRPr lang="en-US" sz="1800" dirty="0" smtClean="0"/>
          </a:p>
          <a:p>
            <a:r>
              <a:rPr lang="en-US" sz="2800" dirty="0" smtClean="0"/>
              <a:t>Open ID protocol can be prone to hacking</a:t>
            </a:r>
          </a:p>
          <a:p>
            <a:endParaRPr lang="en-US" sz="1800" dirty="0" smtClean="0"/>
          </a:p>
          <a:p>
            <a:r>
              <a:rPr lang="en-US" sz="2800" dirty="0" smtClean="0"/>
              <a:t>Pain if Open ID provider disappears / goes down </a:t>
            </a:r>
            <a:br>
              <a:rPr lang="en-US" sz="2800" dirty="0" smtClean="0"/>
            </a:br>
            <a:r>
              <a:rPr lang="en-US" sz="2800" dirty="0" smtClean="0"/>
              <a:t>– 99.999% availability is HARD WORK!</a:t>
            </a:r>
          </a:p>
        </p:txBody>
      </p:sp>
      <p:sp>
        <p:nvSpPr>
          <p:cNvPr id="4" name="Rectangle 3"/>
          <p:cNvSpPr/>
          <p:nvPr/>
        </p:nvSpPr>
        <p:spPr>
          <a:xfrm>
            <a:off x="381000" y="895290"/>
            <a:ext cx="8546432" cy="400110"/>
          </a:xfrm>
          <a:prstGeom prst="rect">
            <a:avLst/>
          </a:prstGeom>
        </p:spPr>
        <p:txBody>
          <a:bodyPr wrap="square">
            <a:spAutoFit/>
          </a:bodyPr>
          <a:lstStyle/>
          <a:p>
            <a:r>
              <a:rPr lang="en-US" sz="2000" i="1" dirty="0" smtClean="0"/>
              <a:t>User experience is generally holding back widespread adoption</a:t>
            </a:r>
          </a:p>
        </p:txBody>
      </p:sp>
      <p:pic>
        <p:nvPicPr>
          <p:cNvPr id="9" name="Picture 8" descr="openid-logo.png"/>
          <p:cNvPicPr>
            <a:picLocks noChangeAspect="1"/>
          </p:cNvPicPr>
          <p:nvPr/>
        </p:nvPicPr>
        <p:blipFill>
          <a:blip r:embed="rId3"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smtClean="0"/>
              <a:t>Summary - Open ID</a:t>
            </a:r>
            <a:endParaRPr lang="en-US" dirty="0"/>
          </a:p>
        </p:txBody>
      </p:sp>
      <p:sp>
        <p:nvSpPr>
          <p:cNvPr id="8" name="Text Placeholder 7"/>
          <p:cNvSpPr>
            <a:spLocks noGrp="1"/>
          </p:cNvSpPr>
          <p:nvPr>
            <p:ph type="body" sz="quarter" idx="10"/>
          </p:nvPr>
        </p:nvSpPr>
        <p:spPr>
          <a:xfrm>
            <a:off x="381000" y="1030553"/>
            <a:ext cx="8382000" cy="5470455"/>
          </a:xfrm>
        </p:spPr>
        <p:txBody>
          <a:bodyPr>
            <a:normAutofit fontScale="92500" lnSpcReduction="10000"/>
          </a:bodyPr>
          <a:lstStyle/>
          <a:p>
            <a:r>
              <a:rPr lang="en-US" dirty="0" smtClean="0"/>
              <a:t>Open ID provides </a:t>
            </a:r>
          </a:p>
          <a:p>
            <a:pPr lvl="1"/>
            <a:r>
              <a:rPr lang="en-US" dirty="0" smtClean="0"/>
              <a:t>Single-sign-on through a standard authentication protocol</a:t>
            </a:r>
          </a:p>
          <a:p>
            <a:pPr lvl="1"/>
            <a:r>
              <a:rPr lang="en-US" dirty="0" smtClean="0"/>
              <a:t>More benefit to new websites (relying parties) than established ones</a:t>
            </a:r>
          </a:p>
          <a:p>
            <a:pPr lvl="1"/>
            <a:endParaRPr lang="en-US" dirty="0" smtClean="0"/>
          </a:p>
          <a:p>
            <a:r>
              <a:rPr lang="en-US" dirty="0" smtClean="0"/>
              <a:t>High-value sites need to be selective about which providers they accept / trust. </a:t>
            </a:r>
          </a:p>
          <a:p>
            <a:pPr lvl="1"/>
            <a:r>
              <a:rPr lang="en-US" dirty="0" smtClean="0">
                <a:hlinkClick r:id="rId3"/>
              </a:rPr>
              <a:t>http://openid.spammer.com</a:t>
            </a:r>
            <a:r>
              <a:rPr lang="en-US" dirty="0" smtClean="0"/>
              <a:t> is bad!</a:t>
            </a:r>
          </a:p>
          <a:p>
            <a:pPr lvl="1"/>
            <a:endParaRPr lang="en-US" dirty="0" smtClean="0"/>
          </a:p>
          <a:p>
            <a:r>
              <a:rPr lang="en-US" dirty="0" smtClean="0"/>
              <a:t>Main challenge remains </a:t>
            </a:r>
          </a:p>
          <a:p>
            <a:pPr lvl="1"/>
            <a:r>
              <a:rPr lang="en-US" dirty="0" smtClean="0"/>
              <a:t>Ease-of-use (for users) </a:t>
            </a:r>
          </a:p>
          <a:p>
            <a:pPr lvl="1"/>
            <a:r>
              <a:rPr lang="en-US" dirty="0" smtClean="0"/>
              <a:t>Trust relationships (for relying parties)</a:t>
            </a:r>
          </a:p>
          <a:p>
            <a:endParaRPr lang="en-US" dirty="0" smtClean="0"/>
          </a:p>
        </p:txBody>
      </p:sp>
      <p:pic>
        <p:nvPicPr>
          <p:cNvPr id="6" name="Picture 5" descr="openid-logo.png"/>
          <p:cNvPicPr>
            <a:picLocks noChangeAspect="1"/>
          </p:cNvPicPr>
          <p:nvPr/>
        </p:nvPicPr>
        <p:blipFill>
          <a:blip r:embed="rId4" cstate="print"/>
          <a:stretch>
            <a:fillRect/>
          </a:stretch>
        </p:blipFill>
        <p:spPr>
          <a:xfrm>
            <a:off x="7609919" y="228600"/>
            <a:ext cx="1344702" cy="457199"/>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What is OAuth?</a:t>
            </a:r>
            <a:endParaRPr lang="en-US" dirty="0"/>
          </a:p>
        </p:txBody>
      </p:sp>
      <p:sp>
        <p:nvSpPr>
          <p:cNvPr id="5" name="Subtitle 4"/>
          <p:cNvSpPr>
            <a:spLocks noGrp="1"/>
          </p:cNvSpPr>
          <p:nvPr>
            <p:ph type="subTitle" idx="1"/>
          </p:nvPr>
        </p:nvSpPr>
        <p:spPr>
          <a:xfrm>
            <a:off x="533401" y="3505200"/>
            <a:ext cx="8153400" cy="2209800"/>
          </a:xfrm>
        </p:spPr>
        <p:txBody>
          <a:bodyPr/>
          <a:lstStyle/>
          <a:p>
            <a:pPr algn="ctr"/>
            <a:r>
              <a:rPr lang="en-US" dirty="0" smtClean="0"/>
              <a:t>In their own words ( </a:t>
            </a:r>
            <a:r>
              <a:rPr lang="en-US" dirty="0" smtClean="0">
                <a:hlinkClick r:id="rId3"/>
              </a:rPr>
              <a:t>http://oauth.net/</a:t>
            </a:r>
            <a:r>
              <a:rPr lang="en-US" dirty="0" smtClean="0"/>
              <a:t> )</a:t>
            </a:r>
            <a:br>
              <a:rPr lang="en-US" dirty="0" smtClean="0"/>
            </a:br>
            <a:endParaRPr lang="en-US" dirty="0" smtClean="0"/>
          </a:p>
          <a:p>
            <a:pPr algn="ctr"/>
            <a:r>
              <a:rPr lang="en-US" dirty="0" smtClean="0"/>
              <a:t>“An open protocol to allow secure API authentication in a simple and standard method from desktop and web applications.”</a:t>
            </a:r>
            <a:endParaRPr lang="en-US" dirty="0"/>
          </a:p>
        </p:txBody>
      </p:sp>
      <p:pic>
        <p:nvPicPr>
          <p:cNvPr id="8" name="Picture 7" descr="oauth_logo_final.eps"/>
          <p:cNvPicPr>
            <a:picLocks noChangeAspect="1"/>
          </p:cNvPicPr>
          <p:nvPr/>
        </p:nvPicPr>
        <p:blipFill>
          <a:blip r:embed="rId4"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smtClean="0"/>
              <a:t>What is OAuth?</a:t>
            </a:r>
            <a:endParaRPr lang="en-US" dirty="0"/>
          </a:p>
        </p:txBody>
      </p:sp>
      <p:sp>
        <p:nvSpPr>
          <p:cNvPr id="6" name="Text Placeholder 5"/>
          <p:cNvSpPr>
            <a:spLocks noGrp="1"/>
          </p:cNvSpPr>
          <p:nvPr>
            <p:ph type="body" sz="quarter" idx="10"/>
          </p:nvPr>
        </p:nvSpPr>
        <p:spPr>
          <a:xfrm>
            <a:off x="381000" y="1411553"/>
            <a:ext cx="8382000" cy="3873141"/>
          </a:xfrm>
        </p:spPr>
        <p:txBody>
          <a:bodyPr>
            <a:normAutofit fontScale="92500" lnSpcReduction="20000"/>
          </a:bodyPr>
          <a:lstStyle/>
          <a:p>
            <a:r>
              <a:rPr lang="en-US" dirty="0" smtClean="0"/>
              <a:t>An application authentication protocol</a:t>
            </a:r>
          </a:p>
          <a:p>
            <a:endParaRPr lang="en-US" dirty="0" smtClean="0">
              <a:solidFill>
                <a:schemeClr val="accent1">
                  <a:lumMod val="60000"/>
                  <a:lumOff val="40000"/>
                </a:schemeClr>
              </a:solidFill>
            </a:endParaRPr>
          </a:p>
          <a:p>
            <a:r>
              <a:rPr lang="en-US" dirty="0" smtClean="0">
                <a:solidFill>
                  <a:schemeClr val="accent1">
                    <a:lumMod val="60000"/>
                    <a:lumOff val="40000"/>
                  </a:schemeClr>
                </a:solidFill>
              </a:rPr>
              <a:t>An application authorization protocol for user consent to data sharing</a:t>
            </a:r>
          </a:p>
          <a:p>
            <a:endParaRPr lang="en-US" dirty="0" smtClean="0"/>
          </a:p>
          <a:p>
            <a:r>
              <a:rPr lang="en-US" dirty="0" smtClean="0"/>
              <a:t>Attempt at convergence for authentication / authorization protocol for all major use cases (web, mobile, smart client)</a:t>
            </a:r>
          </a:p>
          <a:p>
            <a:endParaRPr lang="en-US" dirty="0" smtClean="0"/>
          </a:p>
          <a:p>
            <a:r>
              <a:rPr lang="en-US" dirty="0" smtClean="0"/>
              <a:t>Developed by an informal community group </a:t>
            </a:r>
          </a:p>
          <a:p>
            <a:pPr>
              <a:buNone/>
            </a:pPr>
            <a:endParaRPr lang="en-US" dirty="0" smtClean="0"/>
          </a:p>
        </p:txBody>
      </p:sp>
      <p:pic>
        <p:nvPicPr>
          <p:cNvPr id="7" name="Picture 6"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pic>
        <p:nvPicPr>
          <p:cNvPr id="8" name="Picture 6" descr="AOL.com">
            <a:hlinkClick r:id="rId4"/>
          </p:cNvPr>
          <p:cNvPicPr>
            <a:picLocks noChangeAspect="1" noChangeArrowheads="1"/>
          </p:cNvPicPr>
          <p:nvPr/>
        </p:nvPicPr>
        <p:blipFill>
          <a:blip r:embed="rId5" cstate="print"/>
          <a:srcRect l="7921" t="23077" r="4950" b="15385"/>
          <a:stretch>
            <a:fillRect/>
          </a:stretch>
        </p:blipFill>
        <p:spPr bwMode="auto">
          <a:xfrm>
            <a:off x="4643362" y="5334000"/>
            <a:ext cx="1332739"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descr="Yahoo!"/>
          <p:cNvPicPr>
            <a:picLocks noChangeAspect="1" noChangeArrowheads="1"/>
          </p:cNvPicPr>
          <p:nvPr/>
        </p:nvPicPr>
        <p:blipFill>
          <a:blip r:embed="rId6" cstate="print"/>
          <a:srcRect/>
          <a:stretch>
            <a:fillRect/>
          </a:stretch>
        </p:blipFill>
        <p:spPr bwMode="auto">
          <a:xfrm>
            <a:off x="1882218" y="5333999"/>
            <a:ext cx="2555326"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17" descr="Plaxo">
            <a:hlinkClick r:id="rId7"/>
          </p:cNvPr>
          <p:cNvPicPr>
            <a:picLocks noChangeAspect="1" noChangeArrowheads="1"/>
          </p:cNvPicPr>
          <p:nvPr/>
        </p:nvPicPr>
        <p:blipFill>
          <a:blip r:embed="rId8" cstate="print"/>
          <a:srcRect/>
          <a:stretch>
            <a:fillRect/>
          </a:stretch>
        </p:blipFill>
        <p:spPr bwMode="auto">
          <a:xfrm>
            <a:off x="6181919" y="5334000"/>
            <a:ext cx="1384662"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0962" name="Picture 2" descr="Google"/>
          <p:cNvPicPr>
            <a:picLocks noChangeAspect="1" noChangeArrowheads="1"/>
          </p:cNvPicPr>
          <p:nvPr/>
        </p:nvPicPr>
        <p:blipFill>
          <a:blip r:embed="rId9" cstate="print"/>
          <a:srcRect/>
          <a:stretch>
            <a:fillRect/>
          </a:stretch>
        </p:blipFill>
        <p:spPr bwMode="auto">
          <a:xfrm>
            <a:off x="457200" y="5334000"/>
            <a:ext cx="1219200" cy="4859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0964" name="Picture 4" descr="myspace-logo.jpg"/>
          <p:cNvPicPr>
            <a:picLocks noChangeAspect="1" noChangeArrowheads="1"/>
          </p:cNvPicPr>
          <p:nvPr/>
        </p:nvPicPr>
        <p:blipFill>
          <a:blip r:embed="rId10" cstate="print"/>
          <a:srcRect/>
          <a:stretch>
            <a:fillRect/>
          </a:stretch>
        </p:blipFill>
        <p:spPr bwMode="auto">
          <a:xfrm>
            <a:off x="7772400" y="5334000"/>
            <a:ext cx="960437" cy="9604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TextBox 10"/>
          <p:cNvSpPr txBox="1"/>
          <p:nvPr/>
        </p:nvSpPr>
        <p:spPr>
          <a:xfrm>
            <a:off x="847165" y="5983941"/>
            <a:ext cx="2786340" cy="461665"/>
          </a:xfrm>
          <a:prstGeom prst="rect">
            <a:avLst/>
          </a:prstGeom>
          <a:noFill/>
        </p:spPr>
        <p:txBody>
          <a:bodyPr wrap="none" rtlCol="0">
            <a:spAutoFit/>
          </a:bodyPr>
          <a:lstStyle/>
          <a:p>
            <a:r>
              <a:rPr lang="en-US" sz="2400" dirty="0" smtClean="0"/>
              <a:t>and many others…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par>
                          <p:cTn id="16" fill="hold">
                            <p:stCondLst>
                              <p:cond delay="1000"/>
                            </p:stCondLst>
                            <p:childTnLst>
                              <p:par>
                                <p:cTn id="17" presetID="53"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53" presetClass="entr" presetSubtype="0" fill="hold" nodeType="afterEffect">
                                  <p:stCondLst>
                                    <p:cond delay="0"/>
                                  </p:stCondLst>
                                  <p:childTnLst>
                                    <p:set>
                                      <p:cBhvr>
                                        <p:cTn id="24" dur="1" fill="hold">
                                          <p:stCondLst>
                                            <p:cond delay="0"/>
                                          </p:stCondLst>
                                        </p:cTn>
                                        <p:tgtEl>
                                          <p:spTgt spid="40962"/>
                                        </p:tgtEl>
                                        <p:attrNameLst>
                                          <p:attrName>style.visibility</p:attrName>
                                        </p:attrNameLst>
                                      </p:cBhvr>
                                      <p:to>
                                        <p:strVal val="visible"/>
                                      </p:to>
                                    </p:set>
                                    <p:anim calcmode="lin" valueType="num">
                                      <p:cBhvr>
                                        <p:cTn id="25" dur="500" fill="hold"/>
                                        <p:tgtEl>
                                          <p:spTgt spid="40962"/>
                                        </p:tgtEl>
                                        <p:attrNameLst>
                                          <p:attrName>ppt_w</p:attrName>
                                        </p:attrNameLst>
                                      </p:cBhvr>
                                      <p:tavLst>
                                        <p:tav tm="0">
                                          <p:val>
                                            <p:fltVal val="0"/>
                                          </p:val>
                                        </p:tav>
                                        <p:tav tm="100000">
                                          <p:val>
                                            <p:strVal val="#ppt_w"/>
                                          </p:val>
                                        </p:tav>
                                      </p:tavLst>
                                    </p:anim>
                                    <p:anim calcmode="lin" valueType="num">
                                      <p:cBhvr>
                                        <p:cTn id="26" dur="500" fill="hold"/>
                                        <p:tgtEl>
                                          <p:spTgt spid="40962"/>
                                        </p:tgtEl>
                                        <p:attrNameLst>
                                          <p:attrName>ppt_h</p:attrName>
                                        </p:attrNameLst>
                                      </p:cBhvr>
                                      <p:tavLst>
                                        <p:tav tm="0">
                                          <p:val>
                                            <p:fltVal val="0"/>
                                          </p:val>
                                        </p:tav>
                                        <p:tav tm="100000">
                                          <p:val>
                                            <p:strVal val="#ppt_h"/>
                                          </p:val>
                                        </p:tav>
                                      </p:tavLst>
                                    </p:anim>
                                    <p:animEffect transition="in" filter="fade">
                                      <p:cBhvr>
                                        <p:cTn id="27" dur="500"/>
                                        <p:tgtEl>
                                          <p:spTgt spid="40962"/>
                                        </p:tgtEl>
                                      </p:cBhvr>
                                    </p:animEffect>
                                  </p:childTnLst>
                                </p:cTn>
                              </p:par>
                            </p:childTnLst>
                          </p:cTn>
                        </p:par>
                        <p:par>
                          <p:cTn id="28" fill="hold">
                            <p:stCondLst>
                              <p:cond delay="2000"/>
                            </p:stCondLst>
                            <p:childTnLst>
                              <p:par>
                                <p:cTn id="29" presetID="53" presetClass="entr" presetSubtype="0" fill="hold" nodeType="afterEffect">
                                  <p:stCondLst>
                                    <p:cond delay="0"/>
                                  </p:stCondLst>
                                  <p:childTnLst>
                                    <p:set>
                                      <p:cBhvr>
                                        <p:cTn id="30" dur="1" fill="hold">
                                          <p:stCondLst>
                                            <p:cond delay="0"/>
                                          </p:stCondLst>
                                        </p:cTn>
                                        <p:tgtEl>
                                          <p:spTgt spid="40964"/>
                                        </p:tgtEl>
                                        <p:attrNameLst>
                                          <p:attrName>style.visibility</p:attrName>
                                        </p:attrNameLst>
                                      </p:cBhvr>
                                      <p:to>
                                        <p:strVal val="visible"/>
                                      </p:to>
                                    </p:set>
                                    <p:anim calcmode="lin" valueType="num">
                                      <p:cBhvr>
                                        <p:cTn id="31" dur="500" fill="hold"/>
                                        <p:tgtEl>
                                          <p:spTgt spid="40964"/>
                                        </p:tgtEl>
                                        <p:attrNameLst>
                                          <p:attrName>ppt_w</p:attrName>
                                        </p:attrNameLst>
                                      </p:cBhvr>
                                      <p:tavLst>
                                        <p:tav tm="0">
                                          <p:val>
                                            <p:fltVal val="0"/>
                                          </p:val>
                                        </p:tav>
                                        <p:tav tm="100000">
                                          <p:val>
                                            <p:strVal val="#ppt_w"/>
                                          </p:val>
                                        </p:tav>
                                      </p:tavLst>
                                    </p:anim>
                                    <p:anim calcmode="lin" valueType="num">
                                      <p:cBhvr>
                                        <p:cTn id="32" dur="500" fill="hold"/>
                                        <p:tgtEl>
                                          <p:spTgt spid="40964"/>
                                        </p:tgtEl>
                                        <p:attrNameLst>
                                          <p:attrName>ppt_h</p:attrName>
                                        </p:attrNameLst>
                                      </p:cBhvr>
                                      <p:tavLst>
                                        <p:tav tm="0">
                                          <p:val>
                                            <p:fltVal val="0"/>
                                          </p:val>
                                        </p:tav>
                                        <p:tav tm="100000">
                                          <p:val>
                                            <p:strVal val="#ppt_h"/>
                                          </p:val>
                                        </p:tav>
                                      </p:tavLst>
                                    </p:anim>
                                    <p:animEffect transition="in" filter="fade">
                                      <p:cBhvr>
                                        <p:cTn id="33" dur="500"/>
                                        <p:tgtEl>
                                          <p:spTgt spid="40964"/>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OAuth Isn't</a:t>
            </a:r>
            <a:endParaRPr lang="en-US" dirty="0"/>
          </a:p>
        </p:txBody>
      </p:sp>
      <p:sp>
        <p:nvSpPr>
          <p:cNvPr id="3" name="Text Placeholder 2"/>
          <p:cNvSpPr>
            <a:spLocks noGrp="1"/>
          </p:cNvSpPr>
          <p:nvPr>
            <p:ph type="body" sz="quarter" idx="10"/>
          </p:nvPr>
        </p:nvSpPr>
        <p:spPr>
          <a:xfrm>
            <a:off x="304800" y="1066800"/>
            <a:ext cx="8458200" cy="5791200"/>
          </a:xfrm>
        </p:spPr>
        <p:txBody>
          <a:bodyPr>
            <a:normAutofit fontScale="92500" lnSpcReduction="10000"/>
          </a:bodyPr>
          <a:lstStyle/>
          <a:p>
            <a:r>
              <a:rPr lang="en-US" dirty="0" smtClean="0"/>
              <a:t>Not related to OpenID – except for a shared ‘O’</a:t>
            </a:r>
          </a:p>
          <a:p>
            <a:endParaRPr lang="en-US" sz="2100" dirty="0" smtClean="0"/>
          </a:p>
          <a:p>
            <a:r>
              <a:rPr lang="en-US" dirty="0" smtClean="0"/>
              <a:t>Not a new concept </a:t>
            </a:r>
            <a:br>
              <a:rPr lang="en-US" dirty="0" smtClean="0"/>
            </a:br>
            <a:r>
              <a:rPr lang="en-US" dirty="0" smtClean="0"/>
              <a:t>(AuthSub, BBAuth, OpenAuth, DelAuth)</a:t>
            </a:r>
          </a:p>
          <a:p>
            <a:endParaRPr lang="en-US" sz="2100" dirty="0" smtClean="0"/>
          </a:p>
          <a:p>
            <a:r>
              <a:rPr lang="en-US" dirty="0" smtClean="0"/>
              <a:t>Not yet a very clear IPR policy – in progress</a:t>
            </a:r>
          </a:p>
          <a:p>
            <a:pPr lvl="1"/>
            <a:endParaRPr lang="en-US" dirty="0" smtClean="0"/>
          </a:p>
          <a:p>
            <a:r>
              <a:rPr lang="en-US" dirty="0" smtClean="0"/>
              <a:t>Not tied to a specific authentication mechanism</a:t>
            </a:r>
          </a:p>
          <a:p>
            <a:endParaRPr lang="en-US" sz="2100" dirty="0" smtClean="0"/>
          </a:p>
          <a:p>
            <a:r>
              <a:rPr lang="en-US" dirty="0" smtClean="0"/>
              <a:t>Not a specific UX – different experience per provider</a:t>
            </a:r>
          </a:p>
          <a:p>
            <a:endParaRPr lang="en-US" sz="2100" dirty="0" smtClean="0"/>
          </a:p>
          <a:p>
            <a:r>
              <a:rPr lang="en-US" dirty="0" smtClean="0"/>
              <a:t>Currently not very scalable or suited to mobile apps (verbose, chatty,  lacking lifetime/refresh features)</a:t>
            </a:r>
          </a:p>
          <a:p>
            <a:endParaRPr lang="en-US" sz="2100" dirty="0" smtClean="0"/>
          </a:p>
        </p:txBody>
      </p:sp>
      <p:pic>
        <p:nvPicPr>
          <p:cNvPr id="4" name="Picture 3"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Demo </a:t>
            </a:r>
            <a:r>
              <a:rPr lang="en-US" dirty="0" smtClean="0"/>
              <a:t>–</a:t>
            </a:r>
            <a:r>
              <a:rPr smtClean="0"/>
              <a:t> O</a:t>
            </a:r>
            <a:r>
              <a:rPr lang="en-US" dirty="0" smtClean="0"/>
              <a:t>A</a:t>
            </a:r>
            <a:r>
              <a:rPr smtClean="0"/>
              <a:t>uth Authorization</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p:nvPr/>
        </p:nvGrpSpPr>
        <p:grpSpPr>
          <a:xfrm>
            <a:off x="148683" y="4192858"/>
            <a:ext cx="7103324" cy="1501697"/>
            <a:chOff x="148683" y="4192858"/>
            <a:chExt cx="7103324" cy="1501697"/>
          </a:xfrm>
        </p:grpSpPr>
        <p:grpSp>
          <p:nvGrpSpPr>
            <p:cNvPr id="58" name="Group 57"/>
            <p:cNvGrpSpPr/>
            <p:nvPr/>
          </p:nvGrpSpPr>
          <p:grpSpPr>
            <a:xfrm>
              <a:off x="148683" y="4192858"/>
              <a:ext cx="5300545" cy="1501697"/>
              <a:chOff x="148683" y="2019298"/>
              <a:chExt cx="5300545" cy="773151"/>
            </a:xfrm>
          </p:grpSpPr>
          <p:sp>
            <p:nvSpPr>
              <p:cNvPr id="59" name="Rectangle 58"/>
              <p:cNvSpPr/>
              <p:nvPr/>
            </p:nvSpPr>
            <p:spPr bwMode="auto">
              <a:xfrm>
                <a:off x="148683" y="2019299"/>
                <a:ext cx="4973444" cy="773150"/>
              </a:xfrm>
              <a:prstGeom prst="rect">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schemeClr val="tx1"/>
                  </a:solidFill>
                </a:endParaRPr>
              </a:p>
            </p:txBody>
          </p:sp>
          <p:sp>
            <p:nvSpPr>
              <p:cNvPr id="60" name="Right Brace 59"/>
              <p:cNvSpPr/>
              <p:nvPr/>
            </p:nvSpPr>
            <p:spPr>
              <a:xfrm>
                <a:off x="5122126" y="2019298"/>
                <a:ext cx="327102" cy="773151"/>
              </a:xfrm>
              <a:prstGeom prst="rightBrace">
                <a:avLst>
                  <a:gd name="adj1" fmla="val 37878"/>
                  <a:gd name="adj2" fmla="val 50000"/>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
          <p:nvSpPr>
            <p:cNvPr id="39" name="TextBox 38"/>
            <p:cNvSpPr txBox="1"/>
            <p:nvPr/>
          </p:nvSpPr>
          <p:spPr>
            <a:xfrm>
              <a:off x="5423208" y="4585296"/>
              <a:ext cx="1828799" cy="646331"/>
            </a:xfrm>
            <a:prstGeom prst="rect">
              <a:avLst/>
            </a:prstGeom>
            <a:noFill/>
          </p:spPr>
          <p:txBody>
            <a:bodyPr wrap="square" rtlCol="0">
              <a:spAutoFit/>
            </a:bodyPr>
            <a:lstStyle/>
            <a:p>
              <a:r>
                <a:rPr lang="en-US" sz="1200" b="1" dirty="0" smtClean="0">
                  <a:gradFill>
                    <a:gsLst>
                      <a:gs pos="36000">
                        <a:schemeClr val="tx1"/>
                      </a:gs>
                      <a:gs pos="86000">
                        <a:schemeClr val="tx1"/>
                      </a:gs>
                    </a:gsLst>
                    <a:lin ang="5400000" scaled="0"/>
                  </a:gradFill>
                </a:rPr>
                <a:t>Exchange Request Token for Access Token</a:t>
              </a:r>
            </a:p>
          </p:txBody>
        </p:sp>
      </p:grpSp>
      <p:grpSp>
        <p:nvGrpSpPr>
          <p:cNvPr id="67" name="Group 66"/>
          <p:cNvGrpSpPr/>
          <p:nvPr/>
        </p:nvGrpSpPr>
        <p:grpSpPr>
          <a:xfrm>
            <a:off x="148683" y="1972370"/>
            <a:ext cx="6571784" cy="2128956"/>
            <a:chOff x="148683" y="1972370"/>
            <a:chExt cx="6571784" cy="2128956"/>
          </a:xfrm>
        </p:grpSpPr>
        <p:grpSp>
          <p:nvGrpSpPr>
            <p:cNvPr id="54" name="Group 53"/>
            <p:cNvGrpSpPr/>
            <p:nvPr/>
          </p:nvGrpSpPr>
          <p:grpSpPr>
            <a:xfrm>
              <a:off x="148683" y="1972370"/>
              <a:ext cx="5300545" cy="2128956"/>
              <a:chOff x="148683" y="2019298"/>
              <a:chExt cx="5300545" cy="773151"/>
            </a:xfrm>
          </p:grpSpPr>
          <p:sp>
            <p:nvSpPr>
              <p:cNvPr id="50" name="Rectangle 49"/>
              <p:cNvSpPr/>
              <p:nvPr/>
            </p:nvSpPr>
            <p:spPr bwMode="auto">
              <a:xfrm>
                <a:off x="148683" y="2019299"/>
                <a:ext cx="4973444" cy="773150"/>
              </a:xfrm>
              <a:prstGeom prst="rect">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schemeClr val="tx1"/>
                  </a:solidFill>
                </a:endParaRPr>
              </a:p>
            </p:txBody>
          </p:sp>
          <p:sp>
            <p:nvSpPr>
              <p:cNvPr id="53" name="Right Brace 52"/>
              <p:cNvSpPr/>
              <p:nvPr/>
            </p:nvSpPr>
            <p:spPr>
              <a:xfrm>
                <a:off x="5122126" y="2019298"/>
                <a:ext cx="327102" cy="773151"/>
              </a:xfrm>
              <a:prstGeom prst="rightBrace">
                <a:avLst>
                  <a:gd name="adj1" fmla="val 37878"/>
                  <a:gd name="adj2" fmla="val 50000"/>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
          <p:nvSpPr>
            <p:cNvPr id="40" name="TextBox 39"/>
            <p:cNvSpPr txBox="1"/>
            <p:nvPr/>
          </p:nvSpPr>
          <p:spPr>
            <a:xfrm>
              <a:off x="5423208" y="2711937"/>
              <a:ext cx="1297259" cy="646331"/>
            </a:xfrm>
            <a:prstGeom prst="rect">
              <a:avLst/>
            </a:prstGeom>
            <a:noFill/>
          </p:spPr>
          <p:txBody>
            <a:bodyPr wrap="square" rtlCol="0">
              <a:spAutoFit/>
            </a:bodyPr>
            <a:lstStyle/>
            <a:p>
              <a:r>
                <a:rPr lang="en-US" sz="1200" b="1" dirty="0" smtClean="0">
                  <a:gradFill>
                    <a:gsLst>
                      <a:gs pos="36000">
                        <a:schemeClr val="tx1"/>
                      </a:gs>
                      <a:gs pos="86000">
                        <a:schemeClr val="tx1"/>
                      </a:gs>
                    </a:gsLst>
                    <a:lin ang="5400000" scaled="0"/>
                  </a:gradFill>
                </a:rPr>
                <a:t>User authorizes </a:t>
              </a:r>
            </a:p>
            <a:p>
              <a:r>
                <a:rPr lang="en-US" sz="1200" b="1" dirty="0" smtClean="0">
                  <a:gradFill>
                    <a:gsLst>
                      <a:gs pos="36000">
                        <a:schemeClr val="tx1"/>
                      </a:gs>
                      <a:gs pos="86000">
                        <a:schemeClr val="tx1"/>
                      </a:gs>
                    </a:gsLst>
                    <a:lin ang="5400000" scaled="0"/>
                  </a:gradFill>
                </a:rPr>
                <a:t>Request Token</a:t>
              </a:r>
            </a:p>
          </p:txBody>
        </p:sp>
      </p:grpSp>
      <p:grpSp>
        <p:nvGrpSpPr>
          <p:cNvPr id="66" name="Group 65"/>
          <p:cNvGrpSpPr/>
          <p:nvPr/>
        </p:nvGrpSpPr>
        <p:grpSpPr>
          <a:xfrm>
            <a:off x="148683" y="1107687"/>
            <a:ext cx="6690731" cy="773151"/>
            <a:chOff x="148683" y="1107687"/>
            <a:chExt cx="6690731" cy="773151"/>
          </a:xfrm>
        </p:grpSpPr>
        <p:grpSp>
          <p:nvGrpSpPr>
            <p:cNvPr id="65" name="Group 64"/>
            <p:cNvGrpSpPr/>
            <p:nvPr/>
          </p:nvGrpSpPr>
          <p:grpSpPr>
            <a:xfrm>
              <a:off x="148683" y="1107688"/>
              <a:ext cx="6690731" cy="773150"/>
              <a:chOff x="148683" y="1107688"/>
              <a:chExt cx="6690731" cy="773150"/>
            </a:xfrm>
          </p:grpSpPr>
          <p:sp>
            <p:nvSpPr>
              <p:cNvPr id="49" name="Rectangle 48"/>
              <p:cNvSpPr/>
              <p:nvPr/>
            </p:nvSpPr>
            <p:spPr bwMode="auto">
              <a:xfrm>
                <a:off x="148683" y="1107688"/>
                <a:ext cx="4973444" cy="773150"/>
              </a:xfrm>
              <a:prstGeom prst="rect">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schemeClr val="tx1"/>
                  </a:solidFill>
                </a:endParaRPr>
              </a:p>
            </p:txBody>
          </p:sp>
          <p:sp>
            <p:nvSpPr>
              <p:cNvPr id="41" name="TextBox 40"/>
              <p:cNvSpPr txBox="1"/>
              <p:nvPr/>
            </p:nvSpPr>
            <p:spPr>
              <a:xfrm>
                <a:off x="5423209" y="1176454"/>
                <a:ext cx="1416205" cy="646331"/>
              </a:xfrm>
              <a:prstGeom prst="rect">
                <a:avLst/>
              </a:prstGeom>
              <a:noFill/>
            </p:spPr>
            <p:txBody>
              <a:bodyPr wrap="square" rtlCol="0">
                <a:spAutoFit/>
              </a:bodyPr>
              <a:lstStyle/>
              <a:p>
                <a:r>
                  <a:rPr lang="en-US" sz="1200" b="1" dirty="0" smtClean="0">
                    <a:gradFill>
                      <a:gsLst>
                        <a:gs pos="36000">
                          <a:schemeClr val="tx1"/>
                        </a:gs>
                        <a:gs pos="86000">
                          <a:schemeClr val="tx1"/>
                        </a:gs>
                      </a:gsLst>
                      <a:lin ang="5400000" scaled="0"/>
                    </a:gradFill>
                  </a:rPr>
                  <a:t>Obtain Unauthorized Request Token</a:t>
                </a:r>
              </a:p>
            </p:txBody>
          </p:sp>
        </p:grpSp>
        <p:sp>
          <p:nvSpPr>
            <p:cNvPr id="42" name="Right Brace 41"/>
            <p:cNvSpPr/>
            <p:nvPr/>
          </p:nvSpPr>
          <p:spPr>
            <a:xfrm>
              <a:off x="5122126" y="1107687"/>
              <a:ext cx="327102" cy="773151"/>
            </a:xfrm>
            <a:prstGeom prst="rightBrace">
              <a:avLst>
                <a:gd name="adj1" fmla="val 37878"/>
                <a:gd name="adj2" fmla="val 50000"/>
              </a:avLst>
            </a:prstGeom>
            <a:solidFill>
              <a:schemeClr val="bg2"/>
            </a:solidFill>
            <a:ln>
              <a:noFill/>
            </a:ln>
            <a:effectLst/>
            <a:scene3d>
              <a:camera prst="orthographicFront">
                <a:rot lat="0" lon="0" rev="0"/>
              </a:camera>
              <a:lightRig rig="chilly" dir="t">
                <a:rot lat="0" lon="0" rev="18480000"/>
              </a:lightRig>
            </a:scene3d>
            <a:sp3d prstMaterial="clear">
              <a:bevelT h="63500"/>
            </a:sp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
        <p:nvSpPr>
          <p:cNvPr id="2" name="Title 1"/>
          <p:cNvSpPr>
            <a:spLocks noGrp="1"/>
          </p:cNvSpPr>
          <p:nvPr>
            <p:ph type="title"/>
          </p:nvPr>
        </p:nvSpPr>
        <p:spPr>
          <a:xfrm>
            <a:off x="0" y="0"/>
            <a:ext cx="8382000" cy="665162"/>
          </a:xfrm>
        </p:spPr>
        <p:txBody>
          <a:bodyPr/>
          <a:lstStyle/>
          <a:p>
            <a:r>
              <a:rPr smtClean="0"/>
              <a:t>OAuth Protocol Mechanics</a:t>
            </a:r>
            <a:endParaRPr lang="en-US" dirty="0"/>
          </a:p>
        </p:txBody>
      </p:sp>
      <p:pic>
        <p:nvPicPr>
          <p:cNvPr id="4" name="Picture 3"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sp>
        <p:nvSpPr>
          <p:cNvPr id="5" name="Rounded Rectangle 4"/>
          <p:cNvSpPr/>
          <p:nvPr/>
        </p:nvSpPr>
        <p:spPr bwMode="auto">
          <a:xfrm>
            <a:off x="304800" y="1143000"/>
            <a:ext cx="1676400" cy="6858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400" b="1" dirty="0" smtClean="0"/>
              <a:t>Request </a:t>
            </a:r>
            <a:r>
              <a:rPr lang="en-US" sz="1400" b="1" i="1" dirty="0" smtClean="0"/>
              <a:t>Request Token</a:t>
            </a:r>
            <a:endParaRPr lang="en-US" sz="1400" b="1" i="1" dirty="0"/>
          </a:p>
        </p:txBody>
      </p:sp>
      <p:sp>
        <p:nvSpPr>
          <p:cNvPr id="6" name="Rounded Rectangle 5"/>
          <p:cNvSpPr/>
          <p:nvPr/>
        </p:nvSpPr>
        <p:spPr bwMode="auto">
          <a:xfrm>
            <a:off x="3352800" y="1143000"/>
            <a:ext cx="1676400" cy="6858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r>
              <a:rPr lang="en-US" sz="1400" b="1" dirty="0" smtClean="0"/>
              <a:t>Grant </a:t>
            </a:r>
          </a:p>
          <a:p>
            <a:pPr algn="ctr" defTabSz="914099"/>
            <a:r>
              <a:rPr lang="en-US" sz="1400" b="1" dirty="0" smtClean="0"/>
              <a:t>Request Token</a:t>
            </a:r>
            <a:endParaRPr lang="en-US" sz="1400" b="1" dirty="0"/>
          </a:p>
        </p:txBody>
      </p:sp>
      <p:sp>
        <p:nvSpPr>
          <p:cNvPr id="8" name="Rounded Rectangle 7"/>
          <p:cNvSpPr/>
          <p:nvPr/>
        </p:nvSpPr>
        <p:spPr bwMode="auto">
          <a:xfrm>
            <a:off x="304800" y="2062974"/>
            <a:ext cx="1676400" cy="685800"/>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r>
              <a:rPr lang="en-US" sz="1400" b="1" dirty="0" smtClean="0"/>
              <a:t>Direct User to Service Provide</a:t>
            </a:r>
            <a:endParaRPr lang="en-US" sz="1400" b="1" dirty="0"/>
          </a:p>
        </p:txBody>
      </p:sp>
      <p:sp>
        <p:nvSpPr>
          <p:cNvPr id="9" name="Rounded Rectangle 8"/>
          <p:cNvSpPr/>
          <p:nvPr/>
        </p:nvSpPr>
        <p:spPr bwMode="auto">
          <a:xfrm>
            <a:off x="3276600" y="2514600"/>
            <a:ext cx="1676400" cy="6858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r>
              <a:rPr lang="en-US" sz="1400" b="1" dirty="0" smtClean="0"/>
              <a:t>Obtain User authorization</a:t>
            </a:r>
            <a:endParaRPr lang="en-US" sz="1400" b="1" dirty="0"/>
          </a:p>
        </p:txBody>
      </p:sp>
      <p:sp>
        <p:nvSpPr>
          <p:cNvPr id="10" name="Rounded Rectangle 9"/>
          <p:cNvSpPr/>
          <p:nvPr/>
        </p:nvSpPr>
        <p:spPr bwMode="auto">
          <a:xfrm>
            <a:off x="3284034" y="3399263"/>
            <a:ext cx="1676400" cy="600308"/>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r>
              <a:rPr lang="en-US" sz="1400" b="1" dirty="0" smtClean="0"/>
              <a:t>Direct user to consumer</a:t>
            </a:r>
            <a:endParaRPr lang="en-US" sz="1400" b="1" dirty="0"/>
          </a:p>
        </p:txBody>
      </p:sp>
      <p:sp>
        <p:nvSpPr>
          <p:cNvPr id="11" name="Rounded Rectangle 10"/>
          <p:cNvSpPr/>
          <p:nvPr/>
        </p:nvSpPr>
        <p:spPr bwMode="auto">
          <a:xfrm>
            <a:off x="228600" y="4259766"/>
            <a:ext cx="1676400" cy="6858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400" b="1" dirty="0" smtClean="0"/>
              <a:t>Request Access Token</a:t>
            </a:r>
            <a:endParaRPr lang="en-US" sz="1400" b="1" dirty="0"/>
          </a:p>
        </p:txBody>
      </p:sp>
      <p:sp>
        <p:nvSpPr>
          <p:cNvPr id="12" name="Rounded Rectangle 11"/>
          <p:cNvSpPr/>
          <p:nvPr/>
        </p:nvSpPr>
        <p:spPr bwMode="auto">
          <a:xfrm>
            <a:off x="3352800" y="4664928"/>
            <a:ext cx="1676400" cy="6858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r>
              <a:rPr lang="en-US" sz="1400" b="1" dirty="0" smtClean="0"/>
              <a:t>Grant Access Token</a:t>
            </a:r>
            <a:endParaRPr lang="en-US" sz="1400" b="1" dirty="0"/>
          </a:p>
        </p:txBody>
      </p:sp>
      <p:sp>
        <p:nvSpPr>
          <p:cNvPr id="13" name="Rounded Rectangle 12"/>
          <p:cNvSpPr/>
          <p:nvPr/>
        </p:nvSpPr>
        <p:spPr bwMode="auto">
          <a:xfrm>
            <a:off x="228600" y="5867400"/>
            <a:ext cx="1676400" cy="6858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400" b="1" dirty="0" smtClean="0"/>
              <a:t>Access Protected Resources</a:t>
            </a:r>
            <a:endParaRPr lang="en-US" sz="1400" b="1" dirty="0"/>
          </a:p>
        </p:txBody>
      </p:sp>
      <p:cxnSp>
        <p:nvCxnSpPr>
          <p:cNvPr id="15" name="Straight Arrow Connector 14"/>
          <p:cNvCxnSpPr>
            <a:stCxn id="5" idx="3"/>
            <a:endCxn id="6" idx="1"/>
          </p:cNvCxnSpPr>
          <p:nvPr/>
        </p:nvCxnSpPr>
        <p:spPr>
          <a:xfrm>
            <a:off x="1981200" y="1485900"/>
            <a:ext cx="1371600" cy="1588"/>
          </a:xfrm>
          <a:prstGeom prst="straightConnector1">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19" name="Shape 18"/>
          <p:cNvCxnSpPr>
            <a:stCxn id="6" idx="2"/>
            <a:endCxn id="8" idx="3"/>
          </p:cNvCxnSpPr>
          <p:nvPr/>
        </p:nvCxnSpPr>
        <p:spPr>
          <a:xfrm rot="5400000">
            <a:off x="2797563" y="1012437"/>
            <a:ext cx="577074" cy="2209800"/>
          </a:xfrm>
          <a:prstGeom prst="bentConnector2">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8" idx="2"/>
            <a:endCxn id="9" idx="1"/>
          </p:cNvCxnSpPr>
          <p:nvPr/>
        </p:nvCxnSpPr>
        <p:spPr>
          <a:xfrm rot="16200000" flipH="1">
            <a:off x="2155437" y="1736337"/>
            <a:ext cx="108726" cy="2133600"/>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2"/>
            <a:endCxn id="10" idx="0"/>
          </p:cNvCxnSpPr>
          <p:nvPr/>
        </p:nvCxnSpPr>
        <p:spPr>
          <a:xfrm rot="16200000" flipH="1">
            <a:off x="4019086" y="3296114"/>
            <a:ext cx="198863" cy="743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hape 27"/>
          <p:cNvCxnSpPr>
            <a:endCxn id="11" idx="0"/>
          </p:cNvCxnSpPr>
          <p:nvPr/>
        </p:nvCxnSpPr>
        <p:spPr>
          <a:xfrm rot="10800000" flipV="1">
            <a:off x="1066800" y="3697940"/>
            <a:ext cx="2147050" cy="561826"/>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hape 29"/>
          <p:cNvCxnSpPr>
            <a:stCxn id="11" idx="2"/>
            <a:endCxn id="12" idx="1"/>
          </p:cNvCxnSpPr>
          <p:nvPr/>
        </p:nvCxnSpPr>
        <p:spPr>
          <a:xfrm rot="16200000" flipH="1">
            <a:off x="2178669" y="3833697"/>
            <a:ext cx="62262" cy="2286000"/>
          </a:xfrm>
          <a:prstGeom prst="bentConnector2">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12" idx="2"/>
            <a:endCxn id="13" idx="0"/>
          </p:cNvCxnSpPr>
          <p:nvPr/>
        </p:nvCxnSpPr>
        <p:spPr>
          <a:xfrm rot="5400000">
            <a:off x="2370564" y="4046964"/>
            <a:ext cx="516672" cy="3124200"/>
          </a:xfrm>
          <a:prstGeom prst="bentConnector3">
            <a:avLst>
              <a:gd name="adj1" fmla="val 50000"/>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36" name="Shape 35"/>
          <p:cNvCxnSpPr>
            <a:stCxn id="13" idx="2"/>
          </p:cNvCxnSpPr>
          <p:nvPr/>
        </p:nvCxnSpPr>
        <p:spPr>
          <a:xfrm rot="16200000" flipH="1">
            <a:off x="4876800" y="2743200"/>
            <a:ext cx="70624" cy="7690624"/>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0" y="682083"/>
            <a:ext cx="2209800" cy="400110"/>
          </a:xfrm>
          <a:prstGeom prst="rect">
            <a:avLst/>
          </a:prstGeom>
          <a:noFill/>
        </p:spPr>
        <p:txBody>
          <a:bodyPr wrap="square" rtlCol="0">
            <a:spAutoFit/>
          </a:bodyPr>
          <a:lstStyle/>
          <a:p>
            <a:pPr algn="ctr"/>
            <a:r>
              <a:rPr lang="en-US" sz="2000" b="1" i="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Consumer</a:t>
            </a:r>
          </a:p>
        </p:txBody>
      </p:sp>
      <p:sp>
        <p:nvSpPr>
          <p:cNvPr id="38" name="TextBox 37"/>
          <p:cNvSpPr txBox="1"/>
          <p:nvPr/>
        </p:nvSpPr>
        <p:spPr>
          <a:xfrm>
            <a:off x="2743200" y="682083"/>
            <a:ext cx="2895600" cy="400110"/>
          </a:xfrm>
          <a:prstGeom prst="rect">
            <a:avLst/>
          </a:prstGeom>
          <a:noFill/>
        </p:spPr>
        <p:txBody>
          <a:bodyPr wrap="square" rtlCol="0">
            <a:spAutoFit/>
          </a:bodyPr>
          <a:lstStyle/>
          <a:p>
            <a:pPr algn="ctr"/>
            <a:r>
              <a:rPr lang="en-US" sz="2000" b="1" i="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Service</a:t>
            </a:r>
            <a:r>
              <a:rPr lang="en-US" sz="2000" i="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 </a:t>
            </a:r>
            <a:r>
              <a:rPr lang="en-US" sz="2000" b="1" i="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Provider</a:t>
            </a:r>
          </a:p>
        </p:txBody>
      </p:sp>
      <p:grpSp>
        <p:nvGrpSpPr>
          <p:cNvPr id="61" name="Group 60"/>
          <p:cNvGrpSpPr/>
          <p:nvPr/>
        </p:nvGrpSpPr>
        <p:grpSpPr>
          <a:xfrm>
            <a:off x="7169910" y="1017580"/>
            <a:ext cx="1847709" cy="1465424"/>
            <a:chOff x="6934200" y="5105400"/>
            <a:chExt cx="2209800" cy="1752600"/>
          </a:xfrm>
        </p:grpSpPr>
        <p:sp>
          <p:nvSpPr>
            <p:cNvPr id="56" name="Rounded Rectangle 55"/>
            <p:cNvSpPr/>
            <p:nvPr/>
          </p:nvSpPr>
          <p:spPr bwMode="auto">
            <a:xfrm>
              <a:off x="6934200" y="5105400"/>
              <a:ext cx="2209800" cy="1752600"/>
            </a:xfrm>
            <a:prstGeom prst="roundRect">
              <a:avLst>
                <a:gd name="adj" fmla="val 10579"/>
              </a:avLst>
            </a:prstGeom>
            <a:solidFill>
              <a:schemeClr val="tx2"/>
            </a:solidFill>
            <a:ln w="38100">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1000" b="1" dirty="0">
                <a:gradFill>
                  <a:gsLst>
                    <a:gs pos="50000">
                      <a:schemeClr val="tx1"/>
                    </a:gs>
                    <a:gs pos="100000">
                      <a:schemeClr val="tx1"/>
                    </a:gs>
                  </a:gsLst>
                  <a:lin ang="5400000" scaled="0"/>
                </a:gradFill>
              </a:endParaRPr>
            </a:p>
          </p:txBody>
        </p:sp>
        <p:cxnSp>
          <p:nvCxnSpPr>
            <p:cNvPr id="47" name="Shape 46"/>
            <p:cNvCxnSpPr/>
            <p:nvPr/>
          </p:nvCxnSpPr>
          <p:spPr>
            <a:xfrm>
              <a:off x="7071360" y="6248400"/>
              <a:ext cx="1920240" cy="1588"/>
            </a:xfrm>
            <a:prstGeom prst="bentConnector3">
              <a:avLst>
                <a:gd name="adj1" fmla="val 50000"/>
              </a:avLst>
            </a:prstGeom>
            <a:ln w="38100">
              <a:prstDash val="dash"/>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162800" y="6257836"/>
              <a:ext cx="1828798" cy="478519"/>
            </a:xfrm>
            <a:prstGeom prst="rect">
              <a:avLst/>
            </a:prstGeom>
            <a:noFill/>
          </p:spPr>
          <p:txBody>
            <a:bodyPr wrap="square" rtlCol="0">
              <a:spAutoFit/>
            </a:bodyPr>
            <a:lstStyle/>
            <a:p>
              <a:pPr algn="ctr"/>
              <a:r>
                <a:rPr lang="en-US" sz="1000" b="1" dirty="0" smtClean="0">
                  <a:gradFill>
                    <a:gsLst>
                      <a:gs pos="36000">
                        <a:schemeClr val="tx1"/>
                      </a:gs>
                      <a:gs pos="86000">
                        <a:schemeClr val="tx1"/>
                      </a:gs>
                    </a:gsLst>
                    <a:lin ang="5400000" scaled="0"/>
                  </a:gradFill>
                </a:rPr>
                <a:t>Consumer/Service provider</a:t>
              </a:r>
            </a:p>
          </p:txBody>
        </p:sp>
        <p:cxnSp>
          <p:nvCxnSpPr>
            <p:cNvPr id="51" name="Shape 46"/>
            <p:cNvCxnSpPr/>
            <p:nvPr/>
          </p:nvCxnSpPr>
          <p:spPr>
            <a:xfrm>
              <a:off x="7071360" y="5553165"/>
              <a:ext cx="1920240" cy="1588"/>
            </a:xfrm>
            <a:prstGeom prst="bentConnector3">
              <a:avLst>
                <a:gd name="adj1" fmla="val 50000"/>
              </a:avLst>
            </a:prstGeom>
            <a:ln w="38100" cmpd="sng">
              <a:prstDash val="solid"/>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162800" y="5562601"/>
              <a:ext cx="1828798" cy="662564"/>
            </a:xfrm>
            <a:prstGeom prst="rect">
              <a:avLst/>
            </a:prstGeom>
            <a:noFill/>
          </p:spPr>
          <p:txBody>
            <a:bodyPr wrap="square" rtlCol="0">
              <a:spAutoFit/>
            </a:bodyPr>
            <a:lstStyle/>
            <a:p>
              <a:pPr algn="ctr"/>
              <a:r>
                <a:rPr lang="en-US" sz="1000" b="1" dirty="0" smtClean="0">
                  <a:gradFill>
                    <a:gsLst>
                      <a:gs pos="36000">
                        <a:schemeClr val="tx1"/>
                      </a:gs>
                      <a:gs pos="86000">
                        <a:schemeClr val="tx1"/>
                      </a:gs>
                    </a:gsLst>
                    <a:lin ang="5400000" scaled="0"/>
                  </a:gradFill>
                </a:rPr>
                <a:t>Person using web browser or manual entry</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par>
                          <p:cTn id="17" fill="hold">
                            <p:stCondLst>
                              <p:cond delay="500"/>
                            </p:stCondLst>
                            <p:childTnLst>
                              <p:par>
                                <p:cTn id="18" presetID="53"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wipe(left)">
                                      <p:cBhvr>
                                        <p:cTn id="27" dur="500"/>
                                        <p:tgtEl>
                                          <p:spTgt spid="67"/>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right)">
                                      <p:cBhvr>
                                        <p:cTn id="31" dur="500"/>
                                        <p:tgtEl>
                                          <p:spTgt spid="19"/>
                                        </p:tgtEl>
                                      </p:cBhvr>
                                    </p:animEffect>
                                  </p:childTnLst>
                                </p:cTn>
                              </p:par>
                            </p:childTnLst>
                          </p:cTn>
                        </p:par>
                        <p:par>
                          <p:cTn id="32" fill="hold">
                            <p:stCondLst>
                              <p:cond delay="1000"/>
                            </p:stCondLst>
                            <p:childTnLst>
                              <p:par>
                                <p:cTn id="33" presetID="53"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par>
                          <p:cTn id="43" fill="hold">
                            <p:stCondLst>
                              <p:cond delay="500"/>
                            </p:stCondLst>
                            <p:childTnLst>
                              <p:par>
                                <p:cTn id="44" presetID="53"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p:cTn id="46" dur="500" fill="hold"/>
                                        <p:tgtEl>
                                          <p:spTgt spid="9"/>
                                        </p:tgtEl>
                                        <p:attrNameLst>
                                          <p:attrName>ppt_w</p:attrName>
                                        </p:attrNameLst>
                                      </p:cBhvr>
                                      <p:tavLst>
                                        <p:tav tm="0">
                                          <p:val>
                                            <p:fltVal val="0"/>
                                          </p:val>
                                        </p:tav>
                                        <p:tav tm="100000">
                                          <p:val>
                                            <p:strVal val="#ppt_w"/>
                                          </p:val>
                                        </p:tav>
                                      </p:tavLst>
                                    </p:anim>
                                    <p:anim calcmode="lin" valueType="num">
                                      <p:cBhvr>
                                        <p:cTn id="47" dur="500" fill="hold"/>
                                        <p:tgtEl>
                                          <p:spTgt spid="9"/>
                                        </p:tgtEl>
                                        <p:attrNameLst>
                                          <p:attrName>ppt_h</p:attrName>
                                        </p:attrNameLst>
                                      </p:cBhvr>
                                      <p:tavLst>
                                        <p:tav tm="0">
                                          <p:val>
                                            <p:fltVal val="0"/>
                                          </p:val>
                                        </p:tav>
                                        <p:tav tm="100000">
                                          <p:val>
                                            <p:strVal val="#ppt_h"/>
                                          </p:val>
                                        </p:tav>
                                      </p:tavLst>
                                    </p:anim>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up)">
                                      <p:cBhvr>
                                        <p:cTn id="53" dur="500"/>
                                        <p:tgtEl>
                                          <p:spTgt spid="24"/>
                                        </p:tgtEl>
                                      </p:cBhvr>
                                    </p:animEffect>
                                  </p:childTnLst>
                                </p:cTn>
                              </p:par>
                            </p:childTnLst>
                          </p:cTn>
                        </p:par>
                        <p:par>
                          <p:cTn id="54" fill="hold">
                            <p:stCondLst>
                              <p:cond delay="500"/>
                            </p:stCondLst>
                            <p:childTnLst>
                              <p:par>
                                <p:cTn id="55" presetID="53" presetClass="entr" presetSubtype="0"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p:cTn id="57" dur="500" fill="hold"/>
                                        <p:tgtEl>
                                          <p:spTgt spid="10"/>
                                        </p:tgtEl>
                                        <p:attrNameLst>
                                          <p:attrName>ppt_w</p:attrName>
                                        </p:attrNameLst>
                                      </p:cBhvr>
                                      <p:tavLst>
                                        <p:tav tm="0">
                                          <p:val>
                                            <p:fltVal val="0"/>
                                          </p:val>
                                        </p:tav>
                                        <p:tav tm="100000">
                                          <p:val>
                                            <p:strVal val="#ppt_w"/>
                                          </p:val>
                                        </p:tav>
                                      </p:tavLst>
                                    </p:anim>
                                    <p:anim calcmode="lin" valueType="num">
                                      <p:cBhvr>
                                        <p:cTn id="58" dur="500" fill="hold"/>
                                        <p:tgtEl>
                                          <p:spTgt spid="10"/>
                                        </p:tgtEl>
                                        <p:attrNameLst>
                                          <p:attrName>ppt_h</p:attrName>
                                        </p:attrNameLst>
                                      </p:cBhvr>
                                      <p:tavLst>
                                        <p:tav tm="0">
                                          <p:val>
                                            <p:fltVal val="0"/>
                                          </p:val>
                                        </p:tav>
                                        <p:tav tm="100000">
                                          <p:val>
                                            <p:strVal val="#ppt_h"/>
                                          </p:val>
                                        </p:tav>
                                      </p:tavLst>
                                    </p:anim>
                                    <p:animEffect transition="in" filter="fade">
                                      <p:cBhvr>
                                        <p:cTn id="59" dur="500"/>
                                        <p:tgtEl>
                                          <p:spTgt spid="10"/>
                                        </p:tgtEl>
                                      </p:cBhvr>
                                    </p:animEffect>
                                  </p:childTnLst>
                                </p:cTn>
                              </p:par>
                            </p:childTnLst>
                          </p:cTn>
                        </p:par>
                        <p:par>
                          <p:cTn id="60" fill="hold">
                            <p:stCondLst>
                              <p:cond delay="1000"/>
                            </p:stCondLst>
                            <p:childTnLst>
                              <p:par>
                                <p:cTn id="61" presetID="22" presetClass="entr" presetSubtype="2"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right)">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68"/>
                                        </p:tgtEl>
                                        <p:attrNameLst>
                                          <p:attrName>style.visibility</p:attrName>
                                        </p:attrNameLst>
                                      </p:cBhvr>
                                      <p:to>
                                        <p:strVal val="visible"/>
                                      </p:to>
                                    </p:set>
                                    <p:animEffect transition="in" filter="wipe(left)">
                                      <p:cBhvr>
                                        <p:cTn id="68" dur="500"/>
                                        <p:tgtEl>
                                          <p:spTgt spid="68"/>
                                        </p:tgtEl>
                                      </p:cBhvr>
                                    </p:animEffect>
                                  </p:childTnLst>
                                </p:cTn>
                              </p:par>
                            </p:childTnLst>
                          </p:cTn>
                        </p:par>
                        <p:par>
                          <p:cTn id="69" fill="hold">
                            <p:stCondLst>
                              <p:cond delay="500"/>
                            </p:stCondLst>
                            <p:childTnLst>
                              <p:par>
                                <p:cTn id="70" presetID="53" presetClass="entr" presetSubtype="0" fill="hold" grpId="0" nodeType="afterEffect">
                                  <p:stCondLst>
                                    <p:cond delay="0"/>
                                  </p:stCondLst>
                                  <p:childTnLst>
                                    <p:set>
                                      <p:cBhvr>
                                        <p:cTn id="71" dur="1" fill="hold">
                                          <p:stCondLst>
                                            <p:cond delay="0"/>
                                          </p:stCondLst>
                                        </p:cTn>
                                        <p:tgtEl>
                                          <p:spTgt spid="11"/>
                                        </p:tgtEl>
                                        <p:attrNameLst>
                                          <p:attrName>style.visibility</p:attrName>
                                        </p:attrNameLst>
                                      </p:cBhvr>
                                      <p:to>
                                        <p:strVal val="visible"/>
                                      </p:to>
                                    </p:set>
                                    <p:anim calcmode="lin" valueType="num">
                                      <p:cBhvr>
                                        <p:cTn id="72" dur="500" fill="hold"/>
                                        <p:tgtEl>
                                          <p:spTgt spid="11"/>
                                        </p:tgtEl>
                                        <p:attrNameLst>
                                          <p:attrName>ppt_w</p:attrName>
                                        </p:attrNameLst>
                                      </p:cBhvr>
                                      <p:tavLst>
                                        <p:tav tm="0">
                                          <p:val>
                                            <p:fltVal val="0"/>
                                          </p:val>
                                        </p:tav>
                                        <p:tav tm="100000">
                                          <p:val>
                                            <p:strVal val="#ppt_w"/>
                                          </p:val>
                                        </p:tav>
                                      </p:tavLst>
                                    </p:anim>
                                    <p:anim calcmode="lin" valueType="num">
                                      <p:cBhvr>
                                        <p:cTn id="73" dur="500" fill="hold"/>
                                        <p:tgtEl>
                                          <p:spTgt spid="11"/>
                                        </p:tgtEl>
                                        <p:attrNameLst>
                                          <p:attrName>ppt_h</p:attrName>
                                        </p:attrNameLst>
                                      </p:cBhvr>
                                      <p:tavLst>
                                        <p:tav tm="0">
                                          <p:val>
                                            <p:fltVal val="0"/>
                                          </p:val>
                                        </p:tav>
                                        <p:tav tm="100000">
                                          <p:val>
                                            <p:strVal val="#ppt_h"/>
                                          </p:val>
                                        </p:tav>
                                      </p:tavLst>
                                    </p:anim>
                                    <p:animEffect transition="in" filter="fade">
                                      <p:cBhvr>
                                        <p:cTn id="74" dur="500"/>
                                        <p:tgtEl>
                                          <p:spTgt spid="1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500"/>
                                        <p:tgtEl>
                                          <p:spTgt spid="30"/>
                                        </p:tgtEl>
                                      </p:cBhvr>
                                    </p:animEffect>
                                  </p:childTnLst>
                                </p:cTn>
                              </p:par>
                            </p:childTnLst>
                          </p:cTn>
                        </p:par>
                        <p:par>
                          <p:cTn id="80" fill="hold">
                            <p:stCondLst>
                              <p:cond delay="500"/>
                            </p:stCondLst>
                            <p:childTnLst>
                              <p:par>
                                <p:cTn id="81" presetID="53" presetClass="entr" presetSubtype="0" fill="hold" grpId="0" nodeType="afterEffect">
                                  <p:stCondLst>
                                    <p:cond delay="0"/>
                                  </p:stCondLst>
                                  <p:childTnLst>
                                    <p:set>
                                      <p:cBhvr>
                                        <p:cTn id="82" dur="1" fill="hold">
                                          <p:stCondLst>
                                            <p:cond delay="0"/>
                                          </p:stCondLst>
                                        </p:cTn>
                                        <p:tgtEl>
                                          <p:spTgt spid="12"/>
                                        </p:tgtEl>
                                        <p:attrNameLst>
                                          <p:attrName>style.visibility</p:attrName>
                                        </p:attrNameLst>
                                      </p:cBhvr>
                                      <p:to>
                                        <p:strVal val="visible"/>
                                      </p:to>
                                    </p:set>
                                    <p:anim calcmode="lin" valueType="num">
                                      <p:cBhvr>
                                        <p:cTn id="83" dur="500" fill="hold"/>
                                        <p:tgtEl>
                                          <p:spTgt spid="12"/>
                                        </p:tgtEl>
                                        <p:attrNameLst>
                                          <p:attrName>ppt_w</p:attrName>
                                        </p:attrNameLst>
                                      </p:cBhvr>
                                      <p:tavLst>
                                        <p:tav tm="0">
                                          <p:val>
                                            <p:fltVal val="0"/>
                                          </p:val>
                                        </p:tav>
                                        <p:tav tm="100000">
                                          <p:val>
                                            <p:strVal val="#ppt_w"/>
                                          </p:val>
                                        </p:tav>
                                      </p:tavLst>
                                    </p:anim>
                                    <p:anim calcmode="lin" valueType="num">
                                      <p:cBhvr>
                                        <p:cTn id="84" dur="500" fill="hold"/>
                                        <p:tgtEl>
                                          <p:spTgt spid="12"/>
                                        </p:tgtEl>
                                        <p:attrNameLst>
                                          <p:attrName>ppt_h</p:attrName>
                                        </p:attrNameLst>
                                      </p:cBhvr>
                                      <p:tavLst>
                                        <p:tav tm="0">
                                          <p:val>
                                            <p:fltVal val="0"/>
                                          </p:val>
                                        </p:tav>
                                        <p:tav tm="100000">
                                          <p:val>
                                            <p:strVal val="#ppt_h"/>
                                          </p:val>
                                        </p:tav>
                                      </p:tavLst>
                                    </p:anim>
                                    <p:animEffect transition="in" filter="fade">
                                      <p:cBhvr>
                                        <p:cTn id="85" dur="500"/>
                                        <p:tgtEl>
                                          <p:spTgt spid="1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right)">
                                      <p:cBhvr>
                                        <p:cTn id="90" dur="500"/>
                                        <p:tgtEl>
                                          <p:spTgt spid="34"/>
                                        </p:tgtEl>
                                      </p:cBhvr>
                                    </p:animEffect>
                                  </p:childTnLst>
                                </p:cTn>
                              </p:par>
                            </p:childTnLst>
                          </p:cTn>
                        </p:par>
                        <p:par>
                          <p:cTn id="91" fill="hold">
                            <p:stCondLst>
                              <p:cond delay="500"/>
                            </p:stCondLst>
                            <p:childTnLst>
                              <p:par>
                                <p:cTn id="92" presetID="53" presetClass="entr" presetSubtype="0" fill="hold" grpId="0" nodeType="afterEffect">
                                  <p:stCondLst>
                                    <p:cond delay="0"/>
                                  </p:stCondLst>
                                  <p:childTnLst>
                                    <p:set>
                                      <p:cBhvr>
                                        <p:cTn id="93" dur="1" fill="hold">
                                          <p:stCondLst>
                                            <p:cond delay="0"/>
                                          </p:stCondLst>
                                        </p:cTn>
                                        <p:tgtEl>
                                          <p:spTgt spid="13"/>
                                        </p:tgtEl>
                                        <p:attrNameLst>
                                          <p:attrName>style.visibility</p:attrName>
                                        </p:attrNameLst>
                                      </p:cBhvr>
                                      <p:to>
                                        <p:strVal val="visible"/>
                                      </p:to>
                                    </p:set>
                                    <p:anim calcmode="lin" valueType="num">
                                      <p:cBhvr>
                                        <p:cTn id="94" dur="500" fill="hold"/>
                                        <p:tgtEl>
                                          <p:spTgt spid="13"/>
                                        </p:tgtEl>
                                        <p:attrNameLst>
                                          <p:attrName>ppt_w</p:attrName>
                                        </p:attrNameLst>
                                      </p:cBhvr>
                                      <p:tavLst>
                                        <p:tav tm="0">
                                          <p:val>
                                            <p:fltVal val="0"/>
                                          </p:val>
                                        </p:tav>
                                        <p:tav tm="100000">
                                          <p:val>
                                            <p:strVal val="#ppt_w"/>
                                          </p:val>
                                        </p:tav>
                                      </p:tavLst>
                                    </p:anim>
                                    <p:anim calcmode="lin" valueType="num">
                                      <p:cBhvr>
                                        <p:cTn id="95" dur="500" fill="hold"/>
                                        <p:tgtEl>
                                          <p:spTgt spid="13"/>
                                        </p:tgtEl>
                                        <p:attrNameLst>
                                          <p:attrName>ppt_h</p:attrName>
                                        </p:attrNameLst>
                                      </p:cBhvr>
                                      <p:tavLst>
                                        <p:tav tm="0">
                                          <p:val>
                                            <p:fltVal val="0"/>
                                          </p:val>
                                        </p:tav>
                                        <p:tav tm="100000">
                                          <p:val>
                                            <p:strVal val="#ppt_h"/>
                                          </p:val>
                                        </p:tav>
                                      </p:tavLst>
                                    </p:anim>
                                    <p:animEffect transition="in" filter="fade">
                                      <p:cBhvr>
                                        <p:cTn id="96" dur="500"/>
                                        <p:tgtEl>
                                          <p:spTgt spid="13"/>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wipe(left)">
                                      <p:cBhvr>
                                        <p:cTn id="10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OAuth Protocol Mechanics</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rot="5400000">
            <a:off x="1775114" y="213013"/>
            <a:ext cx="5593773" cy="7239000"/>
          </a:xfrm>
          <a:prstGeom prst="rect">
            <a:avLst/>
          </a:prstGeom>
          <a:noFill/>
          <a:ln w="9525">
            <a:noFill/>
            <a:miter lim="800000"/>
            <a:headEnd/>
            <a:tailEnd/>
          </a:ln>
          <a:effectLst/>
        </p:spPr>
      </p:pic>
      <p:pic>
        <p:nvPicPr>
          <p:cNvPr id="4" name="Picture 3"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mtClean="0"/>
              <a:t>Who's Using OAuth?</a:t>
            </a:r>
            <a:endParaRPr lang="en-US" dirty="0"/>
          </a:p>
        </p:txBody>
      </p:sp>
      <p:sp>
        <p:nvSpPr>
          <p:cNvPr id="9" name="Text Placeholder 8"/>
          <p:cNvSpPr>
            <a:spLocks noGrp="1"/>
          </p:cNvSpPr>
          <p:nvPr>
            <p:ph type="body" sz="quarter" idx="10"/>
          </p:nvPr>
        </p:nvSpPr>
        <p:spPr>
          <a:xfrm>
            <a:off x="381000" y="1270307"/>
            <a:ext cx="8382000" cy="4840565"/>
          </a:xfrm>
        </p:spPr>
        <p:txBody>
          <a:bodyPr/>
          <a:lstStyle/>
          <a:p>
            <a:pPr>
              <a:buNone/>
            </a:pPr>
            <a:endParaRPr lang="en-US" sz="2800" dirty="0" smtClean="0"/>
          </a:p>
          <a:p>
            <a:pPr lvl="1">
              <a:buNone/>
            </a:pPr>
            <a:endParaRPr lang="en-US" dirty="0" smtClean="0"/>
          </a:p>
          <a:p>
            <a:endParaRPr lang="en-US" sz="2800" dirty="0" smtClean="0"/>
          </a:p>
          <a:p>
            <a:endParaRPr lang="en-US" sz="2800" dirty="0" smtClean="0"/>
          </a:p>
          <a:p>
            <a:pPr>
              <a:buNone/>
            </a:pPr>
            <a:endParaRPr lang="en-US" sz="2800" dirty="0" smtClean="0"/>
          </a:p>
          <a:p>
            <a:pPr>
              <a:buNone/>
            </a:pPr>
            <a:endParaRPr lang="en-US" sz="2800" dirty="0" smtClean="0"/>
          </a:p>
          <a:p>
            <a:pPr>
              <a:buNone/>
            </a:pPr>
            <a:endParaRPr lang="en-US" sz="2800" dirty="0" smtClean="0"/>
          </a:p>
          <a:p>
            <a:endParaRPr lang="en-US" sz="2800" dirty="0" smtClean="0"/>
          </a:p>
          <a:p>
            <a:endParaRPr lang="en-US" sz="2800" dirty="0" smtClean="0"/>
          </a:p>
          <a:p>
            <a:endParaRPr lang="en-US" sz="2800" dirty="0" smtClean="0"/>
          </a:p>
          <a:p>
            <a:r>
              <a:rPr lang="en-US" sz="2800" dirty="0" smtClean="0"/>
              <a:t>Various open source client libraries available</a:t>
            </a:r>
            <a:endParaRPr lang="en-US" sz="2800" dirty="0"/>
          </a:p>
        </p:txBody>
      </p:sp>
      <p:pic>
        <p:nvPicPr>
          <p:cNvPr id="5" name="Picture 4"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pic>
        <p:nvPicPr>
          <p:cNvPr id="6" name="Picture 6" descr="AOL.com">
            <a:hlinkClick r:id="rId4"/>
          </p:cNvPr>
          <p:cNvPicPr>
            <a:picLocks noChangeAspect="1" noChangeArrowheads="1"/>
          </p:cNvPicPr>
          <p:nvPr/>
        </p:nvPicPr>
        <p:blipFill>
          <a:blip r:embed="rId5" cstate="print"/>
          <a:srcRect l="7921" t="23077" r="4950" b="15385"/>
          <a:stretch>
            <a:fillRect/>
          </a:stretch>
        </p:blipFill>
        <p:spPr bwMode="auto">
          <a:xfrm>
            <a:off x="1371600" y="2057400"/>
            <a:ext cx="1332739"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descr="Yahoo!"/>
          <p:cNvPicPr>
            <a:picLocks noChangeAspect="1" noChangeArrowheads="1"/>
          </p:cNvPicPr>
          <p:nvPr/>
        </p:nvPicPr>
        <p:blipFill>
          <a:blip r:embed="rId6" cstate="print"/>
          <a:srcRect/>
          <a:stretch>
            <a:fillRect/>
          </a:stretch>
        </p:blipFill>
        <p:spPr bwMode="auto">
          <a:xfrm>
            <a:off x="3124200" y="1143000"/>
            <a:ext cx="2555326"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17" descr="Plaxo">
            <a:hlinkClick r:id="rId7"/>
          </p:cNvPr>
          <p:cNvPicPr>
            <a:picLocks noChangeAspect="1" noChangeArrowheads="1"/>
          </p:cNvPicPr>
          <p:nvPr/>
        </p:nvPicPr>
        <p:blipFill>
          <a:blip r:embed="rId8" cstate="print"/>
          <a:srcRect/>
          <a:stretch>
            <a:fillRect/>
          </a:stretch>
        </p:blipFill>
        <p:spPr bwMode="auto">
          <a:xfrm>
            <a:off x="5181600" y="2057400"/>
            <a:ext cx="1384662" cy="484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2" descr="Google"/>
          <p:cNvPicPr>
            <a:picLocks noChangeAspect="1" noChangeArrowheads="1"/>
          </p:cNvPicPr>
          <p:nvPr/>
        </p:nvPicPr>
        <p:blipFill>
          <a:blip r:embed="rId9" cstate="print"/>
          <a:srcRect/>
          <a:stretch>
            <a:fillRect/>
          </a:stretch>
        </p:blipFill>
        <p:spPr bwMode="auto">
          <a:xfrm>
            <a:off x="533400" y="1143000"/>
            <a:ext cx="1219200" cy="4859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4" descr="myspace-logo.jpg"/>
          <p:cNvPicPr>
            <a:picLocks noChangeAspect="1" noChangeArrowheads="1"/>
          </p:cNvPicPr>
          <p:nvPr/>
        </p:nvPicPr>
        <p:blipFill>
          <a:blip r:embed="rId10" cstate="print"/>
          <a:srcRect/>
          <a:stretch>
            <a:fillRect/>
          </a:stretch>
        </p:blipFill>
        <p:spPr bwMode="auto">
          <a:xfrm>
            <a:off x="7538308" y="1295400"/>
            <a:ext cx="960437" cy="9604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28"/>
          <p:cNvPicPr>
            <a:picLocks noChangeAspect="1" noChangeArrowheads="1"/>
          </p:cNvPicPr>
          <p:nvPr/>
        </p:nvPicPr>
        <p:blipFill>
          <a:blip r:embed="rId11" cstate="print"/>
          <a:srcRect/>
          <a:stretch>
            <a:fillRect/>
          </a:stretch>
        </p:blipFill>
        <p:spPr bwMode="auto">
          <a:xfrm>
            <a:off x="584470" y="4800600"/>
            <a:ext cx="1455578" cy="685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841" name="Picture 1"/>
          <p:cNvPicPr>
            <a:picLocks noChangeAspect="1" noChangeArrowheads="1"/>
          </p:cNvPicPr>
          <p:nvPr/>
        </p:nvPicPr>
        <p:blipFill>
          <a:blip r:embed="rId12" cstate="print">
            <a:clrChange>
              <a:clrFrom>
                <a:srgbClr val="FF2600"/>
              </a:clrFrom>
              <a:clrTo>
                <a:srgbClr val="FF2600">
                  <a:alpha val="0"/>
                </a:srgbClr>
              </a:clrTo>
            </a:clrChange>
          </a:blip>
          <a:srcRect/>
          <a:stretch>
            <a:fillRect/>
          </a:stretch>
        </p:blipFill>
        <p:spPr bwMode="auto">
          <a:xfrm>
            <a:off x="2820249" y="4800600"/>
            <a:ext cx="2647950" cy="695325"/>
          </a:xfrm>
          <a:prstGeom prst="rect">
            <a:avLst/>
          </a:prstGeom>
          <a:noFill/>
          <a:ln w="9525">
            <a:noFill/>
            <a:miter lim="800000"/>
            <a:headEnd/>
            <a:tailEnd/>
          </a:ln>
          <a:effectLst/>
        </p:spPr>
      </p:pic>
      <p:grpSp>
        <p:nvGrpSpPr>
          <p:cNvPr id="14" name="Group 13"/>
          <p:cNvGrpSpPr/>
          <p:nvPr/>
        </p:nvGrpSpPr>
        <p:grpSpPr>
          <a:xfrm>
            <a:off x="6418188" y="4800600"/>
            <a:ext cx="2057400" cy="791307"/>
            <a:chOff x="5257799" y="3124200"/>
            <a:chExt cx="2057400" cy="791307"/>
          </a:xfrm>
        </p:grpSpPr>
        <p:sp>
          <p:nvSpPr>
            <p:cNvPr id="13" name="Rounded Rectangle 12"/>
            <p:cNvSpPr/>
            <p:nvPr/>
          </p:nvSpPr>
          <p:spPr bwMode="auto">
            <a:xfrm>
              <a:off x="5257799" y="3124200"/>
              <a:ext cx="2057400" cy="791307"/>
            </a:xfrm>
            <a:prstGeom prst="roundRect">
              <a:avLst/>
            </a:prstGeom>
            <a:solidFill>
              <a:schemeClr val="bg1"/>
            </a:solidFill>
            <a:ln>
              <a:solidFill>
                <a:schemeClr val="bg1"/>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35843" name="Picture 3" descr="Pownce: Send stuff to your friends"/>
            <p:cNvPicPr>
              <a:picLocks noChangeAspect="1" noChangeArrowheads="1"/>
            </p:cNvPicPr>
            <p:nvPr/>
          </p:nvPicPr>
          <p:blipFill>
            <a:blip r:embed="rId13" cstate="print"/>
            <a:srcRect/>
            <a:stretch>
              <a:fillRect/>
            </a:stretch>
          </p:blipFill>
          <p:spPr bwMode="auto">
            <a:xfrm>
              <a:off x="5410200" y="3200400"/>
              <a:ext cx="1752600" cy="614947"/>
            </a:xfrm>
            <a:prstGeom prst="rect">
              <a:avLst/>
            </a:prstGeom>
            <a:noFill/>
          </p:spPr>
        </p:pic>
      </p:grpSp>
      <p:pic>
        <p:nvPicPr>
          <p:cNvPr id="35847" name="Picture 7" descr="SmugMug">
            <a:hlinkClick r:id="rId14"/>
          </p:cNvPr>
          <p:cNvPicPr>
            <a:picLocks noChangeAspect="1" noChangeArrowheads="1"/>
          </p:cNvPicPr>
          <p:nvPr/>
        </p:nvPicPr>
        <p:blipFill>
          <a:blip r:embed="rId15"/>
          <a:srcRect/>
          <a:stretch>
            <a:fillRect/>
          </a:stretch>
        </p:blipFill>
        <p:spPr bwMode="auto">
          <a:xfrm>
            <a:off x="155575" y="-136525"/>
            <a:ext cx="1104900" cy="228600"/>
          </a:xfrm>
          <a:prstGeom prst="rect">
            <a:avLst/>
          </a:prstGeom>
          <a:noFill/>
        </p:spPr>
      </p:pic>
      <p:pic>
        <p:nvPicPr>
          <p:cNvPr id="35848" name="Picture 8"/>
          <p:cNvPicPr>
            <a:picLocks noChangeAspect="1" noChangeArrowheads="1"/>
          </p:cNvPicPr>
          <p:nvPr/>
        </p:nvPicPr>
        <p:blipFill>
          <a:blip r:embed="rId16" cstate="print"/>
          <a:srcRect/>
          <a:stretch>
            <a:fillRect/>
          </a:stretch>
        </p:blipFill>
        <p:spPr bwMode="auto">
          <a:xfrm>
            <a:off x="316345" y="3352800"/>
            <a:ext cx="2426855" cy="5888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849" name="Picture 9"/>
          <p:cNvPicPr>
            <a:picLocks noChangeAspect="1" noChangeArrowheads="1"/>
          </p:cNvPicPr>
          <p:nvPr/>
        </p:nvPicPr>
        <p:blipFill>
          <a:blip r:embed="rId17" cstate="print"/>
          <a:srcRect/>
          <a:stretch>
            <a:fillRect/>
          </a:stretch>
        </p:blipFill>
        <p:spPr bwMode="auto">
          <a:xfrm>
            <a:off x="5715000" y="3352800"/>
            <a:ext cx="2766476" cy="5852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850" name="Picture 10"/>
          <p:cNvPicPr>
            <a:picLocks noChangeAspect="1" noChangeArrowheads="1"/>
          </p:cNvPicPr>
          <p:nvPr/>
        </p:nvPicPr>
        <p:blipFill>
          <a:blip r:embed="rId18" cstate="print"/>
          <a:srcRect/>
          <a:stretch>
            <a:fillRect/>
          </a:stretch>
        </p:blipFill>
        <p:spPr bwMode="auto">
          <a:xfrm>
            <a:off x="3429001" y="3317110"/>
            <a:ext cx="1799143" cy="5943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0" fill="hold" nodeType="withEffect">
                                  <p:stCondLst>
                                    <p:cond delay="0"/>
                                  </p:stCondLst>
                                  <p:childTnLst>
                                    <p:set>
                                      <p:cBhvr>
                                        <p:cTn id="36" dur="1" fill="hold">
                                          <p:stCondLst>
                                            <p:cond delay="0"/>
                                          </p:stCondLst>
                                        </p:cTn>
                                        <p:tgtEl>
                                          <p:spTgt spid="35841"/>
                                        </p:tgtEl>
                                        <p:attrNameLst>
                                          <p:attrName>style.visibility</p:attrName>
                                        </p:attrNameLst>
                                      </p:cBhvr>
                                      <p:to>
                                        <p:strVal val="visible"/>
                                      </p:to>
                                    </p:set>
                                    <p:anim calcmode="lin" valueType="num">
                                      <p:cBhvr>
                                        <p:cTn id="37" dur="500" fill="hold"/>
                                        <p:tgtEl>
                                          <p:spTgt spid="35841"/>
                                        </p:tgtEl>
                                        <p:attrNameLst>
                                          <p:attrName>ppt_w</p:attrName>
                                        </p:attrNameLst>
                                      </p:cBhvr>
                                      <p:tavLst>
                                        <p:tav tm="0">
                                          <p:val>
                                            <p:fltVal val="0"/>
                                          </p:val>
                                        </p:tav>
                                        <p:tav tm="100000">
                                          <p:val>
                                            <p:strVal val="#ppt_w"/>
                                          </p:val>
                                        </p:tav>
                                      </p:tavLst>
                                    </p:anim>
                                    <p:anim calcmode="lin" valueType="num">
                                      <p:cBhvr>
                                        <p:cTn id="38" dur="500" fill="hold"/>
                                        <p:tgtEl>
                                          <p:spTgt spid="35841"/>
                                        </p:tgtEl>
                                        <p:attrNameLst>
                                          <p:attrName>ppt_h</p:attrName>
                                        </p:attrNameLst>
                                      </p:cBhvr>
                                      <p:tavLst>
                                        <p:tav tm="0">
                                          <p:val>
                                            <p:fltVal val="0"/>
                                          </p:val>
                                        </p:tav>
                                        <p:tav tm="100000">
                                          <p:val>
                                            <p:strVal val="#ppt_h"/>
                                          </p:val>
                                        </p:tav>
                                      </p:tavLst>
                                    </p:anim>
                                    <p:animEffect transition="in" filter="fade">
                                      <p:cBhvr>
                                        <p:cTn id="39" dur="500"/>
                                        <p:tgtEl>
                                          <p:spTgt spid="35841"/>
                                        </p:tgtEl>
                                      </p:cBhvr>
                                    </p:animEffect>
                                  </p:childTnLst>
                                </p:cTn>
                              </p:par>
                              <p:par>
                                <p:cTn id="40" presetID="53"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500" fill="hold"/>
                                        <p:tgtEl>
                                          <p:spTgt spid="14"/>
                                        </p:tgtEl>
                                        <p:attrNameLst>
                                          <p:attrName>ppt_w</p:attrName>
                                        </p:attrNameLst>
                                      </p:cBhvr>
                                      <p:tavLst>
                                        <p:tav tm="0">
                                          <p:val>
                                            <p:fltVal val="0"/>
                                          </p:val>
                                        </p:tav>
                                        <p:tav tm="100000">
                                          <p:val>
                                            <p:strVal val="#ppt_w"/>
                                          </p:val>
                                        </p:tav>
                                      </p:tavLst>
                                    </p:anim>
                                    <p:anim calcmode="lin" valueType="num">
                                      <p:cBhvr>
                                        <p:cTn id="43" dur="500" fill="hold"/>
                                        <p:tgtEl>
                                          <p:spTgt spid="14"/>
                                        </p:tgtEl>
                                        <p:attrNameLst>
                                          <p:attrName>ppt_h</p:attrName>
                                        </p:attrNameLst>
                                      </p:cBhvr>
                                      <p:tavLst>
                                        <p:tav tm="0">
                                          <p:val>
                                            <p:fltVal val="0"/>
                                          </p:val>
                                        </p:tav>
                                        <p:tav tm="100000">
                                          <p:val>
                                            <p:strVal val="#ppt_h"/>
                                          </p:val>
                                        </p:tav>
                                      </p:tavLst>
                                    </p:anim>
                                    <p:animEffect transition="in" filter="fade">
                                      <p:cBhvr>
                                        <p:cTn id="44" dur="500"/>
                                        <p:tgtEl>
                                          <p:spTgt spid="14"/>
                                        </p:tgtEl>
                                      </p:cBhvr>
                                    </p:animEffect>
                                  </p:childTnLst>
                                </p:cTn>
                              </p:par>
                              <p:par>
                                <p:cTn id="45" presetID="53" presetClass="entr" presetSubtype="0" fill="hold" nodeType="withEffect">
                                  <p:stCondLst>
                                    <p:cond delay="0"/>
                                  </p:stCondLst>
                                  <p:childTnLst>
                                    <p:set>
                                      <p:cBhvr>
                                        <p:cTn id="46" dur="1" fill="hold">
                                          <p:stCondLst>
                                            <p:cond delay="0"/>
                                          </p:stCondLst>
                                        </p:cTn>
                                        <p:tgtEl>
                                          <p:spTgt spid="35848"/>
                                        </p:tgtEl>
                                        <p:attrNameLst>
                                          <p:attrName>style.visibility</p:attrName>
                                        </p:attrNameLst>
                                      </p:cBhvr>
                                      <p:to>
                                        <p:strVal val="visible"/>
                                      </p:to>
                                    </p:set>
                                    <p:anim calcmode="lin" valueType="num">
                                      <p:cBhvr>
                                        <p:cTn id="47" dur="500" fill="hold"/>
                                        <p:tgtEl>
                                          <p:spTgt spid="35848"/>
                                        </p:tgtEl>
                                        <p:attrNameLst>
                                          <p:attrName>ppt_w</p:attrName>
                                        </p:attrNameLst>
                                      </p:cBhvr>
                                      <p:tavLst>
                                        <p:tav tm="0">
                                          <p:val>
                                            <p:fltVal val="0"/>
                                          </p:val>
                                        </p:tav>
                                        <p:tav tm="100000">
                                          <p:val>
                                            <p:strVal val="#ppt_w"/>
                                          </p:val>
                                        </p:tav>
                                      </p:tavLst>
                                    </p:anim>
                                    <p:anim calcmode="lin" valueType="num">
                                      <p:cBhvr>
                                        <p:cTn id="48" dur="500" fill="hold"/>
                                        <p:tgtEl>
                                          <p:spTgt spid="35848"/>
                                        </p:tgtEl>
                                        <p:attrNameLst>
                                          <p:attrName>ppt_h</p:attrName>
                                        </p:attrNameLst>
                                      </p:cBhvr>
                                      <p:tavLst>
                                        <p:tav tm="0">
                                          <p:val>
                                            <p:fltVal val="0"/>
                                          </p:val>
                                        </p:tav>
                                        <p:tav tm="100000">
                                          <p:val>
                                            <p:strVal val="#ppt_h"/>
                                          </p:val>
                                        </p:tav>
                                      </p:tavLst>
                                    </p:anim>
                                    <p:animEffect transition="in" filter="fade">
                                      <p:cBhvr>
                                        <p:cTn id="49" dur="500"/>
                                        <p:tgtEl>
                                          <p:spTgt spid="35848"/>
                                        </p:tgtEl>
                                      </p:cBhvr>
                                    </p:animEffect>
                                  </p:childTnLst>
                                </p:cTn>
                              </p:par>
                              <p:par>
                                <p:cTn id="50" presetID="53" presetClass="entr" presetSubtype="0" fill="hold" nodeType="withEffect">
                                  <p:stCondLst>
                                    <p:cond delay="0"/>
                                  </p:stCondLst>
                                  <p:childTnLst>
                                    <p:set>
                                      <p:cBhvr>
                                        <p:cTn id="51" dur="1" fill="hold">
                                          <p:stCondLst>
                                            <p:cond delay="0"/>
                                          </p:stCondLst>
                                        </p:cTn>
                                        <p:tgtEl>
                                          <p:spTgt spid="35849"/>
                                        </p:tgtEl>
                                        <p:attrNameLst>
                                          <p:attrName>style.visibility</p:attrName>
                                        </p:attrNameLst>
                                      </p:cBhvr>
                                      <p:to>
                                        <p:strVal val="visible"/>
                                      </p:to>
                                    </p:set>
                                    <p:anim calcmode="lin" valueType="num">
                                      <p:cBhvr>
                                        <p:cTn id="52" dur="500" fill="hold"/>
                                        <p:tgtEl>
                                          <p:spTgt spid="35849"/>
                                        </p:tgtEl>
                                        <p:attrNameLst>
                                          <p:attrName>ppt_w</p:attrName>
                                        </p:attrNameLst>
                                      </p:cBhvr>
                                      <p:tavLst>
                                        <p:tav tm="0">
                                          <p:val>
                                            <p:fltVal val="0"/>
                                          </p:val>
                                        </p:tav>
                                        <p:tav tm="100000">
                                          <p:val>
                                            <p:strVal val="#ppt_w"/>
                                          </p:val>
                                        </p:tav>
                                      </p:tavLst>
                                    </p:anim>
                                    <p:anim calcmode="lin" valueType="num">
                                      <p:cBhvr>
                                        <p:cTn id="53" dur="500" fill="hold"/>
                                        <p:tgtEl>
                                          <p:spTgt spid="35849"/>
                                        </p:tgtEl>
                                        <p:attrNameLst>
                                          <p:attrName>ppt_h</p:attrName>
                                        </p:attrNameLst>
                                      </p:cBhvr>
                                      <p:tavLst>
                                        <p:tav tm="0">
                                          <p:val>
                                            <p:fltVal val="0"/>
                                          </p:val>
                                        </p:tav>
                                        <p:tav tm="100000">
                                          <p:val>
                                            <p:strVal val="#ppt_h"/>
                                          </p:val>
                                        </p:tav>
                                      </p:tavLst>
                                    </p:anim>
                                    <p:animEffect transition="in" filter="fade">
                                      <p:cBhvr>
                                        <p:cTn id="54" dur="500"/>
                                        <p:tgtEl>
                                          <p:spTgt spid="35849"/>
                                        </p:tgtEl>
                                      </p:cBhvr>
                                    </p:animEffect>
                                  </p:childTnLst>
                                </p:cTn>
                              </p:par>
                              <p:par>
                                <p:cTn id="55" presetID="53" presetClass="entr" presetSubtype="0" fill="hold" nodeType="withEffect">
                                  <p:stCondLst>
                                    <p:cond delay="0"/>
                                  </p:stCondLst>
                                  <p:childTnLst>
                                    <p:set>
                                      <p:cBhvr>
                                        <p:cTn id="56" dur="1" fill="hold">
                                          <p:stCondLst>
                                            <p:cond delay="0"/>
                                          </p:stCondLst>
                                        </p:cTn>
                                        <p:tgtEl>
                                          <p:spTgt spid="35850"/>
                                        </p:tgtEl>
                                        <p:attrNameLst>
                                          <p:attrName>style.visibility</p:attrName>
                                        </p:attrNameLst>
                                      </p:cBhvr>
                                      <p:to>
                                        <p:strVal val="visible"/>
                                      </p:to>
                                    </p:set>
                                    <p:anim calcmode="lin" valueType="num">
                                      <p:cBhvr>
                                        <p:cTn id="57" dur="500" fill="hold"/>
                                        <p:tgtEl>
                                          <p:spTgt spid="35850"/>
                                        </p:tgtEl>
                                        <p:attrNameLst>
                                          <p:attrName>ppt_w</p:attrName>
                                        </p:attrNameLst>
                                      </p:cBhvr>
                                      <p:tavLst>
                                        <p:tav tm="0">
                                          <p:val>
                                            <p:fltVal val="0"/>
                                          </p:val>
                                        </p:tav>
                                        <p:tav tm="100000">
                                          <p:val>
                                            <p:strVal val="#ppt_w"/>
                                          </p:val>
                                        </p:tav>
                                      </p:tavLst>
                                    </p:anim>
                                    <p:anim calcmode="lin" valueType="num">
                                      <p:cBhvr>
                                        <p:cTn id="58" dur="500" fill="hold"/>
                                        <p:tgtEl>
                                          <p:spTgt spid="35850"/>
                                        </p:tgtEl>
                                        <p:attrNameLst>
                                          <p:attrName>ppt_h</p:attrName>
                                        </p:attrNameLst>
                                      </p:cBhvr>
                                      <p:tavLst>
                                        <p:tav tm="0">
                                          <p:val>
                                            <p:fltVal val="0"/>
                                          </p:val>
                                        </p:tav>
                                        <p:tav tm="100000">
                                          <p:val>
                                            <p:strVal val="#ppt_h"/>
                                          </p:val>
                                        </p:tav>
                                      </p:tavLst>
                                    </p:anim>
                                    <p:animEffect transition="in" filter="fade">
                                      <p:cBhvr>
                                        <p:cTn id="59" dur="500"/>
                                        <p:tgtEl>
                                          <p:spTgt spid="3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smtClean="0"/>
              <a:t>Summary - OAuth</a:t>
            </a:r>
            <a:endParaRPr lang="en-US" dirty="0"/>
          </a:p>
        </p:txBody>
      </p:sp>
      <p:sp>
        <p:nvSpPr>
          <p:cNvPr id="8" name="Text Placeholder 7"/>
          <p:cNvSpPr>
            <a:spLocks noGrp="1"/>
          </p:cNvSpPr>
          <p:nvPr>
            <p:ph type="body" sz="quarter" idx="10"/>
          </p:nvPr>
        </p:nvSpPr>
        <p:spPr>
          <a:xfrm>
            <a:off x="381000" y="1411553"/>
            <a:ext cx="8382000" cy="5217848"/>
          </a:xfrm>
        </p:spPr>
        <p:txBody>
          <a:bodyPr>
            <a:noAutofit/>
          </a:bodyPr>
          <a:lstStyle/>
          <a:p>
            <a:r>
              <a:rPr lang="en-US" dirty="0" smtClean="0"/>
              <a:t>Enables data portability through a standard authorization protocol</a:t>
            </a:r>
          </a:p>
          <a:p>
            <a:endParaRPr lang="en-US" dirty="0" smtClean="0"/>
          </a:p>
          <a:p>
            <a:r>
              <a:rPr lang="en-US" dirty="0" smtClean="0"/>
              <a:t>Gaining rapid adoption among service providers (big and small)</a:t>
            </a:r>
          </a:p>
          <a:p>
            <a:endParaRPr lang="en-US" dirty="0" smtClean="0"/>
          </a:p>
          <a:p>
            <a:r>
              <a:rPr lang="en-US" dirty="0" smtClean="0"/>
              <a:t>Challenges</a:t>
            </a:r>
          </a:p>
          <a:p>
            <a:pPr lvl="1"/>
            <a:r>
              <a:rPr lang="en-US" dirty="0" smtClean="0"/>
              <a:t>Protocol scalability</a:t>
            </a:r>
          </a:p>
          <a:p>
            <a:pPr lvl="1"/>
            <a:r>
              <a:rPr lang="en-US" dirty="0" smtClean="0"/>
              <a:t>IPR / governance ambiguity</a:t>
            </a:r>
          </a:p>
        </p:txBody>
      </p:sp>
      <p:pic>
        <p:nvPicPr>
          <p:cNvPr id="4" name="Picture 3" descr="oauth_logo_final.eps"/>
          <p:cNvPicPr>
            <a:picLocks noChangeAspect="1"/>
          </p:cNvPicPr>
          <p:nvPr/>
        </p:nvPicPr>
        <p:blipFill>
          <a:blip r:embed="rId3" cstate="print"/>
          <a:stretch>
            <a:fillRect/>
          </a:stretch>
        </p:blipFill>
        <p:spPr>
          <a:xfrm>
            <a:off x="8153400" y="76203"/>
            <a:ext cx="867240" cy="86607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What is Live ID?</a:t>
            </a:r>
            <a:endParaRPr lang="en-US" dirty="0"/>
          </a:p>
        </p:txBody>
      </p:sp>
      <p:sp>
        <p:nvSpPr>
          <p:cNvPr id="6" name="Subtitle 4"/>
          <p:cNvSpPr>
            <a:spLocks noGrp="1"/>
          </p:cNvSpPr>
          <p:nvPr>
            <p:ph type="subTitle" idx="1"/>
          </p:nvPr>
        </p:nvSpPr>
        <p:spPr>
          <a:xfrm>
            <a:off x="457201" y="3505200"/>
            <a:ext cx="8305800" cy="2209800"/>
          </a:xfrm>
        </p:spPr>
        <p:txBody>
          <a:bodyPr/>
          <a:lstStyle/>
          <a:p>
            <a:pPr algn="ctr"/>
            <a:r>
              <a:rPr lang="en-US" dirty="0" smtClean="0"/>
              <a:t>In their own words ( </a:t>
            </a:r>
            <a:r>
              <a:rPr lang="en-US" dirty="0" smtClean="0">
                <a:hlinkClick r:id="rId3"/>
              </a:rPr>
              <a:t>http://dev.live.com/liveid/</a:t>
            </a:r>
            <a:r>
              <a:rPr lang="en-US" dirty="0" smtClean="0"/>
              <a:t> )</a:t>
            </a:r>
            <a:br>
              <a:rPr lang="en-US" dirty="0" smtClean="0"/>
            </a:br>
            <a:endParaRPr lang="en-US" dirty="0" smtClean="0"/>
          </a:p>
          <a:p>
            <a:pPr algn="ctr"/>
            <a:r>
              <a:rPr lang="en-US" dirty="0" smtClean="0"/>
              <a:t>“Windows Live ID is the </a:t>
            </a:r>
            <a:br>
              <a:rPr lang="en-US" dirty="0" smtClean="0"/>
            </a:br>
            <a:r>
              <a:rPr lang="en-US" dirty="0" smtClean="0"/>
              <a:t>identity and authentication system </a:t>
            </a:r>
            <a:br>
              <a:rPr lang="en-US" dirty="0" smtClean="0"/>
            </a:br>
            <a:r>
              <a:rPr lang="en-US" dirty="0" smtClean="0"/>
              <a:t>for Microsoft services and its partners”</a:t>
            </a:r>
            <a:endParaRPr lang="en-US" dirty="0"/>
          </a:p>
        </p:txBody>
      </p:sp>
      <p:pic>
        <p:nvPicPr>
          <p:cNvPr id="7" name="Picture 2" descr="\\tkzaw-pro-17\mydocs4\jthelin\My Documents\My Pictures\live-id-logo.jpg"/>
          <p:cNvPicPr>
            <a:picLocks noChangeAspect="1" noChangeArrowheads="1"/>
          </p:cNvPicPr>
          <p:nvPr/>
        </p:nvPicPr>
        <p:blipFill>
          <a:blip r:embed="rId4"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is Windows Live ID?</a:t>
            </a:r>
            <a:endParaRPr lang="en-US" dirty="0"/>
          </a:p>
        </p:txBody>
      </p:sp>
      <p:pic>
        <p:nvPicPr>
          <p:cNvPr id="237570" name="Picture 2"/>
          <p:cNvPicPr>
            <a:picLocks noGrp="1" noChangeAspect="1" noChangeArrowheads="1"/>
          </p:cNvPicPr>
          <p:nvPr>
            <p:ph idx="1"/>
          </p:nvPr>
        </p:nvPicPr>
        <p:blipFill>
          <a:blip r:embed="rId2" cstate="print"/>
          <a:srcRect/>
          <a:stretch>
            <a:fillRect/>
          </a:stretch>
        </p:blipFill>
        <p:spPr bwMode="auto">
          <a:xfrm>
            <a:off x="1521264" y="2057400"/>
            <a:ext cx="4955736" cy="2211388"/>
          </a:xfrm>
          <a:prstGeom prst="rect">
            <a:avLst/>
          </a:prstGeom>
          <a:noFill/>
          <a:ln w="9525">
            <a:noFill/>
            <a:miter lim="800000"/>
            <a:headEnd/>
            <a:tailEnd/>
          </a:ln>
          <a:effectLst/>
        </p:spPr>
      </p:pic>
      <p:pic>
        <p:nvPicPr>
          <p:cNvPr id="237571" name="Picture 3" descr="\\tkzaw-pro-17\mydocs4\jthelin\My Documents\WORK\products\Live ID\overview\TheEnd.bmp"/>
          <p:cNvPicPr>
            <a:picLocks noChangeAspect="1" noChangeArrowheads="1"/>
          </p:cNvPicPr>
          <p:nvPr/>
        </p:nvPicPr>
        <p:blipFill>
          <a:blip r:embed="rId3" cstate="print"/>
          <a:srcRect/>
          <a:stretch>
            <a:fillRect/>
          </a:stretch>
        </p:blipFill>
        <p:spPr bwMode="auto">
          <a:xfrm rot="19207416">
            <a:off x="4851231" y="3918352"/>
            <a:ext cx="2819400" cy="942975"/>
          </a:xfrm>
          <a:prstGeom prst="rect">
            <a:avLst/>
          </a:prstGeom>
          <a:noFill/>
        </p:spPr>
      </p:pic>
      <p:sp>
        <p:nvSpPr>
          <p:cNvPr id="8" name="Rectangle 7"/>
          <p:cNvSpPr/>
          <p:nvPr/>
        </p:nvSpPr>
        <p:spPr bwMode="auto">
          <a:xfrm rot="20307194">
            <a:off x="4375481" y="4266906"/>
            <a:ext cx="3969756" cy="113492"/>
          </a:xfrm>
          <a:prstGeom prst="rect">
            <a:avLst/>
          </a:prstGeom>
          <a:solidFill>
            <a:srgbClr val="FF0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400" dirty="0" smtClean="0">
              <a:solidFill>
                <a:srgbClr val="FFFFFF"/>
              </a:solidFill>
              <a:effectLst>
                <a:outerShdw blurRad="38100" dist="38100" dir="2700000" algn="tl">
                  <a:srgbClr val="000000">
                    <a:alpha val="43137"/>
                  </a:srgbClr>
                </a:outerShdw>
              </a:effectLst>
            </a:endParaRPr>
          </a:p>
        </p:txBody>
      </p:sp>
      <p:sp>
        <p:nvSpPr>
          <p:cNvPr id="10" name="Rectangle 9"/>
          <p:cNvSpPr/>
          <p:nvPr/>
        </p:nvSpPr>
        <p:spPr bwMode="auto">
          <a:xfrm rot="18047551">
            <a:off x="4261589" y="4381142"/>
            <a:ext cx="3969756" cy="113492"/>
          </a:xfrm>
          <a:prstGeom prst="rect">
            <a:avLst/>
          </a:prstGeom>
          <a:solidFill>
            <a:srgbClr val="FF0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400" dirty="0" smtClean="0">
              <a:solidFill>
                <a:srgbClr val="FFFFFF"/>
              </a:solidFill>
              <a:effectLst>
                <a:outerShdw blurRad="38100" dist="38100" dir="2700000" algn="tl">
                  <a:srgbClr val="000000">
                    <a:alpha val="43137"/>
                  </a:srgbClr>
                </a:outerShdw>
              </a:effectLst>
            </a:endParaRPr>
          </a:p>
        </p:txBody>
      </p:sp>
      <p:pic>
        <p:nvPicPr>
          <p:cNvPr id="9" name="Picture 2" descr="\\tkzaw-pro-17\mydocs4\jthelin\My Documents\My Pictures\live-id-logo.jpg"/>
          <p:cNvPicPr>
            <a:picLocks noChangeAspect="1" noChangeArrowheads="1"/>
          </p:cNvPicPr>
          <p:nvPr/>
        </p:nvPicPr>
        <p:blipFill>
          <a:blip r:embed="rId4"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What is Windows Live </a:t>
            </a:r>
            <a:r>
              <a:rPr smtClean="0"/>
              <a:t>ID?</a:t>
            </a:r>
            <a:endParaRPr lang="en-US" dirty="0"/>
          </a:p>
        </p:txBody>
      </p:sp>
      <p:sp>
        <p:nvSpPr>
          <p:cNvPr id="3" name="Text Placeholder 2"/>
          <p:cNvSpPr>
            <a:spLocks noGrp="1"/>
          </p:cNvSpPr>
          <p:nvPr>
            <p:ph type="body" sz="quarter" idx="10"/>
          </p:nvPr>
        </p:nvSpPr>
        <p:spPr>
          <a:xfrm>
            <a:off x="0" y="1524000"/>
            <a:ext cx="8763000" cy="5029200"/>
          </a:xfrm>
        </p:spPr>
        <p:txBody>
          <a:bodyPr>
            <a:normAutofit/>
          </a:bodyPr>
          <a:lstStyle/>
          <a:p>
            <a:pPr lvl="1"/>
            <a:r>
              <a:rPr lang="en-US" sz="3200" dirty="0" smtClean="0"/>
              <a:t>~ 500 million Active Accounts @ Jun 2008</a:t>
            </a:r>
          </a:p>
          <a:p>
            <a:pPr lvl="1"/>
            <a:endParaRPr lang="en-US" sz="1200" dirty="0" smtClean="0"/>
          </a:p>
          <a:p>
            <a:pPr lvl="1"/>
            <a:r>
              <a:rPr lang="en-US" sz="3200" dirty="0" smtClean="0"/>
              <a:t>200 countries, 35 languages</a:t>
            </a:r>
          </a:p>
          <a:p>
            <a:pPr lvl="1"/>
            <a:endParaRPr lang="en-US" sz="1400" dirty="0" smtClean="0"/>
          </a:p>
          <a:p>
            <a:pPr lvl="1"/>
            <a:r>
              <a:rPr lang="en-US" sz="3200" dirty="0" smtClean="0"/>
              <a:t>~ 1.2 billion Authentications per day</a:t>
            </a:r>
          </a:p>
          <a:p>
            <a:pPr lvl="1"/>
            <a:endParaRPr lang="en-US" sz="1400" dirty="0" smtClean="0"/>
          </a:p>
          <a:p>
            <a:pPr lvl="1"/>
            <a:r>
              <a:rPr lang="en-US" sz="3200" dirty="0" smtClean="0"/>
              <a:t>Peak traffic is generally 2X normal load</a:t>
            </a:r>
          </a:p>
          <a:p>
            <a:pPr lvl="1"/>
            <a:endParaRPr lang="en-US" sz="1400" dirty="0" smtClean="0"/>
          </a:p>
          <a:p>
            <a:pPr lvl="1"/>
            <a:r>
              <a:rPr lang="en-US" sz="3200" dirty="0" smtClean="0"/>
              <a:t>&gt;~ 99.99% service availability</a:t>
            </a:r>
          </a:p>
          <a:p>
            <a:pPr lvl="1"/>
            <a:endParaRPr lang="en-US" sz="1400" dirty="0" smtClean="0"/>
          </a:p>
          <a:p>
            <a:pPr lvl="1"/>
            <a:r>
              <a:rPr lang="en-US" sz="3200" dirty="0" smtClean="0"/>
              <a:t>&gt; 1 million new accounts created per day </a:t>
            </a:r>
            <a:br>
              <a:rPr lang="en-US" sz="3200" dirty="0" smtClean="0"/>
            </a:br>
            <a:r>
              <a:rPr lang="en-US" sz="3200" dirty="0" smtClean="0"/>
              <a:t>– a huge number are by spammers </a:t>
            </a:r>
            <a:r>
              <a:rPr lang="en-US" sz="3200" dirty="0" smtClean="0">
                <a:sym typeface="Wingdings" pitchFamily="2" charset="2"/>
              </a:rPr>
              <a:t></a:t>
            </a:r>
            <a:endParaRPr lang="en-US" sz="3200" dirty="0" smtClean="0"/>
          </a:p>
        </p:txBody>
      </p:sp>
      <p:sp>
        <p:nvSpPr>
          <p:cNvPr id="4" name="Rectangle 3"/>
          <p:cNvSpPr/>
          <p:nvPr/>
        </p:nvSpPr>
        <p:spPr>
          <a:xfrm>
            <a:off x="304800" y="762000"/>
            <a:ext cx="8534400" cy="523220"/>
          </a:xfrm>
          <a:prstGeom prst="rect">
            <a:avLst/>
          </a:prstGeom>
        </p:spPr>
        <p:txBody>
          <a:bodyPr wrap="square">
            <a:spAutoFit/>
          </a:bodyPr>
          <a:lstStyle/>
          <a:p>
            <a:r>
              <a:rPr lang="en-US" sz="2800" i="1" dirty="0" smtClean="0"/>
              <a:t>… the biggest authentication provider on the planet!</a:t>
            </a:r>
          </a:p>
        </p:txBody>
      </p:sp>
      <p:pic>
        <p:nvPicPr>
          <p:cNvPr id="7"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is Windows </a:t>
            </a:r>
            <a:r>
              <a:rPr/>
              <a:t>Live </a:t>
            </a:r>
            <a:r>
              <a:rPr smtClean="0"/>
              <a:t>ID? </a:t>
            </a:r>
            <a:r>
              <a:rPr sz="3200" smtClean="0"/>
              <a:t>(cont)</a:t>
            </a:r>
            <a:endParaRPr lang="en-US" sz="3200" dirty="0"/>
          </a:p>
        </p:txBody>
      </p:sp>
      <p:sp>
        <p:nvSpPr>
          <p:cNvPr id="3" name="Text Placeholder 2"/>
          <p:cNvSpPr>
            <a:spLocks noGrp="1"/>
          </p:cNvSpPr>
          <p:nvPr>
            <p:ph type="body" sz="quarter" idx="10"/>
          </p:nvPr>
        </p:nvSpPr>
        <p:spPr>
          <a:xfrm>
            <a:off x="228600" y="1295400"/>
            <a:ext cx="8382000" cy="5257800"/>
          </a:xfrm>
        </p:spPr>
        <p:txBody>
          <a:bodyPr>
            <a:normAutofit/>
          </a:bodyPr>
          <a:lstStyle/>
          <a:p>
            <a:r>
              <a:rPr lang="en-US" sz="2800" dirty="0" smtClean="0"/>
              <a:t>The authentication provider for all Microsoft’s web properties</a:t>
            </a:r>
          </a:p>
          <a:p>
            <a:pPr lvl="1"/>
            <a:endParaRPr lang="en-US" sz="1100" dirty="0" smtClean="0"/>
          </a:p>
          <a:p>
            <a:r>
              <a:rPr lang="en-US" sz="2800" dirty="0" smtClean="0"/>
              <a:t>But also an identity platform:</a:t>
            </a:r>
          </a:p>
          <a:p>
            <a:pPr lvl="1"/>
            <a:r>
              <a:rPr lang="en-US" sz="2400" dirty="0" smtClean="0"/>
              <a:t>An authentication platform</a:t>
            </a:r>
          </a:p>
          <a:p>
            <a:pPr lvl="1"/>
            <a:r>
              <a:rPr lang="en-US" sz="2400" dirty="0" smtClean="0"/>
              <a:t>A delegation platform</a:t>
            </a:r>
          </a:p>
          <a:p>
            <a:pPr lvl="1"/>
            <a:r>
              <a:rPr lang="en-US" sz="2400" dirty="0" smtClean="0"/>
              <a:t>A federation platform</a:t>
            </a:r>
          </a:p>
          <a:p>
            <a:pPr lvl="1"/>
            <a:r>
              <a:rPr lang="en-US" sz="2400" dirty="0" smtClean="0"/>
              <a:t>A user and service provisioning platform</a:t>
            </a:r>
          </a:p>
          <a:p>
            <a:pPr lvl="1"/>
            <a:r>
              <a:rPr lang="en-US" sz="2400" dirty="0" smtClean="0"/>
              <a:t>The first line of anti-spam defense</a:t>
            </a:r>
          </a:p>
          <a:p>
            <a:pPr lvl="1"/>
            <a:endParaRPr lang="en-US" sz="2400" dirty="0" smtClean="0"/>
          </a:p>
          <a:p>
            <a:r>
              <a:rPr lang="en-US" sz="2800" dirty="0" smtClean="0"/>
              <a:t>All delivered as Software + Services</a:t>
            </a:r>
          </a:p>
          <a:p>
            <a:pPr lvl="1"/>
            <a:r>
              <a:rPr lang="en-US" sz="2400" dirty="0" smtClean="0"/>
              <a:t>Cloud hosted + client SDK libraries</a:t>
            </a:r>
          </a:p>
          <a:p>
            <a:pPr lvl="1"/>
            <a:r>
              <a:rPr lang="en-US" sz="2400" dirty="0" smtClean="0"/>
              <a:t>Two major Live ID feature releases per year</a:t>
            </a:r>
          </a:p>
        </p:txBody>
      </p:sp>
      <p:pic>
        <p:nvPicPr>
          <p:cNvPr id="6"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81000" y="230188"/>
            <a:ext cx="8382000" cy="664797"/>
          </a:xfrm>
        </p:spPr>
        <p:txBody>
          <a:bodyPr/>
          <a:lstStyle/>
          <a:p>
            <a:r>
              <a:rPr smtClean="0"/>
              <a:t>Live ID - Types </a:t>
            </a:r>
            <a:r>
              <a:rPr/>
              <a:t>of Identities</a:t>
            </a:r>
          </a:p>
        </p:txBody>
      </p:sp>
      <p:graphicFrame>
        <p:nvGraphicFramePr>
          <p:cNvPr id="10" name="Diagram 9"/>
          <p:cNvGraphicFramePr/>
          <p:nvPr/>
        </p:nvGraphicFramePr>
        <p:xfrm>
          <a:off x="381000" y="1382750"/>
          <a:ext cx="8279780" cy="45794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p:cNvSpPr txBox="1">
            <a:spLocks/>
          </p:cNvSpPr>
          <p:nvPr/>
        </p:nvSpPr>
        <p:spPr>
          <a:xfrm>
            <a:off x="304800" y="228600"/>
            <a:ext cx="8382000" cy="1163395"/>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pic>
        <p:nvPicPr>
          <p:cNvPr id="11" name="Picture 2" descr="\\tkzaw-pro-17\mydocs4\jthelin\My Documents\My Pictures\live-id-logo.jpg"/>
          <p:cNvPicPr>
            <a:picLocks noChangeAspect="1" noChangeArrowheads="1"/>
          </p:cNvPicPr>
          <p:nvPr/>
        </p:nvPicPr>
        <p:blipFill>
          <a:blip r:embed="rId8"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76200"/>
            <a:ext cx="8382000" cy="665162"/>
          </a:xfrm>
        </p:spPr>
        <p:txBody>
          <a:bodyPr/>
          <a:lstStyle/>
          <a:p>
            <a:r>
              <a:rPr smtClean="0"/>
              <a:t>Live ID - High Level Architecture</a:t>
            </a:r>
            <a:endParaRPr lang="en-US" dirty="0"/>
          </a:p>
        </p:txBody>
      </p:sp>
      <p:sp>
        <p:nvSpPr>
          <p:cNvPr id="6" name="Rounded Rectangle 5"/>
          <p:cNvSpPr/>
          <p:nvPr/>
        </p:nvSpPr>
        <p:spPr bwMode="auto">
          <a:xfrm>
            <a:off x="228600" y="838200"/>
            <a:ext cx="2438400" cy="3429000"/>
          </a:xfrm>
          <a:prstGeom prst="roundRect">
            <a:avLst>
              <a:gd name="adj" fmla="val 4472"/>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7" name="Rounded Rectangle 6"/>
          <p:cNvSpPr/>
          <p:nvPr/>
        </p:nvSpPr>
        <p:spPr bwMode="auto">
          <a:xfrm>
            <a:off x="228600" y="4343400"/>
            <a:ext cx="2438400" cy="2414239"/>
          </a:xfrm>
          <a:prstGeom prst="roundRect">
            <a:avLst>
              <a:gd name="adj" fmla="val 2947"/>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8" name="Rounded Rectangle 7"/>
          <p:cNvSpPr/>
          <p:nvPr/>
        </p:nvSpPr>
        <p:spPr bwMode="auto">
          <a:xfrm>
            <a:off x="266700" y="4343400"/>
            <a:ext cx="2286000" cy="381000"/>
          </a:xfrm>
          <a:prstGeom prst="roundRect">
            <a:avLst/>
          </a:prstGeom>
          <a:noFill/>
          <a:ln>
            <a:noFill/>
            <a:headEnd type="none" w="med" len="med"/>
            <a:tailEnd type="none" w="med" len="med"/>
          </a:ln>
          <a:scene3d>
            <a:camera prst="orthographicFront" fov="0">
              <a:rot lat="0" lon="0" rev="0"/>
            </a:camera>
            <a:lightRig rig="glow" dir="t">
              <a:rot lat="0" lon="0" rev="6360000"/>
            </a:lightRig>
          </a:scene3d>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r>
              <a:rPr lang="en-US" sz="20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Services</a:t>
            </a:r>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9" name="Rounded Rectangle 8"/>
          <p:cNvSpPr/>
          <p:nvPr/>
        </p:nvSpPr>
        <p:spPr bwMode="auto">
          <a:xfrm>
            <a:off x="266700" y="838200"/>
            <a:ext cx="2286000" cy="381000"/>
          </a:xfrm>
          <a:prstGeom prst="roundRect">
            <a:avLst/>
          </a:prstGeom>
          <a:noFill/>
          <a:ln>
            <a:noFill/>
            <a:headEnd type="none" w="med" len="med"/>
            <a:tailEnd type="none" w="med" len="med"/>
          </a:ln>
          <a:scene3d>
            <a:camera prst="orthographicFront" fov="0">
              <a:rot lat="0" lon="0" rev="0"/>
            </a:camera>
            <a:lightRig rig="glow" dir="t">
              <a:rot lat="0" lon="0" rev="6360000"/>
            </a:lightRig>
          </a:scene3d>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r>
              <a:rPr lang="en-US" sz="20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Consumers</a:t>
            </a:r>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0" name="Rounded Rectangle 9"/>
          <p:cNvSpPr/>
          <p:nvPr/>
        </p:nvSpPr>
        <p:spPr bwMode="auto">
          <a:xfrm>
            <a:off x="304800" y="1219200"/>
            <a:ext cx="1905000" cy="8382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Browsers</a:t>
            </a:r>
          </a:p>
          <a:p>
            <a:pPr defTabSz="914099"/>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Internet Explorer, Firefox, Safari</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3" name="Rounded Rectangle 12"/>
          <p:cNvSpPr/>
          <p:nvPr/>
        </p:nvSpPr>
        <p:spPr bwMode="auto">
          <a:xfrm>
            <a:off x="304800" y="2133600"/>
            <a:ext cx="1905000" cy="1145865"/>
          </a:xfrm>
          <a:prstGeom prst="roundRect">
            <a:avLst>
              <a:gd name="adj" fmla="val 8882"/>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Applications</a:t>
            </a:r>
          </a:p>
          <a:p>
            <a:pPr defTabSz="914099"/>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Messenger, Office, Outlook Express, </a:t>
            </a:r>
            <a:b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br>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3</a:t>
            </a:r>
            <a:r>
              <a:rPr lang="en-US" sz="1400" baseline="300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rd</a:t>
            </a:r>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 Party APPS</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4" name="Rounded Rectangle 13"/>
          <p:cNvSpPr/>
          <p:nvPr/>
        </p:nvSpPr>
        <p:spPr bwMode="auto">
          <a:xfrm>
            <a:off x="304800" y="3352800"/>
            <a:ext cx="1905000" cy="838200"/>
          </a:xfrm>
          <a:prstGeom prst="roundRect">
            <a:avLst>
              <a:gd name="adj" fmla="val 9572"/>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Devices</a:t>
            </a:r>
          </a:p>
          <a:p>
            <a:pPr defTabSz="914099"/>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Xbox, MSN TV, phones, pagers</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6" name="Rounded Rectangle 15"/>
          <p:cNvSpPr/>
          <p:nvPr/>
        </p:nvSpPr>
        <p:spPr bwMode="auto">
          <a:xfrm>
            <a:off x="304800" y="4724400"/>
            <a:ext cx="1905000" cy="1066800"/>
          </a:xfrm>
          <a:prstGeom prst="roundRect">
            <a:avLst>
              <a:gd name="adj" fmla="val 6272"/>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Web Services</a:t>
            </a:r>
          </a:p>
          <a:p>
            <a:pPr defTabSz="914099"/>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mail.live.com, messenger.live.com</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7" name="Rounded Rectangle 16"/>
          <p:cNvSpPr/>
          <p:nvPr/>
        </p:nvSpPr>
        <p:spPr bwMode="auto">
          <a:xfrm>
            <a:off x="304800" y="5867400"/>
            <a:ext cx="1905000" cy="838200"/>
          </a:xfrm>
          <a:prstGeom prst="roundRect">
            <a:avLst>
              <a:gd name="adj" fmla="val 11346"/>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Identity Owners</a:t>
            </a:r>
          </a:p>
          <a:p>
            <a:pPr defTabSz="914099"/>
            <a:r>
              <a:rPr lang="en-US" sz="14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Personal Domains, ISPs, businesses…</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9" name="Rounded Rectangle 18"/>
          <p:cNvSpPr/>
          <p:nvPr/>
        </p:nvSpPr>
        <p:spPr bwMode="auto">
          <a:xfrm>
            <a:off x="5451764" y="5029200"/>
            <a:ext cx="3463636" cy="1524000"/>
          </a:xfrm>
          <a:prstGeom prst="roundRect">
            <a:avLst>
              <a:gd name="adj" fmla="val 6423"/>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Federated Identity Authorities</a:t>
            </a:r>
          </a:p>
          <a:p>
            <a:pPr defTabSz="914099"/>
            <a:endParaRPr lang="en-US"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endParaRPr>
          </a:p>
          <a:p>
            <a:pPr defTabSz="914099"/>
            <a:r>
              <a:rPr lang="en-US" sz="16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ADFS Servers, Security Token Services speaking WS-Trust</a:t>
            </a:r>
            <a:endParaRPr lang="en-US" sz="1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1" name="Rounded Rectangle 20"/>
          <p:cNvSpPr/>
          <p:nvPr/>
        </p:nvSpPr>
        <p:spPr bwMode="auto">
          <a:xfrm>
            <a:off x="5562600" y="838200"/>
            <a:ext cx="3352800" cy="3429000"/>
          </a:xfrm>
          <a:prstGeom prst="roundRect">
            <a:avLst>
              <a:gd name="adj" fmla="val 6911"/>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2" name="Rounded Rectangle 21"/>
          <p:cNvSpPr/>
          <p:nvPr/>
        </p:nvSpPr>
        <p:spPr bwMode="auto">
          <a:xfrm>
            <a:off x="5715000" y="838200"/>
            <a:ext cx="3048000" cy="381000"/>
          </a:xfrm>
          <a:prstGeom prst="roundRect">
            <a:avLst/>
          </a:prstGeom>
          <a:noFill/>
          <a:ln>
            <a:no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91436" tIns="45718" rIns="91436" bIns="45718" rtlCol="0" anchor="ctr"/>
          <a:lstStyle/>
          <a:p>
            <a:pPr algn="ctr" defTabSz="914099"/>
            <a:r>
              <a:rPr lang="en-US" sz="20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Windows Live ID Service</a:t>
            </a:r>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3" name="Rounded Rectangle 22"/>
          <p:cNvSpPr/>
          <p:nvPr/>
        </p:nvSpPr>
        <p:spPr bwMode="auto">
          <a:xfrm>
            <a:off x="5943600" y="121920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Registration</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7" name="Rounded Rectangle 26"/>
          <p:cNvSpPr/>
          <p:nvPr/>
        </p:nvSpPr>
        <p:spPr bwMode="auto">
          <a:xfrm>
            <a:off x="5943600" y="172212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Authentication</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8" name="Rounded Rectangle 27"/>
          <p:cNvSpPr/>
          <p:nvPr/>
        </p:nvSpPr>
        <p:spPr bwMode="auto">
          <a:xfrm>
            <a:off x="5943600" y="222504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Authorization</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9" name="Rounded Rectangle 28"/>
          <p:cNvSpPr/>
          <p:nvPr/>
        </p:nvSpPr>
        <p:spPr bwMode="auto">
          <a:xfrm>
            <a:off x="5943600" y="272796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Account Services</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30" name="Rounded Rectangle 29"/>
          <p:cNvSpPr/>
          <p:nvPr/>
        </p:nvSpPr>
        <p:spPr bwMode="auto">
          <a:xfrm>
            <a:off x="5943600" y="323088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Parental Controls</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31" name="Rounded Rectangle 30"/>
          <p:cNvSpPr/>
          <p:nvPr/>
        </p:nvSpPr>
        <p:spPr bwMode="auto">
          <a:xfrm>
            <a:off x="5943600" y="3733800"/>
            <a:ext cx="2590800" cy="381000"/>
          </a:xfrm>
          <a:prstGeom prst="round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Trust Provisioning</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0" name="Rounded Rectangle 19"/>
          <p:cNvSpPr/>
          <p:nvPr/>
        </p:nvSpPr>
        <p:spPr bwMode="auto">
          <a:xfrm rot="5400000">
            <a:off x="3771900" y="2247900"/>
            <a:ext cx="3200400" cy="685800"/>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r>
              <a:rPr lang="en-US" sz="16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Windows Live ID interface </a:t>
            </a:r>
          </a:p>
          <a:p>
            <a:pPr algn="ctr" defTabSz="914099"/>
            <a:r>
              <a:rPr lang="en-US" sz="16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(HTTP, SOAP, TCP/IP)</a:t>
            </a:r>
            <a:endParaRPr lang="en-US" sz="16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cxnSp>
        <p:nvCxnSpPr>
          <p:cNvPr id="33" name="Elbow Connector 32"/>
          <p:cNvCxnSpPr>
            <a:stCxn id="10" idx="3"/>
            <a:endCxn id="20" idx="2"/>
          </p:cNvCxnSpPr>
          <p:nvPr/>
        </p:nvCxnSpPr>
        <p:spPr>
          <a:xfrm>
            <a:off x="2209800" y="1638300"/>
            <a:ext cx="2819400" cy="952500"/>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17" idx="3"/>
            <a:endCxn id="20" idx="2"/>
          </p:cNvCxnSpPr>
          <p:nvPr/>
        </p:nvCxnSpPr>
        <p:spPr>
          <a:xfrm flipV="1">
            <a:off x="2209800" y="2590800"/>
            <a:ext cx="2819400" cy="3695700"/>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a:stCxn id="16" idx="3"/>
            <a:endCxn id="20" idx="2"/>
          </p:cNvCxnSpPr>
          <p:nvPr/>
        </p:nvCxnSpPr>
        <p:spPr>
          <a:xfrm flipV="1">
            <a:off x="2209800" y="2590800"/>
            <a:ext cx="2819400" cy="2667000"/>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14" idx="3"/>
            <a:endCxn id="20" idx="2"/>
          </p:cNvCxnSpPr>
          <p:nvPr/>
        </p:nvCxnSpPr>
        <p:spPr>
          <a:xfrm flipV="1">
            <a:off x="2209800" y="2590800"/>
            <a:ext cx="2819400" cy="1181100"/>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5400000">
            <a:off x="6933406" y="46474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13" idx="3"/>
            <a:endCxn id="20" idx="2"/>
          </p:cNvCxnSpPr>
          <p:nvPr/>
        </p:nvCxnSpPr>
        <p:spPr>
          <a:xfrm flipV="1">
            <a:off x="2209800" y="2590800"/>
            <a:ext cx="2819400" cy="115733"/>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bwMode="auto">
          <a:xfrm rot="5400000">
            <a:off x="1947747" y="2362200"/>
            <a:ext cx="1143000" cy="685800"/>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r>
              <a:rPr lang="en-US" sz="1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Windows Live ID Client SDK</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8" name="Rounded Rectangle 17"/>
          <p:cNvSpPr/>
          <p:nvPr/>
        </p:nvSpPr>
        <p:spPr bwMode="auto">
          <a:xfrm rot="5400000">
            <a:off x="1987181" y="4906136"/>
            <a:ext cx="1064133" cy="685800"/>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r>
              <a:rPr lang="en-US" sz="1200"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Windows Live ID Server SDK</a:t>
            </a:r>
            <a:endParaRPr lang="en-US" sz="12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59" name="Picture 2" descr="\\tkzaw-pro-17\mydocs4\jthelin\My Documents\My Pictures\live-id-logo.jpg"/>
          <p:cNvPicPr>
            <a:picLocks noChangeAspect="1" noChangeArrowheads="1"/>
          </p:cNvPicPr>
          <p:nvPr/>
        </p:nvPicPr>
        <p:blipFill>
          <a:blip r:embed="rId2"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Demo </a:t>
            </a:r>
            <a:r>
              <a:rPr lang="en-US" dirty="0" smtClean="0"/>
              <a:t>–</a:t>
            </a:r>
            <a:r>
              <a:rPr smtClean="0"/>
              <a:t> Live ID Web Authentication</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230188"/>
            <a:ext cx="8382000" cy="609398"/>
          </a:xfrm>
        </p:spPr>
        <p:txBody>
          <a:bodyPr/>
          <a:lstStyle/>
          <a:p>
            <a:r>
              <a:rPr sz="4400" smtClean="0"/>
              <a:t>Web Auth Protocol Mechanics</a:t>
            </a:r>
            <a:endParaRPr lang="en-US" sz="4400" dirty="0"/>
          </a:p>
        </p:txBody>
      </p:sp>
      <p:pic>
        <p:nvPicPr>
          <p:cNvPr id="1028"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609511"/>
            <a:ext cx="2438405" cy="350521"/>
          </a:xfrm>
          <a:prstGeom prst="rect">
            <a:avLst/>
          </a:prstGeom>
          <a:noFill/>
        </p:spPr>
      </p:pic>
      <p:pic>
        <p:nvPicPr>
          <p:cNvPr id="11"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1418511"/>
            <a:ext cx="2438405" cy="350521"/>
          </a:xfrm>
          <a:prstGeom prst="rect">
            <a:avLst/>
          </a:prstGeom>
          <a:noFill/>
        </p:spPr>
      </p:pic>
      <p:sp>
        <p:nvSpPr>
          <p:cNvPr id="26" name="TextBox 25"/>
          <p:cNvSpPr txBox="1"/>
          <p:nvPr/>
        </p:nvSpPr>
        <p:spPr>
          <a:xfrm>
            <a:off x="5791200" y="6219111"/>
            <a:ext cx="2895600" cy="408623"/>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Windows Live ID service</a:t>
            </a:r>
          </a:p>
        </p:txBody>
      </p:sp>
      <p:sp>
        <p:nvSpPr>
          <p:cNvPr id="41" name="TextBox 40"/>
          <p:cNvSpPr txBox="1"/>
          <p:nvPr/>
        </p:nvSpPr>
        <p:spPr>
          <a:xfrm>
            <a:off x="5791200" y="1905000"/>
            <a:ext cx="28956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Relying party</a:t>
            </a:r>
          </a:p>
          <a:p>
            <a:pPr algn="ctr"/>
            <a:r>
              <a:rPr lang="en-US" b="1" dirty="0" smtClean="0">
                <a:solidFill>
                  <a:schemeClr val="tx1"/>
                </a:solidFill>
                <a:effectLst>
                  <a:outerShdw blurRad="38100" dist="38100" dir="2700000" algn="tl">
                    <a:srgbClr val="000000">
                      <a:alpha val="43137"/>
                    </a:srgbClr>
                  </a:outerShdw>
                </a:effectLst>
                <a:latin typeface="+mj-lt"/>
              </a:rPr>
              <a:t>e.g. yoursite.com</a:t>
            </a:r>
          </a:p>
        </p:txBody>
      </p:sp>
      <p:cxnSp>
        <p:nvCxnSpPr>
          <p:cNvPr id="46" name="Straight Arrow Connector 45"/>
          <p:cNvCxnSpPr/>
          <p:nvPr/>
        </p:nvCxnSpPr>
        <p:spPr>
          <a:xfrm>
            <a:off x="1798320" y="3886200"/>
            <a:ext cx="3764280" cy="1219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38400" y="3886200"/>
            <a:ext cx="365760" cy="438912"/>
          </a:xfrm>
          <a:prstGeom prst="roundRect">
            <a:avLst/>
          </a:prstGeom>
        </p:spPr>
        <p:style>
          <a:lnRef idx="1">
            <a:schemeClr val="accent4"/>
          </a:lnRef>
          <a:fillRef idx="3">
            <a:schemeClr val="accent4"/>
          </a:fillRef>
          <a:effectRef idx="2">
            <a:schemeClr val="accent4"/>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3</a:t>
            </a:r>
          </a:p>
        </p:txBody>
      </p:sp>
      <p:pic>
        <p:nvPicPr>
          <p:cNvPr id="1026" name="Picture 2" descr="C:\Users\alogan\Desktop\Presentation Artwork\Latest DVD\Artwork_Imagery\Icons - Illustrations\_XML ICONS\pc computer desktop.png"/>
          <p:cNvPicPr>
            <a:picLocks noChangeAspect="1" noChangeArrowheads="1"/>
          </p:cNvPicPr>
          <p:nvPr/>
        </p:nvPicPr>
        <p:blipFill>
          <a:blip r:embed="rId4" cstate="print"/>
          <a:srcRect/>
          <a:stretch>
            <a:fillRect/>
          </a:stretch>
        </p:blipFill>
        <p:spPr bwMode="auto">
          <a:xfrm>
            <a:off x="152400" y="2590800"/>
            <a:ext cx="1374682" cy="1371600"/>
          </a:xfrm>
          <a:prstGeom prst="rect">
            <a:avLst/>
          </a:prstGeom>
          <a:noFill/>
        </p:spPr>
      </p:pic>
      <p:cxnSp>
        <p:nvCxnSpPr>
          <p:cNvPr id="59" name="Straight Arrow Connector 58"/>
          <p:cNvCxnSpPr/>
          <p:nvPr/>
        </p:nvCxnSpPr>
        <p:spPr>
          <a:xfrm>
            <a:off x="1752600" y="4191000"/>
            <a:ext cx="3733800" cy="1295400"/>
          </a:xfrm>
          <a:prstGeom prst="straightConnector1">
            <a:avLst/>
          </a:prstGeom>
          <a:ln w="38100">
            <a:headEnd type="arrow"/>
            <a:tailEnd type="non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959100" y="4495800"/>
            <a:ext cx="365760" cy="438912"/>
          </a:xfrm>
          <a:prstGeom prst="roundRect">
            <a:avLst/>
          </a:prstGeom>
        </p:spPr>
        <p:style>
          <a:lnRef idx="1">
            <a:schemeClr val="accent5"/>
          </a:lnRef>
          <a:fillRef idx="3">
            <a:schemeClr val="accent5"/>
          </a:fillRef>
          <a:effectRef idx="2">
            <a:schemeClr val="accent5"/>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4</a:t>
            </a:r>
          </a:p>
        </p:txBody>
      </p:sp>
      <p:cxnSp>
        <p:nvCxnSpPr>
          <p:cNvPr id="61" name="Straight Arrow Connector 60"/>
          <p:cNvCxnSpPr/>
          <p:nvPr/>
        </p:nvCxnSpPr>
        <p:spPr>
          <a:xfrm>
            <a:off x="1828800" y="4572000"/>
            <a:ext cx="3657600" cy="1295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657600" y="5029200"/>
            <a:ext cx="365760" cy="438912"/>
          </a:xfrm>
          <a:prstGeom prst="roundRect">
            <a:avLst/>
          </a:prstGeom>
        </p:spPr>
        <p:style>
          <a:lnRef idx="1">
            <a:schemeClr val="accent6"/>
          </a:lnRef>
          <a:fillRef idx="3">
            <a:schemeClr val="accent6"/>
          </a:fillRef>
          <a:effectRef idx="2">
            <a:schemeClr val="accent6"/>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5</a:t>
            </a:r>
          </a:p>
        </p:txBody>
      </p:sp>
      <p:cxnSp>
        <p:nvCxnSpPr>
          <p:cNvPr id="63" name="Straight Arrow Connector 62"/>
          <p:cNvCxnSpPr/>
          <p:nvPr/>
        </p:nvCxnSpPr>
        <p:spPr>
          <a:xfrm>
            <a:off x="1828800" y="4953000"/>
            <a:ext cx="3581400" cy="1295400"/>
          </a:xfrm>
          <a:prstGeom prst="straightConnector1">
            <a:avLst/>
          </a:prstGeom>
          <a:ln w="38100">
            <a:headEnd type="arrow"/>
            <a:tailEnd type="none"/>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4282440" y="5733288"/>
            <a:ext cx="365760" cy="438912"/>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6</a:t>
            </a:r>
          </a:p>
        </p:txBody>
      </p:sp>
      <p:cxnSp>
        <p:nvCxnSpPr>
          <p:cNvPr id="65" name="Straight Arrow Connector 64"/>
          <p:cNvCxnSpPr/>
          <p:nvPr/>
        </p:nvCxnSpPr>
        <p:spPr>
          <a:xfrm flipV="1">
            <a:off x="1798320" y="2209800"/>
            <a:ext cx="3840480"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1798320" y="2590800"/>
            <a:ext cx="3764280" cy="990600"/>
          </a:xfrm>
          <a:prstGeom prst="straightConnector1">
            <a:avLst/>
          </a:prstGeom>
          <a:ln w="38100">
            <a:headEnd type="arrow"/>
            <a:tailEnd type="non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438400" y="3218688"/>
            <a:ext cx="365760" cy="438912"/>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8</a:t>
            </a:r>
          </a:p>
        </p:txBody>
      </p:sp>
      <p:sp>
        <p:nvSpPr>
          <p:cNvPr id="71" name="TextBox 70"/>
          <p:cNvSpPr txBox="1"/>
          <p:nvPr/>
        </p:nvSpPr>
        <p:spPr>
          <a:xfrm>
            <a:off x="2959100" y="2685288"/>
            <a:ext cx="365760" cy="438912"/>
          </a:xfrm>
          <a:prstGeom prst="roundRect">
            <a:avLst/>
          </a:prstGeom>
          <a:solidFill>
            <a:schemeClr val="tx2">
              <a:lumMod val="25000"/>
            </a:schemeClr>
          </a:solidFill>
          <a:ln>
            <a:solidFill>
              <a:schemeClr val="tx2">
                <a:lumMod val="25000"/>
              </a:schemeClr>
            </a:solidFill>
          </a:ln>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7</a:t>
            </a:r>
          </a:p>
        </p:txBody>
      </p:sp>
      <p:cxnSp>
        <p:nvCxnSpPr>
          <p:cNvPr id="72" name="Straight Arrow Connector 71"/>
          <p:cNvCxnSpPr/>
          <p:nvPr/>
        </p:nvCxnSpPr>
        <p:spPr>
          <a:xfrm flipV="1">
            <a:off x="1798320" y="1905000"/>
            <a:ext cx="3764280" cy="990600"/>
          </a:xfrm>
          <a:prstGeom prst="straightConnector1">
            <a:avLst/>
          </a:prstGeom>
          <a:ln w="38100">
            <a:headEnd type="arrow"/>
            <a:tailEnd type="non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657600" y="2151888"/>
            <a:ext cx="365760" cy="438912"/>
          </a:xfrm>
          <a:prstGeom prst="roundRect">
            <a:avLst/>
          </a:prstGeom>
        </p:spPr>
        <p:style>
          <a:lnRef idx="1">
            <a:schemeClr val="accent3"/>
          </a:lnRef>
          <a:fillRef idx="3">
            <a:schemeClr val="accent3"/>
          </a:fillRef>
          <a:effectRef idx="2">
            <a:schemeClr val="accent3"/>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2</a:t>
            </a:r>
          </a:p>
        </p:txBody>
      </p:sp>
      <p:cxnSp>
        <p:nvCxnSpPr>
          <p:cNvPr id="74" name="Straight Arrow Connector 73"/>
          <p:cNvCxnSpPr/>
          <p:nvPr/>
        </p:nvCxnSpPr>
        <p:spPr>
          <a:xfrm flipV="1">
            <a:off x="1752600" y="1463040"/>
            <a:ext cx="3886200" cy="10515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4282440" y="1524000"/>
            <a:ext cx="365760" cy="438912"/>
          </a:xfrm>
          <a:prstGeom prst="roundRect">
            <a:avLst/>
          </a:prstGeom>
        </p:spPr>
        <p:style>
          <a:lnRef idx="1">
            <a:schemeClr val="accent2"/>
          </a:lnRef>
          <a:fillRef idx="3">
            <a:schemeClr val="accent2"/>
          </a:fillRef>
          <a:effectRef idx="2">
            <a:schemeClr val="accent2"/>
          </a:effectRef>
          <a:fontRef idx="minor">
            <a:schemeClr val="lt1"/>
          </a:fontRef>
        </p:style>
        <p:txBody>
          <a:bodyPr wrap="square" rtlCol="0" anchor="ctr">
            <a:spAutoFit/>
          </a:bodyPr>
          <a:lstStyle/>
          <a:p>
            <a:r>
              <a:rPr lang="en-US" sz="2000" dirty="0" smtClean="0">
                <a:solidFill>
                  <a:schemeClr val="tx1"/>
                </a:solidFill>
                <a:effectLst>
                  <a:outerShdw blurRad="38100" dist="38100" dir="2700000" algn="tl">
                    <a:srgbClr val="000000">
                      <a:alpha val="43137"/>
                    </a:srgbClr>
                  </a:outerShdw>
                </a:effectLst>
                <a:latin typeface="+mj-lt"/>
              </a:rPr>
              <a:t>1</a:t>
            </a:r>
          </a:p>
        </p:txBody>
      </p:sp>
      <p:sp>
        <p:nvSpPr>
          <p:cNvPr id="25" name="TextBox 24"/>
          <p:cNvSpPr txBox="1"/>
          <p:nvPr/>
        </p:nvSpPr>
        <p:spPr>
          <a:xfrm>
            <a:off x="76200" y="4208622"/>
            <a:ext cx="15240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end user w/ user agent</a:t>
            </a:r>
          </a:p>
        </p:txBody>
      </p:sp>
      <p:pic>
        <p:nvPicPr>
          <p:cNvPr id="98"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410200"/>
            <a:ext cx="2438405" cy="350521"/>
          </a:xfrm>
          <a:prstGeom prst="rect">
            <a:avLst/>
          </a:prstGeom>
          <a:noFill/>
        </p:spPr>
      </p:pic>
      <p:pic>
        <p:nvPicPr>
          <p:cNvPr id="99"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257800"/>
            <a:ext cx="2438405" cy="350521"/>
          </a:xfrm>
          <a:prstGeom prst="rect">
            <a:avLst/>
          </a:prstGeom>
          <a:noFill/>
        </p:spPr>
      </p:pic>
      <p:pic>
        <p:nvPicPr>
          <p:cNvPr id="100"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058489"/>
            <a:ext cx="2438405" cy="350521"/>
          </a:xfrm>
          <a:prstGeom prst="rect">
            <a:avLst/>
          </a:prstGeom>
          <a:noFill/>
        </p:spPr>
      </p:pic>
      <p:pic>
        <p:nvPicPr>
          <p:cNvPr id="101"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4876800"/>
            <a:ext cx="2438405" cy="350521"/>
          </a:xfrm>
          <a:prstGeom prst="rect">
            <a:avLst/>
          </a:prstGeom>
          <a:noFill/>
        </p:spPr>
      </p:pic>
      <p:pic>
        <p:nvPicPr>
          <p:cNvPr id="102"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4677489"/>
            <a:ext cx="2438405" cy="350521"/>
          </a:xfrm>
          <a:prstGeom prst="rect">
            <a:avLst/>
          </a:prstGeom>
          <a:noFill/>
        </p:spPr>
      </p:pic>
      <p:pic>
        <p:nvPicPr>
          <p:cNvPr id="31" name="Picture 2" descr="\\tkzaw-pro-17\mydocs4\jthelin\My Documents\My Pictures\live-id-logo.jpg"/>
          <p:cNvPicPr>
            <a:picLocks noChangeAspect="1" noChangeArrowheads="1"/>
          </p:cNvPicPr>
          <p:nvPr/>
        </p:nvPicPr>
        <p:blipFill>
          <a:blip r:embed="rId5"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left)">
                                      <p:cBhvr>
                                        <p:cTn id="10" dur="500"/>
                                        <p:tgtEl>
                                          <p:spTgt spid="7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wipe(right)">
                                      <p:cBhvr>
                                        <p:cTn id="15" dur="500"/>
                                        <p:tgtEl>
                                          <p:spTgt spid="72"/>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wipe(right)">
                                      <p:cBhvr>
                                        <p:cTn id="18" dur="500"/>
                                        <p:tgtEl>
                                          <p:spTgt spid="7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par>
                                <p:cTn id="23" presetID="22" presetClass="entr" presetSubtype="8"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right)">
                                      <p:cBhvr>
                                        <p:cTn id="30" dur="500"/>
                                        <p:tgtEl>
                                          <p:spTgt spid="60"/>
                                        </p:tgtEl>
                                      </p:cBhvr>
                                    </p:animEffect>
                                  </p:childTnLst>
                                </p:cTn>
                              </p:par>
                              <p:par>
                                <p:cTn id="31" presetID="22" presetClass="entr" presetSubtype="2"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wipe(right)">
                                      <p:cBhvr>
                                        <p:cTn id="33" dur="500"/>
                                        <p:tgtEl>
                                          <p:spTgt spid="5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wipe(left)">
                                      <p:cBhvr>
                                        <p:cTn id="38" dur="500"/>
                                        <p:tgtEl>
                                          <p:spTgt spid="62"/>
                                        </p:tgtEl>
                                      </p:cBhvr>
                                    </p:animEffect>
                                  </p:childTnLst>
                                </p:cTn>
                              </p:par>
                              <p:par>
                                <p:cTn id="39" presetID="22" presetClass="entr" presetSubtype="8"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wipe(left)">
                                      <p:cBhvr>
                                        <p:cTn id="41" dur="500"/>
                                        <p:tgtEl>
                                          <p:spTgt spid="6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64"/>
                                        </p:tgtEl>
                                        <p:attrNameLst>
                                          <p:attrName>style.visibility</p:attrName>
                                        </p:attrNameLst>
                                      </p:cBhvr>
                                      <p:to>
                                        <p:strVal val="visible"/>
                                      </p:to>
                                    </p:set>
                                    <p:animEffect transition="in" filter="wipe(right)">
                                      <p:cBhvr>
                                        <p:cTn id="46" dur="500"/>
                                        <p:tgtEl>
                                          <p:spTgt spid="64"/>
                                        </p:tgtEl>
                                      </p:cBhvr>
                                    </p:animEffect>
                                  </p:childTnLst>
                                </p:cTn>
                              </p:par>
                              <p:par>
                                <p:cTn id="47" presetID="22" presetClass="entr" presetSubtype="2"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wipe(right)">
                                      <p:cBhvr>
                                        <p:cTn id="49" dur="500"/>
                                        <p:tgtEl>
                                          <p:spTgt spid="63"/>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wipe(left)">
                                      <p:cBhvr>
                                        <p:cTn id="53" dur="500"/>
                                        <p:tgtEl>
                                          <p:spTgt spid="65"/>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wipe(left)">
                                      <p:cBhvr>
                                        <p:cTn id="56" dur="500"/>
                                        <p:tgtEl>
                                          <p:spTgt spid="7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wipe(right)">
                                      <p:cBhvr>
                                        <p:cTn id="61" dur="500"/>
                                        <p:tgtEl>
                                          <p:spTgt spid="67"/>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wipe(right)">
                                      <p:cBhvr>
                                        <p:cTn id="6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60" grpId="0" animBg="1"/>
      <p:bldP spid="62" grpId="0" animBg="1"/>
      <p:bldP spid="64" grpId="0" animBg="1"/>
      <p:bldP spid="70" grpId="0" animBg="1"/>
      <p:bldP spid="71" grpId="0" animBg="1"/>
      <p:bldP spid="73" grpId="0" animBg="1"/>
      <p:bldP spid="7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Demo </a:t>
            </a:r>
            <a:r>
              <a:rPr lang="en-US" dirty="0" smtClean="0"/>
              <a:t>–</a:t>
            </a:r>
            <a:r>
              <a:rPr smtClean="0"/>
              <a:t> Live ID Delegated Auth</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bwMode="auto">
          <a:xfrm>
            <a:off x="3479180" y="847493"/>
            <a:ext cx="5486400" cy="2087136"/>
          </a:xfrm>
          <a:prstGeom prst="roundRect">
            <a:avLst>
              <a:gd name="adj" fmla="val 7920"/>
            </a:avLst>
          </a:prstGeom>
          <a:noFill/>
          <a:ln w="19050" cmpd="sng">
            <a:solidFill>
              <a:schemeClr val="bg2"/>
            </a:solidFill>
            <a:headEnd type="none" w="med" len="med"/>
            <a:tailEnd type="none" w="med" len="med"/>
          </a:ln>
          <a:effectLst>
            <a:glow rad="63500">
              <a:schemeClr val="bg2">
                <a:alpha val="40000"/>
              </a:schemeClr>
            </a:glow>
          </a:effectLst>
        </p:spPr>
        <p:style>
          <a:lnRef idx="2">
            <a:schemeClr val="accent4"/>
          </a:lnRef>
          <a:fillRef idx="1">
            <a:schemeClr val="lt1"/>
          </a:fillRef>
          <a:effectRef idx="0">
            <a:schemeClr val="accent4"/>
          </a:effectRef>
          <a:fontRef idx="minor">
            <a:schemeClr val="dk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31" name="Rounded Rectangle 30"/>
          <p:cNvSpPr/>
          <p:nvPr/>
        </p:nvSpPr>
        <p:spPr bwMode="auto">
          <a:xfrm>
            <a:off x="3479180" y="3021980"/>
            <a:ext cx="5486400" cy="3601844"/>
          </a:xfrm>
          <a:prstGeom prst="roundRect">
            <a:avLst>
              <a:gd name="adj" fmla="val 7920"/>
            </a:avLst>
          </a:prstGeom>
          <a:noFill/>
          <a:ln w="19050" cmpd="sng">
            <a:solidFill>
              <a:schemeClr val="bg2"/>
            </a:solidFill>
            <a:headEnd type="none" w="med" len="med"/>
            <a:tailEnd type="none" w="med" len="med"/>
          </a:ln>
          <a:effectLst>
            <a:glow rad="63500">
              <a:schemeClr val="bg2">
                <a:alpha val="40000"/>
              </a:schemeClr>
            </a:glow>
          </a:effectLst>
        </p:spPr>
        <p:style>
          <a:lnRef idx="2">
            <a:schemeClr val="accent4"/>
          </a:lnRef>
          <a:fillRef idx="1">
            <a:schemeClr val="lt1"/>
          </a:fillRef>
          <a:effectRef idx="0">
            <a:schemeClr val="accent4"/>
          </a:effectRef>
          <a:fontRef idx="minor">
            <a:schemeClr val="dk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7" name="TextBox 26"/>
          <p:cNvSpPr txBox="1"/>
          <p:nvPr/>
        </p:nvSpPr>
        <p:spPr>
          <a:xfrm>
            <a:off x="3657600" y="3019935"/>
            <a:ext cx="5486400" cy="369332"/>
          </a:xfrm>
          <a:prstGeom prst="rect">
            <a:avLst/>
          </a:prstGeom>
          <a:noFill/>
        </p:spPr>
        <p:txBody>
          <a:bodyPr wrap="square" rtlCol="0">
            <a:spAutoFit/>
          </a:bodyPr>
          <a:lstStyle/>
          <a:p>
            <a:r>
              <a:rPr lang="en-US" b="1" dirty="0" smtClean="0">
                <a:solidFill>
                  <a:schemeClr val="tx2"/>
                </a:solidFill>
                <a:effectLst>
                  <a:outerShdw blurRad="38100" dist="38100" dir="2700000" algn="tl">
                    <a:srgbClr val="000000">
                      <a:alpha val="43137"/>
                    </a:srgbClr>
                  </a:outerShdw>
                </a:effectLst>
                <a:latin typeface="+mj-lt"/>
              </a:rPr>
              <a:t>“Using Consent” Phase </a:t>
            </a:r>
            <a:r>
              <a:rPr lang="en-US" b="1" dirty="0" smtClean="0">
                <a:effectLst>
                  <a:outerShdw blurRad="38100" dist="38100" dir="2700000" algn="tl">
                    <a:srgbClr val="000000">
                      <a:alpha val="43137"/>
                    </a:srgbClr>
                  </a:outerShdw>
                </a:effectLst>
                <a:latin typeface="+mj-lt"/>
              </a:rPr>
              <a:t>(user can be offline)</a:t>
            </a:r>
          </a:p>
        </p:txBody>
      </p:sp>
      <p:sp>
        <p:nvSpPr>
          <p:cNvPr id="2" name="Title 1"/>
          <p:cNvSpPr>
            <a:spLocks noGrp="1"/>
          </p:cNvSpPr>
          <p:nvPr>
            <p:ph type="title"/>
          </p:nvPr>
        </p:nvSpPr>
        <p:spPr>
          <a:xfrm>
            <a:off x="381000" y="96838"/>
            <a:ext cx="8382000" cy="665162"/>
          </a:xfrm>
        </p:spPr>
        <p:txBody>
          <a:bodyPr/>
          <a:lstStyle/>
          <a:p>
            <a:r>
              <a:rPr smtClean="0"/>
              <a:t>DelAuth Protocol Mechanics</a:t>
            </a:r>
            <a:endParaRPr lang="en-US" dirty="0"/>
          </a:p>
        </p:txBody>
      </p:sp>
      <p:pic>
        <p:nvPicPr>
          <p:cNvPr id="4"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
        <p:nvSpPr>
          <p:cNvPr id="5" name="Rounded Rectangle 4"/>
          <p:cNvSpPr/>
          <p:nvPr/>
        </p:nvSpPr>
        <p:spPr bwMode="auto">
          <a:xfrm>
            <a:off x="1685693" y="817756"/>
            <a:ext cx="1726580" cy="5858107"/>
          </a:xfrm>
          <a:prstGeom prst="roundRect">
            <a:avLst>
              <a:gd name="adj" fmla="val 8486"/>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Application Provider (web site)</a:t>
            </a:r>
            <a:endParaRPr lang="en-US" b="1"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6" name="Rounded Rectangle 5"/>
          <p:cNvSpPr/>
          <p:nvPr/>
        </p:nvSpPr>
        <p:spPr bwMode="auto">
          <a:xfrm>
            <a:off x="6629400" y="1371600"/>
            <a:ext cx="2217234" cy="1287426"/>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Consent UI (consent.live.com)</a:t>
            </a:r>
            <a:endParaRPr lang="en-US" sz="1600" b="1"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7" name="Rounded Rectangle 6"/>
          <p:cNvSpPr/>
          <p:nvPr/>
        </p:nvSpPr>
        <p:spPr bwMode="auto">
          <a:xfrm>
            <a:off x="6600372" y="5152571"/>
            <a:ext cx="2217234" cy="1287426"/>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Windows Live ID Delegation Service</a:t>
            </a:r>
            <a:endParaRPr lang="en-US" sz="1600" b="1"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8" name="Rounded Rectangle 7"/>
          <p:cNvSpPr/>
          <p:nvPr/>
        </p:nvSpPr>
        <p:spPr bwMode="auto">
          <a:xfrm>
            <a:off x="6629400" y="3701182"/>
            <a:ext cx="2217234" cy="1287426"/>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91436" tIns="45718" rIns="91436" bIns="45718" rtlCol="0" anchor="ctr"/>
          <a:lstStyle/>
          <a:p>
            <a:pPr algn="ctr" defTabSz="914099"/>
            <a:r>
              <a:rPr lang="en-US" sz="1600" b="1" dirty="0" smtClean="0">
                <a:gradFill>
                  <a:gsLst>
                    <a:gs pos="50000">
                      <a:schemeClr val="tx1"/>
                    </a:gs>
                    <a:gs pos="100000">
                      <a:schemeClr val="tx1"/>
                    </a:gs>
                  </a:gsLst>
                  <a:lin ang="5400000" scaled="0"/>
                </a:gradFill>
                <a:effectLst>
                  <a:outerShdw blurRad="38100" dist="38100" dir="2700000" algn="tl">
                    <a:srgbClr val="000000">
                      <a:alpha val="43137"/>
                    </a:srgbClr>
                  </a:outerShdw>
                </a:effectLst>
              </a:rPr>
              <a:t>Resource Provider (e.g. Windows Live Contacts)</a:t>
            </a:r>
            <a:endParaRPr lang="en-US" sz="1600" b="1"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9" name="Down Arrow 8"/>
          <p:cNvSpPr/>
          <p:nvPr/>
        </p:nvSpPr>
        <p:spPr bwMode="auto">
          <a:xfrm rot="16200000">
            <a:off x="4858095" y="441959"/>
            <a:ext cx="640080"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0" name="Down Arrow 9"/>
          <p:cNvSpPr/>
          <p:nvPr/>
        </p:nvSpPr>
        <p:spPr bwMode="auto">
          <a:xfrm rot="16200000" flipV="1">
            <a:off x="4858095" y="1127761"/>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1" name="Down Arrow 10"/>
          <p:cNvSpPr/>
          <p:nvPr/>
        </p:nvSpPr>
        <p:spPr bwMode="auto">
          <a:xfrm rot="16200000">
            <a:off x="4829068" y="4146729"/>
            <a:ext cx="640080"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2" name="Down Arrow 11"/>
          <p:cNvSpPr/>
          <p:nvPr/>
        </p:nvSpPr>
        <p:spPr bwMode="auto">
          <a:xfrm rot="16200000" flipV="1">
            <a:off x="4829067" y="4832531"/>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3" name="Down Arrow 12"/>
          <p:cNvSpPr/>
          <p:nvPr/>
        </p:nvSpPr>
        <p:spPr bwMode="auto">
          <a:xfrm rot="16200000">
            <a:off x="4682836" y="2520081"/>
            <a:ext cx="990598"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4" name="Down Arrow 13"/>
          <p:cNvSpPr/>
          <p:nvPr/>
        </p:nvSpPr>
        <p:spPr bwMode="auto">
          <a:xfrm rot="16200000" flipV="1">
            <a:off x="4858095" y="3309422"/>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pic>
        <p:nvPicPr>
          <p:cNvPr id="15" name="Picture 2" descr="C:\Users\alogan\Desktop\Presentation Artwork\Latest DVD\Artwork_Imagery\Icons - Illustrations\_XML ICONS\pc computer desktop.png"/>
          <p:cNvPicPr>
            <a:picLocks noChangeAspect="1" noChangeArrowheads="1"/>
          </p:cNvPicPr>
          <p:nvPr/>
        </p:nvPicPr>
        <p:blipFill>
          <a:blip r:embed="rId4" cstate="print"/>
          <a:srcRect/>
          <a:stretch>
            <a:fillRect/>
          </a:stretch>
        </p:blipFill>
        <p:spPr bwMode="auto">
          <a:xfrm>
            <a:off x="152400" y="4525089"/>
            <a:ext cx="1374682" cy="1371600"/>
          </a:xfrm>
          <a:prstGeom prst="rect">
            <a:avLst/>
          </a:prstGeom>
          <a:noFill/>
        </p:spPr>
      </p:pic>
      <p:sp>
        <p:nvSpPr>
          <p:cNvPr id="16" name="TextBox 15"/>
          <p:cNvSpPr txBox="1"/>
          <p:nvPr/>
        </p:nvSpPr>
        <p:spPr>
          <a:xfrm>
            <a:off x="37170" y="5938472"/>
            <a:ext cx="1524000" cy="715089"/>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end user w/ user agent</a:t>
            </a:r>
          </a:p>
        </p:txBody>
      </p:sp>
      <p:sp>
        <p:nvSpPr>
          <p:cNvPr id="18" name="TextBox 17"/>
          <p:cNvSpPr txBox="1"/>
          <p:nvPr/>
        </p:nvSpPr>
        <p:spPr>
          <a:xfrm>
            <a:off x="3810000" y="1659672"/>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Direct user to consent UI</a:t>
            </a:r>
          </a:p>
        </p:txBody>
      </p:sp>
      <p:sp>
        <p:nvSpPr>
          <p:cNvPr id="19" name="TextBox 18"/>
          <p:cNvSpPr txBox="1"/>
          <p:nvPr/>
        </p:nvSpPr>
        <p:spPr>
          <a:xfrm>
            <a:off x="3886200" y="2328446"/>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Receive consent token</a:t>
            </a:r>
          </a:p>
        </p:txBody>
      </p:sp>
      <p:sp>
        <p:nvSpPr>
          <p:cNvPr id="20" name="TextBox 19"/>
          <p:cNvSpPr txBox="1"/>
          <p:nvPr/>
        </p:nvSpPr>
        <p:spPr>
          <a:xfrm>
            <a:off x="3767962" y="5377153"/>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Send refresh token</a:t>
            </a:r>
          </a:p>
        </p:txBody>
      </p:sp>
      <p:sp>
        <p:nvSpPr>
          <p:cNvPr id="21" name="TextBox 20"/>
          <p:cNvSpPr txBox="1"/>
          <p:nvPr/>
        </p:nvSpPr>
        <p:spPr>
          <a:xfrm>
            <a:off x="3780972" y="6050243"/>
            <a:ext cx="29718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Receive new consent token</a:t>
            </a:r>
          </a:p>
        </p:txBody>
      </p:sp>
      <p:sp>
        <p:nvSpPr>
          <p:cNvPr id="22" name="TextBox 21"/>
          <p:cNvSpPr txBox="1"/>
          <p:nvPr/>
        </p:nvSpPr>
        <p:spPr>
          <a:xfrm>
            <a:off x="3789556" y="3633079"/>
            <a:ext cx="2484863" cy="523220"/>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Send delegation token with API call to resource</a:t>
            </a:r>
          </a:p>
        </p:txBody>
      </p:sp>
      <p:sp>
        <p:nvSpPr>
          <p:cNvPr id="23" name="TextBox 22"/>
          <p:cNvSpPr txBox="1"/>
          <p:nvPr/>
        </p:nvSpPr>
        <p:spPr>
          <a:xfrm>
            <a:off x="3750527" y="4550339"/>
            <a:ext cx="29718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Receive data</a:t>
            </a:r>
          </a:p>
        </p:txBody>
      </p:sp>
      <p:sp>
        <p:nvSpPr>
          <p:cNvPr id="25" name="TextBox 24"/>
          <p:cNvSpPr txBox="1"/>
          <p:nvPr/>
        </p:nvSpPr>
        <p:spPr>
          <a:xfrm>
            <a:off x="3546088" y="890240"/>
            <a:ext cx="5486400" cy="369332"/>
          </a:xfrm>
          <a:prstGeom prst="rect">
            <a:avLst/>
          </a:prstGeom>
          <a:noFill/>
        </p:spPr>
        <p:txBody>
          <a:bodyPr wrap="square" rtlCol="0">
            <a:spAutoFit/>
          </a:bodyPr>
          <a:lstStyle/>
          <a:p>
            <a:r>
              <a:rPr lang="en-US" b="1" dirty="0" smtClean="0">
                <a:solidFill>
                  <a:schemeClr val="tx2"/>
                </a:solidFill>
                <a:effectLst>
                  <a:outerShdw blurRad="38100" dist="38100" dir="2700000" algn="tl">
                    <a:srgbClr val="000000">
                      <a:alpha val="43137"/>
                    </a:srgbClr>
                  </a:outerShdw>
                </a:effectLst>
                <a:latin typeface="+mj-lt"/>
              </a:rPr>
              <a:t>Granting consent phase </a:t>
            </a:r>
            <a:r>
              <a:rPr lang="en-US"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(must be online)</a:t>
            </a:r>
          </a:p>
        </p:txBody>
      </p:sp>
      <p:cxnSp>
        <p:nvCxnSpPr>
          <p:cNvPr id="29" name="Shape 28"/>
          <p:cNvCxnSpPr>
            <a:stCxn id="15" idx="0"/>
            <a:endCxn id="5" idx="1"/>
          </p:cNvCxnSpPr>
          <p:nvPr/>
        </p:nvCxnSpPr>
        <p:spPr>
          <a:xfrm rot="5400000" flipH="1" flipV="1">
            <a:off x="873578" y="3712974"/>
            <a:ext cx="778279" cy="845952"/>
          </a:xfrm>
          <a:prstGeom prst="bentConnector2">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right)">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righ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right)">
                                      <p:cBhvr>
                                        <p:cTn id="47" dur="500"/>
                                        <p:tgtEl>
                                          <p:spTgt spid="12"/>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8" grpId="0"/>
      <p:bldP spid="19" grpId="0"/>
      <p:bldP spid="20" grpId="0"/>
      <p:bldP spid="21" grpId="0"/>
      <p:bldP spid="22"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ound Same Side Corner Rectangle 38"/>
          <p:cNvSpPr/>
          <p:nvPr/>
        </p:nvSpPr>
        <p:spPr>
          <a:xfrm>
            <a:off x="778189" y="1066800"/>
            <a:ext cx="2217979" cy="1655674"/>
          </a:xfrm>
          <a:prstGeom prst="round2SameRect">
            <a:avLst>
              <a:gd name="adj1" fmla="val 8000"/>
              <a:gd name="adj2" fmla="val 0"/>
            </a:avLst>
          </a:prstGeom>
          <a:ln>
            <a:solidFill>
              <a:schemeClr val="accent2"/>
            </a:solidFill>
          </a:ln>
        </p:spPr>
        <p:style>
          <a:lnRef idx="1">
            <a:schemeClr val="accent5">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7" name="Rounded Rectangle 36"/>
          <p:cNvSpPr/>
          <p:nvPr/>
        </p:nvSpPr>
        <p:spPr>
          <a:xfrm>
            <a:off x="778189" y="2590800"/>
            <a:ext cx="2217979" cy="711940"/>
          </a:xfrm>
          <a:prstGeom prst="roundRect">
            <a:avLst/>
          </a:prstGeom>
        </p:spPr>
        <p:style>
          <a:lnRef idx="1">
            <a:schemeClr val="accent2"/>
          </a:lnRef>
          <a:fillRef idx="3">
            <a:schemeClr val="accent2"/>
          </a:fillRef>
          <a:effectRef idx="2">
            <a:schemeClr val="accent2"/>
          </a:effectRef>
          <a:fontRef idx="minor">
            <a:schemeClr val="lt1"/>
          </a:fontRef>
        </p:style>
      </p:sp>
      <p:sp>
        <p:nvSpPr>
          <p:cNvPr id="35" name="Round Same Side Corner Rectangle 34"/>
          <p:cNvSpPr/>
          <p:nvPr/>
        </p:nvSpPr>
        <p:spPr>
          <a:xfrm>
            <a:off x="3371504" y="1066800"/>
            <a:ext cx="2217979" cy="1655674"/>
          </a:xfrm>
          <a:prstGeom prst="round2SameRect">
            <a:avLst>
              <a:gd name="adj1" fmla="val 8000"/>
              <a:gd name="adj2" fmla="val 0"/>
            </a:avLst>
          </a:prstGeom>
          <a:ln>
            <a:solidFill>
              <a:schemeClr val="accent3"/>
            </a:solidFill>
          </a:ln>
        </p:spPr>
        <p:style>
          <a:lnRef idx="1">
            <a:schemeClr val="accent5">
              <a:hueOff val="3725979"/>
              <a:satOff val="-10076"/>
              <a:lumOff val="-1372"/>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3" name="Rounded Rectangle 32"/>
          <p:cNvSpPr/>
          <p:nvPr/>
        </p:nvSpPr>
        <p:spPr>
          <a:xfrm>
            <a:off x="3371504" y="2590800"/>
            <a:ext cx="2217979" cy="711940"/>
          </a:xfrm>
          <a:prstGeom prst="roundRect">
            <a:avLst/>
          </a:prstGeom>
        </p:spPr>
        <p:style>
          <a:lnRef idx="1">
            <a:schemeClr val="accent3"/>
          </a:lnRef>
          <a:fillRef idx="3">
            <a:schemeClr val="accent3"/>
          </a:fillRef>
          <a:effectRef idx="2">
            <a:schemeClr val="accent3"/>
          </a:effectRef>
          <a:fontRef idx="minor">
            <a:schemeClr val="lt1"/>
          </a:fontRef>
        </p:style>
      </p:sp>
      <p:sp>
        <p:nvSpPr>
          <p:cNvPr id="31" name="Round Same Side Corner Rectangle 30"/>
          <p:cNvSpPr/>
          <p:nvPr/>
        </p:nvSpPr>
        <p:spPr>
          <a:xfrm>
            <a:off x="5964819" y="1066800"/>
            <a:ext cx="2217979" cy="1655674"/>
          </a:xfrm>
          <a:prstGeom prst="round2SameRect">
            <a:avLst>
              <a:gd name="adj1" fmla="val 8000"/>
              <a:gd name="adj2" fmla="val 0"/>
            </a:avLst>
          </a:prstGeom>
        </p:spPr>
        <p:style>
          <a:lnRef idx="1">
            <a:schemeClr val="accent5">
              <a:hueOff val="7451958"/>
              <a:satOff val="-20152"/>
              <a:lumOff val="-274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9" name="Rounded Rectangle 28"/>
          <p:cNvSpPr/>
          <p:nvPr/>
        </p:nvSpPr>
        <p:spPr>
          <a:xfrm>
            <a:off x="5964819" y="2590800"/>
            <a:ext cx="2217979" cy="711940"/>
          </a:xfrm>
          <a:prstGeom prst="roundRect">
            <a:avLst/>
          </a:prstGeom>
        </p:spPr>
        <p:style>
          <a:lnRef idx="1">
            <a:schemeClr val="accent4"/>
          </a:lnRef>
          <a:fillRef idx="3">
            <a:schemeClr val="accent4"/>
          </a:fillRef>
          <a:effectRef idx="2">
            <a:schemeClr val="accent4"/>
          </a:effectRef>
          <a:fontRef idx="minor">
            <a:schemeClr val="lt1"/>
          </a:fontRef>
        </p:style>
      </p:sp>
      <p:sp>
        <p:nvSpPr>
          <p:cNvPr id="27" name="Round Same Side Corner Rectangle 26"/>
          <p:cNvSpPr/>
          <p:nvPr/>
        </p:nvSpPr>
        <p:spPr>
          <a:xfrm>
            <a:off x="2074847" y="3962405"/>
            <a:ext cx="2217979" cy="1655674"/>
          </a:xfrm>
          <a:prstGeom prst="round2SameRect">
            <a:avLst>
              <a:gd name="adj1" fmla="val 8000"/>
              <a:gd name="adj2" fmla="val 0"/>
            </a:avLst>
          </a:prstGeom>
          <a:ln>
            <a:solidFill>
              <a:schemeClr val="accent5"/>
            </a:solidFill>
          </a:ln>
        </p:spPr>
        <p:style>
          <a:lnRef idx="1">
            <a:schemeClr val="accent5">
              <a:hueOff val="11177937"/>
              <a:satOff val="-30229"/>
              <a:lumOff val="-4117"/>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5" name="Rounded Rectangle 24"/>
          <p:cNvSpPr/>
          <p:nvPr/>
        </p:nvSpPr>
        <p:spPr>
          <a:xfrm>
            <a:off x="2074847" y="5486400"/>
            <a:ext cx="2217979" cy="711940"/>
          </a:xfrm>
          <a:prstGeom prst="roundRect">
            <a:avLst/>
          </a:prstGeom>
        </p:spPr>
        <p:style>
          <a:lnRef idx="1">
            <a:schemeClr val="accent5"/>
          </a:lnRef>
          <a:fillRef idx="3">
            <a:schemeClr val="accent5"/>
          </a:fillRef>
          <a:effectRef idx="2">
            <a:schemeClr val="accent5"/>
          </a:effectRef>
          <a:fontRef idx="minor">
            <a:schemeClr val="lt1"/>
          </a:fontRef>
        </p:style>
      </p:sp>
      <p:sp>
        <p:nvSpPr>
          <p:cNvPr id="23" name="Round Same Side Corner Rectangle 22"/>
          <p:cNvSpPr/>
          <p:nvPr/>
        </p:nvSpPr>
        <p:spPr>
          <a:xfrm>
            <a:off x="4668161" y="3962405"/>
            <a:ext cx="2217979" cy="1655674"/>
          </a:xfrm>
          <a:prstGeom prst="round2SameRect">
            <a:avLst>
              <a:gd name="adj1" fmla="val 8000"/>
              <a:gd name="adj2" fmla="val 0"/>
            </a:avLst>
          </a:prstGeom>
          <a:ln>
            <a:solidFill>
              <a:schemeClr val="accent6"/>
            </a:solidFill>
          </a:ln>
        </p:spPr>
        <p:style>
          <a:lnRef idx="1">
            <a:schemeClr val="accent5">
              <a:hueOff val="14903915"/>
              <a:satOff val="-40305"/>
              <a:lumOff val="-5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1" name="Rounded Rectangle 20"/>
          <p:cNvSpPr/>
          <p:nvPr/>
        </p:nvSpPr>
        <p:spPr>
          <a:xfrm>
            <a:off x="4668161" y="5486400"/>
            <a:ext cx="2217979" cy="711940"/>
          </a:xfrm>
          <a:prstGeom prst="roundRect">
            <a:avLst/>
          </a:prstGeom>
        </p:spPr>
        <p:style>
          <a:lnRef idx="1">
            <a:schemeClr val="accent6"/>
          </a:lnRef>
          <a:fillRef idx="3">
            <a:schemeClr val="accent6"/>
          </a:fillRef>
          <a:effectRef idx="2">
            <a:schemeClr val="accent6"/>
          </a:effectRef>
          <a:fontRef idx="minor">
            <a:schemeClr val="lt1"/>
          </a:fontRef>
        </p:style>
      </p:sp>
      <p:sp>
        <p:nvSpPr>
          <p:cNvPr id="40" name="Round Same Side Corner Rectangle 4"/>
          <p:cNvSpPr/>
          <p:nvPr/>
        </p:nvSpPr>
        <p:spPr>
          <a:xfrm>
            <a:off x="816983" y="1105594"/>
            <a:ext cx="2140391" cy="1616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smtClean="0"/>
              <a:t>Smart client applications</a:t>
            </a:r>
            <a:endParaRPr lang="en-US" sz="1200" kern="1200" dirty="0"/>
          </a:p>
        </p:txBody>
      </p:sp>
      <p:sp>
        <p:nvSpPr>
          <p:cNvPr id="36" name="Round Same Side Corner Rectangle 9"/>
          <p:cNvSpPr/>
          <p:nvPr/>
        </p:nvSpPr>
        <p:spPr>
          <a:xfrm>
            <a:off x="3410298" y="1105594"/>
            <a:ext cx="2140391" cy="1616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smtClean="0"/>
              <a:t>Depth partners web site integration</a:t>
            </a:r>
            <a:endParaRPr lang="en-US" sz="1200" kern="1200" dirty="0"/>
          </a:p>
          <a:p>
            <a:pPr marL="114300" lvl="1" indent="-114300" algn="l" defTabSz="533400" rtl="0">
              <a:lnSpc>
                <a:spcPct val="90000"/>
              </a:lnSpc>
              <a:spcBef>
                <a:spcPct val="0"/>
              </a:spcBef>
              <a:spcAft>
                <a:spcPct val="15000"/>
              </a:spcAft>
              <a:buChar char="••"/>
            </a:pPr>
            <a:r>
              <a:rPr lang="en-US" sz="1200" kern="1200" dirty="0" smtClean="0"/>
              <a:t>Runs on Windows Server OS</a:t>
            </a:r>
            <a:endParaRPr lang="en-US" sz="1200" kern="1200" dirty="0"/>
          </a:p>
        </p:txBody>
      </p:sp>
      <p:sp>
        <p:nvSpPr>
          <p:cNvPr id="32" name="Round Same Side Corner Rectangle 14"/>
          <p:cNvSpPr/>
          <p:nvPr/>
        </p:nvSpPr>
        <p:spPr>
          <a:xfrm>
            <a:off x="6003613" y="1105594"/>
            <a:ext cx="2140391" cy="1616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lvl="1" indent="-114300" algn="l" defTabSz="533400" rtl="0">
              <a:lnSpc>
                <a:spcPct val="90000"/>
              </a:lnSpc>
              <a:spcBef>
                <a:spcPct val="0"/>
              </a:spcBef>
              <a:spcAft>
                <a:spcPct val="15000"/>
              </a:spcAft>
              <a:buChar char="••"/>
            </a:pPr>
            <a:r>
              <a:rPr lang="en-US" sz="1400" kern="1200" dirty="0" smtClean="0"/>
              <a:t>Breadth partners web site integration</a:t>
            </a:r>
            <a:endParaRPr lang="en-US" sz="1400" kern="1200" dirty="0"/>
          </a:p>
          <a:p>
            <a:pPr marL="114300" lvl="1" indent="-114300" algn="l" defTabSz="533400" rtl="0">
              <a:lnSpc>
                <a:spcPct val="90000"/>
              </a:lnSpc>
              <a:spcBef>
                <a:spcPct val="0"/>
              </a:spcBef>
              <a:spcAft>
                <a:spcPct val="15000"/>
              </a:spcAft>
              <a:buChar char="••"/>
            </a:pPr>
            <a:r>
              <a:rPr lang="en-US" sz="1400" kern="1200" dirty="0" smtClean="0"/>
              <a:t>Open source samples in 6 languages – ASP.NET (C# &amp; VB), Java, Perl, PHP, Ruby, Python</a:t>
            </a:r>
            <a:endParaRPr lang="en-US" sz="1400" kern="1200" dirty="0"/>
          </a:p>
        </p:txBody>
      </p:sp>
      <p:sp>
        <p:nvSpPr>
          <p:cNvPr id="28" name="Round Same Side Corner Rectangle 19"/>
          <p:cNvSpPr/>
          <p:nvPr/>
        </p:nvSpPr>
        <p:spPr>
          <a:xfrm>
            <a:off x="2113641" y="4001199"/>
            <a:ext cx="2140391" cy="1616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rmAutofit lnSpcReduction="10000"/>
          </a:bodyPr>
          <a:lstStyle/>
          <a:p>
            <a:pPr marL="114300" lvl="1" indent="-114300" algn="l" defTabSz="533400" rtl="0">
              <a:lnSpc>
                <a:spcPct val="90000"/>
              </a:lnSpc>
              <a:spcBef>
                <a:spcPct val="0"/>
              </a:spcBef>
              <a:spcAft>
                <a:spcPct val="15000"/>
              </a:spcAft>
              <a:buChar char="••"/>
            </a:pPr>
            <a:r>
              <a:rPr lang="en-US" sz="1400" kern="1200" dirty="0" smtClean="0"/>
              <a:t>Third-party application providers access to Windows Live user’s data</a:t>
            </a:r>
            <a:endParaRPr lang="en-US" sz="1400" kern="1200" dirty="0"/>
          </a:p>
          <a:p>
            <a:pPr marL="114300" lvl="1" indent="-114300" algn="l" defTabSz="533400" rtl="0">
              <a:lnSpc>
                <a:spcPct val="90000"/>
              </a:lnSpc>
              <a:spcBef>
                <a:spcPct val="0"/>
              </a:spcBef>
              <a:spcAft>
                <a:spcPct val="15000"/>
              </a:spcAft>
              <a:buChar char="••"/>
            </a:pPr>
            <a:r>
              <a:rPr lang="en-US" sz="1400" kern="1200" dirty="0" smtClean="0"/>
              <a:t>Open source samples in 6 languages – ASP.NET (C# &amp; VB), Java, Perl, PHP, Ruby, Python</a:t>
            </a:r>
            <a:endParaRPr lang="en-US" sz="1400" kern="1200" dirty="0"/>
          </a:p>
        </p:txBody>
      </p:sp>
      <p:sp>
        <p:nvSpPr>
          <p:cNvPr id="24" name="Round Same Side Corner Rectangle 24"/>
          <p:cNvSpPr/>
          <p:nvPr/>
        </p:nvSpPr>
        <p:spPr>
          <a:xfrm>
            <a:off x="4706955" y="4001199"/>
            <a:ext cx="2140391" cy="161688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lvl="1" indent="-114300" algn="l" defTabSz="533400" rtl="0">
              <a:lnSpc>
                <a:spcPct val="90000"/>
              </a:lnSpc>
              <a:spcBef>
                <a:spcPct val="0"/>
              </a:spcBef>
              <a:spcAft>
                <a:spcPct val="15000"/>
              </a:spcAft>
              <a:buChar char="••"/>
            </a:pPr>
            <a:r>
              <a:rPr lang="en-US" sz="1400" kern="1200" dirty="0" smtClean="0"/>
              <a:t>Includes ASP.NET controls to simplify integration with Live ID / Windows Live:</a:t>
            </a:r>
            <a:endParaRPr lang="en-US" sz="1400" kern="1200" dirty="0"/>
          </a:p>
          <a:p>
            <a:pPr marL="228600" lvl="2" indent="-114300" algn="l" defTabSz="533400" rtl="0">
              <a:lnSpc>
                <a:spcPct val="90000"/>
              </a:lnSpc>
              <a:spcBef>
                <a:spcPct val="0"/>
              </a:spcBef>
              <a:spcAft>
                <a:spcPct val="15000"/>
              </a:spcAft>
              <a:buFontTx/>
              <a:buChar char="–"/>
            </a:pPr>
            <a:r>
              <a:rPr lang="en-US" sz="1200" kern="1200" dirty="0" smtClean="0"/>
              <a:t>Contacts, </a:t>
            </a:r>
            <a:r>
              <a:rPr lang="en-US" sz="1200" kern="1200" dirty="0" err="1" smtClean="0"/>
              <a:t>IDLogin</a:t>
            </a:r>
            <a:r>
              <a:rPr lang="en-US" sz="1200" kern="1200" dirty="0" smtClean="0"/>
              <a:t>, </a:t>
            </a:r>
            <a:r>
              <a:rPr lang="en-US" sz="1200" kern="1200" dirty="0" err="1" smtClean="0"/>
              <a:t>IDLoginView</a:t>
            </a:r>
            <a:r>
              <a:rPr lang="en-US" sz="1200" kern="1200" dirty="0" smtClean="0"/>
              <a:t>, </a:t>
            </a:r>
            <a:r>
              <a:rPr lang="en-US" sz="1200" kern="1200" dirty="0" err="1" smtClean="0"/>
              <a:t>SilverlightStreamingMedia</a:t>
            </a:r>
            <a:endParaRPr lang="en-US" sz="1200" kern="1200" dirty="0"/>
          </a:p>
        </p:txBody>
      </p:sp>
      <p:sp>
        <p:nvSpPr>
          <p:cNvPr id="38" name="Rounded Rectangle 6"/>
          <p:cNvSpPr/>
          <p:nvPr/>
        </p:nvSpPr>
        <p:spPr>
          <a:xfrm>
            <a:off x="812943" y="2625554"/>
            <a:ext cx="2006457" cy="6424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0" rIns="45720" bIns="0" numCol="1" spcCol="1270" anchor="ctr" anchorCtr="0">
            <a:noAutofit/>
          </a:bodyPr>
          <a:lstStyle/>
          <a:p>
            <a:pPr lvl="0" algn="l" defTabSz="533400" rtl="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Live ID Client SDK</a:t>
            </a:r>
            <a:endParaRPr lang="en-US" sz="1400" b="1" kern="1200" dirty="0">
              <a:effectLst>
                <a:outerShdw blurRad="38100" dist="38100" dir="2700000" algn="tl">
                  <a:srgbClr val="000000">
                    <a:alpha val="43137"/>
                  </a:srgbClr>
                </a:outerShdw>
              </a:effectLst>
            </a:endParaRPr>
          </a:p>
        </p:txBody>
      </p:sp>
      <p:sp>
        <p:nvSpPr>
          <p:cNvPr id="34" name="Rounded Rectangle 11"/>
          <p:cNvSpPr/>
          <p:nvPr/>
        </p:nvSpPr>
        <p:spPr>
          <a:xfrm>
            <a:off x="3371504" y="2590800"/>
            <a:ext cx="2114896" cy="7119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0" rIns="45720" bIns="0" numCol="1" spcCol="1270" anchor="ctr" anchorCtr="0">
            <a:noAutofit/>
          </a:bodyPr>
          <a:lstStyle/>
          <a:p>
            <a:pPr lvl="0" algn="l" defTabSz="533400" rtl="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Relying Party Suite (RPS – aka Live ID Server SDK)</a:t>
            </a:r>
            <a:endParaRPr lang="en-US" sz="1400" b="1" kern="1200" dirty="0">
              <a:effectLst>
                <a:outerShdw blurRad="38100" dist="38100" dir="2700000" algn="tl">
                  <a:srgbClr val="000000">
                    <a:alpha val="43137"/>
                  </a:srgbClr>
                </a:outerShdw>
              </a:effectLst>
            </a:endParaRPr>
          </a:p>
        </p:txBody>
      </p:sp>
      <p:sp>
        <p:nvSpPr>
          <p:cNvPr id="30" name="Rounded Rectangle 16"/>
          <p:cNvSpPr/>
          <p:nvPr/>
        </p:nvSpPr>
        <p:spPr>
          <a:xfrm>
            <a:off x="5964819" y="2590800"/>
            <a:ext cx="2112381" cy="7119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0" rIns="45720" bIns="0" numCol="1" spcCol="1270" anchor="ctr" anchorCtr="0">
            <a:noAutofit/>
          </a:bodyPr>
          <a:lstStyle/>
          <a:p>
            <a:pPr lvl="0" algn="l" defTabSz="533400" rtl="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Web Authentication SDK (WebAuth)</a:t>
            </a:r>
            <a:endParaRPr lang="en-US" sz="1400" b="1" kern="1200" dirty="0">
              <a:effectLst>
                <a:outerShdw blurRad="38100" dist="38100" dir="2700000" algn="tl">
                  <a:srgbClr val="000000">
                    <a:alpha val="43137"/>
                  </a:srgbClr>
                </a:outerShdw>
              </a:effectLst>
            </a:endParaRPr>
          </a:p>
        </p:txBody>
      </p:sp>
      <p:sp>
        <p:nvSpPr>
          <p:cNvPr id="26" name="Rounded Rectangle 21"/>
          <p:cNvSpPr/>
          <p:nvPr/>
        </p:nvSpPr>
        <p:spPr>
          <a:xfrm>
            <a:off x="2074847" y="5486400"/>
            <a:ext cx="2192353" cy="7119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0" rIns="45720" bIns="0" numCol="1" spcCol="1270" anchor="ctr" anchorCtr="0">
            <a:noAutofit/>
          </a:bodyPr>
          <a:lstStyle/>
          <a:p>
            <a:pPr lvl="0" algn="l" defTabSz="533400" rtl="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Delegated Authentication SDK (DelAuth)</a:t>
            </a:r>
            <a:endParaRPr lang="en-US" sz="1400" b="1" kern="1200" dirty="0">
              <a:effectLst>
                <a:outerShdw blurRad="38100" dist="38100" dir="2700000" algn="tl">
                  <a:srgbClr val="000000">
                    <a:alpha val="43137"/>
                  </a:srgbClr>
                </a:outerShdw>
              </a:effectLst>
            </a:endParaRPr>
          </a:p>
        </p:txBody>
      </p:sp>
      <p:sp>
        <p:nvSpPr>
          <p:cNvPr id="22" name="Rounded Rectangle 26"/>
          <p:cNvSpPr/>
          <p:nvPr/>
        </p:nvSpPr>
        <p:spPr>
          <a:xfrm>
            <a:off x="4668161" y="5486400"/>
            <a:ext cx="2189839" cy="7119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0" rIns="45720" bIns="0" numCol="1" spcCol="1270" anchor="ctr" anchorCtr="0">
            <a:noAutofit/>
          </a:bodyPr>
          <a:lstStyle/>
          <a:p>
            <a:pPr lvl="0" algn="l" defTabSz="533400" rtl="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Windows Live Tools for Visual Studio</a:t>
            </a:r>
            <a:endParaRPr lang="en-US" sz="1400" b="1" kern="1200" dirty="0">
              <a:effectLst>
                <a:outerShdw blurRad="38100" dist="38100" dir="2700000" algn="tl">
                  <a:srgbClr val="000000">
                    <a:alpha val="43137"/>
                  </a:srgbClr>
                </a:outerShdw>
              </a:effectLst>
            </a:endParaRPr>
          </a:p>
        </p:txBody>
      </p:sp>
      <p:sp>
        <p:nvSpPr>
          <p:cNvPr id="2" name="Title 1"/>
          <p:cNvSpPr>
            <a:spLocks noGrp="1"/>
          </p:cNvSpPr>
          <p:nvPr>
            <p:ph type="title"/>
          </p:nvPr>
        </p:nvSpPr>
        <p:spPr/>
        <p:txBody>
          <a:bodyPr/>
          <a:lstStyle/>
          <a:p>
            <a:r>
              <a:rPr smtClean="0"/>
              <a:t>Live ID - Integration SDKs</a:t>
            </a:r>
            <a:endParaRPr lang="en-US" dirty="0"/>
          </a:p>
        </p:txBody>
      </p:sp>
      <p:pic>
        <p:nvPicPr>
          <p:cNvPr id="41"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mtClean="0"/>
              <a:t>Windows Live ID Federation &amp; Provisioning</a:t>
            </a:r>
            <a:endParaRPr lang="en-US" dirty="0"/>
          </a:p>
        </p:txBody>
      </p:sp>
      <p:sp>
        <p:nvSpPr>
          <p:cNvPr id="3" name="Subtitle 2"/>
          <p:cNvSpPr>
            <a:spLocks noGrp="1"/>
          </p:cNvSpPr>
          <p:nvPr>
            <p:ph type="subTitle" idx="1"/>
          </p:nvPr>
        </p:nvSpPr>
        <p:spPr/>
        <p:txBody>
          <a:bodyPr/>
          <a:lstStyle/>
          <a:p>
            <a:r>
              <a:rPr lang="en-US" dirty="0" smtClean="0">
                <a:solidFill>
                  <a:schemeClr val="tx2"/>
                </a:solidFill>
              </a:rPr>
              <a:t>Enabling the enterprise…</a:t>
            </a:r>
            <a:endParaRPr lang="en-US" dirty="0">
              <a:solidFill>
                <a:schemeClr val="tx2"/>
              </a:solidFill>
            </a:endParaRPr>
          </a:p>
        </p:txBody>
      </p:sp>
      <p:pic>
        <p:nvPicPr>
          <p:cNvPr id="5" name="Picture 2" descr="\\tkzaw-pro-17\mydocs4\jthelin\My Documents\My Pictures\live-id-logo.jpg"/>
          <p:cNvPicPr>
            <a:picLocks noChangeAspect="1" noChangeArrowheads="1"/>
          </p:cNvPicPr>
          <p:nvPr/>
        </p:nvPicPr>
        <p:blipFill>
          <a:blip r:embed="rId2"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smtClean="0"/>
              <a:t>Why Federate?</a:t>
            </a:r>
            <a:endParaRPr lang="en-US" dirty="0"/>
          </a:p>
        </p:txBody>
      </p:sp>
      <p:sp>
        <p:nvSpPr>
          <p:cNvPr id="6" name="Text Placeholder 5"/>
          <p:cNvSpPr>
            <a:spLocks noGrp="1"/>
          </p:cNvSpPr>
          <p:nvPr>
            <p:ph type="body" sz="quarter" idx="10"/>
          </p:nvPr>
        </p:nvSpPr>
        <p:spPr>
          <a:xfrm>
            <a:off x="381000" y="1411553"/>
            <a:ext cx="8382000" cy="5141648"/>
          </a:xfrm>
        </p:spPr>
        <p:txBody>
          <a:bodyPr>
            <a:normAutofit fontScale="92500" lnSpcReduction="10000"/>
          </a:bodyPr>
          <a:lstStyle/>
          <a:p>
            <a:r>
              <a:rPr lang="en-US" dirty="0" smtClean="0"/>
              <a:t>Organizations can collaborate without creating or managing lots of new accounts</a:t>
            </a:r>
          </a:p>
          <a:p>
            <a:pPr lvl="1"/>
            <a:endParaRPr lang="en-US" dirty="0" smtClean="0"/>
          </a:p>
          <a:p>
            <a:r>
              <a:rPr lang="en-US" kern="0" dirty="0" smtClean="0">
                <a:latin typeface="Calibri" pitchFamily="34" charset="0"/>
              </a:rPr>
              <a:t>Partners can include Live Services in their offerings to customer – for example hosted e-mail</a:t>
            </a:r>
          </a:p>
          <a:p>
            <a:pPr lvl="1"/>
            <a:endParaRPr lang="en-US" dirty="0" smtClean="0"/>
          </a:p>
          <a:p>
            <a:r>
              <a:rPr lang="en-US" dirty="0" smtClean="0"/>
              <a:t>Benefits:</a:t>
            </a:r>
          </a:p>
          <a:p>
            <a:pPr lvl="2"/>
            <a:endParaRPr lang="en-US" dirty="0" smtClean="0"/>
          </a:p>
          <a:p>
            <a:pPr lvl="1"/>
            <a:r>
              <a:rPr lang="en-US" dirty="0" smtClean="0"/>
              <a:t>For users – smooth single sign-on (SSO) experience</a:t>
            </a:r>
          </a:p>
          <a:p>
            <a:pPr lvl="2"/>
            <a:endParaRPr lang="en-US" dirty="0" smtClean="0"/>
          </a:p>
          <a:p>
            <a:pPr lvl="1"/>
            <a:r>
              <a:rPr lang="en-US" dirty="0" smtClean="0"/>
              <a:t>For organizations – offer wider range of services to their users at reduced cost</a:t>
            </a:r>
          </a:p>
        </p:txBody>
      </p:sp>
      <p:pic>
        <p:nvPicPr>
          <p:cNvPr id="8"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304800" y="152400"/>
            <a:ext cx="7924800" cy="609600"/>
          </a:xfrm>
        </p:spPr>
        <p:txBody>
          <a:bodyPr>
            <a:normAutofit fontScale="90000"/>
          </a:bodyPr>
          <a:lstStyle/>
          <a:p>
            <a:pPr eaLnBrk="1" hangingPunct="1"/>
            <a:r>
              <a:rPr lang="en-US" dirty="0" smtClean="0"/>
              <a:t>Federated Authentication Flow</a:t>
            </a:r>
          </a:p>
        </p:txBody>
      </p:sp>
      <p:pic>
        <p:nvPicPr>
          <p:cNvPr id="1026" name="Picture 2" descr="C:\Users\alogan\Desktop\Presentation Artwork\Latest DVD\Artwork_Imagery\Icons - Illustrations\_SECURITY ICONS\Security Download Server.png"/>
          <p:cNvPicPr>
            <a:picLocks noChangeAspect="1" noChangeArrowheads="1"/>
          </p:cNvPicPr>
          <p:nvPr/>
        </p:nvPicPr>
        <p:blipFill>
          <a:blip r:embed="rId3" cstate="print"/>
          <a:srcRect/>
          <a:stretch>
            <a:fillRect/>
          </a:stretch>
        </p:blipFill>
        <p:spPr bwMode="auto">
          <a:xfrm>
            <a:off x="4571999" y="990600"/>
            <a:ext cx="681248" cy="1011612"/>
          </a:xfrm>
          <a:prstGeom prst="rect">
            <a:avLst/>
          </a:prstGeom>
          <a:noFill/>
        </p:spPr>
      </p:pic>
      <p:pic>
        <p:nvPicPr>
          <p:cNvPr id="7" name="Picture 2" descr="C:\Users\alogan\Desktop\Presentation Artwork\Latest DVD\Artwork_Imagery\Icons - Illustrations\_SECURITY ICONS\Security Download Server.png"/>
          <p:cNvPicPr>
            <a:picLocks noChangeAspect="1" noChangeArrowheads="1"/>
          </p:cNvPicPr>
          <p:nvPr/>
        </p:nvPicPr>
        <p:blipFill>
          <a:blip r:embed="rId3" cstate="print"/>
          <a:srcRect/>
          <a:stretch>
            <a:fillRect/>
          </a:stretch>
        </p:blipFill>
        <p:spPr bwMode="auto">
          <a:xfrm>
            <a:off x="6364976" y="1000780"/>
            <a:ext cx="681248" cy="1011612"/>
          </a:xfrm>
          <a:prstGeom prst="rect">
            <a:avLst/>
          </a:prstGeom>
          <a:noFill/>
        </p:spPr>
      </p:pic>
      <p:pic>
        <p:nvPicPr>
          <p:cNvPr id="1027" name="Picture 3" descr="C:\Users\alogan\Desktop\Presentation Artwork\Latest DVD\Artwork_Imagery\Icons - Illustrations\_XML ICONS\Servers computer.png"/>
          <p:cNvPicPr>
            <a:picLocks noChangeAspect="1" noChangeArrowheads="1"/>
          </p:cNvPicPr>
          <p:nvPr/>
        </p:nvPicPr>
        <p:blipFill>
          <a:blip r:embed="rId4" cstate="print"/>
          <a:srcRect/>
          <a:stretch>
            <a:fillRect/>
          </a:stretch>
        </p:blipFill>
        <p:spPr bwMode="auto">
          <a:xfrm>
            <a:off x="8229600" y="990600"/>
            <a:ext cx="685800" cy="1011612"/>
          </a:xfrm>
          <a:prstGeom prst="rect">
            <a:avLst/>
          </a:prstGeom>
          <a:noFill/>
        </p:spPr>
      </p:pic>
      <p:sp>
        <p:nvSpPr>
          <p:cNvPr id="9" name="TextBox 8"/>
          <p:cNvSpPr txBox="1"/>
          <p:nvPr/>
        </p:nvSpPr>
        <p:spPr>
          <a:xfrm>
            <a:off x="7848600" y="2002212"/>
            <a:ext cx="1295400" cy="523220"/>
          </a:xfrm>
          <a:prstGeom prst="rect">
            <a:avLst/>
          </a:prstGeom>
          <a:noFill/>
        </p:spPr>
        <p:txBody>
          <a:bodyPr wrap="square" rtlCol="0">
            <a:spAutoFit/>
          </a:bodyPr>
          <a:lstStyle/>
          <a:p>
            <a:pPr algn="ctr"/>
            <a:r>
              <a:rPr lang="en-US" sz="14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Windows Live Service</a:t>
            </a:r>
          </a:p>
        </p:txBody>
      </p:sp>
      <p:sp>
        <p:nvSpPr>
          <p:cNvPr id="10" name="TextBox 9"/>
          <p:cNvSpPr txBox="1"/>
          <p:nvPr/>
        </p:nvSpPr>
        <p:spPr>
          <a:xfrm>
            <a:off x="5943600" y="2002212"/>
            <a:ext cx="1524000" cy="523220"/>
          </a:xfrm>
          <a:prstGeom prst="rect">
            <a:avLst/>
          </a:prstGeom>
          <a:noFill/>
        </p:spPr>
        <p:txBody>
          <a:bodyPr wrap="square" rtlCol="0">
            <a:spAutoFit/>
          </a:bodyPr>
          <a:lstStyle/>
          <a:p>
            <a:pPr algn="ctr"/>
            <a:r>
              <a:rPr lang="en-US" sz="14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Windows Live ID IP/STS</a:t>
            </a:r>
          </a:p>
        </p:txBody>
      </p:sp>
      <p:sp>
        <p:nvSpPr>
          <p:cNvPr id="11" name="TextBox 10"/>
          <p:cNvSpPr txBox="1"/>
          <p:nvPr/>
        </p:nvSpPr>
        <p:spPr>
          <a:xfrm>
            <a:off x="4267200" y="2002212"/>
            <a:ext cx="1345580" cy="677108"/>
          </a:xfrm>
          <a:prstGeom prst="rect">
            <a:avLst/>
          </a:prstGeom>
          <a:noFill/>
        </p:spPr>
        <p:txBody>
          <a:bodyPr wrap="square" rtlCol="0">
            <a:spAutoFit/>
          </a:bodyPr>
          <a:lstStyle/>
          <a:p>
            <a:pPr algn="ctr"/>
            <a:r>
              <a:rPr lang="en-US" sz="14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User’s IP/STS </a:t>
            </a:r>
            <a:r>
              <a:rPr lang="en-US" sz="12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(Federated Partner)</a:t>
            </a:r>
            <a:endParaRPr lang="en-US" sz="14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endParaRPr>
          </a:p>
        </p:txBody>
      </p:sp>
      <p:pic>
        <p:nvPicPr>
          <p:cNvPr id="12" name="Picture 2" descr="C:\Users\alogan\Desktop\Presentation Artwork\Latest DVD\Artwork_Imagery\Icons - Illustrations\_XML ICONS\pc computer desktop.png"/>
          <p:cNvPicPr>
            <a:picLocks noChangeAspect="1" noChangeArrowheads="1"/>
          </p:cNvPicPr>
          <p:nvPr/>
        </p:nvPicPr>
        <p:blipFill>
          <a:blip r:embed="rId5" cstate="print"/>
          <a:srcRect/>
          <a:stretch>
            <a:fillRect/>
          </a:stretch>
        </p:blipFill>
        <p:spPr bwMode="auto">
          <a:xfrm>
            <a:off x="6096000" y="5307981"/>
            <a:ext cx="1143000" cy="1140437"/>
          </a:xfrm>
          <a:prstGeom prst="rect">
            <a:avLst/>
          </a:prstGeom>
          <a:noFill/>
        </p:spPr>
      </p:pic>
      <p:sp>
        <p:nvSpPr>
          <p:cNvPr id="14" name="TextBox 13"/>
          <p:cNvSpPr txBox="1"/>
          <p:nvPr/>
        </p:nvSpPr>
        <p:spPr>
          <a:xfrm>
            <a:off x="5629507" y="6341027"/>
            <a:ext cx="2133600" cy="338554"/>
          </a:xfrm>
          <a:prstGeom prst="rect">
            <a:avLst/>
          </a:prstGeom>
          <a:noFill/>
        </p:spPr>
        <p:txBody>
          <a:bodyPr wrap="square" rtlCol="0">
            <a:spAutoFit/>
          </a:bodyPr>
          <a:lstStyle/>
          <a:p>
            <a:pPr algn="ctr"/>
            <a: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Client Application</a:t>
            </a:r>
          </a:p>
        </p:txBody>
      </p:sp>
      <p:sp>
        <p:nvSpPr>
          <p:cNvPr id="18" name="Down Arrow 17"/>
          <p:cNvSpPr/>
          <p:nvPr/>
        </p:nvSpPr>
        <p:spPr bwMode="auto">
          <a:xfrm>
            <a:off x="6790194" y="2520582"/>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9" name="Down Arrow 18"/>
          <p:cNvSpPr/>
          <p:nvPr/>
        </p:nvSpPr>
        <p:spPr bwMode="auto">
          <a:xfrm flipV="1">
            <a:off x="6218137" y="2535822"/>
            <a:ext cx="640080" cy="2690382"/>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0" name="TextBox 19"/>
          <p:cNvSpPr txBox="1"/>
          <p:nvPr/>
        </p:nvSpPr>
        <p:spPr>
          <a:xfrm rot="5400000">
            <a:off x="5784545" y="3694211"/>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Windows Live service token</a:t>
            </a:r>
          </a:p>
        </p:txBody>
      </p:sp>
      <p:sp>
        <p:nvSpPr>
          <p:cNvPr id="21" name="TextBox 20"/>
          <p:cNvSpPr txBox="1"/>
          <p:nvPr/>
        </p:nvSpPr>
        <p:spPr>
          <a:xfrm rot="5400000">
            <a:off x="5226089" y="3723054"/>
            <a:ext cx="2609315"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IP/STS token</a:t>
            </a:r>
          </a:p>
        </p:txBody>
      </p:sp>
      <p:sp>
        <p:nvSpPr>
          <p:cNvPr id="22" name="Down Arrow 21"/>
          <p:cNvSpPr/>
          <p:nvPr/>
        </p:nvSpPr>
        <p:spPr bwMode="auto">
          <a:xfrm rot="20219461">
            <a:off x="5235064" y="2835377"/>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3" name="Down Arrow 22"/>
          <p:cNvSpPr/>
          <p:nvPr/>
        </p:nvSpPr>
        <p:spPr bwMode="auto">
          <a:xfrm rot="20135125" flipV="1">
            <a:off x="4689006" y="2905234"/>
            <a:ext cx="640080"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4" name="TextBox 23"/>
          <p:cNvSpPr txBox="1"/>
          <p:nvPr/>
        </p:nvSpPr>
        <p:spPr>
          <a:xfrm rot="4019461">
            <a:off x="4186969" y="4009006"/>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IP/STS token</a:t>
            </a:r>
          </a:p>
        </p:txBody>
      </p:sp>
      <p:sp>
        <p:nvSpPr>
          <p:cNvPr id="25" name="TextBox 24"/>
          <p:cNvSpPr txBox="1"/>
          <p:nvPr/>
        </p:nvSpPr>
        <p:spPr>
          <a:xfrm rot="3935125">
            <a:off x="3681545" y="4121307"/>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User name, password</a:t>
            </a:r>
          </a:p>
        </p:txBody>
      </p:sp>
      <p:sp>
        <p:nvSpPr>
          <p:cNvPr id="26" name="Down Arrow 25"/>
          <p:cNvSpPr/>
          <p:nvPr/>
        </p:nvSpPr>
        <p:spPr bwMode="auto">
          <a:xfrm rot="11898793">
            <a:off x="7703002" y="2596490"/>
            <a:ext cx="640080"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7" name="Down Arrow 26"/>
          <p:cNvSpPr/>
          <p:nvPr/>
        </p:nvSpPr>
        <p:spPr bwMode="auto">
          <a:xfrm rot="11898793" flipV="1">
            <a:off x="8089156" y="3014183"/>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8" name="TextBox 27"/>
          <p:cNvSpPr txBox="1"/>
          <p:nvPr/>
        </p:nvSpPr>
        <p:spPr>
          <a:xfrm rot="17298793">
            <a:off x="7175912" y="4109277"/>
            <a:ext cx="2526761"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Personalized content</a:t>
            </a:r>
          </a:p>
        </p:txBody>
      </p:sp>
      <p:sp>
        <p:nvSpPr>
          <p:cNvPr id="29" name="TextBox 28"/>
          <p:cNvSpPr txBox="1"/>
          <p:nvPr/>
        </p:nvSpPr>
        <p:spPr>
          <a:xfrm rot="17298793">
            <a:off x="6658182" y="3849718"/>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Windows Live service token</a:t>
            </a:r>
          </a:p>
        </p:txBody>
      </p:sp>
      <p:sp>
        <p:nvSpPr>
          <p:cNvPr id="30" name="Rectangle 29"/>
          <p:cNvSpPr/>
          <p:nvPr/>
        </p:nvSpPr>
        <p:spPr>
          <a:xfrm>
            <a:off x="76200" y="5029200"/>
            <a:ext cx="4267200" cy="1046440"/>
          </a:xfrm>
          <a:prstGeom prst="rect">
            <a:avLst/>
          </a:prstGeom>
        </p:spPr>
        <p:txBody>
          <a:bodyPr wrap="square">
            <a:spAutoFit/>
          </a:bodyPr>
          <a:lstStyle/>
          <a:p>
            <a:pPr indent="3175">
              <a:defRPr/>
            </a:pPr>
            <a:r>
              <a:rPr lang="en-US" sz="2000" b="1" u="sng" dirty="0" smtClean="0">
                <a:solidFill>
                  <a:schemeClr val="tx2"/>
                </a:solidFill>
              </a:rPr>
              <a:t>Step 3</a:t>
            </a:r>
            <a:r>
              <a:rPr lang="en-US" sz="2000" b="1" dirty="0" smtClean="0">
                <a:solidFill>
                  <a:schemeClr val="tx2"/>
                </a:solidFill>
              </a:rPr>
              <a:t> </a:t>
            </a:r>
            <a:r>
              <a:rPr lang="en-US" b="1" dirty="0" smtClean="0">
                <a:solidFill>
                  <a:schemeClr val="tx2"/>
                </a:solidFill>
              </a:rPr>
              <a:t>(Service Sign-in)</a:t>
            </a:r>
          </a:p>
          <a:p>
            <a:pPr indent="3175">
              <a:defRPr/>
            </a:pPr>
            <a:r>
              <a:rPr lang="en-US" sz="1400" dirty="0" smtClean="0"/>
              <a:t>The issued service token is sent to the Windows Live service that the user originally wanted to access.</a:t>
            </a:r>
          </a:p>
        </p:txBody>
      </p:sp>
      <p:sp>
        <p:nvSpPr>
          <p:cNvPr id="31" name="Rectangle 30"/>
          <p:cNvSpPr/>
          <p:nvPr/>
        </p:nvSpPr>
        <p:spPr>
          <a:xfrm>
            <a:off x="76200" y="2703493"/>
            <a:ext cx="4267200" cy="1908215"/>
          </a:xfrm>
          <a:prstGeom prst="rect">
            <a:avLst/>
          </a:prstGeom>
        </p:spPr>
        <p:txBody>
          <a:bodyPr wrap="square">
            <a:spAutoFit/>
          </a:bodyPr>
          <a:lstStyle/>
          <a:p>
            <a:pPr indent="3175">
              <a:defRPr/>
            </a:pPr>
            <a:r>
              <a:rPr lang="en-US" sz="2000" b="1" u="sng" dirty="0" smtClean="0">
                <a:solidFill>
                  <a:schemeClr val="tx2"/>
                </a:solidFill>
              </a:rPr>
              <a:t>Step 2</a:t>
            </a:r>
            <a:r>
              <a:rPr lang="en-US" sz="2000" b="1" dirty="0" smtClean="0">
                <a:solidFill>
                  <a:schemeClr val="tx2"/>
                </a:solidFill>
              </a:rPr>
              <a:t> </a:t>
            </a:r>
            <a:r>
              <a:rPr lang="en-US" b="1" dirty="0" smtClean="0">
                <a:solidFill>
                  <a:schemeClr val="tx2"/>
                </a:solidFill>
              </a:rPr>
              <a:t>(Windows Live ID Sign-in)</a:t>
            </a:r>
          </a:p>
          <a:p>
            <a:pPr indent="3175">
              <a:defRPr/>
            </a:pPr>
            <a:r>
              <a:rPr lang="en-US" sz="1400" dirty="0" smtClean="0"/>
              <a:t>IP token is sent to Windows Live ID. </a:t>
            </a:r>
          </a:p>
          <a:p>
            <a:pPr indent="3175">
              <a:defRPr/>
            </a:pPr>
            <a:r>
              <a:rPr lang="en-US" sz="1400" dirty="0" smtClean="0"/>
              <a:t>Windows Live ID STS converts the token from the federated partner to a Windows Live service token. </a:t>
            </a:r>
            <a:br>
              <a:rPr lang="en-US" sz="1400" dirty="0" smtClean="0"/>
            </a:br>
            <a:endParaRPr lang="en-US" sz="1400" dirty="0" smtClean="0"/>
          </a:p>
          <a:p>
            <a:pPr indent="3175">
              <a:defRPr/>
            </a:pPr>
            <a:r>
              <a:rPr lang="en-US" sz="1400" dirty="0" smtClean="0"/>
              <a:t>On the user’s first visit, the Windows Live ID service maps the federated user account to a Windows Live ID unique identifier (PUID) and shadow account.</a:t>
            </a:r>
          </a:p>
        </p:txBody>
      </p:sp>
      <p:sp>
        <p:nvSpPr>
          <p:cNvPr id="32" name="Rectangle 31"/>
          <p:cNvSpPr/>
          <p:nvPr/>
        </p:nvSpPr>
        <p:spPr>
          <a:xfrm>
            <a:off x="76200" y="1024116"/>
            <a:ext cx="4267200" cy="1261884"/>
          </a:xfrm>
          <a:prstGeom prst="rect">
            <a:avLst/>
          </a:prstGeom>
        </p:spPr>
        <p:txBody>
          <a:bodyPr wrap="square">
            <a:spAutoFit/>
          </a:bodyPr>
          <a:lstStyle/>
          <a:p>
            <a:pPr indent="3175">
              <a:defRPr/>
            </a:pPr>
            <a:r>
              <a:rPr lang="en-US" sz="2000" b="1" u="sng" dirty="0" smtClean="0">
                <a:solidFill>
                  <a:schemeClr val="tx2"/>
                </a:solidFill>
              </a:rPr>
              <a:t>Step 1</a:t>
            </a:r>
            <a:r>
              <a:rPr lang="en-US" sz="2000" b="1" dirty="0" smtClean="0">
                <a:solidFill>
                  <a:schemeClr val="tx2"/>
                </a:solidFill>
              </a:rPr>
              <a:t> </a:t>
            </a:r>
            <a:r>
              <a:rPr lang="en-US" b="1" dirty="0" smtClean="0">
                <a:solidFill>
                  <a:schemeClr val="tx2"/>
                </a:solidFill>
              </a:rPr>
              <a:t>(Partner Sign-in)</a:t>
            </a:r>
          </a:p>
          <a:p>
            <a:pPr indent="3175">
              <a:defRPr/>
            </a:pPr>
            <a:r>
              <a:rPr lang="en-US" sz="1400" dirty="0" smtClean="0"/>
              <a:t>A user sends credentials to the federated partner identity provider. The federated partner’s </a:t>
            </a:r>
            <a:r>
              <a:rPr lang="en-US" sz="1400" i="1" dirty="0" smtClean="0"/>
              <a:t>Security Token Service (STS)</a:t>
            </a:r>
            <a:r>
              <a:rPr lang="en-US" sz="1400" dirty="0" smtClean="0"/>
              <a:t> generates an IP token and returns it to the user. </a:t>
            </a:r>
          </a:p>
        </p:txBody>
      </p:sp>
      <p:pic>
        <p:nvPicPr>
          <p:cNvPr id="34" name="Picture 2" descr="\\tkzaw-pro-17\mydocs4\jthelin\My Documents\My Pictures\live-id-logo.jpg"/>
          <p:cNvPicPr>
            <a:picLocks noChangeAspect="1" noChangeArrowheads="1"/>
          </p:cNvPicPr>
          <p:nvPr/>
        </p:nvPicPr>
        <p:blipFill>
          <a:blip r:embed="rId6"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p:cTn id="13" dur="500" fill="hold"/>
                                        <p:tgtEl>
                                          <p:spTgt spid="1026"/>
                                        </p:tgtEl>
                                        <p:attrNameLst>
                                          <p:attrName>ppt_w</p:attrName>
                                        </p:attrNameLst>
                                      </p:cBhvr>
                                      <p:tavLst>
                                        <p:tav tm="0">
                                          <p:val>
                                            <p:fltVal val="0"/>
                                          </p:val>
                                        </p:tav>
                                        <p:tav tm="100000">
                                          <p:val>
                                            <p:strVal val="#ppt_w"/>
                                          </p:val>
                                        </p:tav>
                                      </p:tavLst>
                                    </p:anim>
                                    <p:anim calcmode="lin" valueType="num">
                                      <p:cBhvr>
                                        <p:cTn id="14" dur="500" fill="hold"/>
                                        <p:tgtEl>
                                          <p:spTgt spid="1026"/>
                                        </p:tgtEl>
                                        <p:attrNameLst>
                                          <p:attrName>ppt_h</p:attrName>
                                        </p:attrNameLst>
                                      </p:cBhvr>
                                      <p:tavLst>
                                        <p:tav tm="0">
                                          <p:val>
                                            <p:fltVal val="0"/>
                                          </p:val>
                                        </p:tav>
                                        <p:tav tm="100000">
                                          <p:val>
                                            <p:strVal val="#ppt_h"/>
                                          </p:val>
                                        </p:tav>
                                      </p:tavLst>
                                    </p:anim>
                                    <p:animEffect transition="in" filter="fade">
                                      <p:cBhvr>
                                        <p:cTn id="15" dur="500"/>
                                        <p:tgtEl>
                                          <p:spTgt spid="1026"/>
                                        </p:tgtEl>
                                      </p:cBhvr>
                                    </p:animEffect>
                                  </p:childTnLst>
                                </p:cTn>
                              </p:par>
                              <p:par>
                                <p:cTn id="16" presetID="53"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1000"/>
                            </p:stCondLst>
                            <p:childTnLst>
                              <p:par>
                                <p:cTn id="22" presetID="22" presetClass="entr" presetSubtype="4"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down)">
                                      <p:cBhvr>
                                        <p:cTn id="24" dur="500"/>
                                        <p:tgtEl>
                                          <p:spTgt spid="25"/>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down)">
                                      <p:cBhvr>
                                        <p:cTn id="27" dur="500"/>
                                        <p:tgtEl>
                                          <p:spTgt spid="23"/>
                                        </p:tgtEl>
                                      </p:cBhvr>
                                    </p:animEffect>
                                  </p:childTnLst>
                                </p:cTn>
                              </p:par>
                            </p:childTnLst>
                          </p:cTn>
                        </p:par>
                        <p:par>
                          <p:cTn id="28" fill="hold">
                            <p:stCondLst>
                              <p:cond delay="1500"/>
                            </p:stCondLst>
                            <p:childTnLst>
                              <p:par>
                                <p:cTn id="29" presetID="22" presetClass="entr" presetSubtype="1"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up)">
                                      <p:cBhvr>
                                        <p:cTn id="31" dur="500"/>
                                        <p:tgtEl>
                                          <p:spTgt spid="24"/>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p:cTn id="39" dur="500" fill="hold"/>
                                        <p:tgtEl>
                                          <p:spTgt spid="31"/>
                                        </p:tgtEl>
                                        <p:attrNameLst>
                                          <p:attrName>ppt_w</p:attrName>
                                        </p:attrNameLst>
                                      </p:cBhvr>
                                      <p:tavLst>
                                        <p:tav tm="0">
                                          <p:val>
                                            <p:fltVal val="0"/>
                                          </p:val>
                                        </p:tav>
                                        <p:tav tm="100000">
                                          <p:val>
                                            <p:strVal val="#ppt_w"/>
                                          </p:val>
                                        </p:tav>
                                      </p:tavLst>
                                    </p:anim>
                                    <p:anim calcmode="lin" valueType="num">
                                      <p:cBhvr>
                                        <p:cTn id="40" dur="500" fill="hold"/>
                                        <p:tgtEl>
                                          <p:spTgt spid="31"/>
                                        </p:tgtEl>
                                        <p:attrNameLst>
                                          <p:attrName>ppt_h</p:attrName>
                                        </p:attrNameLst>
                                      </p:cBhvr>
                                      <p:tavLst>
                                        <p:tav tm="0">
                                          <p:val>
                                            <p:fltVal val="0"/>
                                          </p:val>
                                        </p:tav>
                                        <p:tav tm="100000">
                                          <p:val>
                                            <p:strVal val="#ppt_h"/>
                                          </p:val>
                                        </p:tav>
                                      </p:tavLst>
                                    </p:anim>
                                    <p:animEffect transition="in" filter="fade">
                                      <p:cBhvr>
                                        <p:cTn id="41" dur="500"/>
                                        <p:tgtEl>
                                          <p:spTgt spid="31"/>
                                        </p:tgtEl>
                                      </p:cBhvr>
                                    </p:animEffect>
                                  </p:childTnLst>
                                </p:cTn>
                              </p:par>
                            </p:childTnLst>
                          </p:cTn>
                        </p:par>
                        <p:par>
                          <p:cTn id="42" fill="hold">
                            <p:stCondLst>
                              <p:cond delay="500"/>
                            </p:stCondLst>
                            <p:childTnLst>
                              <p:par>
                                <p:cTn id="43" presetID="53" presetClass="entr" presetSubtype="0"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Effect transition="in" filter="fade">
                                      <p:cBhvr>
                                        <p:cTn id="47" dur="500"/>
                                        <p:tgtEl>
                                          <p:spTgt spid="7"/>
                                        </p:tgtEl>
                                      </p:cBhvr>
                                    </p:animEffect>
                                  </p:childTnLst>
                                </p:cTn>
                              </p:par>
                              <p:par>
                                <p:cTn id="48" presetID="53"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p:cTn id="50" dur="500" fill="hold"/>
                                        <p:tgtEl>
                                          <p:spTgt spid="10"/>
                                        </p:tgtEl>
                                        <p:attrNameLst>
                                          <p:attrName>ppt_w</p:attrName>
                                        </p:attrNameLst>
                                      </p:cBhvr>
                                      <p:tavLst>
                                        <p:tav tm="0">
                                          <p:val>
                                            <p:fltVal val="0"/>
                                          </p:val>
                                        </p:tav>
                                        <p:tav tm="100000">
                                          <p:val>
                                            <p:strVal val="#ppt_w"/>
                                          </p:val>
                                        </p:tav>
                                      </p:tavLst>
                                    </p:anim>
                                    <p:anim calcmode="lin" valueType="num">
                                      <p:cBhvr>
                                        <p:cTn id="51" dur="500" fill="hold"/>
                                        <p:tgtEl>
                                          <p:spTgt spid="10"/>
                                        </p:tgtEl>
                                        <p:attrNameLst>
                                          <p:attrName>ppt_h</p:attrName>
                                        </p:attrNameLst>
                                      </p:cBhvr>
                                      <p:tavLst>
                                        <p:tav tm="0">
                                          <p:val>
                                            <p:fltVal val="0"/>
                                          </p:val>
                                        </p:tav>
                                        <p:tav tm="100000">
                                          <p:val>
                                            <p:strVal val="#ppt_h"/>
                                          </p:val>
                                        </p:tav>
                                      </p:tavLst>
                                    </p:anim>
                                    <p:animEffect transition="in" filter="fade">
                                      <p:cBhvr>
                                        <p:cTn id="52" dur="500"/>
                                        <p:tgtEl>
                                          <p:spTgt spid="10"/>
                                        </p:tgtEl>
                                      </p:cBhvr>
                                    </p:animEffect>
                                  </p:childTnLst>
                                </p:cTn>
                              </p:par>
                            </p:childTnLst>
                          </p:cTn>
                        </p:par>
                        <p:par>
                          <p:cTn id="53" fill="hold">
                            <p:stCondLst>
                              <p:cond delay="1000"/>
                            </p:stCondLst>
                            <p:childTnLst>
                              <p:par>
                                <p:cTn id="54" presetID="22" presetClass="entr" presetSubtype="4"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down)">
                                      <p:cBhvr>
                                        <p:cTn id="56" dur="500"/>
                                        <p:tgtEl>
                                          <p:spTgt spid="19"/>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down)">
                                      <p:cBhvr>
                                        <p:cTn id="59" dur="500"/>
                                        <p:tgtEl>
                                          <p:spTgt spid="21"/>
                                        </p:tgtEl>
                                      </p:cBhvr>
                                    </p:animEffect>
                                  </p:childTnLst>
                                </p:cTn>
                              </p:par>
                            </p:childTnLst>
                          </p:cTn>
                        </p:par>
                        <p:par>
                          <p:cTn id="60" fill="hold">
                            <p:stCondLst>
                              <p:cond delay="1500"/>
                            </p:stCondLst>
                            <p:childTnLst>
                              <p:par>
                                <p:cTn id="61" presetID="22" presetClass="entr" presetSubtype="1" fill="hold" grpId="0"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up)">
                                      <p:cBhvr>
                                        <p:cTn id="63" dur="500"/>
                                        <p:tgtEl>
                                          <p:spTgt spid="20"/>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up)">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p:cTn id="71" dur="500" fill="hold"/>
                                        <p:tgtEl>
                                          <p:spTgt spid="30"/>
                                        </p:tgtEl>
                                        <p:attrNameLst>
                                          <p:attrName>ppt_w</p:attrName>
                                        </p:attrNameLst>
                                      </p:cBhvr>
                                      <p:tavLst>
                                        <p:tav tm="0">
                                          <p:val>
                                            <p:fltVal val="0"/>
                                          </p:val>
                                        </p:tav>
                                        <p:tav tm="100000">
                                          <p:val>
                                            <p:strVal val="#ppt_w"/>
                                          </p:val>
                                        </p:tav>
                                      </p:tavLst>
                                    </p:anim>
                                    <p:anim calcmode="lin" valueType="num">
                                      <p:cBhvr>
                                        <p:cTn id="72" dur="500" fill="hold"/>
                                        <p:tgtEl>
                                          <p:spTgt spid="30"/>
                                        </p:tgtEl>
                                        <p:attrNameLst>
                                          <p:attrName>ppt_h</p:attrName>
                                        </p:attrNameLst>
                                      </p:cBhvr>
                                      <p:tavLst>
                                        <p:tav tm="0">
                                          <p:val>
                                            <p:fltVal val="0"/>
                                          </p:val>
                                        </p:tav>
                                        <p:tav tm="100000">
                                          <p:val>
                                            <p:strVal val="#ppt_h"/>
                                          </p:val>
                                        </p:tav>
                                      </p:tavLst>
                                    </p:anim>
                                    <p:animEffect transition="in" filter="fade">
                                      <p:cBhvr>
                                        <p:cTn id="73" dur="500"/>
                                        <p:tgtEl>
                                          <p:spTgt spid="30"/>
                                        </p:tgtEl>
                                      </p:cBhvr>
                                    </p:animEffect>
                                  </p:childTnLst>
                                </p:cTn>
                              </p:par>
                            </p:childTnLst>
                          </p:cTn>
                        </p:par>
                        <p:par>
                          <p:cTn id="74" fill="hold">
                            <p:stCondLst>
                              <p:cond delay="500"/>
                            </p:stCondLst>
                            <p:childTnLst>
                              <p:par>
                                <p:cTn id="75" presetID="53" presetClass="entr" presetSubtype="0" fill="hold" nodeType="afterEffect">
                                  <p:stCondLst>
                                    <p:cond delay="0"/>
                                  </p:stCondLst>
                                  <p:childTnLst>
                                    <p:set>
                                      <p:cBhvr>
                                        <p:cTn id="76" dur="1" fill="hold">
                                          <p:stCondLst>
                                            <p:cond delay="0"/>
                                          </p:stCondLst>
                                        </p:cTn>
                                        <p:tgtEl>
                                          <p:spTgt spid="1027"/>
                                        </p:tgtEl>
                                        <p:attrNameLst>
                                          <p:attrName>style.visibility</p:attrName>
                                        </p:attrNameLst>
                                      </p:cBhvr>
                                      <p:to>
                                        <p:strVal val="visible"/>
                                      </p:to>
                                    </p:set>
                                    <p:anim calcmode="lin" valueType="num">
                                      <p:cBhvr>
                                        <p:cTn id="77" dur="500" fill="hold"/>
                                        <p:tgtEl>
                                          <p:spTgt spid="1027"/>
                                        </p:tgtEl>
                                        <p:attrNameLst>
                                          <p:attrName>ppt_w</p:attrName>
                                        </p:attrNameLst>
                                      </p:cBhvr>
                                      <p:tavLst>
                                        <p:tav tm="0">
                                          <p:val>
                                            <p:fltVal val="0"/>
                                          </p:val>
                                        </p:tav>
                                        <p:tav tm="100000">
                                          <p:val>
                                            <p:strVal val="#ppt_w"/>
                                          </p:val>
                                        </p:tav>
                                      </p:tavLst>
                                    </p:anim>
                                    <p:anim calcmode="lin" valueType="num">
                                      <p:cBhvr>
                                        <p:cTn id="78" dur="500" fill="hold"/>
                                        <p:tgtEl>
                                          <p:spTgt spid="1027"/>
                                        </p:tgtEl>
                                        <p:attrNameLst>
                                          <p:attrName>ppt_h</p:attrName>
                                        </p:attrNameLst>
                                      </p:cBhvr>
                                      <p:tavLst>
                                        <p:tav tm="0">
                                          <p:val>
                                            <p:fltVal val="0"/>
                                          </p:val>
                                        </p:tav>
                                        <p:tav tm="100000">
                                          <p:val>
                                            <p:strVal val="#ppt_h"/>
                                          </p:val>
                                        </p:tav>
                                      </p:tavLst>
                                    </p:anim>
                                    <p:animEffect transition="in" filter="fade">
                                      <p:cBhvr>
                                        <p:cTn id="79" dur="500"/>
                                        <p:tgtEl>
                                          <p:spTgt spid="1027"/>
                                        </p:tgtEl>
                                      </p:cBhvr>
                                    </p:animEffect>
                                  </p:childTnLst>
                                </p:cTn>
                              </p:par>
                              <p:par>
                                <p:cTn id="80" presetID="53" presetClass="entr" presetSubtype="0" fill="hold" grpId="0" nodeType="withEffect">
                                  <p:stCondLst>
                                    <p:cond delay="0"/>
                                  </p:stCondLst>
                                  <p:childTnLst>
                                    <p:set>
                                      <p:cBhvr>
                                        <p:cTn id="81" dur="1" fill="hold">
                                          <p:stCondLst>
                                            <p:cond delay="0"/>
                                          </p:stCondLst>
                                        </p:cTn>
                                        <p:tgtEl>
                                          <p:spTgt spid="9"/>
                                        </p:tgtEl>
                                        <p:attrNameLst>
                                          <p:attrName>style.visibility</p:attrName>
                                        </p:attrNameLst>
                                      </p:cBhvr>
                                      <p:to>
                                        <p:strVal val="visible"/>
                                      </p:to>
                                    </p:set>
                                    <p:anim calcmode="lin" valueType="num">
                                      <p:cBhvr>
                                        <p:cTn id="82" dur="500" fill="hold"/>
                                        <p:tgtEl>
                                          <p:spTgt spid="9"/>
                                        </p:tgtEl>
                                        <p:attrNameLst>
                                          <p:attrName>ppt_w</p:attrName>
                                        </p:attrNameLst>
                                      </p:cBhvr>
                                      <p:tavLst>
                                        <p:tav tm="0">
                                          <p:val>
                                            <p:fltVal val="0"/>
                                          </p:val>
                                        </p:tav>
                                        <p:tav tm="100000">
                                          <p:val>
                                            <p:strVal val="#ppt_w"/>
                                          </p:val>
                                        </p:tav>
                                      </p:tavLst>
                                    </p:anim>
                                    <p:anim calcmode="lin" valueType="num">
                                      <p:cBhvr>
                                        <p:cTn id="83" dur="500" fill="hold"/>
                                        <p:tgtEl>
                                          <p:spTgt spid="9"/>
                                        </p:tgtEl>
                                        <p:attrNameLst>
                                          <p:attrName>ppt_h</p:attrName>
                                        </p:attrNameLst>
                                      </p:cBhvr>
                                      <p:tavLst>
                                        <p:tav tm="0">
                                          <p:val>
                                            <p:fltVal val="0"/>
                                          </p:val>
                                        </p:tav>
                                        <p:tav tm="100000">
                                          <p:val>
                                            <p:strVal val="#ppt_h"/>
                                          </p:val>
                                        </p:tav>
                                      </p:tavLst>
                                    </p:anim>
                                    <p:animEffect transition="in" filter="fade">
                                      <p:cBhvr>
                                        <p:cTn id="84" dur="500"/>
                                        <p:tgtEl>
                                          <p:spTgt spid="9"/>
                                        </p:tgtEl>
                                      </p:cBhvr>
                                    </p:animEffect>
                                  </p:childTnLst>
                                </p:cTn>
                              </p:par>
                            </p:childTnLst>
                          </p:cTn>
                        </p:par>
                        <p:par>
                          <p:cTn id="85" fill="hold">
                            <p:stCondLst>
                              <p:cond delay="1000"/>
                            </p:stCondLst>
                            <p:childTnLst>
                              <p:par>
                                <p:cTn id="86" presetID="22" presetClass="entr" presetSubtype="4"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ipe(down)">
                                      <p:cBhvr>
                                        <p:cTn id="88" dur="500"/>
                                        <p:tgtEl>
                                          <p:spTgt spid="29"/>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down)">
                                      <p:cBhvr>
                                        <p:cTn id="91" dur="500"/>
                                        <p:tgtEl>
                                          <p:spTgt spid="26"/>
                                        </p:tgtEl>
                                      </p:cBhvr>
                                    </p:animEffect>
                                  </p:childTnLst>
                                </p:cTn>
                              </p:par>
                            </p:childTnLst>
                          </p:cTn>
                        </p:par>
                        <p:par>
                          <p:cTn id="92" fill="hold">
                            <p:stCondLst>
                              <p:cond delay="1500"/>
                            </p:stCondLst>
                            <p:childTnLst>
                              <p:par>
                                <p:cTn id="93" presetID="22" presetClass="entr" presetSubtype="1"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wipe(up)">
                                      <p:cBhvr>
                                        <p:cTn id="95" dur="500"/>
                                        <p:tgtEl>
                                          <p:spTgt spid="28"/>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up)">
                                      <p:cBhvr>
                                        <p:cTn id="9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P spid="29" grpId="0"/>
      <p:bldP spid="30" grpId="0"/>
      <p:bldP spid="31" grpId="0"/>
      <p:bldP spid="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Federation Overview</a:t>
            </a:r>
            <a:endParaRPr lang="en-US" dirty="0"/>
          </a:p>
        </p:txBody>
      </p:sp>
      <p:sp>
        <p:nvSpPr>
          <p:cNvPr id="8" name="Content Placeholder 7"/>
          <p:cNvSpPr>
            <a:spLocks noGrp="1"/>
          </p:cNvSpPr>
          <p:nvPr>
            <p:ph idx="1"/>
          </p:nvPr>
        </p:nvSpPr>
        <p:spPr>
          <a:xfrm>
            <a:off x="380999" y="1412874"/>
            <a:ext cx="8618621" cy="5192463"/>
          </a:xfrm>
        </p:spPr>
        <p:txBody>
          <a:bodyPr>
            <a:normAutofit fontScale="92500" lnSpcReduction="10000"/>
          </a:bodyPr>
          <a:lstStyle/>
          <a:p>
            <a:r>
              <a:rPr lang="en-US" sz="2600" dirty="0" smtClean="0"/>
              <a:t>Federation is a unidirectional or bidirectional </a:t>
            </a:r>
            <a:r>
              <a:rPr lang="en-US" sz="2600" dirty="0" smtClean="0">
                <a:solidFill>
                  <a:srgbClr val="FFC000"/>
                </a:solidFill>
              </a:rPr>
              <a:t>trust relationship between organizations</a:t>
            </a:r>
          </a:p>
          <a:p>
            <a:pPr lvl="2"/>
            <a:endParaRPr lang="en-US" sz="1600" dirty="0" smtClean="0"/>
          </a:p>
          <a:p>
            <a:pPr lvl="1"/>
            <a:r>
              <a:rPr lang="en-US" sz="2000" dirty="0" smtClean="0"/>
              <a:t>Authentication assertions from one organization recognized by the other</a:t>
            </a:r>
          </a:p>
          <a:p>
            <a:pPr lvl="2"/>
            <a:endParaRPr lang="en-US" sz="1600" dirty="0" smtClean="0"/>
          </a:p>
          <a:p>
            <a:pPr lvl="1"/>
            <a:r>
              <a:rPr lang="en-US" sz="2000" dirty="0" smtClean="0"/>
              <a:t>Federation involves two parties: </a:t>
            </a:r>
            <a:endParaRPr lang="en-US" sz="1600" dirty="0" smtClean="0"/>
          </a:p>
          <a:p>
            <a:pPr lvl="2"/>
            <a:r>
              <a:rPr lang="en-US" sz="1600" b="1" dirty="0" smtClean="0">
                <a:solidFill>
                  <a:srgbClr val="FFC000"/>
                </a:solidFill>
              </a:rPr>
              <a:t>Identity Provider </a:t>
            </a:r>
            <a:r>
              <a:rPr lang="en-US" sz="1600" dirty="0" smtClean="0">
                <a:solidFill>
                  <a:srgbClr val="FFC000"/>
                </a:solidFill>
              </a:rPr>
              <a:t>(IP) </a:t>
            </a:r>
            <a:r>
              <a:rPr lang="en-US" sz="1600" dirty="0" smtClean="0"/>
              <a:t>authenticates users’ identity accounts</a:t>
            </a:r>
          </a:p>
          <a:p>
            <a:pPr lvl="2"/>
            <a:r>
              <a:rPr lang="en-US" sz="1600" b="1" dirty="0" smtClean="0">
                <a:solidFill>
                  <a:srgbClr val="FFC000"/>
                </a:solidFill>
              </a:rPr>
              <a:t>Resource Provider </a:t>
            </a:r>
            <a:r>
              <a:rPr lang="en-US" sz="1600" dirty="0" smtClean="0">
                <a:solidFill>
                  <a:srgbClr val="FFC000"/>
                </a:solidFill>
              </a:rPr>
              <a:t>or Relying Party (RP) </a:t>
            </a:r>
            <a:r>
              <a:rPr lang="en-US" sz="1600" dirty="0" smtClean="0"/>
              <a:t>permits access to resources in their network</a:t>
            </a:r>
          </a:p>
          <a:p>
            <a:pPr lvl="2"/>
            <a:endParaRPr lang="en-US" sz="1600" dirty="0" smtClean="0"/>
          </a:p>
          <a:p>
            <a:pPr lvl="0"/>
            <a:r>
              <a:rPr lang="en-US" sz="2600" dirty="0" smtClean="0"/>
              <a:t>Based on </a:t>
            </a:r>
            <a:r>
              <a:rPr lang="en-US" sz="2600" dirty="0" smtClean="0">
                <a:solidFill>
                  <a:srgbClr val="FFC000"/>
                </a:solidFill>
              </a:rPr>
              <a:t>WS-* standards </a:t>
            </a:r>
            <a:r>
              <a:rPr lang="en-US" sz="2600" dirty="0" smtClean="0"/>
              <a:t>– especially WS-Federation / WS-Trust</a:t>
            </a:r>
          </a:p>
          <a:p>
            <a:pPr lvl="1"/>
            <a:endParaRPr lang="en-US" sz="2000" dirty="0" smtClean="0"/>
          </a:p>
          <a:p>
            <a:r>
              <a:rPr lang="en-US" sz="2600" dirty="0" smtClean="0"/>
              <a:t>Easy partner on-boarding is more than just standard protocols </a:t>
            </a:r>
          </a:p>
          <a:p>
            <a:pPr lvl="1"/>
            <a:r>
              <a:rPr lang="en-US" sz="2000" dirty="0" smtClean="0"/>
              <a:t>Squatters, account merge, trust provisioning, realm discovery UX</a:t>
            </a:r>
          </a:p>
          <a:p>
            <a:pPr lvl="1"/>
            <a:endParaRPr lang="en-US" sz="2000" dirty="0" smtClean="0"/>
          </a:p>
          <a:p>
            <a:r>
              <a:rPr lang="en-US" sz="2400" dirty="0" smtClean="0"/>
              <a:t>Shadow account creation makes federation invisible to Microsoft services</a:t>
            </a:r>
          </a:p>
        </p:txBody>
      </p:sp>
      <p:sp>
        <p:nvSpPr>
          <p:cNvPr id="5" name="Content Placeholder 2"/>
          <p:cNvSpPr txBox="1">
            <a:spLocks/>
          </p:cNvSpPr>
          <p:nvPr/>
        </p:nvSpPr>
        <p:spPr>
          <a:xfrm>
            <a:off x="381000" y="1600200"/>
            <a:ext cx="8229600" cy="4648200"/>
          </a:xfrm>
          <a:prstGeom prst="rect">
            <a:avLst/>
          </a:prstGeom>
        </p:spPr>
        <p:txBody>
          <a:bodyPr/>
          <a:lstStyle/>
          <a:p>
            <a:pPr marL="52406" indent="352425">
              <a:spcBef>
                <a:spcPct val="20000"/>
              </a:spcBef>
              <a:buClr>
                <a:schemeClr val="accent3"/>
              </a:buClr>
              <a:buSzPct val="95000"/>
              <a:buFont typeface="Wingdings 2" pitchFamily="18" charset="2"/>
              <a:buChar char=""/>
            </a:pPr>
            <a:endParaRPr lang="en-US" sz="2800" kern="0" dirty="0" smtClean="0">
              <a:latin typeface="Calibri" pitchFamily="34" charset="0"/>
            </a:endParaRPr>
          </a:p>
          <a:p>
            <a:pPr marL="284163" marR="0" lvl="0" indent="-284163" algn="l" defTabSz="914400" rtl="0" eaLnBrk="1" fontAlgn="auto" latinLnBrk="0" hangingPunct="1">
              <a:lnSpc>
                <a:spcPct val="100000"/>
              </a:lnSpc>
              <a:spcBef>
                <a:spcPct val="20000"/>
              </a:spcBef>
              <a:spcAft>
                <a:spcPts val="0"/>
              </a:spcAft>
              <a:buClr>
                <a:schemeClr val="accent3"/>
              </a:buClr>
              <a:buSzPct val="95000"/>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mn-cs"/>
            </a:endParaRPr>
          </a:p>
          <a:p>
            <a:pPr marL="284163" marR="0" lvl="0" indent="-284163"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mn-cs"/>
            </a:endParaRPr>
          </a:p>
        </p:txBody>
      </p:sp>
      <p:pic>
        <p:nvPicPr>
          <p:cNvPr id="7"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609398"/>
          </a:xfrm>
        </p:spPr>
        <p:txBody>
          <a:bodyPr/>
          <a:lstStyle/>
          <a:p>
            <a:r>
              <a:rPr lang="en-US" sz="4400" dirty="0" smtClean="0"/>
              <a:t>Service Provisioning Framework</a:t>
            </a:r>
            <a:endParaRPr lang="en-US" sz="4400" dirty="0"/>
          </a:p>
        </p:txBody>
      </p:sp>
      <p:sp>
        <p:nvSpPr>
          <p:cNvPr id="3" name="Content Placeholder 2"/>
          <p:cNvSpPr>
            <a:spLocks noGrp="1"/>
          </p:cNvSpPr>
          <p:nvPr>
            <p:ph type="body" sz="quarter" idx="10"/>
          </p:nvPr>
        </p:nvSpPr>
        <p:spPr>
          <a:xfrm>
            <a:off x="381000" y="1411552"/>
            <a:ext cx="8382000" cy="5065448"/>
          </a:xfrm>
        </p:spPr>
        <p:txBody>
          <a:bodyPr>
            <a:normAutofit/>
          </a:bodyPr>
          <a:lstStyle/>
          <a:p>
            <a:r>
              <a:rPr lang="en-US" dirty="0" smtClean="0"/>
              <a:t>Problem</a:t>
            </a:r>
          </a:p>
          <a:p>
            <a:pPr lvl="1"/>
            <a:r>
              <a:rPr lang="en-US" dirty="0" smtClean="0"/>
              <a:t>Incrementally provision specific services for a user (e.g. pre-create an inbox)</a:t>
            </a:r>
          </a:p>
          <a:p>
            <a:endParaRPr lang="en-US" dirty="0" smtClean="0"/>
          </a:p>
          <a:p>
            <a:r>
              <a:rPr lang="en-US" dirty="0" smtClean="0"/>
              <a:t>Solution</a:t>
            </a:r>
          </a:p>
          <a:p>
            <a:pPr lvl="1"/>
            <a:r>
              <a:rPr lang="en-US" dirty="0" smtClean="0"/>
              <a:t>SPF – Service Provisioning Framework</a:t>
            </a:r>
          </a:p>
          <a:p>
            <a:pPr lvl="1"/>
            <a:r>
              <a:rPr lang="en-US" dirty="0" smtClean="0"/>
              <a:t>Scalable system to 100s of millions of users</a:t>
            </a:r>
          </a:p>
          <a:p>
            <a:pPr lvl="1"/>
            <a:r>
              <a:rPr lang="en-US" dirty="0" smtClean="0"/>
              <a:t>Fully data driven to reconfigure service offering and business rules</a:t>
            </a:r>
          </a:p>
          <a:p>
            <a:pPr lvl="1"/>
            <a:r>
              <a:rPr lang="en-US" dirty="0" smtClean="0"/>
              <a:t>Simple on-boarding for net-ops through Windows Live Syndication Central</a:t>
            </a:r>
          </a:p>
          <a:p>
            <a:pPr>
              <a:buNone/>
            </a:pPr>
            <a:endParaRPr lang="en-US" dirty="0"/>
          </a:p>
        </p:txBody>
      </p:sp>
      <p:pic>
        <p:nvPicPr>
          <p:cNvPr id="5" name="Picture 2" descr="\\tkzaw-pro-17\mydocs4\jthelin\My Documents\My Pictures\live-id-logo.jpg"/>
          <p:cNvPicPr>
            <a:picLocks noChangeAspect="1" noChangeArrowheads="1"/>
          </p:cNvPicPr>
          <p:nvPr/>
        </p:nvPicPr>
        <p:blipFill>
          <a:blip r:embed="rId3"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Summary </a:t>
            </a:r>
            <a:r>
              <a:rPr lang="en-US" smtClean="0"/>
              <a:t>–</a:t>
            </a:r>
            <a:r>
              <a:rPr smtClean="0"/>
              <a:t> Windows Live ID</a:t>
            </a:r>
            <a:endParaRPr lang="en-US" dirty="0"/>
          </a:p>
        </p:txBody>
      </p:sp>
      <p:sp>
        <p:nvSpPr>
          <p:cNvPr id="3" name="Text Placeholder 2"/>
          <p:cNvSpPr>
            <a:spLocks noGrp="1"/>
          </p:cNvSpPr>
          <p:nvPr>
            <p:ph type="body" idx="1"/>
          </p:nvPr>
        </p:nvSpPr>
        <p:spPr>
          <a:xfrm>
            <a:off x="228600" y="1219200"/>
            <a:ext cx="8610600" cy="5334000"/>
          </a:xfrm>
        </p:spPr>
        <p:txBody>
          <a:bodyPr>
            <a:normAutofit lnSpcReduction="10000"/>
          </a:bodyPr>
          <a:lstStyle/>
          <a:p>
            <a:r>
              <a:rPr lang="en-US" dirty="0" smtClean="0"/>
              <a:t>The biggest identity provider on the planet!</a:t>
            </a:r>
          </a:p>
          <a:p>
            <a:endParaRPr lang="en-US" sz="1800" dirty="0" smtClean="0"/>
          </a:p>
          <a:p>
            <a:r>
              <a:rPr lang="en-US" dirty="0" smtClean="0"/>
              <a:t>… but Live ID platform is much more than just the familiar login box</a:t>
            </a:r>
          </a:p>
          <a:p>
            <a:endParaRPr lang="en-US" sz="1800" dirty="0" smtClean="0"/>
          </a:p>
          <a:p>
            <a:r>
              <a:rPr lang="en-US" dirty="0" smtClean="0"/>
              <a:t>Various types of users and various </a:t>
            </a:r>
            <a:r>
              <a:rPr lang="en-US" dirty="0" smtClean="0">
                <a:solidFill>
                  <a:srgbClr val="FFC000"/>
                </a:solidFill>
              </a:rPr>
              <a:t>authentication models </a:t>
            </a:r>
            <a:r>
              <a:rPr lang="en-US" dirty="0" smtClean="0"/>
              <a:t>are supported</a:t>
            </a:r>
          </a:p>
          <a:p>
            <a:endParaRPr lang="en-US" sz="1800" dirty="0" smtClean="0"/>
          </a:p>
          <a:p>
            <a:r>
              <a:rPr lang="en-US" dirty="0" smtClean="0"/>
              <a:t>Increasing focus on enabling </a:t>
            </a:r>
            <a:r>
              <a:rPr lang="en-US" dirty="0" smtClean="0">
                <a:solidFill>
                  <a:srgbClr val="FFC000"/>
                </a:solidFill>
              </a:rPr>
              <a:t>federation </a:t>
            </a:r>
            <a:r>
              <a:rPr lang="en-US" dirty="0" smtClean="0"/>
              <a:t>and enterprise access to online services</a:t>
            </a:r>
          </a:p>
          <a:p>
            <a:endParaRPr lang="en-US" sz="1800" dirty="0" smtClean="0">
              <a:solidFill>
                <a:srgbClr val="FFC000"/>
              </a:solidFill>
            </a:endParaRPr>
          </a:p>
          <a:p>
            <a:r>
              <a:rPr lang="en-US" dirty="0" smtClean="0">
                <a:solidFill>
                  <a:srgbClr val="FFC000"/>
                </a:solidFill>
              </a:rPr>
              <a:t>Ease-of-use </a:t>
            </a:r>
            <a:r>
              <a:rPr lang="en-US" dirty="0" smtClean="0"/>
              <a:t>is always the goal </a:t>
            </a:r>
            <a:br>
              <a:rPr lang="en-US" dirty="0" smtClean="0"/>
            </a:br>
            <a:r>
              <a:rPr lang="en-US" dirty="0" smtClean="0"/>
              <a:t>..... and the challenge!</a:t>
            </a:r>
          </a:p>
        </p:txBody>
      </p:sp>
      <p:pic>
        <p:nvPicPr>
          <p:cNvPr id="8" name="Picture 2" descr="\\tkzaw-pro-17\mydocs4\jthelin\My Documents\My Pictures\live-id-logo.jpg"/>
          <p:cNvPicPr>
            <a:picLocks noChangeAspect="1" noChangeArrowheads="1"/>
          </p:cNvPicPr>
          <p:nvPr/>
        </p:nvPicPr>
        <p:blipFill>
          <a:blip r:embed="rId2" cstate="print"/>
          <a:srcRect/>
          <a:stretch>
            <a:fillRect/>
          </a:stretch>
        </p:blipFill>
        <p:spPr bwMode="auto">
          <a:xfrm>
            <a:off x="8460058" y="96643"/>
            <a:ext cx="533400" cy="533400"/>
          </a:xfrm>
          <a:prstGeom prst="roundRect">
            <a:avLst/>
          </a:prstGeom>
          <a:effectLst>
            <a:outerShdw blurRad="63500" sx="102000" sy="102000" algn="ctr" rotWithShape="0">
              <a:prstClr val="black">
                <a:alpha val="40000"/>
              </a:prstClr>
            </a:outerShdw>
          </a:effectLst>
        </p:spPr>
      </p:pic>
    </p:spTree>
  </p:cSld>
  <p:clrMapOvr>
    <a:masterClrMapping/>
  </p:clrMapOvr>
  <p:transition>
    <p:strips dir="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smtClean="0"/>
              <a:t>Bringing it all together</a:t>
            </a:r>
            <a:endParaRPr lang="en-US" dirty="0"/>
          </a:p>
        </p:txBody>
      </p:sp>
      <p:pic>
        <p:nvPicPr>
          <p:cNvPr id="6" name="Picture 2" descr="\\tkzaw-pro-17\mydocs4\jthelin\My Documents\My Pictures\live-id-logo.jpg"/>
          <p:cNvPicPr>
            <a:picLocks noChangeAspect="1" noChangeArrowheads="1"/>
          </p:cNvPicPr>
          <p:nvPr/>
        </p:nvPicPr>
        <p:blipFill>
          <a:blip r:embed="rId2" cstate="print"/>
          <a:srcRect/>
          <a:stretch>
            <a:fillRect/>
          </a:stretch>
        </p:blipFill>
        <p:spPr bwMode="auto">
          <a:xfrm>
            <a:off x="6023816" y="3733800"/>
            <a:ext cx="1143000" cy="1143000"/>
          </a:xfrm>
          <a:prstGeom prst="roundRect">
            <a:avLst/>
          </a:prstGeom>
          <a:effectLst>
            <a:outerShdw blurRad="63500" sx="102000" sy="102000" algn="ctr" rotWithShape="0">
              <a:prstClr val="black">
                <a:alpha val="40000"/>
              </a:prstClr>
            </a:outerShdw>
          </a:effectLst>
        </p:spPr>
      </p:pic>
      <p:pic>
        <p:nvPicPr>
          <p:cNvPr id="7" name="Picture 6" descr="oauth_logo_final.eps"/>
          <p:cNvPicPr>
            <a:picLocks noChangeAspect="1"/>
          </p:cNvPicPr>
          <p:nvPr/>
        </p:nvPicPr>
        <p:blipFill>
          <a:blip r:embed="rId3" cstate="print"/>
          <a:stretch>
            <a:fillRect/>
          </a:stretch>
        </p:blipFill>
        <p:spPr>
          <a:xfrm>
            <a:off x="4000500" y="3734571"/>
            <a:ext cx="1143000" cy="1141458"/>
          </a:xfrm>
          <a:prstGeom prst="roundRect">
            <a:avLst/>
          </a:prstGeom>
          <a:effectLst>
            <a:outerShdw blurRad="63500" sx="102000" sy="102000" algn="ctr" rotWithShape="0">
              <a:prstClr val="black">
                <a:alpha val="40000"/>
              </a:prstClr>
            </a:outerShdw>
          </a:effectLst>
        </p:spPr>
      </p:pic>
      <p:pic>
        <p:nvPicPr>
          <p:cNvPr id="8" name="Picture 7" descr="openid-logo.png"/>
          <p:cNvPicPr>
            <a:picLocks noChangeAspect="1"/>
          </p:cNvPicPr>
          <p:nvPr/>
        </p:nvPicPr>
        <p:blipFill>
          <a:blip r:embed="rId4" cstate="print"/>
          <a:stretch>
            <a:fillRect/>
          </a:stretch>
        </p:blipFill>
        <p:spPr>
          <a:xfrm>
            <a:off x="990600" y="3924300"/>
            <a:ext cx="2241175" cy="7620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Not to be compared </a:t>
            </a:r>
            <a:r>
              <a:rPr lang="en-US" dirty="0" smtClean="0"/>
              <a:t>…</a:t>
            </a:r>
            <a:endParaRPr lang="en-US" dirty="0"/>
          </a:p>
        </p:txBody>
      </p:sp>
      <p:sp>
        <p:nvSpPr>
          <p:cNvPr id="3" name="Text Placeholder 2"/>
          <p:cNvSpPr>
            <a:spLocks noGrp="1"/>
          </p:cNvSpPr>
          <p:nvPr>
            <p:ph type="body" sz="quarter" idx="10"/>
          </p:nvPr>
        </p:nvSpPr>
        <p:spPr>
          <a:xfrm>
            <a:off x="381000" y="1524001"/>
            <a:ext cx="8458200" cy="4876799"/>
          </a:xfrm>
        </p:spPr>
        <p:txBody>
          <a:bodyPr>
            <a:normAutofit fontScale="92500" lnSpcReduction="10000"/>
          </a:bodyPr>
          <a:lstStyle/>
          <a:p>
            <a:r>
              <a:rPr lang="en-US" b="1" dirty="0" smtClean="0"/>
              <a:t>Open ID &amp; OAuth </a:t>
            </a:r>
            <a:r>
              <a:rPr lang="en-US" dirty="0" smtClean="0"/>
              <a:t>are </a:t>
            </a:r>
            <a:r>
              <a:rPr lang="en-US" b="1" dirty="0" smtClean="0"/>
              <a:t>Standards</a:t>
            </a:r>
            <a:endParaRPr lang="en-US" dirty="0" smtClean="0"/>
          </a:p>
          <a:p>
            <a:pPr lvl="1"/>
            <a:endParaRPr lang="en-US" b="1" dirty="0" smtClean="0"/>
          </a:p>
          <a:p>
            <a:pPr marL="976313" lvl="1" indent="-514350">
              <a:buNone/>
            </a:pPr>
            <a:r>
              <a:rPr lang="en-US" dirty="0" smtClean="0"/>
              <a:t>… still evolving and under development </a:t>
            </a:r>
          </a:p>
          <a:p>
            <a:pPr marL="976313" lvl="1" indent="-514350">
              <a:buNone/>
            </a:pPr>
            <a:endParaRPr lang="en-US" dirty="0" smtClean="0"/>
          </a:p>
          <a:p>
            <a:r>
              <a:rPr lang="en-US" b="1" dirty="0" smtClean="0"/>
              <a:t>Live ID </a:t>
            </a:r>
            <a:r>
              <a:rPr lang="en-US" dirty="0" smtClean="0"/>
              <a:t>is a </a:t>
            </a:r>
            <a:r>
              <a:rPr lang="en-US" b="1" dirty="0" smtClean="0"/>
              <a:t>SERVICE </a:t>
            </a:r>
            <a:r>
              <a:rPr lang="en-US" sz="2000" dirty="0" smtClean="0"/>
              <a:t>(based on standards)</a:t>
            </a:r>
            <a:endParaRPr lang="en-US" sz="3600" dirty="0" smtClean="0"/>
          </a:p>
          <a:p>
            <a:pPr lvl="1"/>
            <a:endParaRPr lang="en-US" sz="1100" dirty="0" smtClean="0"/>
          </a:p>
          <a:p>
            <a:pPr lvl="1"/>
            <a:r>
              <a:rPr lang="en-US" dirty="0" smtClean="0"/>
              <a:t>Identity Provider</a:t>
            </a:r>
          </a:p>
          <a:p>
            <a:pPr lvl="1"/>
            <a:r>
              <a:rPr lang="en-US" dirty="0" smtClean="0"/>
              <a:t>Identity Federation</a:t>
            </a:r>
          </a:p>
          <a:p>
            <a:pPr lvl="1"/>
            <a:r>
              <a:rPr lang="en-US" dirty="0" smtClean="0"/>
              <a:t>Federation Broker</a:t>
            </a:r>
          </a:p>
          <a:p>
            <a:pPr lvl="1"/>
            <a:r>
              <a:rPr lang="en-US" dirty="0" smtClean="0"/>
              <a:t>Delegation</a:t>
            </a:r>
          </a:p>
          <a:p>
            <a:pPr lvl="1"/>
            <a:endParaRPr lang="en-US" dirty="0" smtClean="0"/>
          </a:p>
          <a:p>
            <a:pPr marL="976313" lvl="1" indent="-514350">
              <a:buNone/>
            </a:pPr>
            <a:r>
              <a:rPr lang="en-US" dirty="0" smtClean="0">
                <a:gradFill>
                  <a:gsLst>
                    <a:gs pos="36000">
                      <a:schemeClr val="tx1"/>
                    </a:gs>
                    <a:gs pos="86000">
                      <a:schemeClr val="tx1"/>
                    </a:gs>
                  </a:gsLst>
                  <a:lin ang="5400000" scaled="0"/>
                </a:gradFill>
              </a:rPr>
              <a:t>... </a:t>
            </a:r>
            <a:r>
              <a:rPr lang="en-US" sz="2400" dirty="0" smtClean="0">
                <a:gradFill>
                  <a:gsLst>
                    <a:gs pos="36000">
                      <a:schemeClr val="tx1"/>
                    </a:gs>
                    <a:gs pos="86000">
                      <a:schemeClr val="tx1"/>
                    </a:gs>
                  </a:gsLst>
                  <a:lin ang="5400000" scaled="0"/>
                </a:gradFill>
              </a:rPr>
              <a:t>with proven scaling for 500MM users, 1.2BN </a:t>
            </a:r>
            <a:r>
              <a:rPr lang="en-US" sz="2400" dirty="0" err="1" smtClean="0">
                <a:gradFill>
                  <a:gsLst>
                    <a:gs pos="36000">
                      <a:schemeClr val="tx1"/>
                    </a:gs>
                    <a:gs pos="86000">
                      <a:schemeClr val="tx1"/>
                    </a:gs>
                  </a:gsLst>
                  <a:lin ang="5400000" scaled="0"/>
                </a:gradFill>
              </a:rPr>
              <a:t>auths</a:t>
            </a:r>
            <a:r>
              <a:rPr lang="en-US" sz="2400" dirty="0" smtClean="0">
                <a:gradFill>
                  <a:gsLst>
                    <a:gs pos="36000">
                      <a:schemeClr val="tx1"/>
                    </a:gs>
                    <a:gs pos="86000">
                      <a:schemeClr val="tx1"/>
                    </a:gs>
                  </a:gsLst>
                  <a:lin ang="5400000" scaled="0"/>
                </a:gradFill>
              </a:rPr>
              <a:t>/day</a:t>
            </a:r>
            <a:endParaRPr lang="en-US" sz="2400" dirty="0" smtClean="0"/>
          </a:p>
        </p:txBody>
      </p:sp>
      <p:sp>
        <p:nvSpPr>
          <p:cNvPr id="5" name="Text Placeholder 2"/>
          <p:cNvSpPr txBox="1">
            <a:spLocks/>
          </p:cNvSpPr>
          <p:nvPr/>
        </p:nvSpPr>
        <p:spPr bwMode="auto">
          <a:xfrm>
            <a:off x="4343400" y="3676674"/>
            <a:ext cx="4038600" cy="180972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461963" marR="0" lvl="0" indent="-461963" algn="l" defTabSz="912813" rtl="0" eaLnBrk="1" fontAlgn="base" latinLnBrk="0" hangingPunct="1">
              <a:lnSpc>
                <a:spcPct val="90000"/>
              </a:lnSpc>
              <a:spcBef>
                <a:spcPct val="20000"/>
              </a:spcBef>
              <a:spcAft>
                <a:spcPct val="0"/>
              </a:spcAft>
              <a:buClrTx/>
              <a:buSzTx/>
              <a:buFontTx/>
              <a:buBlip>
                <a:blip r:embed="rId3"/>
              </a:buBlip>
              <a:tabLst/>
              <a:defRPr/>
            </a:pPr>
            <a:r>
              <a:rPr lang="en-US" sz="2800" dirty="0" smtClean="0"/>
              <a:t>Trust Provisioning</a:t>
            </a:r>
          </a:p>
          <a:p>
            <a:pPr marL="461963" indent="-461963" defTabSz="912813" fontAlgn="base">
              <a:lnSpc>
                <a:spcPct val="90000"/>
              </a:lnSpc>
              <a:spcBef>
                <a:spcPct val="20000"/>
              </a:spcBef>
              <a:spcAft>
                <a:spcPct val="0"/>
              </a:spcAft>
              <a:buBlip>
                <a:blip r:embed="rId3"/>
              </a:buBlip>
              <a:defRPr/>
            </a:pPr>
            <a:r>
              <a:rPr lang="en-US" sz="2800" dirty="0" smtClean="0"/>
              <a:t>Service Provisioning</a:t>
            </a:r>
          </a:p>
          <a:p>
            <a:pPr marL="461963" indent="-461963" defTabSz="912813" fontAlgn="base">
              <a:lnSpc>
                <a:spcPct val="90000"/>
              </a:lnSpc>
              <a:spcBef>
                <a:spcPct val="20000"/>
              </a:spcBef>
              <a:spcAft>
                <a:spcPct val="0"/>
              </a:spcAft>
              <a:buBlip>
                <a:blip r:embed="rId3"/>
              </a:buBlip>
              <a:defRPr/>
            </a:pPr>
            <a:r>
              <a:rPr lang="en-US" sz="2800" dirty="0" smtClean="0"/>
              <a:t>Account Management</a:t>
            </a:r>
          </a:p>
          <a:p>
            <a:pPr marL="461963" marR="0" lvl="0" indent="-461963" algn="l" defTabSz="912813" rtl="0" eaLnBrk="1" fontAlgn="base" latinLnBrk="0" hangingPunct="1">
              <a:lnSpc>
                <a:spcPct val="90000"/>
              </a:lnSpc>
              <a:spcBef>
                <a:spcPct val="20000"/>
              </a:spcBef>
              <a:spcAft>
                <a:spcPct val="0"/>
              </a:spcAft>
              <a:buClrTx/>
              <a:buSzTx/>
              <a:buFontTx/>
              <a:buBlip>
                <a:blip r:embed="rId3"/>
              </a:buBlip>
              <a:tabLst/>
              <a:defRPr/>
            </a:pPr>
            <a:r>
              <a:rPr lang="en-US" sz="2800" dirty="0" smtClean="0"/>
              <a:t>Parental Controls</a:t>
            </a: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But if you must compare </a:t>
            </a:r>
            <a:r>
              <a:rPr lang="en-US" dirty="0" smtClean="0"/>
              <a:t>….</a:t>
            </a:r>
            <a:endParaRPr lang="en-US" dirty="0"/>
          </a:p>
        </p:txBody>
      </p:sp>
      <p:sp>
        <p:nvSpPr>
          <p:cNvPr id="3" name="Text Placeholder 2"/>
          <p:cNvSpPr>
            <a:spLocks noGrp="1"/>
          </p:cNvSpPr>
          <p:nvPr>
            <p:ph type="body" sz="quarter" idx="10"/>
          </p:nvPr>
        </p:nvSpPr>
        <p:spPr>
          <a:xfrm>
            <a:off x="381000" y="1411552"/>
            <a:ext cx="8382000" cy="4960219"/>
          </a:xfrm>
        </p:spPr>
        <p:txBody>
          <a:bodyPr>
            <a:normAutofit/>
          </a:bodyPr>
          <a:lstStyle/>
          <a:p>
            <a:r>
              <a:rPr lang="en-US" sz="4000" dirty="0" smtClean="0"/>
              <a:t>Open ID is similar to </a:t>
            </a:r>
          </a:p>
          <a:p>
            <a:pPr lvl="1"/>
            <a:r>
              <a:rPr lang="en-US" sz="3600" dirty="0" smtClean="0"/>
              <a:t>Live ID Relying Party Suite (RPS)</a:t>
            </a:r>
          </a:p>
          <a:p>
            <a:pPr lvl="1"/>
            <a:r>
              <a:rPr lang="en-US" sz="3600" dirty="0" smtClean="0"/>
              <a:t>Live ID Web Authentication (WebAuth)</a:t>
            </a:r>
          </a:p>
          <a:p>
            <a:pPr lvl="1"/>
            <a:endParaRPr lang="en-US" sz="3600" dirty="0" smtClean="0"/>
          </a:p>
          <a:p>
            <a:r>
              <a:rPr lang="en-US" sz="4000" dirty="0" smtClean="0"/>
              <a:t>OAuth is similar to </a:t>
            </a:r>
          </a:p>
          <a:p>
            <a:pPr lvl="1"/>
            <a:r>
              <a:rPr lang="en-US" sz="3600" dirty="0" smtClean="0"/>
              <a:t>Live ID Delegated Auth (DelAuth)</a:t>
            </a:r>
            <a:endParaRPr lang="en-US" sz="3600" dirty="0"/>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Summary</a:t>
            </a:r>
            <a:endParaRPr lang="en-US" dirty="0"/>
          </a:p>
        </p:txBody>
      </p:sp>
      <p:sp>
        <p:nvSpPr>
          <p:cNvPr id="3" name="Text Placeholder 2"/>
          <p:cNvSpPr>
            <a:spLocks noGrp="1"/>
          </p:cNvSpPr>
          <p:nvPr>
            <p:ph type="body" sz="quarter" idx="10"/>
          </p:nvPr>
        </p:nvSpPr>
        <p:spPr>
          <a:xfrm>
            <a:off x="381000" y="1411552"/>
            <a:ext cx="8534400" cy="4801358"/>
          </a:xfrm>
        </p:spPr>
        <p:txBody>
          <a:bodyPr>
            <a:normAutofit/>
          </a:bodyPr>
          <a:lstStyle/>
          <a:p>
            <a:r>
              <a:rPr lang="en-US" sz="3600" dirty="0" smtClean="0">
                <a:solidFill>
                  <a:srgbClr val="FFC000"/>
                </a:solidFill>
              </a:rPr>
              <a:t>Good authentication </a:t>
            </a:r>
            <a:r>
              <a:rPr lang="en-US" sz="3600" dirty="0" smtClean="0"/>
              <a:t>is secure but unobtrusive</a:t>
            </a:r>
          </a:p>
          <a:p>
            <a:pPr lvl="1"/>
            <a:endParaRPr lang="en-US" sz="3600" dirty="0" smtClean="0"/>
          </a:p>
          <a:p>
            <a:r>
              <a:rPr lang="en-US" sz="3600" dirty="0" smtClean="0">
                <a:solidFill>
                  <a:srgbClr val="FFC000"/>
                </a:solidFill>
              </a:rPr>
              <a:t>Ease-of-use</a:t>
            </a:r>
            <a:r>
              <a:rPr lang="en-US" sz="3600" dirty="0" smtClean="0"/>
              <a:t> is the goal &amp; the challenge</a:t>
            </a:r>
          </a:p>
          <a:p>
            <a:pPr lvl="1"/>
            <a:endParaRPr lang="en-US" sz="3600" dirty="0" smtClean="0"/>
          </a:p>
          <a:p>
            <a:r>
              <a:rPr lang="en-US" sz="3600" dirty="0" smtClean="0"/>
              <a:t>Live ID Vision: </a:t>
            </a:r>
            <a:r>
              <a:rPr lang="en-US" sz="3600" dirty="0" smtClean="0">
                <a:solidFill>
                  <a:srgbClr val="FFC000"/>
                </a:solidFill>
              </a:rPr>
              <a:t>Identity without borders</a:t>
            </a:r>
          </a:p>
          <a:p>
            <a:pPr lvl="1"/>
            <a:endParaRPr lang="en-US" sz="3600" dirty="0" smtClean="0">
              <a:solidFill>
                <a:srgbClr val="FFC000"/>
              </a:solidFill>
            </a:endParaRPr>
          </a:p>
          <a:p>
            <a:r>
              <a:rPr lang="en-US" sz="3600" dirty="0" smtClean="0">
                <a:solidFill>
                  <a:srgbClr val="FFC000"/>
                </a:solidFill>
              </a:rPr>
              <a:t>Specs</a:t>
            </a:r>
            <a:r>
              <a:rPr lang="en-US" sz="3600" dirty="0" smtClean="0"/>
              <a:t> are “easy”, but </a:t>
            </a:r>
            <a:r>
              <a:rPr lang="en-US" sz="3600" dirty="0" smtClean="0">
                <a:solidFill>
                  <a:srgbClr val="FFC000"/>
                </a:solidFill>
              </a:rPr>
              <a:t>scale</a:t>
            </a:r>
            <a:r>
              <a:rPr lang="en-US" sz="3600" dirty="0" smtClean="0"/>
              <a:t> is hard</a:t>
            </a:r>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Resources</a:t>
            </a:r>
            <a:endParaRPr lang="en-US" dirty="0"/>
          </a:p>
        </p:txBody>
      </p:sp>
      <p:sp>
        <p:nvSpPr>
          <p:cNvPr id="3" name="Text Placeholder 2"/>
          <p:cNvSpPr>
            <a:spLocks noGrp="1"/>
          </p:cNvSpPr>
          <p:nvPr>
            <p:ph type="body" sz="quarter" idx="10"/>
          </p:nvPr>
        </p:nvSpPr>
        <p:spPr>
          <a:xfrm>
            <a:off x="381000" y="1411552"/>
            <a:ext cx="8382000" cy="2609945"/>
          </a:xfrm>
        </p:spPr>
        <p:txBody>
          <a:bodyPr/>
          <a:lstStyle/>
          <a:p>
            <a:r>
              <a:rPr lang="en-US" dirty="0" smtClean="0"/>
              <a:t>External: </a:t>
            </a:r>
            <a:r>
              <a:rPr lang="en-US" dirty="0" smtClean="0">
                <a:hlinkClick r:id="rId2"/>
              </a:rPr>
              <a:t>http://Dev.Live.com/LiveId</a:t>
            </a:r>
            <a:endParaRPr lang="en-US" dirty="0" smtClean="0"/>
          </a:p>
          <a:p>
            <a:endParaRPr lang="en-US" dirty="0" smtClean="0">
              <a:hlinkClick r:id="rId3"/>
            </a:endParaRPr>
          </a:p>
          <a:p>
            <a:r>
              <a:rPr lang="en-US" dirty="0" smtClean="0"/>
              <a:t>Internal: </a:t>
            </a:r>
            <a:r>
              <a:rPr lang="en-US" dirty="0" smtClean="0">
                <a:hlinkClick r:id="rId3"/>
              </a:rPr>
              <a:t>http://LiveId</a:t>
            </a:r>
            <a:endParaRPr lang="en-US" dirty="0" smtClean="0"/>
          </a:p>
          <a:p>
            <a:endParaRPr lang="en-US" dirty="0" smtClean="0"/>
          </a:p>
          <a:p>
            <a:r>
              <a:rPr lang="en-US" dirty="0" smtClean="0"/>
              <a:t>DL: Windows Live ID Discussion (</a:t>
            </a:r>
            <a:r>
              <a:rPr lang="en-US" dirty="0" err="1" smtClean="0"/>
              <a:t>wliddisc</a:t>
            </a:r>
            <a:r>
              <a:rPr lang="en-US" dirty="0" smtClean="0"/>
              <a:t>)</a:t>
            </a:r>
            <a:endParaRPr lang="en-US" dirty="0"/>
          </a:p>
        </p:txBody>
      </p:sp>
      <p:pic>
        <p:nvPicPr>
          <p:cNvPr id="4" name="Picture 2" descr="\\tkzaw-pro-17\mydocs4\jthelin\My Documents\My Pictures\live-id-logo.jpg"/>
          <p:cNvPicPr>
            <a:picLocks noChangeAspect="1" noChangeArrowheads="1"/>
          </p:cNvPicPr>
          <p:nvPr/>
        </p:nvPicPr>
        <p:blipFill>
          <a:blip r:embed="rId4" cstate="print"/>
          <a:srcRect/>
          <a:stretch>
            <a:fillRect/>
          </a:stretch>
        </p:blipFill>
        <p:spPr bwMode="auto">
          <a:xfrm>
            <a:off x="7848600" y="152400"/>
            <a:ext cx="1143000" cy="1143000"/>
          </a:xfrm>
          <a:prstGeom prst="roundRect">
            <a:avLst/>
          </a:prstGeom>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smtClean="0"/>
              <a:t>Questions?</a:t>
            </a:r>
            <a:endParaRPr lang="en-US" dirty="0"/>
          </a:p>
        </p:txBody>
      </p:sp>
      <p:sp>
        <p:nvSpPr>
          <p:cNvPr id="4" name="TextBox 3"/>
          <p:cNvSpPr txBox="1"/>
          <p:nvPr/>
        </p:nvSpPr>
        <p:spPr>
          <a:xfrm>
            <a:off x="533400" y="4724400"/>
            <a:ext cx="8001000" cy="762000"/>
          </a:xfrm>
          <a:prstGeom prst="rect">
            <a:avLst/>
          </a:prstGeom>
          <a:noFill/>
        </p:spPr>
        <p:txBody>
          <a:bodyPr wrap="square" rtlCol="0">
            <a:normAutofit lnSpcReduction="10000"/>
          </a:bodyPr>
          <a:lstStyle/>
          <a:p>
            <a:pPr algn="ctr"/>
            <a: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 2008 Microsoft Corporation. All rights reserved.</a:t>
            </a:r>
          </a:p>
          <a:p>
            <a:pPr algn="ctr"/>
            <a: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This presentation is for informational purposes only. </a:t>
            </a:r>
            <a:b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br>
            <a:r>
              <a:rPr lang="en-US" sz="1600" dirty="0"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rPr>
              <a:t>Microsoft makes no warranties, express or implied, in this summary.</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5-00399 TechReady7 Breakout Chalktalk Template">
  <a:themeElements>
    <a:clrScheme name="TechReady 7">
      <a:dk1>
        <a:srgbClr val="000000"/>
      </a:dk1>
      <a:lt1>
        <a:srgbClr val="FFFFFF"/>
      </a:lt1>
      <a:dk2>
        <a:srgbClr val="9C2828"/>
      </a:dk2>
      <a:lt2>
        <a:srgbClr val="FFFF99"/>
      </a:lt2>
      <a:accent1>
        <a:srgbClr val="FFC409"/>
      </a:accent1>
      <a:accent2>
        <a:srgbClr val="0099FF"/>
      </a:accent2>
      <a:accent3>
        <a:srgbClr val="D476A1"/>
      </a:accent3>
      <a:accent4>
        <a:srgbClr val="66CC33"/>
      </a:accent4>
      <a:accent5>
        <a:srgbClr val="F69660"/>
      </a:accent5>
      <a:accent6>
        <a:srgbClr val="9D6DCD"/>
      </a:accent6>
      <a:hlink>
        <a:srgbClr val="F0ED7B"/>
      </a:hlink>
      <a:folHlink>
        <a:srgbClr val="F3EB4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lIns="91436" tIns="45718" rIns="91436" bIns="45718" anchor="ctr"/>
      <a:lstStyle>
        <a:defPPr algn="ctr" defTabSz="914099">
          <a:defRPr sz="2400" dirty="0">
            <a:gradFill>
              <a:gsLst>
                <a:gs pos="50000">
                  <a:schemeClr val="tx1"/>
                </a:gs>
                <a:gs pos="100000">
                  <a:schemeClr val="tx1"/>
                </a:gs>
              </a:gsLst>
              <a:lin ang="5400000" scaled="0"/>
            </a:gradFill>
            <a:effectLst>
              <a:outerShdw blurRad="38100" dist="38100" dir="2700000" algn="tl">
                <a:srgbClr val="000000">
                  <a:alpha val="43137"/>
                </a:srgbClr>
              </a:outerShdw>
            </a:effectLst>
          </a:defRPr>
        </a:defPPr>
      </a:lstStyle>
      <a:style>
        <a:lnRef idx="0">
          <a:schemeClr val="accent2"/>
        </a:lnRef>
        <a:fillRef idx="3">
          <a:schemeClr val="accent2"/>
        </a:fillRef>
        <a:effectRef idx="3">
          <a:schemeClr val="accent2"/>
        </a:effectRef>
        <a:fontRef idx="minor">
          <a:schemeClr val="lt1"/>
        </a:fontRef>
      </a:style>
    </a:spDef>
    <a:txDef>
      <a:spPr>
        <a:noFill/>
      </a:spPr>
      <a:bodyPr wrap="none" rtlCol="0">
        <a:spAutoFit/>
      </a:bodyPr>
      <a:lstStyle>
        <a:defPPr>
          <a:defRPr sz="2400" dirty="0" err="1" smtClean="0">
            <a:gradFill>
              <a:gsLst>
                <a:gs pos="36000">
                  <a:schemeClr val="tx1"/>
                </a:gs>
                <a:gs pos="86000">
                  <a:schemeClr val="tx1"/>
                </a:gs>
              </a:gsLst>
              <a:lin ang="5400000" scaled="0"/>
            </a:gradFill>
            <a:effectLst>
              <a:outerShdw blurRad="38100" dist="38100" dir="2700000" algn="tl">
                <a:srgbClr val="000000">
                  <a:alpha val="43137"/>
                </a:srgbClr>
              </a:outerShdw>
            </a:effectLst>
            <a:latin typeface="+mj-lt"/>
          </a:defRPr>
        </a:defPPr>
      </a:lstStyle>
    </a:tx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TechReady7 Breakout Chalktalk Template</Template>
  <TotalTime>5001</TotalTime>
  <Words>4065</Words>
  <Application>Microsoft Office PowerPoint</Application>
  <PresentationFormat>On-screen Show (4:3)</PresentationFormat>
  <Paragraphs>693</Paragraphs>
  <Slides>44</Slides>
  <Notes>30</Notes>
  <HiddenSlides>2</HiddenSlides>
  <MMClips>0</MMClips>
  <ScaleCrop>false</ScaleCrop>
  <HeadingPairs>
    <vt:vector size="4" baseType="variant">
      <vt:variant>
        <vt:lpstr>Theme</vt:lpstr>
      </vt:variant>
      <vt:variant>
        <vt:i4>2</vt:i4>
      </vt:variant>
      <vt:variant>
        <vt:lpstr>Slide Titles</vt:lpstr>
      </vt:variant>
      <vt:variant>
        <vt:i4>44</vt:i4>
      </vt:variant>
    </vt:vector>
  </HeadingPairs>
  <TitlesOfParts>
    <vt:vector size="46" baseType="lpstr">
      <vt:lpstr>5-00399 TechReady7 Breakout Chalktalk Template</vt:lpstr>
      <vt:lpstr>White with Courier font for code slides</vt:lpstr>
      <vt:lpstr>IDA314 – Live ID, Open ID &amp; OAuth</vt:lpstr>
      <vt:lpstr>IDA314 – Live ID, Open ID &amp; OAuth  What is the difference?</vt:lpstr>
      <vt:lpstr>Agenda</vt:lpstr>
      <vt:lpstr>Online Identity 101</vt:lpstr>
      <vt:lpstr>What is Open ID?</vt:lpstr>
      <vt:lpstr>What is Open ID?</vt:lpstr>
      <vt:lpstr>What Open ID Isn't</vt:lpstr>
      <vt:lpstr>Demo – Open ID Authentication</vt:lpstr>
      <vt:lpstr>OpenID Protocol Mechanics</vt:lpstr>
      <vt:lpstr>Who's Using OpenID?</vt:lpstr>
      <vt:lpstr>Considerations for Relying Parties</vt:lpstr>
      <vt:lpstr>Open ID - User Experience</vt:lpstr>
      <vt:lpstr>Summary - Open ID</vt:lpstr>
      <vt:lpstr>What is OAuth?</vt:lpstr>
      <vt:lpstr>What is OAuth?</vt:lpstr>
      <vt:lpstr>What OAuth Isn't</vt:lpstr>
      <vt:lpstr>Demo – OAuth Authorization</vt:lpstr>
      <vt:lpstr>OAuth Protocol Mechanics</vt:lpstr>
      <vt:lpstr>OAuth Protocol Mechanics</vt:lpstr>
      <vt:lpstr>Who's Using OAuth?</vt:lpstr>
      <vt:lpstr>Summary - OAuth</vt:lpstr>
      <vt:lpstr>What is Live ID?</vt:lpstr>
      <vt:lpstr>What is Windows Live ID?</vt:lpstr>
      <vt:lpstr>What is Windows Live ID?</vt:lpstr>
      <vt:lpstr>What is Windows Live ID? (cont)</vt:lpstr>
      <vt:lpstr>Live ID - Types of Identities</vt:lpstr>
      <vt:lpstr>Live ID - High Level Architecture</vt:lpstr>
      <vt:lpstr>Demo – Live ID Web Authentication</vt:lpstr>
      <vt:lpstr>Web Auth Protocol Mechanics</vt:lpstr>
      <vt:lpstr>Demo – Live ID Delegated Auth</vt:lpstr>
      <vt:lpstr>DelAuth Protocol Mechanics</vt:lpstr>
      <vt:lpstr>Live ID - Integration SDKs</vt:lpstr>
      <vt:lpstr>Windows Live ID Federation &amp; Provisioning</vt:lpstr>
      <vt:lpstr>Why Federate?</vt:lpstr>
      <vt:lpstr>Federated Authentication Flow</vt:lpstr>
      <vt:lpstr>Federation Overview</vt:lpstr>
      <vt:lpstr>Service Provisioning Framework</vt:lpstr>
      <vt:lpstr>Summary – Windows Live ID</vt:lpstr>
      <vt:lpstr>Bringing it all together</vt:lpstr>
      <vt:lpstr>Not to be compared …</vt:lpstr>
      <vt:lpstr>But if you must compare ….</vt:lpstr>
      <vt:lpstr>Summary</vt:lpstr>
      <vt:lpstr>Resources</vt:lpstr>
      <vt:lpstr>Questions?</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 ID, Open ID &amp; OAuth</dc:title>
  <dc:creator>Jorgen Thelin</dc:creator>
  <cp:lastModifiedBy>jthelin</cp:lastModifiedBy>
  <cp:revision>273</cp:revision>
  <dcterms:created xsi:type="dcterms:W3CDTF">2008-07-16T22:01:57Z</dcterms:created>
  <dcterms:modified xsi:type="dcterms:W3CDTF">2008-11-17T22:40:18Z</dcterms:modified>
</cp:coreProperties>
</file>